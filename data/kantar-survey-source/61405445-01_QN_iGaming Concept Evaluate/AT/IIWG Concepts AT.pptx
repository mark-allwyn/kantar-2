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74" r:id="rId2"/>
    <p:sldId id="270" r:id="rId3"/>
    <p:sldId id="276" r:id="rId4"/>
    <p:sldId id="277" r:id="rId5"/>
    <p:sldId id="278" r:id="rId6"/>
  </p:sldIdLst>
  <p:sldSz cx="6858000" cy="10799763"/>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65C769-77CC-B0C0-9DC1-3E729A0346D5}" name="Brandstetter Franz" initials="FB" userId="S::franz.brandstetter@lotterien.at::5ed8645c-6bb1-42d2-a192-e204fb9a48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94660"/>
  </p:normalViewPr>
  <p:slideViewPr>
    <p:cSldViewPr snapToGrid="0">
      <p:cViewPr varScale="1">
        <p:scale>
          <a:sx n="65" d="100"/>
          <a:sy n="65" d="100"/>
        </p:scale>
        <p:origin x="33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custSel modSld">
      <pc:chgData name="Peter Javornický" userId="3b98f8e0-d449-4f6e-b57d-5f9bfb7a5c2c" providerId="ADAL" clId="{88A10E76-C547-4713-B92A-3B48010D5CF0}" dt="2025-12-16T08:53:21.813" v="7"/>
      <pc:docMkLst>
        <pc:docMk/>
      </pc:docMkLst>
      <pc:sldChg chg="modSp mod">
        <pc:chgData name="Peter Javornický" userId="3b98f8e0-d449-4f6e-b57d-5f9bfb7a5c2c" providerId="ADAL" clId="{88A10E76-C547-4713-B92A-3B48010D5CF0}" dt="2025-12-16T08:51:29.818" v="5" actId="20577"/>
        <pc:sldMkLst>
          <pc:docMk/>
          <pc:sldMk cId="115229832" sldId="270"/>
        </pc:sldMkLst>
        <pc:spChg chg="mod">
          <ac:chgData name="Peter Javornický" userId="3b98f8e0-d449-4f6e-b57d-5f9bfb7a5c2c" providerId="ADAL" clId="{88A10E76-C547-4713-B92A-3B48010D5CF0}" dt="2025-12-16T08:51:29.818" v="5" actId="20577"/>
          <ac:spMkLst>
            <pc:docMk/>
            <pc:sldMk cId="115229832" sldId="270"/>
            <ac:spMk id="3" creationId="{53C49691-B6BA-2D79-81AF-0047EADF5C8E}"/>
          </ac:spMkLst>
        </pc:spChg>
      </pc:sldChg>
      <pc:sldChg chg="delSp mod">
        <pc:chgData name="Peter Javornický" userId="3b98f8e0-d449-4f6e-b57d-5f9bfb7a5c2c" providerId="ADAL" clId="{88A10E76-C547-4713-B92A-3B48010D5CF0}" dt="2025-12-16T08:49:04.402" v="0" actId="478"/>
        <pc:sldMkLst>
          <pc:docMk/>
          <pc:sldMk cId="2748606363" sldId="274"/>
        </pc:sldMkLst>
        <pc:spChg chg="del">
          <ac:chgData name="Peter Javornický" userId="3b98f8e0-d449-4f6e-b57d-5f9bfb7a5c2c" providerId="ADAL" clId="{88A10E76-C547-4713-B92A-3B48010D5CF0}" dt="2025-12-16T08:49:04.402" v="0" actId="478"/>
          <ac:spMkLst>
            <pc:docMk/>
            <pc:sldMk cId="2748606363" sldId="274"/>
            <ac:spMk id="2" creationId="{8BA4221C-1DFE-717F-76C7-B4A05DACC6C3}"/>
          </ac:spMkLst>
        </pc:spChg>
      </pc:sldChg>
      <pc:sldChg chg="delSp modSp mod">
        <pc:chgData name="Peter Javornický" userId="3b98f8e0-d449-4f6e-b57d-5f9bfb7a5c2c" providerId="ADAL" clId="{88A10E76-C547-4713-B92A-3B48010D5CF0}" dt="2025-12-16T08:52:22.158" v="6"/>
        <pc:sldMkLst>
          <pc:docMk/>
          <pc:sldMk cId="2915784189" sldId="277"/>
        </pc:sldMkLst>
        <pc:spChg chg="mod">
          <ac:chgData name="Peter Javornický" userId="3b98f8e0-d449-4f6e-b57d-5f9bfb7a5c2c" providerId="ADAL" clId="{88A10E76-C547-4713-B92A-3B48010D5CF0}" dt="2025-12-16T08:52:22.158" v="6"/>
          <ac:spMkLst>
            <pc:docMk/>
            <pc:sldMk cId="2915784189" sldId="277"/>
            <ac:spMk id="3" creationId="{88FD7F67-0976-25AE-2FDE-6565521DF73F}"/>
          </ac:spMkLst>
        </pc:spChg>
        <pc:spChg chg="del">
          <ac:chgData name="Peter Javornický" userId="3b98f8e0-d449-4f6e-b57d-5f9bfb7a5c2c" providerId="ADAL" clId="{88A10E76-C547-4713-B92A-3B48010D5CF0}" dt="2025-12-16T08:49:11.483" v="1" actId="478"/>
          <ac:spMkLst>
            <pc:docMk/>
            <pc:sldMk cId="2915784189" sldId="277"/>
            <ac:spMk id="4" creationId="{60AFD2E9-DAFF-95D2-5FF4-C52B428BC563}"/>
          </ac:spMkLst>
        </pc:spChg>
        <pc:spChg chg="del">
          <ac:chgData name="Peter Javornický" userId="3b98f8e0-d449-4f6e-b57d-5f9bfb7a5c2c" providerId="ADAL" clId="{88A10E76-C547-4713-B92A-3B48010D5CF0}" dt="2025-12-16T08:49:12.472" v="2" actId="478"/>
          <ac:spMkLst>
            <pc:docMk/>
            <pc:sldMk cId="2915784189" sldId="277"/>
            <ac:spMk id="5" creationId="{C5E9DD7E-835C-0EEE-612D-B4B6727D7AD7}"/>
          </ac:spMkLst>
        </pc:spChg>
      </pc:sldChg>
      <pc:sldChg chg="delSp modSp mod">
        <pc:chgData name="Peter Javornický" userId="3b98f8e0-d449-4f6e-b57d-5f9bfb7a5c2c" providerId="ADAL" clId="{88A10E76-C547-4713-B92A-3B48010D5CF0}" dt="2025-12-16T08:53:21.813" v="7"/>
        <pc:sldMkLst>
          <pc:docMk/>
          <pc:sldMk cId="2849205481" sldId="278"/>
        </pc:sldMkLst>
        <pc:spChg chg="mod">
          <ac:chgData name="Peter Javornický" userId="3b98f8e0-d449-4f6e-b57d-5f9bfb7a5c2c" providerId="ADAL" clId="{88A10E76-C547-4713-B92A-3B48010D5CF0}" dt="2025-12-16T08:53:21.813" v="7"/>
          <ac:spMkLst>
            <pc:docMk/>
            <pc:sldMk cId="2849205481" sldId="278"/>
            <ac:spMk id="3" creationId="{C1C93163-348D-6D65-E6A5-69DF05056753}"/>
          </ac:spMkLst>
        </pc:spChg>
        <pc:spChg chg="del">
          <ac:chgData name="Peter Javornický" userId="3b98f8e0-d449-4f6e-b57d-5f9bfb7a5c2c" providerId="ADAL" clId="{88A10E76-C547-4713-B92A-3B48010D5CF0}" dt="2025-12-16T08:49:17.033" v="3" actId="478"/>
          <ac:spMkLst>
            <pc:docMk/>
            <pc:sldMk cId="2849205481" sldId="278"/>
            <ac:spMk id="4" creationId="{88A4EB9E-36B4-B000-9EB7-A5194A99F9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4663D0-3A20-42FE-B1FD-540301BC9CA9}" type="datetimeFigureOut">
              <a:rPr lang="en-US" smtClean="0"/>
              <a:t>12/16/2025</a:t>
            </a:fld>
            <a:endParaRPr lang="en-US"/>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A247D-2C5A-4479-9F22-8DA14766BEBD}" type="slidenum">
              <a:rPr lang="en-US" smtClean="0"/>
              <a:t>‹#›</a:t>
            </a:fld>
            <a:endParaRPr lang="en-US"/>
          </a:p>
        </p:txBody>
      </p:sp>
    </p:spTree>
    <p:extLst>
      <p:ext uri="{BB962C8B-B14F-4D97-AF65-F5344CB8AC3E}">
        <p14:creationId xmlns:p14="http://schemas.microsoft.com/office/powerpoint/2010/main" val="115607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AA247D-2C5A-4479-9F22-8DA14766BEBD}" type="slidenum">
              <a:rPr lang="en-US" smtClean="0"/>
              <a:t>3</a:t>
            </a:fld>
            <a:endParaRPr lang="en-US"/>
          </a:p>
        </p:txBody>
      </p:sp>
    </p:spTree>
    <p:extLst>
      <p:ext uri="{BB962C8B-B14F-4D97-AF65-F5344CB8AC3E}">
        <p14:creationId xmlns:p14="http://schemas.microsoft.com/office/powerpoint/2010/main" val="388833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
        <p:nvSpPr>
          <p:cNvPr id="2" name="Title 1"/>
          <p:cNvSpPr>
            <a:spLocks noGrp="1"/>
          </p:cNvSpPr>
          <p:nvPr>
            <p:ph type="title"/>
          </p:nvPr>
        </p:nvSpPr>
        <p:spPr>
          <a:xfrm>
            <a:off x="384312" y="357050"/>
            <a:ext cx="6069497"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384312" y="1279525"/>
            <a:ext cx="6069497"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D195F-AFDD-6119-9E9E-8C4D6B8FFBB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F1682A-D922-AE57-510A-7054052160AD}"/>
              </a:ext>
            </a:extLst>
          </p:cNvPr>
          <p:cNvSpPr/>
          <p:nvPr/>
        </p:nvSpPr>
        <p:spPr>
          <a:xfrm>
            <a:off x="0" y="0"/>
            <a:ext cx="6858000" cy="753979"/>
          </a:xfrm>
          <a:prstGeom prst="rect">
            <a:avLst/>
          </a:prstGeom>
          <a:solidFill>
            <a:srgbClr val="BAFF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DDC5AC78-0D85-FA52-CA7D-D7F2BAE3AC85}"/>
              </a:ext>
            </a:extLst>
          </p:cNvPr>
          <p:cNvSpPr>
            <a:spLocks noGrp="1" noChangeAspect="1"/>
          </p:cNvSpPr>
          <p:nvPr>
            <p:ph type="body" sz="quarter" idx="10"/>
          </p:nvPr>
        </p:nvSpPr>
        <p:spPr>
          <a:xfrm>
            <a:off x="112295" y="753979"/>
            <a:ext cx="6625389" cy="10045784"/>
          </a:xfrm>
        </p:spPr>
        <p:txBody>
          <a:bodyPr>
            <a:noAutofit/>
          </a:bodyPr>
          <a:lstStyle/>
          <a:p>
            <a:r>
              <a:rPr lang="de-DE" sz="2800" dirty="0"/>
              <a:t>Für alle, die sich nach dem nächsten großen Erlebnis sehnen.</a:t>
            </a:r>
          </a:p>
          <a:p>
            <a:pPr>
              <a:spcBef>
                <a:spcPts val="1800"/>
              </a:spcBef>
            </a:pPr>
            <a:r>
              <a:rPr lang="de-DE" sz="2300" b="1" dirty="0"/>
              <a:t>Spiele um die Erfahrungen, die du dir schon immer gewünscht hast.</a:t>
            </a:r>
          </a:p>
          <a:p>
            <a:pPr>
              <a:spcBef>
                <a:spcPts val="600"/>
              </a:spcBef>
            </a:pPr>
            <a:r>
              <a:rPr lang="de-DE" sz="2300" dirty="0"/>
              <a:t>Stell dir ein Spiel vor, bei dem du nicht nur um Punkte spielst, sondern um die Chance, außergewöhnliche, einmalige Erlebnisse freizuschalten.</a:t>
            </a:r>
          </a:p>
          <a:p>
            <a:pPr>
              <a:spcBef>
                <a:spcPts val="600"/>
              </a:spcBef>
            </a:pPr>
            <a:r>
              <a:rPr lang="de-DE" sz="2300" dirty="0"/>
              <a:t>Das ist kein gewöhnliches Spiel. Jede Woche stellen wir eine exklusive Auswahl an Erlebnissen zusammen, die du gewinnen kannst—jedes einzelne davon ausgelegt, deine Leidenschaft zu entfachen, deine Neugier zu wecken und unvergessliche Erinnerungen zu schaffen.</a:t>
            </a:r>
            <a:br>
              <a:rPr lang="de-DE" sz="2300" dirty="0"/>
            </a:br>
            <a:r>
              <a:rPr lang="de-DE" sz="2300" dirty="0"/>
              <a:t>Von der ersten Reihe eines ausverkauften Konzerts</a:t>
            </a:r>
            <a:br>
              <a:rPr lang="de-DE" sz="2300" dirty="0"/>
            </a:br>
            <a:r>
              <a:rPr lang="de-DE" sz="2300" dirty="0"/>
              <a:t>bis zum Adrenalinkick eines F1-Pit-Passes,</a:t>
            </a:r>
            <a:br>
              <a:rPr lang="de-DE" sz="2300" dirty="0"/>
            </a:br>
            <a:r>
              <a:rPr lang="de-DE" sz="2300" dirty="0"/>
              <a:t>von Masterclasses in einzigartigen Fertigkeiten</a:t>
            </a:r>
            <a:br>
              <a:rPr lang="de-DE" sz="2300" dirty="0"/>
            </a:br>
            <a:r>
              <a:rPr lang="de-DE" sz="2300" dirty="0"/>
              <a:t>bis hin zu aufregenden Abenteuern wie Helikopterflügen.</a:t>
            </a:r>
            <a:endParaRPr lang="cs-CZ" sz="2300" dirty="0"/>
          </a:p>
          <a:p>
            <a:pPr>
              <a:spcBef>
                <a:spcPts val="600"/>
              </a:spcBef>
            </a:pPr>
            <a:r>
              <a:rPr lang="de-DE" sz="2300" dirty="0"/>
              <a:t>Die Belohnungen ändern sich wöchentlich</a:t>
            </a:r>
            <a:r>
              <a:rPr lang="cs-CZ" sz="2300" dirty="0"/>
              <a:t>,</a:t>
            </a:r>
            <a:r>
              <a:rPr lang="de-DE" sz="2300" dirty="0"/>
              <a:t> , also gibt es immer etwas Neues zu entdecken.</a:t>
            </a:r>
            <a:r>
              <a:rPr lang="cs-CZ" sz="2300" dirty="0"/>
              <a:t> V</a:t>
            </a:r>
            <a:r>
              <a:rPr lang="de-DE" sz="2300" dirty="0" err="1"/>
              <a:t>erpasst</a:t>
            </a:r>
            <a:r>
              <a:rPr lang="de-DE" sz="2300" dirty="0"/>
              <a:t> du eine Chance, wartet schon die nächste.</a:t>
            </a:r>
            <a:br>
              <a:rPr lang="de-DE" sz="2300" dirty="0"/>
            </a:br>
            <a:r>
              <a:rPr lang="de-DE" sz="2300" dirty="0"/>
              <a:t>Keine Konzerttickets bekommen?</a:t>
            </a:r>
            <a:br>
              <a:rPr lang="de-DE" sz="2300" dirty="0"/>
            </a:br>
            <a:r>
              <a:rPr lang="de-DE" sz="2300" dirty="0"/>
              <a:t>Versuch’s nächste Woche wieder — mit einem ganz anderen Erlebnis.</a:t>
            </a:r>
          </a:p>
          <a:p>
            <a:pPr>
              <a:spcBef>
                <a:spcPts val="600"/>
              </a:spcBef>
            </a:pPr>
            <a:r>
              <a:rPr lang="de-DE" sz="2300" dirty="0"/>
              <a:t>Bei diesem Spiel geht nicht nur ums Spielen—es geht darum, für das Leben zu spielen, das du dir wünschst.</a:t>
            </a:r>
          </a:p>
          <a:p>
            <a:pPr>
              <a:spcBef>
                <a:spcPts val="600"/>
              </a:spcBef>
            </a:pPr>
            <a:r>
              <a:rPr lang="de-DE" sz="2300" b="1" dirty="0"/>
              <a:t>Bist du bereit, um die Erlebnisse zu spielen, die du dir schon immer erträumt hast? </a:t>
            </a:r>
            <a:endParaRPr lang="cs-CZ" sz="2300" b="1" dirty="0"/>
          </a:p>
        </p:txBody>
      </p:sp>
      <p:sp>
        <p:nvSpPr>
          <p:cNvPr id="12" name="Text Placeholder 2">
            <a:extLst>
              <a:ext uri="{FF2B5EF4-FFF2-40B4-BE49-F238E27FC236}">
                <a16:creationId xmlns:a16="http://schemas.microsoft.com/office/drawing/2014/main" id="{C58351D9-1102-CA77-587F-B935AD46D264}"/>
              </a:ext>
            </a:extLst>
          </p:cNvPr>
          <p:cNvSpPr txBox="1">
            <a:spLocks noChangeAspect="1"/>
          </p:cNvSpPr>
          <p:nvPr/>
        </p:nvSpPr>
        <p:spPr>
          <a:xfrm>
            <a:off x="112295" y="48128"/>
            <a:ext cx="6745706" cy="625642"/>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600"/>
              </a:spcBef>
              <a:spcAft>
                <a:spcPts val="300"/>
              </a:spcAft>
            </a:pPr>
            <a:r>
              <a:rPr lang="cs-CZ" sz="4000" b="1" dirty="0"/>
              <a:t>Pulse Play</a:t>
            </a:r>
          </a:p>
        </p:txBody>
      </p:sp>
    </p:spTree>
    <p:extLst>
      <p:ext uri="{BB962C8B-B14F-4D97-AF65-F5344CB8AC3E}">
        <p14:creationId xmlns:p14="http://schemas.microsoft.com/office/powerpoint/2010/main" val="2748606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9EBD-FDA5-45C0-383A-D2825CC8C78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E90E4D-C9D0-85BC-C216-A13FDAA8630D}"/>
              </a:ext>
            </a:extLst>
          </p:cNvPr>
          <p:cNvSpPr/>
          <p:nvPr/>
        </p:nvSpPr>
        <p:spPr>
          <a:xfrm>
            <a:off x="0" y="1"/>
            <a:ext cx="6858000" cy="61306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4">
                  <a:lumMod val="20000"/>
                  <a:lumOff val="80000"/>
                </a:schemeClr>
              </a:solidFill>
            </a:endParaRPr>
          </a:p>
        </p:txBody>
      </p:sp>
      <p:sp>
        <p:nvSpPr>
          <p:cNvPr id="3" name="Text Placeholder 2">
            <a:extLst>
              <a:ext uri="{FF2B5EF4-FFF2-40B4-BE49-F238E27FC236}">
                <a16:creationId xmlns:a16="http://schemas.microsoft.com/office/drawing/2014/main" id="{53C49691-B6BA-2D79-81AF-0047EADF5C8E}"/>
              </a:ext>
            </a:extLst>
          </p:cNvPr>
          <p:cNvSpPr>
            <a:spLocks noGrp="1" noChangeAspect="1"/>
          </p:cNvSpPr>
          <p:nvPr>
            <p:ph type="body" sz="quarter" idx="10"/>
          </p:nvPr>
        </p:nvSpPr>
        <p:spPr>
          <a:xfrm>
            <a:off x="56147" y="-48125"/>
            <a:ext cx="6801853" cy="661185"/>
          </a:xfrm>
        </p:spPr>
        <p:txBody>
          <a:bodyPr>
            <a:noAutofit/>
          </a:bodyPr>
          <a:lstStyle/>
          <a:p>
            <a:pPr>
              <a:lnSpc>
                <a:spcPct val="100000"/>
              </a:lnSpc>
              <a:spcBef>
                <a:spcPts val="0"/>
              </a:spcBef>
            </a:pPr>
            <a:r>
              <a:rPr lang="en-US" sz="4000" b="1" dirty="0"/>
              <a:t>Standard or VIP Mode</a:t>
            </a:r>
            <a:endParaRPr lang="cs-CZ" sz="4000" b="1" dirty="0"/>
          </a:p>
          <a:p>
            <a:pPr>
              <a:lnSpc>
                <a:spcPct val="100000"/>
              </a:lnSpc>
              <a:spcBef>
                <a:spcPts val="0"/>
              </a:spcBef>
            </a:pPr>
            <a:r>
              <a:rPr lang="en-US" sz="2800" dirty="0"/>
              <a:t>Spiel, </a:t>
            </a:r>
            <a:r>
              <a:rPr lang="en-US" sz="2800" dirty="0" err="1"/>
              <a:t>wie</a:t>
            </a:r>
            <a:r>
              <a:rPr lang="en-US" sz="2800" dirty="0"/>
              <a:t> du </a:t>
            </a:r>
            <a:r>
              <a:rPr lang="en-US" sz="2800" dirty="0" err="1"/>
              <a:t>willst</a:t>
            </a:r>
            <a:endParaRPr lang="cs-CZ" sz="2800" dirty="0"/>
          </a:p>
        </p:txBody>
      </p:sp>
      <p:sp>
        <p:nvSpPr>
          <p:cNvPr id="2" name="Text Placeholder 2">
            <a:extLst>
              <a:ext uri="{FF2B5EF4-FFF2-40B4-BE49-F238E27FC236}">
                <a16:creationId xmlns:a16="http://schemas.microsoft.com/office/drawing/2014/main" id="{FB89C0E0-C00C-5946-1E3A-8EA5BC745587}"/>
              </a:ext>
            </a:extLst>
          </p:cNvPr>
          <p:cNvSpPr txBox="1">
            <a:spLocks noChangeAspect="1"/>
          </p:cNvSpPr>
          <p:nvPr/>
        </p:nvSpPr>
        <p:spPr>
          <a:xfrm>
            <a:off x="112295" y="753979"/>
            <a:ext cx="6745705" cy="10045784"/>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l-GR" sz="2000" dirty="0"/>
          </a:p>
        </p:txBody>
      </p:sp>
      <p:sp>
        <p:nvSpPr>
          <p:cNvPr id="25" name="Text Placeholder 2">
            <a:extLst>
              <a:ext uri="{FF2B5EF4-FFF2-40B4-BE49-F238E27FC236}">
                <a16:creationId xmlns:a16="http://schemas.microsoft.com/office/drawing/2014/main" id="{B3C010F1-108E-4917-A0D3-593D56923430}"/>
              </a:ext>
            </a:extLst>
          </p:cNvPr>
          <p:cNvSpPr txBox="1">
            <a:spLocks noChangeAspect="1"/>
          </p:cNvSpPr>
          <p:nvPr/>
        </p:nvSpPr>
        <p:spPr>
          <a:xfrm>
            <a:off x="56147" y="1155032"/>
            <a:ext cx="6745705" cy="9388058"/>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00"/>
              </a:spcBef>
            </a:pPr>
            <a:r>
              <a:rPr lang="de-DE" sz="2000" dirty="0"/>
              <a:t>In der Welt des Gamings geht es nicht nur um Unterhaltung – </a:t>
            </a:r>
            <a:r>
              <a:rPr lang="de-DE" sz="2000" dirty="0" err="1"/>
              <a:t>Spieler:innen</a:t>
            </a:r>
            <a:r>
              <a:rPr lang="de-DE" sz="2000" dirty="0"/>
              <a:t> streben auch nach Status, Belohnungen und Fortschritt.</a:t>
            </a:r>
          </a:p>
          <a:p>
            <a:pPr>
              <a:spcBef>
                <a:spcPts val="600"/>
              </a:spcBef>
            </a:pPr>
            <a:r>
              <a:rPr lang="de-DE" sz="2000" dirty="0"/>
              <a:t>Standard- / VIP-Modus wurde entwickelt, um genau diesen Wunsch zu erfüllen – mit zwei unterschiedlichen Spielerlebnissen in einem einzigen Spiel, je nach deiner Stimmung, deinen Zielen und deiner Risikobereitschaft.</a:t>
            </a:r>
          </a:p>
          <a:p>
            <a:pPr>
              <a:spcBef>
                <a:spcPts val="600"/>
              </a:spcBef>
            </a:pPr>
            <a:r>
              <a:rPr lang="de-DE" sz="2000" dirty="0"/>
              <a:t>Der VIP-Modus ist für alle, die mehr wollen:</a:t>
            </a:r>
          </a:p>
          <a:p>
            <a:pPr marL="342900" indent="-342900">
              <a:spcBef>
                <a:spcPts val="600"/>
              </a:spcBef>
              <a:buFont typeface="Arial" panose="020B0604020202020204" pitchFamily="34" charset="0"/>
              <a:buChar char="•"/>
            </a:pPr>
            <a:r>
              <a:rPr lang="de-DE" sz="2000" dirty="0"/>
              <a:t>Eine reichhaltigere, immersivere Spielumgebung</a:t>
            </a:r>
          </a:p>
          <a:p>
            <a:pPr marL="342900" indent="-342900">
              <a:spcBef>
                <a:spcPts val="600"/>
              </a:spcBef>
              <a:buFont typeface="Arial" panose="020B0604020202020204" pitchFamily="34" charset="0"/>
              <a:buChar char="•"/>
            </a:pPr>
            <a:r>
              <a:rPr lang="de-DE" sz="2000" dirty="0"/>
              <a:t>Höhere Belohnungen, höhere Multiplikatoren und Zugang zu einer zusätzlichen Jackpot-Stufe – dem VIP-Jackpot</a:t>
            </a:r>
          </a:p>
          <a:p>
            <a:pPr marL="342900" indent="-342900">
              <a:spcBef>
                <a:spcPts val="600"/>
              </a:spcBef>
              <a:buFont typeface="Arial" panose="020B0604020202020204" pitchFamily="34" charset="0"/>
              <a:buChar char="•"/>
            </a:pPr>
            <a:r>
              <a:rPr lang="de-DE" sz="2000" dirty="0"/>
              <a:t>Einzigartige Herausforderungen, schnellerer Fortschritt und bevorzugter Support.</a:t>
            </a:r>
          </a:p>
          <a:p>
            <a:pPr>
              <a:spcBef>
                <a:spcPts val="600"/>
              </a:spcBef>
            </a:pPr>
            <a:r>
              <a:rPr lang="de-DE" sz="2000" dirty="0"/>
              <a:t>Warum VIP werden?</a:t>
            </a:r>
          </a:p>
          <a:p>
            <a:pPr marL="342900" indent="-342900">
              <a:spcBef>
                <a:spcPts val="600"/>
              </a:spcBef>
              <a:buFont typeface="Arial" panose="020B0604020202020204" pitchFamily="34" charset="0"/>
              <a:buChar char="•"/>
            </a:pPr>
            <a:r>
              <a:rPr lang="de-DE" sz="2000" dirty="0"/>
              <a:t>Auswahl &amp; Kontrolle: Du entscheidest, wann du den Modus wechselst – anhand deiner Vorlieben, Risikobereitschaft und Guthabens</a:t>
            </a:r>
          </a:p>
          <a:p>
            <a:pPr marL="342900" indent="-342900">
              <a:spcBef>
                <a:spcPts val="600"/>
              </a:spcBef>
              <a:buFont typeface="Arial" panose="020B0604020202020204" pitchFamily="34" charset="0"/>
              <a:buChar char="•"/>
            </a:pPr>
            <a:r>
              <a:rPr lang="de-DE" sz="2000" dirty="0"/>
              <a:t>Fortschritt &amp; Status: Der VIP-Modus ist ein Statussymbol – ein Zeichen für Einsatz und Engagement.</a:t>
            </a:r>
          </a:p>
          <a:p>
            <a:pPr marL="342900" indent="-342900">
              <a:spcBef>
                <a:spcPts val="600"/>
              </a:spcBef>
              <a:buFont typeface="Arial" panose="020B0604020202020204" pitchFamily="34" charset="0"/>
              <a:buChar char="•"/>
            </a:pPr>
            <a:r>
              <a:rPr lang="de-DE" sz="2000" dirty="0"/>
              <a:t>Erweiterte Belohnungen: Profitiere von höheren Auszahlungen, größere Jackpots und einem reichhaltigeren visuellen Erlebnis.</a:t>
            </a:r>
          </a:p>
          <a:p>
            <a:pPr marL="342900" indent="-342900">
              <a:spcBef>
                <a:spcPts val="600"/>
              </a:spcBef>
              <a:buFont typeface="Arial" panose="020B0604020202020204" pitchFamily="34" charset="0"/>
              <a:buChar char="•"/>
            </a:pPr>
            <a:r>
              <a:rPr lang="de-DE" sz="2000" dirty="0"/>
              <a:t>Community Engagement: Das Treueprogramm fördert den Austausch, Bewertungen und Mundpropaganda und sorgt so für organisches Wachstum.</a:t>
            </a:r>
          </a:p>
          <a:p>
            <a:pPr>
              <a:spcBef>
                <a:spcPts val="600"/>
              </a:spcBef>
            </a:pPr>
            <a:r>
              <a:rPr lang="de-DE" sz="2000" dirty="0"/>
              <a:t>Egal, ob du ein/e </a:t>
            </a:r>
            <a:r>
              <a:rPr lang="de-DE" sz="2000" dirty="0" err="1"/>
              <a:t>Gelegenheitsspieler:in</a:t>
            </a:r>
            <a:r>
              <a:rPr lang="de-DE" sz="2000" dirty="0"/>
              <a:t> bist, der den  Standard-Modus genießt oder ein High-Roller auf der Jagd nach großen Gewinnen im VIP-Modus – das Spiel passt sich dir an.</a:t>
            </a:r>
          </a:p>
          <a:p>
            <a:pPr>
              <a:spcBef>
                <a:spcPts val="600"/>
              </a:spcBef>
            </a:pPr>
            <a:r>
              <a:rPr lang="de-DE" sz="2000" b="1" dirty="0"/>
              <a:t>Deine Stimmung, dein Stil, deine Belohnungen.</a:t>
            </a:r>
            <a:br>
              <a:rPr lang="de-DE" sz="2000" b="1" dirty="0"/>
            </a:br>
            <a:r>
              <a:rPr lang="de-DE" sz="2000" b="1" dirty="0"/>
              <a:t>Wechsle jederzeit den Modus – denn das Spiel soll sich deinem Spielstil anpassen, nicht umgekehrt.</a:t>
            </a:r>
            <a:endParaRPr lang="de-DE" sz="2000" dirty="0"/>
          </a:p>
        </p:txBody>
      </p:sp>
    </p:spTree>
    <p:extLst>
      <p:ext uri="{BB962C8B-B14F-4D97-AF65-F5344CB8AC3E}">
        <p14:creationId xmlns:p14="http://schemas.microsoft.com/office/powerpoint/2010/main" val="115229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8CCB-5197-A2D5-A673-BB5554F770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65B10F-1EC4-A96F-34C6-A3C7B8975DC3}"/>
              </a:ext>
            </a:extLst>
          </p:cNvPr>
          <p:cNvSpPr/>
          <p:nvPr/>
        </p:nvSpPr>
        <p:spPr>
          <a:xfrm>
            <a:off x="0" y="0"/>
            <a:ext cx="6858000" cy="65200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66EE8EF2-ED8C-C86B-2002-725E0222609F}"/>
              </a:ext>
            </a:extLst>
          </p:cNvPr>
          <p:cNvSpPr>
            <a:spLocks noGrp="1" noChangeAspect="1"/>
          </p:cNvSpPr>
          <p:nvPr>
            <p:ph type="body" sz="quarter" idx="10"/>
          </p:nvPr>
        </p:nvSpPr>
        <p:spPr>
          <a:xfrm>
            <a:off x="112295" y="-22058"/>
            <a:ext cx="6745705" cy="1193131"/>
          </a:xfrm>
        </p:spPr>
        <p:txBody>
          <a:bodyPr>
            <a:noAutofit/>
          </a:bodyPr>
          <a:lstStyle/>
          <a:p>
            <a:pPr>
              <a:lnSpc>
                <a:spcPct val="100000"/>
              </a:lnSpc>
              <a:spcBef>
                <a:spcPts val="0"/>
              </a:spcBef>
            </a:pPr>
            <a:r>
              <a:rPr lang="en-US" sz="4000" b="1" dirty="0"/>
              <a:t>Happy Hour</a:t>
            </a:r>
            <a:endParaRPr lang="cs-CZ" sz="4000" b="1" dirty="0"/>
          </a:p>
          <a:p>
            <a:pPr>
              <a:lnSpc>
                <a:spcPct val="100000"/>
              </a:lnSpc>
              <a:spcBef>
                <a:spcPts val="0"/>
              </a:spcBef>
            </a:pPr>
            <a:r>
              <a:rPr lang="de-DE" sz="2800" dirty="0"/>
              <a:t>Die beste Zeit zu spielen ist jetzt</a:t>
            </a:r>
            <a:endParaRPr lang="cs-CZ" sz="2800" dirty="0"/>
          </a:p>
        </p:txBody>
      </p:sp>
      <p:sp>
        <p:nvSpPr>
          <p:cNvPr id="2" name="Text Placeholder 2">
            <a:extLst>
              <a:ext uri="{FF2B5EF4-FFF2-40B4-BE49-F238E27FC236}">
                <a16:creationId xmlns:a16="http://schemas.microsoft.com/office/drawing/2014/main" id="{8A2BCDCE-507B-6461-2DDB-CFFE60A73DFB}"/>
              </a:ext>
            </a:extLst>
          </p:cNvPr>
          <p:cNvSpPr txBox="1">
            <a:spLocks noChangeAspect="1"/>
          </p:cNvSpPr>
          <p:nvPr/>
        </p:nvSpPr>
        <p:spPr>
          <a:xfrm>
            <a:off x="112295" y="1106905"/>
            <a:ext cx="6745705" cy="9628690"/>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00"/>
              </a:spcBef>
            </a:pPr>
            <a:r>
              <a:rPr lang="de-DE" sz="2000" dirty="0"/>
              <a:t>Egal ob es sich um ein globales Event oder eine exklusive Belohnung nur für dich handelt – Happy Hour verwandelt das „Wann“ in ein „Warum nicht jetzt?“</a:t>
            </a:r>
          </a:p>
          <a:p>
            <a:pPr>
              <a:spcBef>
                <a:spcPts val="600"/>
              </a:spcBef>
            </a:pPr>
            <a:r>
              <a:rPr lang="de-DE" sz="2000" dirty="0"/>
              <a:t>Es ist der Nervenkitzel zu wissen, dass genau jetzt deine beste Chance zum Gewinnen ist – und die Vorfreude darauf, dass der nächste große Boost jederzeit kommen könnte – nur für dich.</a:t>
            </a:r>
          </a:p>
          <a:p>
            <a:pPr>
              <a:spcBef>
                <a:spcPts val="600"/>
              </a:spcBef>
            </a:pPr>
            <a:r>
              <a:rPr lang="de-DE" sz="2000" dirty="0"/>
              <a:t>Happy Hour wird zur dynamischen Erfahrung – maßgeschneidert auf dein Spielverhalten:</a:t>
            </a:r>
          </a:p>
          <a:p>
            <a:pPr marL="342900" indent="-342900">
              <a:spcBef>
                <a:spcPts val="300"/>
              </a:spcBef>
              <a:buFont typeface="Arial" panose="020B0604020202020204" pitchFamily="34" charset="0"/>
              <a:buChar char="•"/>
            </a:pPr>
            <a:r>
              <a:rPr lang="de-DE" sz="2000" dirty="0"/>
              <a:t>Bevorzugte Spielzeiten</a:t>
            </a:r>
            <a:br>
              <a:rPr lang="de-DE" sz="2000" dirty="0"/>
            </a:br>
            <a:r>
              <a:rPr lang="de-DE" sz="2000" dirty="0"/>
              <a:t>Spielst du z. B. regelmäßig Dienstagabend? Dann bekommst du vielleicht eine persönliche Happy Hour: Dienstag </a:t>
            </a:r>
            <a:br>
              <a:rPr lang="cs-CZ" sz="2000" dirty="0"/>
            </a:br>
            <a:r>
              <a:rPr lang="de-DE" sz="2000" dirty="0"/>
              <a:t>19:00–21:00 – nur für dich.</a:t>
            </a:r>
          </a:p>
          <a:p>
            <a:pPr marL="342900" indent="-342900">
              <a:spcBef>
                <a:spcPts val="300"/>
              </a:spcBef>
              <a:buFont typeface="Arial" panose="020B0604020202020204" pitchFamily="34" charset="0"/>
              <a:buChar char="•"/>
            </a:pPr>
            <a:r>
              <a:rPr lang="de-DE" sz="2000" dirty="0"/>
              <a:t>Ständige Unterhaltung</a:t>
            </a:r>
            <a:br>
              <a:rPr lang="de-DE" sz="2000" dirty="0"/>
            </a:br>
            <a:r>
              <a:rPr lang="de-DE" sz="2000" dirty="0"/>
              <a:t>Wenn du häufig spielst, erstellt das Spiel Mini-Happy-Hours während deiner Aktivitätshochs.</a:t>
            </a:r>
          </a:p>
          <a:p>
            <a:pPr marL="342900" indent="-342900">
              <a:spcBef>
                <a:spcPts val="300"/>
              </a:spcBef>
              <a:buFont typeface="Arial" panose="020B0604020202020204" pitchFamily="34" charset="0"/>
              <a:buChar char="•"/>
            </a:pPr>
            <a:r>
              <a:rPr lang="de-DE" sz="2000" dirty="0"/>
              <a:t>Willkommen zurück!</a:t>
            </a:r>
            <a:br>
              <a:rPr lang="de-DE" sz="2000" dirty="0"/>
            </a:br>
            <a:r>
              <a:rPr lang="de-DE" sz="2000" dirty="0"/>
              <a:t>Spielst du eher selten? Dann startet das Spiel eine </a:t>
            </a:r>
            <a:br>
              <a:rPr lang="cs-CZ" sz="2000" dirty="0"/>
            </a:br>
            <a:r>
              <a:rPr lang="de-DE" sz="2000" dirty="0"/>
              <a:t>„Wir vermissen dich“-Happy Hour zu Zeiten, die du früher bevorzugt hast – als persönliche Einladung zur Rückkehr.</a:t>
            </a:r>
          </a:p>
          <a:p>
            <a:pPr>
              <a:spcBef>
                <a:spcPts val="600"/>
              </a:spcBef>
            </a:pPr>
            <a:r>
              <a:rPr lang="en-US" sz="2000" dirty="0"/>
              <a:t>Happy Hour: </a:t>
            </a:r>
            <a:r>
              <a:rPr lang="en-US" sz="2000" dirty="0" err="1"/>
              <a:t>Deine</a:t>
            </a:r>
            <a:r>
              <a:rPr lang="en-US" sz="2000" dirty="0"/>
              <a:t> </a:t>
            </a:r>
            <a:r>
              <a:rPr lang="en-US" sz="2000" dirty="0" err="1"/>
              <a:t>Vorteile</a:t>
            </a:r>
            <a:endParaRPr lang="en-US" sz="2000" dirty="0"/>
          </a:p>
          <a:p>
            <a:pPr marL="342900" indent="-342900">
              <a:spcBef>
                <a:spcPts val="300"/>
              </a:spcBef>
              <a:buFont typeface="Arial" panose="020B0604020202020204" pitchFamily="34" charset="0"/>
              <a:buChar char="•"/>
            </a:pPr>
            <a:r>
              <a:rPr lang="en-US" sz="2000" dirty="0" err="1"/>
              <a:t>Freispiele</a:t>
            </a:r>
            <a:r>
              <a:rPr lang="en-US" sz="2000" dirty="0"/>
              <a:t> für </a:t>
            </a:r>
            <a:r>
              <a:rPr lang="en-US" sz="2000" dirty="0" err="1"/>
              <a:t>ausgewählte</a:t>
            </a:r>
            <a:r>
              <a:rPr lang="en-US" sz="2000" dirty="0"/>
              <a:t> </a:t>
            </a:r>
            <a:r>
              <a:rPr lang="en-US" sz="2000" dirty="0" err="1"/>
              <a:t>Spiele</a:t>
            </a:r>
            <a:endParaRPr lang="en-US" sz="2000" dirty="0"/>
          </a:p>
          <a:p>
            <a:pPr marL="342900" indent="-342900">
              <a:spcBef>
                <a:spcPts val="300"/>
              </a:spcBef>
              <a:buFont typeface="Arial" panose="020B0604020202020204" pitchFamily="34" charset="0"/>
              <a:buChar char="•"/>
            </a:pPr>
            <a:r>
              <a:rPr lang="en-US" sz="2000" dirty="0" err="1"/>
              <a:t>Exklusive</a:t>
            </a:r>
            <a:r>
              <a:rPr lang="en-US" sz="2000" dirty="0"/>
              <a:t> </a:t>
            </a:r>
            <a:r>
              <a:rPr lang="en-US" sz="2000" dirty="0" err="1"/>
              <a:t>Bonusrunden</a:t>
            </a:r>
            <a:endParaRPr lang="en-US" sz="2000" dirty="0"/>
          </a:p>
          <a:p>
            <a:pPr marL="342900" indent="-342900">
              <a:spcBef>
                <a:spcPts val="300"/>
              </a:spcBef>
              <a:buFont typeface="Arial" panose="020B0604020202020204" pitchFamily="34" charset="0"/>
              <a:buChar char="•"/>
            </a:pPr>
            <a:r>
              <a:rPr lang="en-US" sz="2000" dirty="0" err="1"/>
              <a:t>Erhöhte</a:t>
            </a:r>
            <a:r>
              <a:rPr lang="en-US" sz="2000" dirty="0"/>
              <a:t> </a:t>
            </a:r>
            <a:r>
              <a:rPr lang="en-US" sz="2000" dirty="0" err="1"/>
              <a:t>Auszahlungsmultiplikatoren</a:t>
            </a:r>
            <a:endParaRPr lang="en-US" sz="2000" dirty="0"/>
          </a:p>
          <a:p>
            <a:pPr marL="342900" indent="-342900">
              <a:spcBef>
                <a:spcPts val="300"/>
              </a:spcBef>
              <a:buFont typeface="Arial" panose="020B0604020202020204" pitchFamily="34" charset="0"/>
              <a:buChar char="•"/>
            </a:pPr>
            <a:r>
              <a:rPr lang="en-US" sz="2000" dirty="0" err="1"/>
              <a:t>Doppelte</a:t>
            </a:r>
            <a:r>
              <a:rPr lang="en-US" sz="2000" dirty="0"/>
              <a:t>/</a:t>
            </a:r>
            <a:r>
              <a:rPr lang="en-US" sz="2000" dirty="0" err="1"/>
              <a:t>Dreifache</a:t>
            </a:r>
            <a:r>
              <a:rPr lang="en-US" sz="2000" dirty="0"/>
              <a:t> </a:t>
            </a:r>
            <a:r>
              <a:rPr lang="en-US" sz="2000" dirty="0" err="1"/>
              <a:t>Treuepunkte</a:t>
            </a:r>
            <a:endParaRPr lang="en-US" sz="2000" dirty="0"/>
          </a:p>
          <a:p>
            <a:pPr marL="342900" indent="-342900">
              <a:spcBef>
                <a:spcPts val="300"/>
              </a:spcBef>
              <a:buFont typeface="Arial" panose="020B0604020202020204" pitchFamily="34" charset="0"/>
              <a:buChar char="•"/>
            </a:pPr>
            <a:r>
              <a:rPr lang="en-US" sz="2000" dirty="0" err="1"/>
              <a:t>Zugang</a:t>
            </a:r>
            <a:r>
              <a:rPr lang="en-US" sz="2000" dirty="0"/>
              <a:t> </a:t>
            </a:r>
            <a:r>
              <a:rPr lang="en-US" sz="2000" dirty="0" err="1"/>
              <a:t>zu</a:t>
            </a:r>
            <a:r>
              <a:rPr lang="en-US" sz="2000" dirty="0"/>
              <a:t> </a:t>
            </a:r>
            <a:r>
              <a:rPr lang="en-US" sz="2000" dirty="0" err="1"/>
              <a:t>zeitlich</a:t>
            </a:r>
            <a:r>
              <a:rPr lang="en-US" sz="2000" dirty="0"/>
              <a:t> </a:t>
            </a:r>
            <a:r>
              <a:rPr lang="en-US" sz="2000" dirty="0" err="1"/>
              <a:t>begrenzten</a:t>
            </a:r>
            <a:r>
              <a:rPr lang="en-US" sz="2000" dirty="0"/>
              <a:t> Features (z. B. Happy Hour Jackpot)</a:t>
            </a:r>
          </a:p>
          <a:p>
            <a:pPr>
              <a:spcBef>
                <a:spcPts val="600"/>
              </a:spcBef>
            </a:pPr>
            <a:r>
              <a:rPr lang="de-DE" sz="2000" dirty="0"/>
              <a:t>Happy Hour macht aus gewöhnlichen Momenten aufregende Chancen, indem es dir zeitlich begrenzte Belohnungen bietet – genau abgestimmt auf deinen Spielstil.</a:t>
            </a:r>
          </a:p>
          <a:p>
            <a:pPr>
              <a:spcBef>
                <a:spcPts val="600"/>
              </a:spcBef>
            </a:pPr>
            <a:r>
              <a:rPr lang="de-DE" sz="2000" b="1" dirty="0"/>
              <a:t>Es geht nicht nur darum, </a:t>
            </a:r>
            <a:r>
              <a:rPr lang="de-DE" sz="2000" b="1" i="1" dirty="0"/>
              <a:t>wann</a:t>
            </a:r>
            <a:r>
              <a:rPr lang="de-DE" sz="2000" b="1" dirty="0"/>
              <a:t> du spielst – sondern darum, </a:t>
            </a:r>
            <a:r>
              <a:rPr lang="de-DE" sz="2000" b="1" i="1" dirty="0"/>
              <a:t>jeden Moment</a:t>
            </a:r>
            <a:r>
              <a:rPr lang="de-DE" sz="2000" b="1" dirty="0"/>
              <a:t> zu deinem besten Moment zu machen, </a:t>
            </a:r>
            <a:br>
              <a:rPr lang="cs-CZ" sz="2000" b="1" dirty="0"/>
            </a:br>
            <a:r>
              <a:rPr lang="de-DE" sz="2000" b="1" dirty="0"/>
              <a:t>um zu gewinnen.</a:t>
            </a:r>
            <a:endParaRPr lang="de-DE" sz="2000" dirty="0"/>
          </a:p>
          <a:p>
            <a:pPr>
              <a:spcBef>
                <a:spcPts val="600"/>
              </a:spcBef>
            </a:pPr>
            <a:endParaRPr lang="en-US" sz="2000" dirty="0">
              <a:ea typeface="Times New Roman" panose="02020603050405020304" pitchFamily="18" charset="0"/>
            </a:endParaRPr>
          </a:p>
        </p:txBody>
      </p:sp>
    </p:spTree>
    <p:extLst>
      <p:ext uri="{BB962C8B-B14F-4D97-AF65-F5344CB8AC3E}">
        <p14:creationId xmlns:p14="http://schemas.microsoft.com/office/powerpoint/2010/main" val="3627271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9D83-AF0F-288B-8734-7B251A3BBFC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C3E5147-2149-4108-3735-665A6D7DB017}"/>
              </a:ext>
            </a:extLst>
          </p:cNvPr>
          <p:cNvSpPr/>
          <p:nvPr/>
        </p:nvSpPr>
        <p:spPr>
          <a:xfrm>
            <a:off x="0" y="1"/>
            <a:ext cx="6858000" cy="61668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88FD7F67-0976-25AE-2FDE-6565521DF73F}"/>
              </a:ext>
            </a:extLst>
          </p:cNvPr>
          <p:cNvSpPr>
            <a:spLocks noGrp="1" noChangeAspect="1"/>
          </p:cNvSpPr>
          <p:nvPr>
            <p:ph type="body" sz="quarter" idx="10"/>
          </p:nvPr>
        </p:nvSpPr>
        <p:spPr>
          <a:xfrm>
            <a:off x="0" y="-22723"/>
            <a:ext cx="6858001" cy="1434427"/>
          </a:xfrm>
        </p:spPr>
        <p:txBody>
          <a:bodyPr>
            <a:noAutofit/>
          </a:bodyPr>
          <a:lstStyle/>
          <a:p>
            <a:pPr>
              <a:lnSpc>
                <a:spcPct val="100000"/>
              </a:lnSpc>
              <a:spcBef>
                <a:spcPts val="0"/>
              </a:spcBef>
            </a:pPr>
            <a:r>
              <a:rPr lang="de-DE" b="1" dirty="0"/>
              <a:t>1 </a:t>
            </a:r>
            <a:r>
              <a:rPr lang="de-DE" b="1" dirty="0" err="1"/>
              <a:t>Bet</a:t>
            </a:r>
            <a:r>
              <a:rPr lang="de-DE" b="1" dirty="0"/>
              <a:t>-Volume </a:t>
            </a:r>
            <a:r>
              <a:rPr lang="de-DE" b="1" dirty="0" err="1"/>
              <a:t>Must-Win</a:t>
            </a:r>
            <a:r>
              <a:rPr lang="de-DE" b="1" dirty="0"/>
              <a:t> Jackpots</a:t>
            </a:r>
            <a:r>
              <a:rPr lang="en-US" b="1" dirty="0"/>
              <a:t>  </a:t>
            </a:r>
            <a:endParaRPr lang="cs-CZ" b="1" dirty="0"/>
          </a:p>
          <a:p>
            <a:pPr>
              <a:lnSpc>
                <a:spcPct val="100000"/>
              </a:lnSpc>
              <a:spcBef>
                <a:spcPts val="0"/>
              </a:spcBef>
            </a:pPr>
            <a:r>
              <a:rPr lang="en-US" sz="2400" dirty="0"/>
              <a:t>Das </a:t>
            </a:r>
            <a:r>
              <a:rPr lang="de-DE" sz="2400" dirty="0"/>
              <a:t>Spiel mit zeitlich begrenztem Nervenkitzel und garantiertem Gewinn</a:t>
            </a:r>
            <a:endParaRPr lang="cs-CZ" sz="2400" dirty="0"/>
          </a:p>
        </p:txBody>
      </p:sp>
      <p:sp>
        <p:nvSpPr>
          <p:cNvPr id="2" name="Text Placeholder 2">
            <a:extLst>
              <a:ext uri="{FF2B5EF4-FFF2-40B4-BE49-F238E27FC236}">
                <a16:creationId xmlns:a16="http://schemas.microsoft.com/office/drawing/2014/main" id="{1086070E-ACDC-9002-4184-53721A4E4475}"/>
              </a:ext>
            </a:extLst>
          </p:cNvPr>
          <p:cNvSpPr txBox="1">
            <a:spLocks noChangeAspect="1"/>
          </p:cNvSpPr>
          <p:nvPr/>
        </p:nvSpPr>
        <p:spPr>
          <a:xfrm>
            <a:off x="112295" y="1267327"/>
            <a:ext cx="6745705" cy="9440193"/>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600"/>
              </a:spcBef>
            </a:pPr>
            <a:r>
              <a:rPr lang="de-DE" sz="2000" dirty="0"/>
              <a:t>In der Welt des Online-</a:t>
            </a:r>
            <a:r>
              <a:rPr lang="de-DE" sz="2000" dirty="0" err="1"/>
              <a:t>Gamings</a:t>
            </a:r>
            <a:r>
              <a:rPr lang="de-DE" sz="2000" dirty="0"/>
              <a:t> gibt es nichts Aufregenderes, als zu wissen, dass ein Jackpot fallen muss - heute oder sogar </a:t>
            </a:r>
            <a:br>
              <a:rPr lang="cs-CZ" sz="2000" dirty="0"/>
            </a:br>
            <a:r>
              <a:rPr lang="de-DE" sz="2000" dirty="0"/>
              <a:t>in dieser Stunde.</a:t>
            </a:r>
          </a:p>
          <a:p>
            <a:pPr>
              <a:spcBef>
                <a:spcPts val="600"/>
              </a:spcBef>
            </a:pPr>
            <a:r>
              <a:rPr lang="de-DE" sz="2000" dirty="0"/>
              <a:t>Das ist das elektrisierende Konzept der Must-Win Jackpots: eine dynamische Jackpot-Erfahrung, bei der der Gewinn nicht nur möglich, sondern garantiert ist.</a:t>
            </a:r>
            <a:br>
              <a:rPr lang="de-DE" sz="2000" dirty="0"/>
            </a:br>
            <a:r>
              <a:rPr lang="de-DE" sz="2000" dirty="0"/>
              <a:t>Die einzige Frage lautet: Wer gewinnt – und wann?</a:t>
            </a:r>
          </a:p>
          <a:p>
            <a:pPr>
              <a:spcBef>
                <a:spcPts val="600"/>
              </a:spcBef>
            </a:pPr>
            <a:r>
              <a:rPr lang="de-DE" sz="2000" dirty="0"/>
              <a:t>So knackst du den großen Gewinn</a:t>
            </a:r>
          </a:p>
          <a:p>
            <a:pPr>
              <a:spcBef>
                <a:spcPts val="600"/>
              </a:spcBef>
            </a:pPr>
            <a:r>
              <a:rPr lang="de-DE" sz="2000" dirty="0"/>
              <a:t>Einsatzbasierte Jackpots</a:t>
            </a:r>
          </a:p>
          <a:p>
            <a:pPr marL="342900" indent="-342900">
              <a:spcBef>
                <a:spcPts val="300"/>
              </a:spcBef>
              <a:buFont typeface="Arial" panose="020B0604020202020204" pitchFamily="34" charset="0"/>
              <a:buChar char="•"/>
            </a:pPr>
            <a:r>
              <a:rPr lang="de-DE" sz="2000" dirty="0"/>
              <a:t>Spannung durch Fortschrittsanzeige</a:t>
            </a:r>
            <a:br>
              <a:rPr lang="de-DE" sz="2000" dirty="0"/>
            </a:br>
            <a:r>
              <a:rPr lang="de-DE" sz="2000" dirty="0"/>
              <a:t>Die Einsätze aller </a:t>
            </a:r>
            <a:r>
              <a:rPr lang="de-DE" sz="2000" dirty="0" err="1"/>
              <a:t>Spieler:innen</a:t>
            </a:r>
            <a:r>
              <a:rPr lang="de-DE" sz="2000" dirty="0"/>
              <a:t> füllt eine sichtbare Jackpot-Leiste. Wenn sie voll ist, muss der Jackpot fallen.</a:t>
            </a:r>
          </a:p>
          <a:p>
            <a:pPr marL="342900" indent="-342900">
              <a:spcBef>
                <a:spcPts val="300"/>
              </a:spcBef>
              <a:buFont typeface="Arial" panose="020B0604020202020204" pitchFamily="34" charset="0"/>
              <a:buChar char="•"/>
            </a:pPr>
            <a:r>
              <a:rPr lang="de-DE" sz="2000" dirty="0"/>
              <a:t>Geteilte Vorfreude</a:t>
            </a:r>
            <a:br>
              <a:rPr lang="de-DE" sz="2000" dirty="0"/>
            </a:br>
            <a:r>
              <a:rPr lang="de-DE" sz="2000" dirty="0"/>
              <a:t>Alle sehen, wie sich die Anzeige füllt – jeder Einsatz bringt den Fall näher und erzeugt kollektive Spannung.</a:t>
            </a:r>
          </a:p>
          <a:p>
            <a:pPr marL="342900" indent="-342900">
              <a:spcBef>
                <a:spcPts val="300"/>
              </a:spcBef>
              <a:buFont typeface="Arial" panose="020B0604020202020204" pitchFamily="34" charset="0"/>
              <a:buChar char="•"/>
            </a:pPr>
            <a:r>
              <a:rPr lang="de-DE" sz="2000" dirty="0"/>
              <a:t>Der Endspurt</a:t>
            </a:r>
            <a:br>
              <a:rPr lang="de-DE" sz="2000" dirty="0"/>
            </a:br>
            <a:r>
              <a:rPr lang="de-DE" sz="2000" dirty="0"/>
              <a:t>Wenn der Balken sich der Grenze nähert, steigt die Aktivität der </a:t>
            </a:r>
            <a:r>
              <a:rPr lang="de-DE" sz="2000" dirty="0" err="1"/>
              <a:t>Spieler:innen</a:t>
            </a:r>
            <a:r>
              <a:rPr lang="de-DE" sz="2000" dirty="0"/>
              <a:t> – jeder will noch rechtzeitig mitmischen, bevor er fällt.</a:t>
            </a:r>
          </a:p>
          <a:p>
            <a:pPr marL="342900" indent="-342900">
              <a:spcBef>
                <a:spcPts val="300"/>
              </a:spcBef>
              <a:buFont typeface="Arial" panose="020B0604020202020204" pitchFamily="34" charset="0"/>
              <a:buChar char="•"/>
            </a:pPr>
            <a:r>
              <a:rPr lang="de-DE" sz="2000" dirty="0"/>
              <a:t>Mehrere Jackpot-Stufen</a:t>
            </a:r>
            <a:br>
              <a:rPr lang="de-DE" sz="2000" dirty="0"/>
            </a:br>
            <a:r>
              <a:rPr lang="de-DE" sz="2000" dirty="0"/>
              <a:t>Unterschiedliche Zeitintervalle (z. B. stündlich, täglich, wöchentlich) sorgen dafür, dass immer ein Jackpot kurz </a:t>
            </a:r>
            <a:br>
              <a:rPr lang="cs-CZ" sz="2000" dirty="0"/>
            </a:br>
            <a:r>
              <a:rPr lang="de-DE" sz="2000" dirty="0"/>
              <a:t>vor dem „Fallen“ steht.</a:t>
            </a:r>
          </a:p>
          <a:p>
            <a:pPr>
              <a:spcBef>
                <a:spcPts val="600"/>
              </a:spcBef>
            </a:pPr>
            <a:r>
              <a:rPr lang="de-DE" sz="2000" dirty="0"/>
              <a:t>Mit verschiedenen Must-Win Jackpots über den Tag verteilt wartet immer irgendwo ein Jackpot darauf, geknackt zu werden.</a:t>
            </a:r>
          </a:p>
          <a:p>
            <a:pPr>
              <a:spcBef>
                <a:spcPts val="600"/>
              </a:spcBef>
            </a:pPr>
            <a:r>
              <a:rPr lang="de-DE" sz="2000" dirty="0"/>
              <a:t>Es ist nicht nur ein Spiel – es ist ein Wettlauf gegen die Zeit, </a:t>
            </a:r>
            <a:br>
              <a:rPr lang="cs-CZ" sz="2000" dirty="0"/>
            </a:br>
            <a:r>
              <a:rPr lang="de-DE" sz="2000" dirty="0"/>
              <a:t>ein Nervenkitzel, bei dem jeder Spin zählt.</a:t>
            </a:r>
            <a:br>
              <a:rPr lang="de-DE" sz="2000" dirty="0"/>
            </a:br>
            <a:r>
              <a:rPr lang="de-DE" sz="2000" dirty="0"/>
              <a:t>Und die Spannung, zu wissen, dass der Jackpot bald fallen muss, bringt die </a:t>
            </a:r>
            <a:r>
              <a:rPr lang="de-DE" sz="2000" dirty="0" err="1"/>
              <a:t>Spieler:innen</a:t>
            </a:r>
            <a:r>
              <a:rPr lang="de-DE" sz="2000" dirty="0"/>
              <a:t> immer wieder zurück.</a:t>
            </a:r>
          </a:p>
          <a:p>
            <a:pPr>
              <a:spcBef>
                <a:spcPts val="600"/>
              </a:spcBef>
            </a:pPr>
            <a:r>
              <a:rPr lang="de-DE" sz="2000" b="1" dirty="0"/>
              <a:t>Der Countdown läuft. Der Jackpot steigt.</a:t>
            </a:r>
            <a:br>
              <a:rPr lang="cs-CZ" sz="2000" b="1" dirty="0"/>
            </a:br>
            <a:r>
              <a:rPr lang="de-DE" sz="2000" b="1" dirty="0"/>
              <a:t>Die Frage ist – wirst du es sein?</a:t>
            </a:r>
          </a:p>
        </p:txBody>
      </p:sp>
    </p:spTree>
    <p:extLst>
      <p:ext uri="{BB962C8B-B14F-4D97-AF65-F5344CB8AC3E}">
        <p14:creationId xmlns:p14="http://schemas.microsoft.com/office/powerpoint/2010/main" val="2915784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B5D31-DACA-67AB-56FA-2B090537A0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560A019-4929-C81A-6C6F-9DCDD677B7DF}"/>
              </a:ext>
            </a:extLst>
          </p:cNvPr>
          <p:cNvSpPr/>
          <p:nvPr/>
        </p:nvSpPr>
        <p:spPr>
          <a:xfrm>
            <a:off x="0" y="1"/>
            <a:ext cx="6858000" cy="567069"/>
          </a:xfrm>
          <a:prstGeom prst="rect">
            <a:avLst/>
          </a:prstGeom>
          <a:solidFill>
            <a:srgbClr val="F6D4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C1C93163-348D-6D65-E6A5-69DF05056753}"/>
              </a:ext>
            </a:extLst>
          </p:cNvPr>
          <p:cNvSpPr>
            <a:spLocks noGrp="1" noChangeAspect="1"/>
          </p:cNvSpPr>
          <p:nvPr>
            <p:ph type="body" sz="quarter" idx="10"/>
          </p:nvPr>
        </p:nvSpPr>
        <p:spPr>
          <a:xfrm>
            <a:off x="112295" y="0"/>
            <a:ext cx="6745706" cy="930439"/>
          </a:xfrm>
        </p:spPr>
        <p:txBody>
          <a:bodyPr>
            <a:noAutofit/>
          </a:bodyPr>
          <a:lstStyle/>
          <a:p>
            <a:pPr>
              <a:lnSpc>
                <a:spcPct val="100000"/>
              </a:lnSpc>
              <a:spcBef>
                <a:spcPts val="0"/>
              </a:spcBef>
            </a:pPr>
            <a:r>
              <a:rPr lang="de-DE" b="1" dirty="0"/>
              <a:t>Time-</a:t>
            </a:r>
            <a:r>
              <a:rPr lang="de-DE" b="1" dirty="0" err="1"/>
              <a:t>Locked</a:t>
            </a:r>
            <a:r>
              <a:rPr lang="de-DE" b="1" dirty="0"/>
              <a:t> </a:t>
            </a:r>
            <a:r>
              <a:rPr lang="de-DE" b="1" dirty="0" err="1"/>
              <a:t>Must-Win</a:t>
            </a:r>
            <a:r>
              <a:rPr lang="de-DE" b="1"/>
              <a:t> Jackpots</a:t>
            </a:r>
            <a:endParaRPr lang="cs-CZ" b="1" dirty="0"/>
          </a:p>
          <a:p>
            <a:pPr>
              <a:lnSpc>
                <a:spcPct val="100000"/>
              </a:lnSpc>
              <a:spcBef>
                <a:spcPts val="0"/>
              </a:spcBef>
            </a:pPr>
            <a:r>
              <a:rPr lang="de-DE" sz="2400" dirty="0"/>
              <a:t>Das Spiel mit zeitlich begrenztem Nervenkitzel und garantiertem Gewinn</a:t>
            </a:r>
            <a:endParaRPr lang="cs-CZ" sz="2400" dirty="0"/>
          </a:p>
        </p:txBody>
      </p:sp>
      <p:sp>
        <p:nvSpPr>
          <p:cNvPr id="2" name="Text Placeholder 2">
            <a:extLst>
              <a:ext uri="{FF2B5EF4-FFF2-40B4-BE49-F238E27FC236}">
                <a16:creationId xmlns:a16="http://schemas.microsoft.com/office/drawing/2014/main" id="{7DCFC224-B5FE-A3CB-0F53-056DADCA4A3A}"/>
              </a:ext>
            </a:extLst>
          </p:cNvPr>
          <p:cNvSpPr txBox="1">
            <a:spLocks noChangeAspect="1"/>
          </p:cNvSpPr>
          <p:nvPr/>
        </p:nvSpPr>
        <p:spPr>
          <a:xfrm>
            <a:off x="112295" y="1507956"/>
            <a:ext cx="6745705" cy="929180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3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de-DE" sz="2200" dirty="0"/>
              <a:t>In der Welt des Online-Gamings gibt es nichts Spannenderes, als zu wissen: Ein Jackpot muss fallen – heute, oder sogar in dieser Stunde.</a:t>
            </a:r>
          </a:p>
          <a:p>
            <a:r>
              <a:rPr lang="de-DE" sz="2200" dirty="0"/>
              <a:t>Das ist das elektrisierende Prinzip der Must-Win Jackpots: Eine dynamische Jackpot-Erfahrung, bei der der Gewinn nicht nur möglich, sondern garantiert ist.</a:t>
            </a:r>
            <a:br>
              <a:rPr lang="de-DE" sz="2200" dirty="0"/>
            </a:br>
            <a:r>
              <a:rPr lang="de-DE" sz="2200" dirty="0"/>
              <a:t>Die einzige Frage ist: Wer wird ihn knacken – und wann?</a:t>
            </a:r>
          </a:p>
          <a:p>
            <a:r>
              <a:rPr lang="de-DE" sz="2200" dirty="0"/>
              <a:t>So knackst du den Jackpot  </a:t>
            </a:r>
          </a:p>
          <a:p>
            <a:r>
              <a:rPr lang="de-DE" sz="2200" dirty="0"/>
              <a:t>Time-</a:t>
            </a:r>
            <a:r>
              <a:rPr lang="de-DE" sz="2200" dirty="0" err="1"/>
              <a:t>Locked</a:t>
            </a:r>
            <a:r>
              <a:rPr lang="de-DE" sz="2200" dirty="0"/>
              <a:t> Edition/Zeitgesteuerte Jackpots</a:t>
            </a:r>
          </a:p>
          <a:p>
            <a:pPr marL="342900" indent="-342900">
              <a:buFont typeface="Arial" panose="020B0604020202020204" pitchFamily="34" charset="0"/>
              <a:buChar char="•"/>
            </a:pPr>
            <a:r>
              <a:rPr lang="de-DE" sz="2200" dirty="0"/>
              <a:t>Spannung mit Ablaufdatum</a:t>
            </a:r>
            <a:br>
              <a:rPr lang="de-DE" sz="2200" dirty="0"/>
            </a:br>
            <a:r>
              <a:rPr lang="de-DE" sz="2200" dirty="0"/>
              <a:t>Der Jackpot muss bis zu einem bestimmten Zeitpunkt fallen – sei es heute um Mitternacht, diesen Freitag um 20:00 Uhr oder sogar zu jeder vollen Stunde.</a:t>
            </a:r>
          </a:p>
          <a:p>
            <a:pPr marL="342900" indent="-342900">
              <a:buFont typeface="Arial" panose="020B0604020202020204" pitchFamily="34" charset="0"/>
              <a:buChar char="•"/>
            </a:pPr>
            <a:r>
              <a:rPr lang="de-DE" sz="2200" dirty="0"/>
              <a:t>Countdown-Timer im Spiel</a:t>
            </a:r>
            <a:br>
              <a:rPr lang="de-DE" sz="2200" dirty="0"/>
            </a:br>
            <a:r>
              <a:rPr lang="de-DE" sz="2200" dirty="0"/>
              <a:t>Ein Live-Timer zählt in Echtzeit herunter und steigert die Spannung, je näher der Moment rückt.</a:t>
            </a:r>
          </a:p>
          <a:p>
            <a:pPr marL="342900" indent="-342900">
              <a:buFont typeface="Arial" panose="020B0604020202020204" pitchFamily="34" charset="0"/>
              <a:buChar char="•"/>
            </a:pPr>
            <a:r>
              <a:rPr lang="de-DE" sz="2200" dirty="0"/>
              <a:t>Last-Minute Madness</a:t>
            </a:r>
            <a:br>
              <a:rPr lang="de-DE" sz="2200" dirty="0"/>
            </a:br>
            <a:r>
              <a:rPr lang="de-DE" sz="2200" dirty="0"/>
              <a:t>Wenn der Timer gegen Null geht, strömen die </a:t>
            </a:r>
            <a:r>
              <a:rPr lang="de-DE" sz="2200" dirty="0" err="1"/>
              <a:t>Spieler:innen</a:t>
            </a:r>
            <a:r>
              <a:rPr lang="de-DE" sz="2200" dirty="0"/>
              <a:t> herbei und versuchen mit dem letzten Spin den Gewinn zu erzielen.</a:t>
            </a:r>
          </a:p>
          <a:p>
            <a:r>
              <a:rPr lang="de-DE" sz="2200" dirty="0"/>
              <a:t>Das ist nicht nur ein Spiel – das ist ein Wettlauf gegen die Zeit.</a:t>
            </a:r>
            <a:br>
              <a:rPr lang="de-DE" sz="2200" dirty="0"/>
            </a:br>
            <a:r>
              <a:rPr lang="de-DE" sz="2200" dirty="0"/>
              <a:t>Eine atemberaubende Jagd, bei dem jeder Spin zählt.</a:t>
            </a:r>
            <a:br>
              <a:rPr lang="de-DE" sz="2200" dirty="0"/>
            </a:br>
            <a:r>
              <a:rPr lang="de-DE" sz="2200" dirty="0"/>
              <a:t>Und die Gewissheit, dass der Jackpot bald fällt, hält alle am Ball.</a:t>
            </a:r>
          </a:p>
          <a:p>
            <a:r>
              <a:rPr lang="de-DE" sz="2200" b="1" dirty="0"/>
              <a:t>Der Countdown läuft. Der Jackpot steigt.</a:t>
            </a:r>
          </a:p>
          <a:p>
            <a:r>
              <a:rPr lang="de-DE" sz="2200" b="1" dirty="0"/>
              <a:t>Die Frage ist – wirst du es sein?</a:t>
            </a:r>
          </a:p>
        </p:txBody>
      </p:sp>
    </p:spTree>
    <p:extLst>
      <p:ext uri="{BB962C8B-B14F-4D97-AF65-F5344CB8AC3E}">
        <p14:creationId xmlns:p14="http://schemas.microsoft.com/office/powerpoint/2010/main" val="28492054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5"/>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contentBits="0" removed="0"/>
  <clbl:label id="{c571f18c-497c-4d4c-8e1f-0c17d4b07070}" enabled="1" method="Privileged" siteId="{9ac00793-ea7d-4575-8264-fafd675916aa}" contentBits="2" removed="0"/>
</clbl:labelList>
</file>

<file path=docProps/app.xml><?xml version="1.0" encoding="utf-8"?>
<Properties xmlns="http://schemas.openxmlformats.org/officeDocument/2006/extended-properties" xmlns:vt="http://schemas.openxmlformats.org/officeDocument/2006/docPropsVTypes">
  <Template>Office Theme</Template>
  <TotalTime>27</TotalTime>
  <Words>1212</Words>
  <Application>Microsoft Office PowerPoint</Application>
  <PresentationFormat>Custom</PresentationFormat>
  <Paragraphs>65</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27</cp:revision>
  <dcterms:created xsi:type="dcterms:W3CDTF">2022-11-09T07:36:23Z</dcterms:created>
  <dcterms:modified xsi:type="dcterms:W3CDTF">2025-12-16T08:53:31Z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y fmtid="{D5CDD505-2E9C-101B-9397-08002B2CF9AE}" pid="9" name="ClassificationContentMarkingFooterLocations">
    <vt:lpwstr>Office Theme:5</vt:lpwstr>
  </property>
  <property fmtid="{D5CDD505-2E9C-101B-9397-08002B2CF9AE}" pid="10" name="ClassificationContentMarkingFooterText">
    <vt:lpwstr>Classification: INTERNAL</vt:lpwstr>
  </property>
</Properties>
</file>