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</p:sldIdLst>
  <p:sldSz cx="6858000" cy="1079976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B0F6"/>
    <a:srgbClr val="FC30A5"/>
    <a:srgbClr val="FD7BC5"/>
    <a:srgbClr val="D4CEC4"/>
    <a:srgbClr val="FCFE9A"/>
    <a:srgbClr val="9BF1FD"/>
    <a:srgbClr val="F2A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839583-EE9F-41C2-82C1-2F621645DCEF}" v="11" dt="2025-12-16T08:23:50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8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custSel modSld">
      <pc:chgData name="Peter Javornický" userId="3b98f8e0-d449-4f6e-b57d-5f9bfb7a5c2c" providerId="ADAL" clId="{88A10E76-C547-4713-B92A-3B48010D5CF0}" dt="2025-12-16T08:23:50.695" v="31"/>
      <pc:docMkLst>
        <pc:docMk/>
      </pc:docMkLst>
      <pc:sldChg chg="modSp mod">
        <pc:chgData name="Peter Javornický" userId="3b98f8e0-d449-4f6e-b57d-5f9bfb7a5c2c" providerId="ADAL" clId="{88A10E76-C547-4713-B92A-3B48010D5CF0}" dt="2025-12-16T08:15:58.808" v="2"/>
        <pc:sldMkLst>
          <pc:docMk/>
          <pc:sldMk cId="3669162915" sldId="272"/>
        </pc:sldMkLst>
        <pc:spChg chg="mod">
          <ac:chgData name="Peter Javornický" userId="3b98f8e0-d449-4f6e-b57d-5f9bfb7a5c2c" providerId="ADAL" clId="{88A10E76-C547-4713-B92A-3B48010D5CF0}" dt="2025-12-16T08:15:58.808" v="2"/>
          <ac:spMkLst>
            <pc:docMk/>
            <pc:sldMk cId="3669162915" sldId="272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16:28.226" v="5"/>
        <pc:sldMkLst>
          <pc:docMk/>
          <pc:sldMk cId="3385882476" sldId="273"/>
        </pc:sldMkLst>
        <pc:spChg chg="mod">
          <ac:chgData name="Peter Javornický" userId="3b98f8e0-d449-4f6e-b57d-5f9bfb7a5c2c" providerId="ADAL" clId="{88A10E76-C547-4713-B92A-3B48010D5CF0}" dt="2025-12-16T08:16:28.226" v="5"/>
          <ac:spMkLst>
            <pc:docMk/>
            <pc:sldMk cId="3385882476" sldId="273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17:44.534" v="8"/>
        <pc:sldMkLst>
          <pc:docMk/>
          <pc:sldMk cId="1036419051" sldId="274"/>
        </pc:sldMkLst>
        <pc:spChg chg="mod">
          <ac:chgData name="Peter Javornický" userId="3b98f8e0-d449-4f6e-b57d-5f9bfb7a5c2c" providerId="ADAL" clId="{88A10E76-C547-4713-B92A-3B48010D5CF0}" dt="2025-12-16T08:17:44.534" v="8"/>
          <ac:spMkLst>
            <pc:docMk/>
            <pc:sldMk cId="1036419051" sldId="274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18:12.240" v="11"/>
        <pc:sldMkLst>
          <pc:docMk/>
          <pc:sldMk cId="2300396861" sldId="275"/>
        </pc:sldMkLst>
        <pc:spChg chg="mod">
          <ac:chgData name="Peter Javornický" userId="3b98f8e0-d449-4f6e-b57d-5f9bfb7a5c2c" providerId="ADAL" clId="{88A10E76-C547-4713-B92A-3B48010D5CF0}" dt="2025-12-16T08:18:12.240" v="11"/>
          <ac:spMkLst>
            <pc:docMk/>
            <pc:sldMk cId="2300396861" sldId="275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19:09.709" v="14"/>
        <pc:sldMkLst>
          <pc:docMk/>
          <pc:sldMk cId="2574641618" sldId="276"/>
        </pc:sldMkLst>
        <pc:spChg chg="mod">
          <ac:chgData name="Peter Javornický" userId="3b98f8e0-d449-4f6e-b57d-5f9bfb7a5c2c" providerId="ADAL" clId="{88A10E76-C547-4713-B92A-3B48010D5CF0}" dt="2025-12-16T08:19:09.709" v="14"/>
          <ac:spMkLst>
            <pc:docMk/>
            <pc:sldMk cId="2574641618" sldId="276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19:39.172" v="17"/>
        <pc:sldMkLst>
          <pc:docMk/>
          <pc:sldMk cId="3522380568" sldId="277"/>
        </pc:sldMkLst>
        <pc:spChg chg="mod">
          <ac:chgData name="Peter Javornický" userId="3b98f8e0-d449-4f6e-b57d-5f9bfb7a5c2c" providerId="ADAL" clId="{88A10E76-C547-4713-B92A-3B48010D5CF0}" dt="2025-12-16T08:19:39.172" v="17"/>
          <ac:spMkLst>
            <pc:docMk/>
            <pc:sldMk cId="3522380568" sldId="277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20:37.328" v="20"/>
        <pc:sldMkLst>
          <pc:docMk/>
          <pc:sldMk cId="2895819414" sldId="278"/>
        </pc:sldMkLst>
        <pc:spChg chg="mod">
          <ac:chgData name="Peter Javornický" userId="3b98f8e0-d449-4f6e-b57d-5f9bfb7a5c2c" providerId="ADAL" clId="{88A10E76-C547-4713-B92A-3B48010D5CF0}" dt="2025-12-16T08:20:37.328" v="20"/>
          <ac:spMkLst>
            <pc:docMk/>
            <pc:sldMk cId="2895819414" sldId="278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21:10.360" v="23"/>
        <pc:sldMkLst>
          <pc:docMk/>
          <pc:sldMk cId="2270449164" sldId="279"/>
        </pc:sldMkLst>
        <pc:spChg chg="mod">
          <ac:chgData name="Peter Javornický" userId="3b98f8e0-d449-4f6e-b57d-5f9bfb7a5c2c" providerId="ADAL" clId="{88A10E76-C547-4713-B92A-3B48010D5CF0}" dt="2025-12-16T08:21:10.360" v="23"/>
          <ac:spMkLst>
            <pc:docMk/>
            <pc:sldMk cId="2270449164" sldId="279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22:08.715" v="25"/>
        <pc:sldMkLst>
          <pc:docMk/>
          <pc:sldMk cId="2577955923" sldId="280"/>
        </pc:sldMkLst>
        <pc:spChg chg="mod">
          <ac:chgData name="Peter Javornický" userId="3b98f8e0-d449-4f6e-b57d-5f9bfb7a5c2c" providerId="ADAL" clId="{88A10E76-C547-4713-B92A-3B48010D5CF0}" dt="2025-12-16T08:22:08.715" v="25"/>
          <ac:spMkLst>
            <pc:docMk/>
            <pc:sldMk cId="2577955923" sldId="280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22:45.517" v="28"/>
        <pc:sldMkLst>
          <pc:docMk/>
          <pc:sldMk cId="3820080283" sldId="281"/>
        </pc:sldMkLst>
        <pc:spChg chg="mod">
          <ac:chgData name="Peter Javornický" userId="3b98f8e0-d449-4f6e-b57d-5f9bfb7a5c2c" providerId="ADAL" clId="{88A10E76-C547-4713-B92A-3B48010D5CF0}" dt="2025-12-16T08:22:45.517" v="28"/>
          <ac:spMkLst>
            <pc:docMk/>
            <pc:sldMk cId="3820080283" sldId="281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23:50.695" v="31"/>
        <pc:sldMkLst>
          <pc:docMk/>
          <pc:sldMk cId="177573063" sldId="282"/>
        </pc:sldMkLst>
        <pc:spChg chg="mod">
          <ac:chgData name="Peter Javornický" userId="3b98f8e0-d449-4f6e-b57d-5f9bfb7a5c2c" providerId="ADAL" clId="{88A10E76-C547-4713-B92A-3B48010D5CF0}" dt="2025-12-16T08:23:50.695" v="31"/>
          <ac:spMkLst>
            <pc:docMk/>
            <pc:sldMk cId="177573063" sldId="282"/>
            <ac:spMk id="2" creationId="{44502129-00D9-C538-5C9D-8BE935563D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8576-1518-49B0-AA00-14C05CA9820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49513" y="1143000"/>
            <a:ext cx="1958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E046B-D405-48ED-9E04-8643E3702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9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1 - Powerball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62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2 - MegaMillions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91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3 – Omaze-inspired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1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4 – Progressive annuity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39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5 – Daily Millionaire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12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6 – New Years Eve 13 millionaires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09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7 – Millionaires Flood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31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8 – Real estate prizes added to Euromillions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78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9 – Experiential prizes added to annuity lottery (SFL)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26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10 – Euromillions (benchmark)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75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11 – Set for life (benchmark)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97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32F94C-A3EB-0460-E655-0A3959FD7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68" y="6351075"/>
            <a:ext cx="6236864" cy="42946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5E8AEF-C10B-3E11-465A-652BB8D4D089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20168"/>
            <a:ext cx="6069497" cy="922506"/>
          </a:xfrm>
        </p:spPr>
        <p:txBody>
          <a:bodyPr>
            <a:normAutofit fontScale="90000"/>
          </a:bodyPr>
          <a:lstStyle/>
          <a:p>
            <a:r>
              <a:rPr lang="cs-CZ" sz="2400" dirty="0" err="1"/>
              <a:t>Powerball</a:t>
            </a:r>
            <a:br>
              <a:rPr lang="cs-CZ" sz="2400" b="1" dirty="0"/>
            </a:br>
            <a:r>
              <a:rPr lang="en-US" sz="2400" b="1" dirty="0"/>
              <a:t>Imagine that there is a new lottery game to be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4589" y="942643"/>
            <a:ext cx="6400799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2000" dirty="0"/>
              <a:t>This lottery game would be offered internationally.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Thanks to the shared pool between 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many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participating countries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this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would be 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cs-CZ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world´s biggest lottery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Its jackpot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exceed </a:t>
            </a:r>
            <a:r>
              <a:rPr lang="cs-CZ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half a billion GBP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verage jackpot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would be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about a quarter of a billion GBP.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minimum jackpot size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would be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guaranteed at </a:t>
            </a:r>
            <a:r>
              <a:rPr lang="cs-CZ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 million GBP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cs-CZ" sz="2000" dirty="0"/>
              <a:t>To enter, you select 5 numbers out of 69 and 1 number out of 26 for each line played, or simply </a:t>
            </a:r>
            <a:r>
              <a:rPr lang="en-GB" sz="2000" dirty="0"/>
              <a:t>select </a:t>
            </a:r>
            <a:r>
              <a:rPr lang="cs-CZ" sz="2000" dirty="0"/>
              <a:t>a random lucky dip option.</a:t>
            </a:r>
            <a:endParaRPr lang="cs-CZ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Price per participation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lang="cs-CZ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GBP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For this price you get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cs-CZ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lines</a:t>
            </a: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in other words two chances to match the 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cs-CZ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5+1 numbers.</a:t>
            </a:r>
          </a:p>
          <a:p>
            <a:pPr marL="0" indent="0" algn="just">
              <a:buNone/>
            </a:pPr>
            <a:r>
              <a:rPr lang="cs-CZ" sz="2000" dirty="0"/>
              <a:t>There </a:t>
            </a:r>
            <a:r>
              <a:rPr lang="en-GB" sz="2000" dirty="0"/>
              <a:t>would be</a:t>
            </a:r>
            <a:r>
              <a:rPr lang="cs-CZ" sz="2000" dirty="0"/>
              <a:t> three draws per week, held every Monday, Wednesday and Saturday. The top prize </a:t>
            </a:r>
            <a:r>
              <a:rPr lang="en-GB" sz="2000" dirty="0"/>
              <a:t>would be</a:t>
            </a:r>
            <a:r>
              <a:rPr lang="cs-CZ" sz="2000" dirty="0"/>
              <a:t> won (theoretically) 4</a:t>
            </a:r>
            <a:r>
              <a:rPr lang="en-GB" sz="2000" dirty="0"/>
              <a:t>-</a:t>
            </a:r>
            <a:r>
              <a:rPr lang="cs-CZ" sz="2000" dirty="0"/>
              <a:t>5 times a year.</a:t>
            </a:r>
          </a:p>
          <a:p>
            <a:pPr marL="0" indent="0" algn="just">
              <a:buNone/>
            </a:pPr>
            <a:r>
              <a:rPr lang="cs-CZ" sz="2000" dirty="0"/>
              <a:t>In the UK, </a:t>
            </a:r>
            <a:r>
              <a:rPr lang="en-US" sz="2000" dirty="0"/>
              <a:t>this game would be offered in all points of sale where you can buy lottery tickets or scratch cards or online on respective websites and apps.</a:t>
            </a:r>
            <a:endParaRPr lang="cs-CZ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916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1B8AD9-A5CD-8A2F-CC9B-5882ACC01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70" y="6319286"/>
            <a:ext cx="6265140" cy="431408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CC3710-D431-CD01-2888-324C17A73069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20168"/>
            <a:ext cx="6069497" cy="922506"/>
          </a:xfrm>
        </p:spPr>
        <p:txBody>
          <a:bodyPr>
            <a:normAutofit fontScale="90000"/>
          </a:bodyPr>
          <a:lstStyle/>
          <a:p>
            <a:r>
              <a:rPr lang="cs-CZ" sz="2400" dirty="0" err="1"/>
              <a:t>MegaMillions</a:t>
            </a:r>
            <a:br>
              <a:rPr lang="cs-CZ" sz="2400" b="1" dirty="0"/>
            </a:br>
            <a:r>
              <a:rPr lang="en-US" sz="2400" b="1" dirty="0"/>
              <a:t>Imagine that there is a new lottery game to be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548" y="942643"/>
            <a:ext cx="6448926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1800" dirty="0"/>
              <a:t>This lottery game would be offered internationally.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cs-CZ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Its jackpot can reach as high as </a:t>
            </a:r>
            <a:r>
              <a:rPr lang="cs-CZ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billion GBP</a:t>
            </a:r>
            <a:r>
              <a:rPr lang="cs-CZ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</a:t>
            </a:r>
            <a:r>
              <a:rPr lang="cs-CZ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verage jackpot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would be</a:t>
            </a:r>
            <a:r>
              <a:rPr lang="cs-CZ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about a quarter of a billion GBP.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minimum </a:t>
            </a:r>
            <a:r>
              <a:rPr lang="cs-CZ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jackpot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would be</a:t>
            </a:r>
            <a:r>
              <a:rPr lang="cs-CZ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guaranteed at 50 million GBP. </a:t>
            </a:r>
            <a:r>
              <a:rPr lang="cs-CZ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jackpot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would be</a:t>
            </a:r>
            <a:r>
              <a:rPr lang="cs-CZ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paid in annual installments for 30 years.</a:t>
            </a:r>
            <a:r>
              <a:rPr lang="cs-CZ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Payouts can be inherited as well.</a:t>
            </a:r>
          </a:p>
          <a:p>
            <a:pPr marL="0" indent="0" algn="just">
              <a:buNone/>
            </a:pPr>
            <a:r>
              <a:rPr lang="cs-CZ" sz="1800" dirty="0"/>
              <a:t>To enter, you select 5 numbers out of 70 and 1 number out of </a:t>
            </a:r>
            <a:br>
              <a:rPr lang="en-US" sz="1800" dirty="0"/>
            </a:br>
            <a:r>
              <a:rPr lang="cs-CZ" sz="1800" dirty="0"/>
              <a:t>25 for each line played, or simply </a:t>
            </a:r>
            <a:r>
              <a:rPr lang="en-GB" sz="1800" dirty="0"/>
              <a:t>select </a:t>
            </a:r>
            <a:r>
              <a:rPr lang="cs-CZ" sz="1800" dirty="0"/>
              <a:t>a random lucky dip option.</a:t>
            </a:r>
            <a:endParaRPr lang="cs-CZ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cs-CZ" sz="1800" dirty="0"/>
              <a:t>Together with the main game, there </a:t>
            </a:r>
            <a:r>
              <a:rPr lang="en-GB" sz="1800" dirty="0"/>
              <a:t>would</a:t>
            </a:r>
            <a:r>
              <a:rPr lang="cs-CZ" sz="1800" dirty="0"/>
              <a:t> also </a:t>
            </a:r>
            <a:r>
              <a:rPr lang="en-GB" sz="1800" dirty="0"/>
              <a:t>be </a:t>
            </a:r>
            <a:r>
              <a:rPr lang="cs-CZ" sz="1800" dirty="0"/>
              <a:t>an add-on game that multiplies all winnings (except for the jackpot) by 2</a:t>
            </a:r>
            <a:r>
              <a:rPr lang="en-GB" sz="1800" dirty="0"/>
              <a:t>-</a:t>
            </a:r>
            <a:r>
              <a:rPr lang="cs-CZ" sz="1800" dirty="0"/>
              <a:t>5</a:t>
            </a:r>
            <a:r>
              <a:rPr lang="en-GB" sz="1800" dirty="0"/>
              <a:t> times</a:t>
            </a:r>
            <a:r>
              <a:rPr lang="cs-CZ" sz="1800" dirty="0"/>
              <a:t>. The </a:t>
            </a:r>
            <a:r>
              <a:rPr lang="en-GB" sz="1800" dirty="0"/>
              <a:t>M</a:t>
            </a:r>
            <a:r>
              <a:rPr lang="cs-CZ" sz="1800" dirty="0"/>
              <a:t>ultiplier number </a:t>
            </a:r>
            <a:r>
              <a:rPr lang="en-GB" sz="1800" dirty="0"/>
              <a:t>would be</a:t>
            </a:r>
            <a:r>
              <a:rPr lang="cs-CZ" sz="1800" dirty="0"/>
              <a:t> drawn before each draw. Therefore, players who win 1 million in the second prize tier can multiply their winnings to 2, 3, 4 or 5 million GBP.</a:t>
            </a:r>
            <a:endParaRPr lang="cs-CZ" sz="1800" dirty="0">
              <a:highlight>
                <a:srgbClr val="FFFF00"/>
              </a:highlight>
            </a:endParaRPr>
          </a:p>
          <a:p>
            <a:pPr marL="0" indent="0" algn="just">
              <a:buNone/>
            </a:pPr>
            <a:r>
              <a:rPr lang="cs-CZ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Price per participation is</a:t>
            </a:r>
            <a:r>
              <a:rPr lang="cs-CZ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5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GBP</a:t>
            </a:r>
            <a:r>
              <a:rPr lang="cs-CZ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For this price you get </a:t>
            </a:r>
            <a:r>
              <a:rPr lang="cs-CZ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line </a:t>
            </a:r>
            <a:r>
              <a:rPr lang="cs-CZ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main game </a:t>
            </a:r>
            <a:r>
              <a:rPr lang="cs-CZ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also the add-on multiplier</a:t>
            </a:r>
            <a:r>
              <a:rPr lang="cs-CZ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cs-CZ" sz="1800" dirty="0"/>
              <a:t>There </a:t>
            </a:r>
            <a:r>
              <a:rPr lang="en-GB" sz="1800" dirty="0"/>
              <a:t>would be</a:t>
            </a:r>
            <a:r>
              <a:rPr lang="cs-CZ" sz="1800" dirty="0"/>
              <a:t> two draws per week. The top prize </a:t>
            </a:r>
            <a:r>
              <a:rPr lang="en-GB" sz="1800" dirty="0"/>
              <a:t>would be</a:t>
            </a:r>
            <a:r>
              <a:rPr lang="cs-CZ" sz="1800" dirty="0"/>
              <a:t> won (theoretically) 4</a:t>
            </a:r>
            <a:r>
              <a:rPr lang="en-GB" sz="1800" dirty="0"/>
              <a:t>-</a:t>
            </a:r>
            <a:r>
              <a:rPr lang="cs-CZ" sz="1800" dirty="0"/>
              <a:t>5 times a year.</a:t>
            </a:r>
          </a:p>
          <a:p>
            <a:pPr marL="0" indent="0" algn="just">
              <a:buNone/>
            </a:pPr>
            <a:r>
              <a:rPr lang="cs-CZ" sz="1800" dirty="0"/>
              <a:t>In the UK, </a:t>
            </a:r>
            <a:r>
              <a:rPr lang="en-US" sz="1800" dirty="0"/>
              <a:t>this game would be offered in all points of sale where you can buy lottery tickets or scratch cards or online on respective websites and apps.</a:t>
            </a:r>
            <a:endParaRPr lang="cs-CZ" sz="1800" dirty="0"/>
          </a:p>
          <a:p>
            <a:pPr marL="0" indent="0" algn="just">
              <a:buNone/>
            </a:pPr>
            <a:endParaRPr lang="cs-CZ" sz="1800" dirty="0"/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85882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ECABF6-E9D3-E9AC-AC2C-935CBBE45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97" y="7442433"/>
            <a:ext cx="6360693" cy="31566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BE6A12-DCA3-E779-E6D2-2AE0420DB2CA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20168"/>
            <a:ext cx="6069497" cy="922506"/>
          </a:xfrm>
        </p:spPr>
        <p:txBody>
          <a:bodyPr>
            <a:normAutofit fontScale="90000"/>
          </a:bodyPr>
          <a:lstStyle/>
          <a:p>
            <a:r>
              <a:rPr lang="cs-CZ" sz="2400" dirty="0" err="1"/>
              <a:t>Omaze-inspired</a:t>
            </a:r>
            <a:br>
              <a:rPr lang="cs-CZ" sz="2400" b="1" dirty="0"/>
            </a:br>
            <a:r>
              <a:rPr lang="en-US" sz="2400" b="1" dirty="0"/>
              <a:t>Imagine that there is a new lottery game to be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0632" y="942643"/>
            <a:ext cx="6368715" cy="9255953"/>
          </a:xfrm>
        </p:spPr>
        <p:txBody>
          <a:bodyPr>
            <a:normAutofit/>
          </a:bodyPr>
          <a:lstStyle/>
          <a:p>
            <a:pPr marL="0" marR="0" lvl="0" indent="0" algn="just" defTabSz="6858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cs-CZ" sz="18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This lottery would be a monthly raffle played internationally. Thanks to the shared pool, it could offer </a:t>
            </a:r>
            <a:r>
              <a:rPr kumimoji="0" lang="cs-CZ" sz="18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exclusive dreamy houses every month</a:t>
            </a:r>
            <a:r>
              <a:rPr kumimoji="0" lang="cs-CZ" sz="18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. It could be a villa in Spain in the January draw, then a luxurious condo in the Alps in February, a penthouse overlooking ancient Rome, or a bungalow on a Caribbean island.</a:t>
            </a:r>
          </a:p>
          <a:p>
            <a:pPr marL="0" marR="0" lvl="0" indent="0" algn="just" defTabSz="6858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cs-CZ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There will also be hundreds of cash prizes of </a:t>
            </a:r>
            <a:r>
              <a:rPr lang="cs-CZ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25 000 GBP</a:t>
            </a:r>
            <a:r>
              <a:rPr lang="cs-CZ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en-US" sz="1800" b="0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None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To enter</a:t>
            </a:r>
            <a:r>
              <a:rPr kumimoji="0" lang="cs-CZ" sz="18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 the game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kumimoji="0" lang="cs-CZ" sz="18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you do not need to 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kumimoji="0" lang="cs-CZ" sz="18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hoose any numbers. Your purchase generates a unique code which will be put in</a:t>
            </a:r>
            <a:r>
              <a:rPr kumimoji="0" lang="en-GB" sz="18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to</a:t>
            </a:r>
            <a:r>
              <a:rPr kumimoji="0" lang="cs-CZ" sz="18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 a database. It means, the more entries you buy, the more times your code will appear in the database. Then, at the end of the month, </a:t>
            </a:r>
            <a:r>
              <a:rPr lang="en-US" sz="1800" dirty="0"/>
              <a:t>the winner will be drawn using a randomised draw engine</a:t>
            </a:r>
            <a:r>
              <a:rPr lang="cs-CZ" sz="1800" dirty="0"/>
              <a:t>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None/>
              <a:defRPr/>
            </a:pPr>
            <a:r>
              <a:rPr lang="cs-CZ" sz="1800" dirty="0"/>
              <a:t>The only </a:t>
            </a:r>
            <a:r>
              <a:rPr lang="en-GB" sz="1800" dirty="0"/>
              <a:t>way to purchase is via </a:t>
            </a:r>
            <a:r>
              <a:rPr lang="cs-CZ" sz="1800" b="1" dirty="0"/>
              <a:t>online subscription</a:t>
            </a:r>
            <a:r>
              <a:rPr lang="cs-CZ" sz="1800" dirty="0"/>
              <a:t>.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None/>
              <a:defRPr/>
            </a:pPr>
            <a:r>
              <a:rPr lang="cs-CZ" sz="1800" dirty="0"/>
              <a:t>You can choose how many times you want your code to be put into the database. For </a:t>
            </a:r>
            <a:r>
              <a:rPr lang="cs-CZ" sz="1800" b="1" dirty="0"/>
              <a:t>10 GBP a month</a:t>
            </a:r>
            <a:r>
              <a:rPr lang="cs-CZ" sz="1800" dirty="0"/>
              <a:t>, you get 30 entries into the monthly raffle. For </a:t>
            </a:r>
            <a:r>
              <a:rPr lang="cs-CZ" sz="1800" b="1" dirty="0"/>
              <a:t>30 GBP </a:t>
            </a:r>
            <a:r>
              <a:rPr lang="cs-CZ" sz="1800" dirty="0"/>
              <a:t>a month, you get 100 entries.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None/>
              <a:defRPr/>
            </a:pPr>
            <a:r>
              <a:rPr lang="cs-CZ" sz="1800" dirty="0"/>
              <a:t>For those players who participate in all 12 draws of the year, there will be a free Grand Draw on New Years Day with a multi-million prize on top of the monthly prizes.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None/>
              <a:defRPr/>
            </a:pPr>
            <a:r>
              <a:rPr lang="cs-CZ" sz="1800" dirty="0"/>
              <a:t>The subscription can be cancelled anytime during the year.</a:t>
            </a: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3641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F0FC9A-8812-2ECE-363F-4A4242B07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68" y="6163616"/>
            <a:ext cx="6344652" cy="45420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93EF34-A909-63FF-B74E-A6CA81516504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4126"/>
            <a:ext cx="6069497" cy="922506"/>
          </a:xfrm>
        </p:spPr>
        <p:txBody>
          <a:bodyPr>
            <a:normAutofit fontScale="90000"/>
          </a:bodyPr>
          <a:lstStyle/>
          <a:p>
            <a:r>
              <a:rPr lang="cs-CZ" sz="2400" dirty="0" err="1"/>
              <a:t>Progressive</a:t>
            </a:r>
            <a:r>
              <a:rPr lang="cs-CZ" sz="2400" dirty="0"/>
              <a:t> </a:t>
            </a:r>
            <a:r>
              <a:rPr lang="cs-CZ" sz="2400" dirty="0" err="1"/>
              <a:t>annuity</a:t>
            </a:r>
            <a:br>
              <a:rPr lang="cs-CZ" sz="2400" b="1" dirty="0"/>
            </a:br>
            <a:r>
              <a:rPr lang="en-US" sz="2400" b="1" dirty="0"/>
              <a:t>Imagine that there is a new lottery game to be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674" y="926601"/>
            <a:ext cx="6416842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900" dirty="0"/>
              <a:t>This lottery game would be offered internationally. Thanks to the shared pool among participating countries, the game can offer a substantial top prize in the form of an annual payment, starting at a minimum </a:t>
            </a:r>
            <a:r>
              <a:rPr lang="en-US" sz="1900" b="1" dirty="0"/>
              <a:t>of 200</a:t>
            </a:r>
            <a:r>
              <a:rPr lang="cs-CZ" sz="1900" b="1" dirty="0"/>
              <a:t> </a:t>
            </a:r>
            <a:r>
              <a:rPr lang="en-US" sz="1900" b="1" dirty="0"/>
              <a:t>000 </a:t>
            </a:r>
            <a:r>
              <a:rPr lang="cs-CZ" sz="1900" b="1" dirty="0"/>
              <a:t>GBP </a:t>
            </a:r>
            <a:r>
              <a:rPr lang="en-US" sz="1900" b="1" dirty="0"/>
              <a:t>per year for 7 years</a:t>
            </a:r>
            <a:r>
              <a:rPr lang="en-US" sz="1900" dirty="0"/>
              <a:t>, and potentially reaching as high </a:t>
            </a:r>
            <a:r>
              <a:rPr lang="en-US" sz="1900" b="1" dirty="0"/>
              <a:t>as 5 million</a:t>
            </a:r>
            <a:r>
              <a:rPr lang="cs-CZ" sz="1900" b="1" dirty="0"/>
              <a:t> GBP</a:t>
            </a:r>
            <a:r>
              <a:rPr lang="en-US" sz="1900" b="1" dirty="0"/>
              <a:t> annually for          7 years</a:t>
            </a:r>
            <a:r>
              <a:rPr lang="en-US" sz="1900" dirty="0"/>
              <a:t>.</a:t>
            </a:r>
          </a:p>
          <a:p>
            <a:pPr marL="0" indent="0" algn="just">
              <a:buNone/>
            </a:pPr>
            <a:r>
              <a:rPr lang="en-US" sz="1900" dirty="0"/>
              <a:t>If the top prize is not won in the initial round, there is a rollover. The top prize then increases from 200</a:t>
            </a:r>
            <a:r>
              <a:rPr lang="cs-CZ" sz="1900" dirty="0"/>
              <a:t> </a:t>
            </a:r>
            <a:r>
              <a:rPr lang="en-US" sz="1900" dirty="0"/>
              <a:t>000</a:t>
            </a:r>
            <a:r>
              <a:rPr lang="cs-CZ" sz="1900" dirty="0"/>
              <a:t> GBP</a:t>
            </a:r>
            <a:r>
              <a:rPr lang="en-US" sz="1900" dirty="0"/>
              <a:t> to 270</a:t>
            </a:r>
            <a:r>
              <a:rPr lang="cs-CZ" sz="1900" dirty="0"/>
              <a:t> </a:t>
            </a:r>
            <a:r>
              <a:rPr lang="en-US" sz="1900" dirty="0"/>
              <a:t>000</a:t>
            </a:r>
            <a:r>
              <a:rPr lang="cs-CZ" sz="1900" dirty="0"/>
              <a:t> GBP</a:t>
            </a:r>
            <a:r>
              <a:rPr lang="en-US" sz="1900" dirty="0"/>
              <a:t> annually for 7 years and continues to grow after each draw until it is won.</a:t>
            </a:r>
          </a:p>
          <a:p>
            <a:pPr marL="0" indent="0" algn="just">
              <a:buNone/>
            </a:pPr>
            <a:r>
              <a:rPr lang="en-US" sz="1900" dirty="0"/>
              <a:t>To enter, you select 7 numbers out of 45 or opt for a lucky dip option.</a:t>
            </a:r>
          </a:p>
          <a:p>
            <a:pPr marL="0" indent="0" algn="just">
              <a:buNone/>
            </a:pPr>
            <a:r>
              <a:rPr lang="cs-CZ" sz="1900" dirty="0">
                <a:ea typeface="Calibri" panose="020F0502020204030204" pitchFamily="34" charset="0"/>
                <a:cs typeface="Times New Roman" panose="02020603050405020304" pitchFamily="18" charset="0"/>
              </a:rPr>
              <a:t>Price per 1 entry is </a:t>
            </a:r>
            <a:r>
              <a:rPr lang="cs-CZ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1.50 GBP</a:t>
            </a:r>
            <a:r>
              <a:rPr lang="cs-CZ" sz="19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cs-CZ" sz="1900" dirty="0"/>
              <a:t>There </a:t>
            </a:r>
            <a:r>
              <a:rPr lang="en-GB" sz="1900" dirty="0"/>
              <a:t>would be</a:t>
            </a:r>
            <a:r>
              <a:rPr lang="cs-CZ" sz="1900" dirty="0"/>
              <a:t> 2 draws of the game a week. T</a:t>
            </a:r>
            <a:r>
              <a:rPr lang="en-GB" sz="1900" dirty="0"/>
              <a:t>he t</a:t>
            </a:r>
            <a:r>
              <a:rPr lang="cs-CZ" sz="1900" dirty="0"/>
              <a:t>op prize </a:t>
            </a:r>
            <a:r>
              <a:rPr lang="en-GB" sz="1900" dirty="0"/>
              <a:t>would</a:t>
            </a:r>
            <a:r>
              <a:rPr lang="cs-CZ" sz="1900" dirty="0"/>
              <a:t> be won (theoretically) once in 10 weeks. </a:t>
            </a:r>
          </a:p>
          <a:p>
            <a:pPr marL="0" indent="0" algn="just">
              <a:buNone/>
            </a:pPr>
            <a:r>
              <a:rPr lang="cs-CZ" sz="1900" dirty="0"/>
              <a:t>In the UK, </a:t>
            </a:r>
            <a:r>
              <a:rPr lang="en-US" sz="1900" dirty="0"/>
              <a:t>this game would be offered in all points of sale where you can buy lottery tickets or scratch cards or online on respective websites and apps.</a:t>
            </a:r>
            <a:endParaRPr lang="cs-CZ" sz="1900" dirty="0"/>
          </a:p>
          <a:p>
            <a:pPr marL="0" indent="0" algn="just">
              <a:buNone/>
            </a:pPr>
            <a:endParaRPr lang="cs-CZ" sz="1900" dirty="0"/>
          </a:p>
          <a:p>
            <a:pPr algn="just"/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300396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217A54-A8A8-C580-E7DD-1AD0540B1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11" y="6452332"/>
            <a:ext cx="6069496" cy="41492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8C19F3-BC74-2FD0-9C57-0C0A9A7457A3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rgbClr val="F2A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4126"/>
            <a:ext cx="6069497" cy="922506"/>
          </a:xfrm>
        </p:spPr>
        <p:txBody>
          <a:bodyPr>
            <a:normAutofit fontScale="90000"/>
          </a:bodyPr>
          <a:lstStyle/>
          <a:p>
            <a:r>
              <a:rPr lang="cs-CZ" sz="2400" dirty="0" err="1"/>
              <a:t>Daily</a:t>
            </a:r>
            <a:r>
              <a:rPr lang="cs-CZ" sz="2400" dirty="0"/>
              <a:t> </a:t>
            </a:r>
            <a:r>
              <a:rPr lang="cs-CZ" sz="2400" dirty="0" err="1"/>
              <a:t>Millionaire</a:t>
            </a:r>
            <a:br>
              <a:rPr lang="cs-CZ" sz="2400" b="1" dirty="0"/>
            </a:br>
            <a:r>
              <a:rPr lang="en-US" sz="2400" b="1" dirty="0"/>
              <a:t>Imagine that there is a new lottery game to be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926601"/>
            <a:ext cx="6069497" cy="9255953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endParaRPr lang="en-US" sz="2200" dirty="0"/>
          </a:p>
          <a:p>
            <a:pPr marL="0" lvl="0" indent="0" algn="just">
              <a:buNone/>
            </a:pPr>
            <a:r>
              <a:rPr lang="cs-CZ" sz="2200" dirty="0"/>
              <a:t>This lottery would be offered internationally and would allow players to win a fixed top prize </a:t>
            </a:r>
            <a:r>
              <a:rPr lang="cs-CZ" sz="2200" dirty="0" err="1"/>
              <a:t>of</a:t>
            </a:r>
            <a:r>
              <a:rPr lang="cs-CZ" sz="2200" dirty="0"/>
              <a:t> </a:t>
            </a:r>
            <a:br>
              <a:rPr lang="cs-CZ" sz="2200" dirty="0"/>
            </a:br>
            <a:r>
              <a:rPr lang="cs-CZ" sz="2200" b="1" dirty="0"/>
              <a:t>1 million GBP on a daily basis</a:t>
            </a:r>
            <a:r>
              <a:rPr lang="cs-CZ" sz="2200" dirty="0"/>
              <a:t>.</a:t>
            </a:r>
          </a:p>
          <a:p>
            <a:pPr marL="0" indent="0" algn="just">
              <a:buNone/>
            </a:pPr>
            <a:r>
              <a:rPr lang="cs-CZ" sz="2200" dirty="0"/>
              <a:t>To enter, you select 6 numbers out of 40 or </a:t>
            </a:r>
            <a:r>
              <a:rPr lang="en-GB" sz="2200" dirty="0"/>
              <a:t>opt for </a:t>
            </a:r>
            <a:r>
              <a:rPr lang="cs-CZ" sz="2200" dirty="0"/>
              <a:t>a random lucky dip option.</a:t>
            </a:r>
          </a:p>
          <a:p>
            <a:pPr marL="0" indent="0" algn="just">
              <a:buNone/>
            </a:pPr>
            <a:r>
              <a:rPr lang="cs-CZ" sz="2200" dirty="0">
                <a:ea typeface="Calibri" panose="020F0502020204030204" pitchFamily="34" charset="0"/>
                <a:cs typeface="Times New Roman" panose="02020603050405020304" pitchFamily="18" charset="0"/>
              </a:rPr>
              <a:t>Price per 1 entry is</a:t>
            </a:r>
            <a:r>
              <a:rPr lang="cs-CZ" sz="2200" b="1" dirty="0">
                <a:ea typeface="Calibri" panose="020F0502020204030204" pitchFamily="34" charset="0"/>
                <a:cs typeface="Times New Roman" panose="02020603050405020304" pitchFamily="18" charset="0"/>
              </a:rPr>
              <a:t> 1 GBP</a:t>
            </a:r>
            <a:r>
              <a:rPr lang="cs-CZ" sz="22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cs-CZ" sz="2200" dirty="0"/>
              <a:t>T</a:t>
            </a:r>
            <a:r>
              <a:rPr lang="en-GB" sz="2200" dirty="0"/>
              <a:t>he t</a:t>
            </a:r>
            <a:r>
              <a:rPr lang="cs-CZ" sz="2200" dirty="0"/>
              <a:t>op prize would be won (theoretically) once in </a:t>
            </a:r>
            <a:r>
              <a:rPr lang="en-US" sz="2200" dirty="0"/>
              <a:t>          </a:t>
            </a:r>
            <a:r>
              <a:rPr lang="cs-CZ" sz="2200" dirty="0"/>
              <a:t>3 draws. </a:t>
            </a:r>
            <a:r>
              <a:rPr lang="en-GB" sz="2200" dirty="0"/>
              <a:t>The o</a:t>
            </a:r>
            <a:r>
              <a:rPr lang="cs-CZ" sz="2200" dirty="0"/>
              <a:t>verall odds of winning any prize are rather high in this game – one in five lines.</a:t>
            </a:r>
            <a:r>
              <a:rPr lang="cs-CZ" sz="22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cs-CZ" sz="2200" dirty="0">
                <a:ea typeface="Calibri" panose="020F0502020204030204" pitchFamily="34" charset="0"/>
                <a:cs typeface="Times New Roman" panose="02020603050405020304" pitchFamily="18" charset="0"/>
              </a:rPr>
              <a:t>Draws </a:t>
            </a: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would </a:t>
            </a:r>
            <a:r>
              <a:rPr lang="cs-CZ" sz="2200" dirty="0">
                <a:ea typeface="Calibri" panose="020F0502020204030204" pitchFamily="34" charset="0"/>
                <a:cs typeface="Times New Roman" panose="02020603050405020304" pitchFamily="18" charset="0"/>
              </a:rPr>
              <a:t>take place every evening in Finland.</a:t>
            </a:r>
            <a:endParaRPr lang="cs-CZ" sz="2200" dirty="0"/>
          </a:p>
          <a:p>
            <a:pPr marL="0" indent="0" algn="just">
              <a:buNone/>
            </a:pPr>
            <a:r>
              <a:rPr lang="cs-CZ" sz="2200" dirty="0"/>
              <a:t>In the UK, </a:t>
            </a:r>
            <a:r>
              <a:rPr lang="en-US" sz="2200" dirty="0"/>
              <a:t>this game would be offered in all points of sale where you can buy lottery tickets or scratch cards or online on respective websites and apps.</a:t>
            </a:r>
            <a:endParaRPr lang="cs-CZ" sz="2200" dirty="0"/>
          </a:p>
          <a:p>
            <a:pPr marL="0" indent="0" algn="just">
              <a:buNone/>
            </a:pPr>
            <a:endParaRPr lang="cs-CZ" sz="2200" dirty="0"/>
          </a:p>
          <a:p>
            <a:pPr algn="just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7464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7C2643-989B-3D1B-235C-74539F7B6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70" y="7142162"/>
            <a:ext cx="6059526" cy="35936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FE9757-F6BA-1EBB-BF3F-ABE4738297E7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rgbClr val="9BF1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20168"/>
            <a:ext cx="6069497" cy="922506"/>
          </a:xfrm>
        </p:spPr>
        <p:txBody>
          <a:bodyPr>
            <a:normAutofit fontScale="90000"/>
          </a:bodyPr>
          <a:lstStyle/>
          <a:p>
            <a:r>
              <a:rPr lang="cs-CZ" sz="2400" dirty="0"/>
              <a:t>New </a:t>
            </a:r>
            <a:r>
              <a:rPr lang="cs-CZ" sz="2400" dirty="0" err="1"/>
              <a:t>Years</a:t>
            </a:r>
            <a:r>
              <a:rPr lang="cs-CZ" sz="2400" dirty="0"/>
              <a:t> </a:t>
            </a:r>
            <a:r>
              <a:rPr lang="cs-CZ" sz="2400" dirty="0" err="1"/>
              <a:t>Eve</a:t>
            </a:r>
            <a:r>
              <a:rPr lang="cs-CZ" sz="2400" dirty="0"/>
              <a:t> 13 </a:t>
            </a:r>
            <a:r>
              <a:rPr lang="cs-CZ" sz="2400" dirty="0" err="1"/>
              <a:t>millionaires</a:t>
            </a:r>
            <a:br>
              <a:rPr lang="cs-CZ" sz="2400" b="1" dirty="0"/>
            </a:br>
            <a:r>
              <a:rPr lang="en-US" sz="2400" b="1" dirty="0"/>
              <a:t>Imagine that there is a new lottery game to be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942643"/>
            <a:ext cx="6089376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100" dirty="0"/>
              <a:t>This lottery would be a once-a-year game, played only on New Year's Eve in several countries. There </a:t>
            </a:r>
            <a:r>
              <a:rPr lang="en-US" sz="2100"/>
              <a:t>would be 13 </a:t>
            </a:r>
            <a:r>
              <a:rPr lang="en-US" sz="2100" dirty="0"/>
              <a:t>draws throughout the day, every hour on the hour, starting at noon and ending at midnight.</a:t>
            </a:r>
          </a:p>
          <a:p>
            <a:pPr marL="0" indent="0" algn="just">
              <a:buNone/>
            </a:pPr>
            <a:r>
              <a:rPr lang="en-US" sz="2100" dirty="0"/>
              <a:t>Thanks to the shared pool among participating countries, the game can offer </a:t>
            </a:r>
            <a:r>
              <a:rPr lang="en-US" sz="2100" b="1" dirty="0"/>
              <a:t>thousands of prizes in each draw</a:t>
            </a:r>
            <a:r>
              <a:rPr lang="en-US" sz="2100" dirty="0"/>
              <a:t>. The 13</a:t>
            </a:r>
            <a:r>
              <a:rPr lang="en-US" sz="2100" baseline="30000" dirty="0"/>
              <a:t>th</a:t>
            </a:r>
            <a:r>
              <a:rPr lang="en-US" sz="2100" dirty="0"/>
              <a:t> draw, which would take place at midnight, would be a special draw determining </a:t>
            </a:r>
            <a:br>
              <a:rPr lang="cs-CZ" sz="2100" dirty="0"/>
            </a:br>
            <a:r>
              <a:rPr lang="en-US" sz="2100" b="1" dirty="0"/>
              <a:t>13 winners of a final cash prize of</a:t>
            </a:r>
            <a:r>
              <a:rPr lang="cs-CZ" sz="2100" b="1" dirty="0"/>
              <a:t> </a:t>
            </a:r>
            <a:r>
              <a:rPr lang="en-US" sz="2100" b="1" dirty="0"/>
              <a:t>1 million GBP</a:t>
            </a:r>
            <a:r>
              <a:rPr lang="cs-CZ" sz="2100" b="1" dirty="0"/>
              <a:t> </a:t>
            </a:r>
            <a:r>
              <a:rPr lang="en-US" sz="2100" b="1" dirty="0"/>
              <a:t>each</a:t>
            </a:r>
            <a:r>
              <a:rPr lang="en-US" sz="2100" dirty="0"/>
              <a:t>.</a:t>
            </a:r>
          </a:p>
          <a:p>
            <a:pPr marL="0" indent="0" algn="just">
              <a:buNone/>
            </a:pPr>
            <a:r>
              <a:rPr lang="en-US" sz="2100" dirty="0"/>
              <a:t>One ticket costs </a:t>
            </a:r>
            <a:r>
              <a:rPr lang="en-US" sz="2100" b="1" dirty="0"/>
              <a:t>10</a:t>
            </a:r>
            <a:r>
              <a:rPr lang="cs-CZ" sz="2100" b="1" dirty="0"/>
              <a:t> </a:t>
            </a:r>
            <a:r>
              <a:rPr lang="en-US" sz="2100" b="1" dirty="0"/>
              <a:t>GBP</a:t>
            </a:r>
            <a:r>
              <a:rPr lang="en-US" sz="2100" dirty="0"/>
              <a:t>, and this ticket grants entry to all   13 draws. Each ticket can be divided into 5 parts and shared with family and friends.</a:t>
            </a:r>
          </a:p>
          <a:p>
            <a:pPr marL="0" indent="0" algn="just">
              <a:buNone/>
            </a:pPr>
            <a:r>
              <a:rPr lang="en-US" sz="2100" dirty="0"/>
              <a:t>To enter, you do not need to choose any numbers; the ticket contains a unique code (a combination of numbers and letters) that serves as an entry for each draw.</a:t>
            </a:r>
          </a:p>
          <a:p>
            <a:pPr marL="0" indent="0" algn="just">
              <a:buNone/>
            </a:pPr>
            <a:r>
              <a:rPr lang="cs-CZ" sz="2100" dirty="0"/>
              <a:t>The sales s</a:t>
            </a:r>
            <a:r>
              <a:rPr lang="en-US" sz="2100" dirty="0"/>
              <a:t>tart</a:t>
            </a:r>
            <a:r>
              <a:rPr lang="cs-CZ" sz="2100" dirty="0"/>
              <a:t> on </a:t>
            </a:r>
            <a:r>
              <a:rPr lang="en-US" sz="2100" dirty="0"/>
              <a:t>December 1</a:t>
            </a:r>
            <a:r>
              <a:rPr lang="en-US" sz="2100" baseline="30000" dirty="0"/>
              <a:t>st</a:t>
            </a:r>
            <a:r>
              <a:rPr lang="cs-CZ" sz="2100" dirty="0"/>
              <a:t>. In the UK, </a:t>
            </a:r>
            <a:r>
              <a:rPr lang="en-US" sz="2100" dirty="0"/>
              <a:t>this game would be offered in all points of sale where you can buy lottery tickets or scratch cards or online on respective websites and apps.</a:t>
            </a:r>
            <a:endParaRPr lang="cs-CZ" sz="2100" dirty="0"/>
          </a:p>
          <a:p>
            <a:pPr marL="0" indent="0" algn="just">
              <a:buNone/>
            </a:pPr>
            <a:endParaRPr lang="cs-CZ" sz="2100" dirty="0"/>
          </a:p>
          <a:p>
            <a:pPr marL="0" indent="0" algn="just">
              <a:buNone/>
            </a:pPr>
            <a:endParaRPr lang="en-US" sz="2100" dirty="0"/>
          </a:p>
          <a:p>
            <a:pPr marL="0" indent="0" algn="just">
              <a:buNone/>
            </a:pPr>
            <a:endParaRPr lang="cs-CZ" sz="2100" dirty="0"/>
          </a:p>
          <a:p>
            <a:pPr algn="just"/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52238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747835-0949-059F-C320-77D020BF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37" y="6790934"/>
            <a:ext cx="6202310" cy="37783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0E556AA-86EA-B0A3-E52E-DD15BD0277C8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20168"/>
            <a:ext cx="6069497" cy="922506"/>
          </a:xfrm>
        </p:spPr>
        <p:txBody>
          <a:bodyPr>
            <a:normAutofit fontScale="90000"/>
          </a:bodyPr>
          <a:lstStyle/>
          <a:p>
            <a:r>
              <a:rPr lang="cs-CZ" sz="2400" dirty="0" err="1"/>
              <a:t>Millionaires</a:t>
            </a:r>
            <a:r>
              <a:rPr lang="cs-CZ" sz="2400" dirty="0"/>
              <a:t> </a:t>
            </a:r>
            <a:r>
              <a:rPr lang="cs-CZ" sz="2400" dirty="0" err="1"/>
              <a:t>Flood</a:t>
            </a:r>
            <a:br>
              <a:rPr lang="cs-CZ" sz="2400" b="1" dirty="0"/>
            </a:br>
            <a:r>
              <a:rPr lang="en-US" sz="2400" b="1" dirty="0"/>
              <a:t>Imagine that there is a new lottery game to be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506" y="942643"/>
            <a:ext cx="6481010" cy="925595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This lottery </a:t>
            </a:r>
            <a:r>
              <a:rPr lang="en-GB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would be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 daily game. It </a:t>
            </a:r>
            <a:r>
              <a:rPr lang="en-GB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would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 offered internationally and thanks to the shared pool, there </a:t>
            </a:r>
            <a:r>
              <a:rPr lang="en-GB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would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 a special feature called </a:t>
            </a:r>
            <a:r>
              <a:rPr lang="en-US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Millionaires Flood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on top of the regular prizes. A portion of </a:t>
            </a:r>
            <a:r>
              <a:rPr lang="en-GB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revenue will be collected in the Millionaires Flood Fund, which can reach </a:t>
            </a:r>
            <a:r>
              <a:rPr lang="cs-CZ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over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cs-CZ" sz="17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50</a:t>
            </a:r>
            <a:r>
              <a:rPr lang="cs-CZ" sz="17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million GBP.</a:t>
            </a:r>
            <a:endParaRPr lang="en-US" sz="1700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To enter</a:t>
            </a:r>
            <a:r>
              <a:rPr lang="cs-CZ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 the game</a:t>
            </a:r>
            <a:r>
              <a:rPr lang="en-US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, c</a:t>
            </a:r>
            <a:r>
              <a:rPr lang="cs-CZ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hoose your 5 numbers out of 17 and watch the evening draw to find out not only if you match the winning numbers, but also to see if it is the day of </a:t>
            </a:r>
            <a:r>
              <a:rPr lang="cs-CZ" sz="17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"Millionaires Flood“. 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It </a:t>
            </a:r>
            <a:r>
              <a:rPr lang="en-GB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would 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happen at every draw in which all the 5 drawn numbers are even. </a:t>
            </a:r>
            <a:r>
              <a:rPr lang="cs-CZ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For example, if on that day, there is 25.5 million GBP in the Fund, then 25 players will be selected based on their ticket code. These players then win </a:t>
            </a:r>
            <a:r>
              <a:rPr lang="cs-CZ" sz="17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 million GBP each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7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 m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inim</a:t>
            </a:r>
            <a:r>
              <a:rPr lang="en-GB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um</a:t>
            </a:r>
            <a:r>
              <a:rPr lang="cs-CZ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price for entry </a:t>
            </a:r>
            <a:r>
              <a:rPr lang="en-GB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would be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cs-CZ" sz="17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.50</a:t>
            </a:r>
            <a:r>
              <a:rPr lang="en-US" sz="17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cs-CZ" sz="17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GBP</a:t>
            </a:r>
            <a:r>
              <a:rPr lang="cs-CZ" sz="17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cs-CZ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which </a:t>
            </a:r>
            <a:r>
              <a:rPr lang="en-GB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would </a:t>
            </a:r>
            <a:r>
              <a:rPr lang="cs-CZ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give 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you the chance to </a:t>
            </a:r>
            <a:r>
              <a:rPr lang="en-US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win </a:t>
            </a:r>
            <a:r>
              <a:rPr lang="cs-CZ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in one of the 6 winning categories in the daily game</a:t>
            </a:r>
            <a:r>
              <a:rPr lang="en-US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. Moreover, your lottery ticket qualifies you for the Millionaire</a:t>
            </a:r>
            <a:r>
              <a:rPr lang="cs-CZ" sz="1700" kern="100" dirty="0">
                <a:ea typeface="Aptos" panose="020B0004020202020204" pitchFamily="34" charset="0"/>
                <a:cs typeface="Times New Roman" panose="02020603050405020304" pitchFamily="18" charset="0"/>
              </a:rPr>
              <a:t>s Flood raffle if it occurs in the given draw.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cs-CZ" sz="1700" dirty="0"/>
              <a:t>In the UK, </a:t>
            </a:r>
            <a:r>
              <a:rPr lang="en-US" sz="1700" dirty="0"/>
              <a:t>this game would be offered in all points of sale where you can buy lottery tickets or scratch cards or online on respective websites and apps.</a:t>
            </a:r>
          </a:p>
          <a:p>
            <a:pPr marL="0" indent="0" algn="just">
              <a:buNone/>
            </a:pPr>
            <a:endParaRPr lang="cs-CZ" sz="1800" dirty="0"/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95819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FE151E-73C7-2F77-31E7-13782C6A9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98" y="6937334"/>
            <a:ext cx="6036989" cy="29810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110F8CF-B553-3432-221A-4179732EC6C0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20168"/>
            <a:ext cx="6069497" cy="922506"/>
          </a:xfrm>
        </p:spPr>
        <p:txBody>
          <a:bodyPr>
            <a:normAutofit fontScale="90000"/>
          </a:bodyPr>
          <a:lstStyle/>
          <a:p>
            <a:r>
              <a:rPr lang="cs-CZ" sz="2400" dirty="0"/>
              <a:t>Real </a:t>
            </a:r>
            <a:r>
              <a:rPr lang="cs-CZ" sz="2400" dirty="0" err="1"/>
              <a:t>estate</a:t>
            </a:r>
            <a:r>
              <a:rPr lang="cs-CZ" sz="2400" dirty="0"/>
              <a:t> </a:t>
            </a:r>
            <a:r>
              <a:rPr lang="cs-CZ" sz="2400" dirty="0" err="1"/>
              <a:t>prizes</a:t>
            </a:r>
            <a:r>
              <a:rPr lang="cs-CZ" sz="2400" dirty="0"/>
              <a:t> </a:t>
            </a:r>
            <a:r>
              <a:rPr lang="cs-CZ" sz="2400" dirty="0" err="1"/>
              <a:t>added</a:t>
            </a:r>
            <a:r>
              <a:rPr lang="cs-CZ" sz="2400" dirty="0"/>
              <a:t> to</a:t>
            </a:r>
            <a:r>
              <a:rPr lang="en-US" sz="2400" dirty="0"/>
              <a:t> existing lottery</a:t>
            </a:r>
            <a:br>
              <a:rPr lang="cs-CZ" sz="2400" b="1" dirty="0"/>
            </a:br>
            <a:r>
              <a:rPr lang="en-US" sz="2400" b="1" dirty="0"/>
              <a:t>Imagine that there is a new add-on game for players of the Euromillions lottery game: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090126"/>
            <a:ext cx="6069497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This new game would be an add-on to the </a:t>
            </a:r>
            <a:r>
              <a:rPr lang="cs-CZ" sz="2200" dirty="0"/>
              <a:t>Euromillions</a:t>
            </a:r>
            <a:r>
              <a:rPr lang="en-GB" sz="2200" dirty="0"/>
              <a:t> game</a:t>
            </a:r>
            <a:r>
              <a:rPr lang="en-US" sz="2200" dirty="0"/>
              <a:t>. For an additional </a:t>
            </a:r>
            <a:r>
              <a:rPr lang="en-US" sz="2200" b="1" dirty="0"/>
              <a:t>1.50 GBP </a:t>
            </a:r>
            <a:r>
              <a:rPr lang="en-US" sz="2200" dirty="0"/>
              <a:t>per ticket, players would also participate in an additional raffle draw where they could win </a:t>
            </a:r>
            <a:r>
              <a:rPr lang="en-US" sz="2200" b="1" dirty="0"/>
              <a:t>exclusive non-cash prizes such as villas in the Mediterranean, the</a:t>
            </a:r>
            <a:r>
              <a:rPr lang="cs-CZ" sz="2200" b="1" dirty="0"/>
              <a:t> Swiss</a:t>
            </a:r>
            <a:r>
              <a:rPr lang="en-US" sz="2200" b="1" dirty="0"/>
              <a:t> Alps, famous European spa resorts, or penthouses in European metropolises</a:t>
            </a:r>
            <a:r>
              <a:rPr lang="cs-CZ" sz="2200" b="1" dirty="0"/>
              <a:t>, apartment at Lake Como etc.</a:t>
            </a:r>
            <a:r>
              <a:rPr lang="en-US" sz="2200" b="1" dirty="0"/>
              <a:t> </a:t>
            </a:r>
            <a:r>
              <a:rPr lang="en-US" sz="2200" dirty="0"/>
              <a:t>These exclusive prizes can be offered thanks to an internationally</a:t>
            </a:r>
            <a:r>
              <a:rPr lang="cs-CZ" sz="2200" dirty="0"/>
              <a:t>-</a:t>
            </a:r>
            <a:r>
              <a:rPr lang="en-US" sz="2200" dirty="0"/>
              <a:t>shared pool.</a:t>
            </a:r>
          </a:p>
          <a:p>
            <a:pPr marL="0" indent="0" algn="just">
              <a:buNone/>
            </a:pPr>
            <a:r>
              <a:rPr lang="en-US" sz="2200" dirty="0"/>
              <a:t>To participate in this add-on raffle, players do not need to select any numbers. The serial number of the ticket will be automatically entered into the raffle if the extra </a:t>
            </a:r>
            <a:r>
              <a:rPr lang="en-US" sz="2200" b="1" dirty="0"/>
              <a:t>1.50 </a:t>
            </a:r>
            <a:r>
              <a:rPr lang="cs-CZ" sz="2200" b="1" dirty="0"/>
              <a:t>GBP </a:t>
            </a:r>
            <a:r>
              <a:rPr lang="en-US" sz="2200" dirty="0"/>
              <a:t>is paid.</a:t>
            </a:r>
          </a:p>
          <a:p>
            <a:pPr marL="0" indent="0" algn="just">
              <a:buNone/>
            </a:pPr>
            <a:r>
              <a:rPr lang="en-US" sz="2200" dirty="0"/>
              <a:t>Draws for the add-on raffle would coincide with the draws of the </a:t>
            </a:r>
            <a:r>
              <a:rPr lang="cs-CZ" sz="2200" dirty="0"/>
              <a:t>Euromillions </a:t>
            </a:r>
            <a:r>
              <a:rPr lang="en-US" sz="2200" dirty="0"/>
              <a:t>game.</a:t>
            </a:r>
            <a:endParaRPr lang="cs-CZ" sz="2200" dirty="0"/>
          </a:p>
          <a:p>
            <a:pPr marL="0" indent="0" algn="just">
              <a:buNone/>
            </a:pPr>
            <a:endParaRPr lang="cs-CZ" sz="2200" dirty="0"/>
          </a:p>
          <a:p>
            <a:pPr algn="just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70449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F348E4-9BC4-8234-6B91-E41705BAA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62" y="6869967"/>
            <a:ext cx="6368714" cy="38164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4FB07C-0D58-C0F1-F314-A3C28CF637D6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rgbClr val="FC3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20168"/>
            <a:ext cx="6368715" cy="922506"/>
          </a:xfrm>
        </p:spPr>
        <p:txBody>
          <a:bodyPr>
            <a:noAutofit/>
          </a:bodyPr>
          <a:lstStyle/>
          <a:p>
            <a:r>
              <a:rPr lang="cs-CZ" sz="2400" dirty="0" err="1"/>
              <a:t>Experiential</a:t>
            </a:r>
            <a:r>
              <a:rPr lang="cs-CZ" sz="2400" dirty="0"/>
              <a:t> </a:t>
            </a:r>
            <a:r>
              <a:rPr lang="cs-CZ" sz="2400" dirty="0" err="1"/>
              <a:t>prizes</a:t>
            </a:r>
            <a:r>
              <a:rPr lang="cs-CZ" sz="2400" dirty="0"/>
              <a:t> </a:t>
            </a:r>
            <a:r>
              <a:rPr lang="cs-CZ" sz="2400" dirty="0" err="1"/>
              <a:t>added</a:t>
            </a:r>
            <a:r>
              <a:rPr lang="cs-CZ" sz="2400" dirty="0"/>
              <a:t> to </a:t>
            </a:r>
            <a:r>
              <a:rPr lang="cs-CZ" sz="2400" dirty="0" err="1"/>
              <a:t>annuity</a:t>
            </a:r>
            <a:r>
              <a:rPr lang="cs-CZ" sz="2400" dirty="0"/>
              <a:t> </a:t>
            </a:r>
            <a:r>
              <a:rPr lang="cs-CZ" sz="2400" dirty="0" err="1"/>
              <a:t>lottery</a:t>
            </a:r>
            <a:r>
              <a:rPr lang="cs-CZ" sz="2400" dirty="0"/>
              <a:t> (SFL)</a:t>
            </a:r>
            <a:br>
              <a:rPr lang="cs-CZ" sz="2400" b="1" dirty="0"/>
            </a:br>
            <a:r>
              <a:rPr lang="en-US" sz="2400" b="1" dirty="0"/>
              <a:t>Imagine that there is a new add-on game offered for players of the Set For Life lottery game: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0632" y="942643"/>
            <a:ext cx="6497052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1700" dirty="0"/>
              <a:t>This add-on game to Set For Life would be offered internationally. Players would have the chance to </a:t>
            </a:r>
            <a:r>
              <a:rPr lang="cs-CZ" sz="1700" b="1" dirty="0"/>
              <a:t>win exclusive experiential prizes that money cannot buy</a:t>
            </a:r>
            <a:r>
              <a:rPr lang="cs-CZ" sz="1700" dirty="0"/>
              <a:t>. Examples could be: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sz="1700" dirty="0"/>
              <a:t>Tickets to </a:t>
            </a:r>
            <a:r>
              <a:rPr lang="en-GB" sz="1700" dirty="0"/>
              <a:t>the </a:t>
            </a:r>
            <a:r>
              <a:rPr lang="cs-CZ" sz="1700" dirty="0"/>
              <a:t>Olympic Games including meeting with athletes, trips to Formula 1 races with a VIP travel package, Gold Class tickets to concerts and festivals.</a:t>
            </a:r>
            <a:endParaRPr lang="en-US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sz="1700" dirty="0"/>
              <a:t>Roles as extras in hit TV shows or films, being a judge in cooking/baking TV shows or popular talent shows, cast in reality shows, spend a training day with a pro football team, F1 driving simulator experience.</a:t>
            </a:r>
            <a:endParaRPr lang="en-US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sz="1700" dirty="0"/>
              <a:t>Scuba diving training with a celebrity instructor, exclusive film premieres with dinner, luxury cruises with celebrity guides, premium e-sports packages, arts and culture tours around the world, and Broadway or West End theatre trips. </a:t>
            </a:r>
          </a:p>
          <a:p>
            <a:pPr marL="0" indent="0" algn="just">
              <a:buNone/>
            </a:pPr>
            <a:r>
              <a:rPr lang="cs-CZ" sz="1700" dirty="0"/>
              <a:t>Winners </a:t>
            </a:r>
            <a:r>
              <a:rPr lang="en-GB" sz="1700" dirty="0"/>
              <a:t>would</a:t>
            </a:r>
            <a:r>
              <a:rPr lang="cs-CZ" sz="1700" dirty="0"/>
              <a:t> be given </a:t>
            </a:r>
            <a:r>
              <a:rPr lang="cs-CZ" sz="1700" b="1" dirty="0"/>
              <a:t>a choice from a number of alternatives</a:t>
            </a:r>
            <a:r>
              <a:rPr lang="cs-CZ" sz="1700" dirty="0"/>
              <a:t>.</a:t>
            </a:r>
          </a:p>
          <a:p>
            <a:pPr marL="0" indent="0" algn="just">
              <a:buNone/>
            </a:pPr>
            <a:r>
              <a:rPr lang="cs-CZ" sz="1700" dirty="0">
                <a:ea typeface="Calibri" panose="020F0502020204030204" pitchFamily="34" charset="0"/>
                <a:cs typeface="Times New Roman" panose="02020603050405020304" pitchFamily="18" charset="0"/>
              </a:rPr>
              <a:t>Price per 1 entry would be </a:t>
            </a:r>
            <a:r>
              <a:rPr lang="cs-CZ" sz="1700" b="1" dirty="0">
                <a:ea typeface="Calibri" panose="020F0502020204030204" pitchFamily="34" charset="0"/>
                <a:cs typeface="Times New Roman" panose="02020603050405020304" pitchFamily="18" charset="0"/>
              </a:rPr>
              <a:t>0.50 GBP per line played.</a:t>
            </a:r>
          </a:p>
          <a:p>
            <a:pPr marL="0" indent="0" algn="just">
              <a:buNone/>
            </a:pPr>
            <a:r>
              <a:rPr lang="en-US" sz="1700" dirty="0"/>
              <a:t>To participate in this add-on, players do not need to select any numbers. The</a:t>
            </a:r>
            <a:r>
              <a:rPr lang="cs-CZ" sz="1700" dirty="0"/>
              <a:t>re will be a special code printed underneath each line of Set For Life played. </a:t>
            </a:r>
            <a:r>
              <a:rPr lang="en-US" sz="1700" dirty="0"/>
              <a:t> </a:t>
            </a:r>
            <a:r>
              <a:rPr lang="cs-CZ" sz="1700" dirty="0"/>
              <a:t>These codes </a:t>
            </a:r>
            <a:r>
              <a:rPr lang="en-US" sz="1700" dirty="0"/>
              <a:t>would be automatically entered into the raffle. </a:t>
            </a:r>
            <a:endParaRPr lang="cs-CZ" sz="1700" dirty="0"/>
          </a:p>
          <a:p>
            <a:pPr marL="0" indent="0" algn="just">
              <a:buNone/>
            </a:pPr>
            <a:r>
              <a:rPr lang="cs-CZ" sz="1700" dirty="0">
                <a:ea typeface="Calibri" panose="020F0502020204030204" pitchFamily="34" charset="0"/>
                <a:cs typeface="Times New Roman" panose="02020603050405020304" pitchFamily="18" charset="0"/>
              </a:rPr>
              <a:t>This raffle draw </a:t>
            </a:r>
            <a:r>
              <a:rPr lang="en-GB" sz="1700" dirty="0">
                <a:ea typeface="Calibri" panose="020F0502020204030204" pitchFamily="34" charset="0"/>
                <a:cs typeface="Times New Roman" panose="02020603050405020304" pitchFamily="18" charset="0"/>
              </a:rPr>
              <a:t>would</a:t>
            </a:r>
            <a:r>
              <a:rPr lang="cs-CZ" sz="1700" dirty="0">
                <a:ea typeface="Calibri" panose="020F0502020204030204" pitchFamily="34" charset="0"/>
                <a:cs typeface="Times New Roman" panose="02020603050405020304" pitchFamily="18" charset="0"/>
              </a:rPr>
              <a:t> take place twice a week, every Monday and Thursday.</a:t>
            </a:r>
            <a:endParaRPr lang="cs-CZ" sz="1700" dirty="0"/>
          </a:p>
          <a:p>
            <a:pPr algn="just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577955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0B0E84-7814-AD7F-3B49-A247940AE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15" y="6350326"/>
            <a:ext cx="5893370" cy="40142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336DF5-F8FD-D16E-CAB9-55F138D0C5D5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rgbClr val="A2B0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20168"/>
            <a:ext cx="6069497" cy="922506"/>
          </a:xfrm>
        </p:spPr>
        <p:txBody>
          <a:bodyPr>
            <a:normAutofit fontScale="90000"/>
          </a:bodyPr>
          <a:lstStyle/>
          <a:p>
            <a:r>
              <a:rPr lang="cs-CZ" sz="2400" dirty="0" err="1"/>
              <a:t>Euromillions</a:t>
            </a:r>
            <a:r>
              <a:rPr lang="cs-CZ" sz="2400" dirty="0"/>
              <a:t> (benchmark)</a:t>
            </a:r>
            <a:br>
              <a:rPr lang="cs-CZ" sz="2400" b="1" dirty="0"/>
            </a:br>
            <a:r>
              <a:rPr lang="en-US" sz="2400" b="1" dirty="0"/>
              <a:t>Imagine that there is a new lottery game to be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942643"/>
            <a:ext cx="6069497" cy="925595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This lottery numbers game </a:t>
            </a:r>
            <a:r>
              <a:rPr lang="en-GB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would</a:t>
            </a:r>
            <a:r>
              <a:rPr lang="cs-CZ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offer the chance to win substantial progressive jackpots</a:t>
            </a:r>
            <a:r>
              <a:rPr lang="cs-CZ" sz="2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on a regular basis.</a:t>
            </a:r>
            <a:endParaRPr lang="cs-CZ" sz="2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 enter, pick 5 numbers and 2 bonus numbers for the chance to win the ultimate jackpot of up to </a:t>
            </a:r>
            <a:br>
              <a:rPr lang="cs-CZ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cs-CZ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250 million </a:t>
            </a:r>
            <a:r>
              <a:rPr lang="cs-CZ" sz="22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GBP</a:t>
            </a:r>
            <a:r>
              <a:rPr lang="cs-CZ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Tickets </a:t>
            </a:r>
            <a:r>
              <a:rPr lang="en-GB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would </a:t>
            </a:r>
            <a:r>
              <a:rPr lang="cs-CZ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cost </a:t>
            </a:r>
            <a:r>
              <a:rPr lang="cs-CZ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2.50 GBP </a:t>
            </a:r>
            <a:r>
              <a:rPr lang="cs-CZ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 line.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This game </a:t>
            </a:r>
            <a:r>
              <a:rPr lang="en-GB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could</a:t>
            </a:r>
            <a:r>
              <a:rPr lang="cs-CZ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 played online or in retail stores.</a:t>
            </a:r>
            <a:r>
              <a:rPr lang="cs-CZ" sz="2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If the jackpot is not won, the total sum rolls over to the next draw.</a:t>
            </a:r>
            <a:endParaRPr lang="cs-CZ" sz="2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Dr</a:t>
            </a:r>
            <a:r>
              <a:rPr lang="cs-CZ" sz="2200" kern="100" dirty="0">
                <a:ea typeface="Aptos" panose="020B0004020202020204" pitchFamily="34" charset="0"/>
                <a:cs typeface="Times New Roman" panose="02020603050405020304" pitchFamily="18" charset="0"/>
              </a:rPr>
              <a:t>aws </a:t>
            </a:r>
            <a:r>
              <a:rPr lang="en-GB" sz="2200" kern="100" dirty="0">
                <a:ea typeface="Aptos" panose="020B0004020202020204" pitchFamily="34" charset="0"/>
                <a:cs typeface="Times New Roman" panose="02020603050405020304" pitchFamily="18" charset="0"/>
              </a:rPr>
              <a:t>would </a:t>
            </a:r>
            <a:r>
              <a:rPr lang="cs-CZ" sz="2200" kern="100" dirty="0">
                <a:ea typeface="Aptos" panose="020B0004020202020204" pitchFamily="34" charset="0"/>
                <a:cs typeface="Times New Roman" panose="02020603050405020304" pitchFamily="18" charset="0"/>
              </a:rPr>
              <a:t>take place twice per week: every Tuesday and Friday. The probability of win</a:t>
            </a:r>
            <a:r>
              <a:rPr lang="en-US" sz="2200" kern="100" dirty="0"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cs-CZ" sz="2200" kern="100" dirty="0">
                <a:ea typeface="Aptos" panose="020B0004020202020204" pitchFamily="34" charset="0"/>
                <a:cs typeface="Times New Roman" panose="02020603050405020304" pitchFamily="18" charset="0"/>
              </a:rPr>
              <a:t>ing </a:t>
            </a:r>
            <a:br>
              <a:rPr lang="cs-CZ" sz="2200" kern="100" dirty="0"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cs-CZ" sz="2200" kern="100" dirty="0">
                <a:ea typeface="Aptos" panose="020B0004020202020204" pitchFamily="34" charset="0"/>
                <a:cs typeface="Times New Roman" panose="02020603050405020304" pitchFamily="18" charset="0"/>
              </a:rPr>
              <a:t>a prize in each is </a:t>
            </a:r>
            <a:r>
              <a:rPr lang="en-US" sz="2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cs-CZ" sz="2200" kern="100" dirty="0">
                <a:ea typeface="Aptos" panose="020B0004020202020204" pitchFamily="34" charset="0"/>
                <a:cs typeface="Times New Roman" panose="02020603050405020304" pitchFamily="18" charset="0"/>
              </a:rPr>
              <a:t>1 in 13.</a:t>
            </a:r>
          </a:p>
          <a:p>
            <a:pPr marL="0" indent="0" algn="just">
              <a:buNone/>
            </a:pPr>
            <a:endParaRPr lang="cs-CZ" sz="2200" dirty="0"/>
          </a:p>
          <a:p>
            <a:pPr algn="just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2008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C30CC2-8881-5B7C-466C-036212D18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98" y="6462249"/>
            <a:ext cx="6069496" cy="41868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FA9246-440D-7579-CAB0-F3BEC4433233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20168"/>
            <a:ext cx="6069497" cy="922506"/>
          </a:xfrm>
        </p:spPr>
        <p:txBody>
          <a:bodyPr>
            <a:normAutofit fontScale="90000"/>
          </a:bodyPr>
          <a:lstStyle/>
          <a:p>
            <a:r>
              <a:rPr lang="cs-CZ" sz="2400" dirty="0"/>
              <a:t>Set </a:t>
            </a:r>
            <a:r>
              <a:rPr lang="cs-CZ" sz="2400" dirty="0" err="1"/>
              <a:t>for</a:t>
            </a:r>
            <a:r>
              <a:rPr lang="cs-CZ" sz="2400" dirty="0"/>
              <a:t> </a:t>
            </a:r>
            <a:r>
              <a:rPr lang="cs-CZ" sz="2400" dirty="0" err="1"/>
              <a:t>life</a:t>
            </a:r>
            <a:r>
              <a:rPr lang="cs-CZ" sz="2400"/>
              <a:t> (benchmark)</a:t>
            </a:r>
            <a:br>
              <a:rPr lang="cs-CZ" sz="2400" b="1"/>
            </a:br>
            <a:r>
              <a:rPr lang="en-US" sz="2400" b="1" dirty="0"/>
              <a:t>Imagine that there is a new lottery game to be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942643"/>
            <a:ext cx="6069497" cy="925595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000" b="0" i="0" dirty="0">
                <a:effectLst/>
                <a:highlight>
                  <a:srgbClr val="FFFFFF"/>
                </a:highlight>
              </a:rPr>
              <a:t>This</a:t>
            </a:r>
            <a:r>
              <a:rPr lang="en-US" sz="2000" b="0" i="0" dirty="0">
                <a:effectLst/>
                <a:highlight>
                  <a:srgbClr val="FFFFFF"/>
                </a:highlight>
              </a:rPr>
              <a:t> is a</a:t>
            </a:r>
            <a:r>
              <a:rPr lang="cs-CZ" sz="2000" dirty="0">
                <a:highlight>
                  <a:srgbClr val="FFFFFF"/>
                </a:highlight>
              </a:rPr>
              <a:t> </a:t>
            </a:r>
            <a:r>
              <a:rPr lang="cs-CZ" sz="2000" b="0" i="0" dirty="0">
                <a:effectLst/>
                <a:highlight>
                  <a:srgbClr val="FFFFFF"/>
                </a:highlight>
              </a:rPr>
              <a:t>national</a:t>
            </a:r>
            <a:r>
              <a:rPr lang="en-US" sz="2000" b="0" i="0" dirty="0">
                <a:effectLst/>
                <a:highlight>
                  <a:srgbClr val="FFFFFF"/>
                </a:highlight>
              </a:rPr>
              <a:t> lottery numbers game in which </a:t>
            </a:r>
            <a:r>
              <a:rPr lang="cs-CZ" sz="2000" b="0" i="0" dirty="0">
                <a:effectLst/>
                <a:highlight>
                  <a:srgbClr val="FFFFFF"/>
                </a:highlight>
              </a:rPr>
              <a:t>p</a:t>
            </a:r>
            <a:r>
              <a:rPr lang="en-US" sz="2000" b="0" i="0" dirty="0">
                <a:effectLst/>
                <a:highlight>
                  <a:srgbClr val="FFFFFF"/>
                </a:highlight>
              </a:rPr>
              <a:t>layers from participating countries play to win a </a:t>
            </a:r>
            <a:r>
              <a:rPr lang="cs-CZ" sz="2000" b="0" i="0" dirty="0">
                <a:effectLst/>
                <a:highlight>
                  <a:srgbClr val="FFFFFF"/>
                </a:highlight>
              </a:rPr>
              <a:t>t</a:t>
            </a:r>
            <a:r>
              <a:rPr lang="en-US" sz="2000" b="0" i="0" dirty="0">
                <a:effectLst/>
                <a:highlight>
                  <a:srgbClr val="FFFFFF"/>
                </a:highlight>
              </a:rPr>
              <a:t>op </a:t>
            </a:r>
            <a:r>
              <a:rPr lang="en-GB" sz="2000" b="0" i="0" dirty="0">
                <a:effectLst/>
                <a:highlight>
                  <a:srgbClr val="FFFFFF"/>
                </a:highlight>
              </a:rPr>
              <a:t>prize</a:t>
            </a:r>
            <a:r>
              <a:rPr lang="cs-CZ" sz="2000" b="0" i="0" dirty="0">
                <a:effectLst/>
                <a:highlight>
                  <a:srgbClr val="FFFFFF"/>
                </a:highlight>
              </a:rPr>
              <a:t> of</a:t>
            </a:r>
            <a:r>
              <a:rPr lang="en-US" sz="2000" b="0" i="0" dirty="0">
                <a:effectLst/>
                <a:highlight>
                  <a:srgbClr val="FFFFFF"/>
                </a:highlight>
              </a:rPr>
              <a:t>  </a:t>
            </a:r>
            <a:r>
              <a:rPr lang="cs-CZ" sz="2000" b="0" i="0" dirty="0">
                <a:effectLst/>
                <a:highlight>
                  <a:srgbClr val="FFFFFF"/>
                </a:highlight>
              </a:rPr>
              <a:t> </a:t>
            </a:r>
            <a:r>
              <a:rPr lang="cs-CZ" sz="2000" b="1" i="0" dirty="0">
                <a:effectLst/>
                <a:highlight>
                  <a:srgbClr val="FFFFFF"/>
                </a:highlight>
              </a:rPr>
              <a:t>10 000 GBP per month,</a:t>
            </a:r>
            <a:r>
              <a:rPr lang="en-US" sz="2000" b="1" i="0" dirty="0">
                <a:effectLst/>
                <a:highlight>
                  <a:srgbClr val="FFFFFF"/>
                </a:highlight>
              </a:rPr>
              <a:t> which is paid in regular instalments over a 30</a:t>
            </a:r>
            <a:r>
              <a:rPr lang="cs-CZ" sz="2000" b="1" i="0" dirty="0">
                <a:effectLst/>
                <a:highlight>
                  <a:srgbClr val="FFFFFF"/>
                </a:highlight>
              </a:rPr>
              <a:t>-</a:t>
            </a:r>
            <a:r>
              <a:rPr lang="en-US" sz="2000" b="1" i="0" dirty="0">
                <a:effectLst/>
                <a:highlight>
                  <a:srgbClr val="FFFFFF"/>
                </a:highlight>
              </a:rPr>
              <a:t>year period</a:t>
            </a:r>
            <a:r>
              <a:rPr lang="en-US" sz="2000" b="0" i="0" dirty="0">
                <a:effectLst/>
                <a:highlight>
                  <a:srgbClr val="FFFFFF"/>
                </a:highlight>
              </a:rPr>
              <a:t>. </a:t>
            </a:r>
            <a:endParaRPr lang="cs-CZ" sz="2000" dirty="0">
              <a:highlight>
                <a:srgbClr val="FFFFFF"/>
              </a:highlight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000" b="0" i="0" dirty="0">
                <a:effectLst/>
                <a:highlight>
                  <a:srgbClr val="FFFFFF"/>
                </a:highlight>
              </a:rPr>
              <a:t>To enter,</a:t>
            </a:r>
            <a:r>
              <a:rPr lang="en-US" sz="2000" b="0" i="0" dirty="0">
                <a:effectLst/>
                <a:highlight>
                  <a:srgbClr val="FFFFFF"/>
                </a:highlight>
              </a:rPr>
              <a:t> pick </a:t>
            </a:r>
            <a:r>
              <a:rPr lang="cs-CZ" sz="2000" b="0" i="0" dirty="0">
                <a:effectLst/>
                <a:highlight>
                  <a:srgbClr val="FFFFFF"/>
                </a:highlight>
              </a:rPr>
              <a:t>5</a:t>
            </a:r>
            <a:r>
              <a:rPr lang="en-US" sz="2000" b="0" i="0" dirty="0">
                <a:effectLst/>
                <a:highlight>
                  <a:srgbClr val="FFFFFF"/>
                </a:highlight>
              </a:rPr>
              <a:t> numbers from 1 to 4</a:t>
            </a:r>
            <a:r>
              <a:rPr lang="cs-CZ" sz="2000" b="0" i="0" dirty="0">
                <a:effectLst/>
                <a:highlight>
                  <a:srgbClr val="FFFFFF"/>
                </a:highlight>
              </a:rPr>
              <a:t>7</a:t>
            </a:r>
            <a:r>
              <a:rPr lang="en-US" sz="2000" b="0" i="0" dirty="0">
                <a:effectLst/>
                <a:highlight>
                  <a:srgbClr val="FFFFFF"/>
                </a:highlight>
              </a:rPr>
              <a:t> and 1 </a:t>
            </a:r>
            <a:r>
              <a:rPr lang="cs-CZ" sz="2000" b="0" i="0" dirty="0">
                <a:effectLst/>
                <a:highlight>
                  <a:srgbClr val="FFFFFF"/>
                </a:highlight>
              </a:rPr>
              <a:t>bonus n</a:t>
            </a:r>
            <a:r>
              <a:rPr lang="en-US" sz="2000" b="0" i="0" dirty="0">
                <a:effectLst/>
                <a:highlight>
                  <a:srgbClr val="FFFFFF"/>
                </a:highlight>
              </a:rPr>
              <a:t>umber from 1 to </a:t>
            </a:r>
            <a:r>
              <a:rPr lang="cs-CZ" sz="2000" b="0" i="0" dirty="0">
                <a:effectLst/>
                <a:highlight>
                  <a:srgbClr val="FFFFFF"/>
                </a:highlight>
              </a:rPr>
              <a:t>10. If you match all 7 numbers, you win the top prize. </a:t>
            </a:r>
            <a:r>
              <a:rPr lang="cs-CZ" sz="2000" dirty="0">
                <a:highlight>
                  <a:srgbClr val="FFFFFF"/>
                </a:highlight>
              </a:rPr>
              <a:t>This prize is fixed.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000" b="0" i="0" dirty="0">
                <a:effectLst/>
                <a:highlight>
                  <a:srgbClr val="FFFFFF"/>
                </a:highlight>
              </a:rPr>
              <a:t>There </a:t>
            </a:r>
            <a:r>
              <a:rPr lang="en-GB" sz="2000" b="0" i="0" dirty="0">
                <a:effectLst/>
                <a:highlight>
                  <a:srgbClr val="FFFFFF"/>
                </a:highlight>
              </a:rPr>
              <a:t>would be</a:t>
            </a:r>
            <a:r>
              <a:rPr lang="cs-CZ" sz="2000" b="0" i="0" dirty="0">
                <a:effectLst/>
                <a:highlight>
                  <a:srgbClr val="FFFFFF"/>
                </a:highlight>
              </a:rPr>
              <a:t> a</a:t>
            </a:r>
            <a:r>
              <a:rPr lang="cs-CZ" sz="2000" dirty="0">
                <a:highlight>
                  <a:srgbClr val="FFFFFF"/>
                </a:highlight>
              </a:rPr>
              <a:t>n annuity prize also in the 2nd tier:</a:t>
            </a:r>
            <a:r>
              <a:rPr lang="en-US" sz="2000" dirty="0">
                <a:highlight>
                  <a:srgbClr val="FFFFFF"/>
                </a:highlight>
              </a:rPr>
              <a:t>    </a:t>
            </a:r>
            <a:r>
              <a:rPr lang="cs-CZ" sz="2000" dirty="0">
                <a:highlight>
                  <a:srgbClr val="FFFFFF"/>
                </a:highlight>
              </a:rPr>
              <a:t> 10 000 GBP per month for 1 year.</a:t>
            </a:r>
            <a:endParaRPr lang="cs-CZ" sz="2000" b="0" i="0" dirty="0">
              <a:effectLst/>
              <a:highlight>
                <a:srgbClr val="FFFFFF"/>
              </a:highlight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000" dirty="0">
                <a:highlight>
                  <a:srgbClr val="FFFFFF"/>
                </a:highlight>
              </a:rPr>
              <a:t>One row </a:t>
            </a:r>
            <a:r>
              <a:rPr lang="en-GB" sz="2000" dirty="0">
                <a:highlight>
                  <a:srgbClr val="FFFFFF"/>
                </a:highlight>
              </a:rPr>
              <a:t>would </a:t>
            </a:r>
            <a:r>
              <a:rPr lang="cs-CZ" sz="2000" dirty="0">
                <a:highlight>
                  <a:srgbClr val="FFFFFF"/>
                </a:highlight>
              </a:rPr>
              <a:t>cost </a:t>
            </a:r>
            <a:r>
              <a:rPr lang="cs-CZ" sz="2000" b="1" dirty="0">
                <a:highlight>
                  <a:srgbClr val="FFFFFF"/>
                </a:highlight>
              </a:rPr>
              <a:t>1.50 GBP</a:t>
            </a:r>
            <a:r>
              <a:rPr lang="cs-CZ" sz="2000" dirty="0">
                <a:highlight>
                  <a:srgbClr val="FFFFFF"/>
                </a:highlight>
              </a:rPr>
              <a:t>.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000" b="0" i="0" dirty="0">
                <a:effectLst/>
                <a:highlight>
                  <a:srgbClr val="FFFFFF"/>
                </a:highlight>
              </a:rPr>
              <a:t>There </a:t>
            </a:r>
            <a:r>
              <a:rPr lang="en-GB" sz="2000" b="0" i="0" dirty="0">
                <a:effectLst/>
                <a:highlight>
                  <a:srgbClr val="FFFFFF"/>
                </a:highlight>
              </a:rPr>
              <a:t>would be</a:t>
            </a:r>
            <a:r>
              <a:rPr lang="cs-CZ" sz="2000" b="0" i="0" dirty="0">
                <a:effectLst/>
                <a:highlight>
                  <a:srgbClr val="FFFFFF"/>
                </a:highlight>
              </a:rPr>
              <a:t> two draws per week: </a:t>
            </a:r>
            <a:r>
              <a:rPr lang="cs-CZ" sz="2000" dirty="0">
                <a:highlight>
                  <a:srgbClr val="FFFFFF"/>
                </a:highlight>
              </a:rPr>
              <a:t>on Mondays and Thursdays.</a:t>
            </a:r>
          </a:p>
          <a:p>
            <a:pPr marL="0" indent="0" algn="just">
              <a:buNone/>
            </a:pPr>
            <a:r>
              <a:rPr lang="cs-CZ" sz="2000" dirty="0"/>
              <a:t>In the UK, </a:t>
            </a:r>
            <a:r>
              <a:rPr lang="en-US" sz="2000" dirty="0"/>
              <a:t>this game would be offered in all points of sale where you can buy lottery tickets or scratch cards or online on respective websites and apps.</a:t>
            </a:r>
            <a:endParaRPr lang="cs-CZ" sz="2000" dirty="0"/>
          </a:p>
          <a:p>
            <a:pPr marL="0" indent="0" algn="just">
              <a:buNone/>
            </a:pPr>
            <a:endParaRPr lang="cs-CZ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75730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1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971</TotalTime>
  <Words>2317</Words>
  <Application>Microsoft Office PowerPoint</Application>
  <PresentationFormat>Custom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Powerball Imagine that there is a new lottery game to be launched:</vt:lpstr>
      <vt:lpstr>MegaMillions Imagine that there is a new lottery game to be launched:</vt:lpstr>
      <vt:lpstr>Omaze-inspired Imagine that there is a new lottery game to be launched:</vt:lpstr>
      <vt:lpstr>Progressive annuity Imagine that there is a new lottery game to be launched:</vt:lpstr>
      <vt:lpstr>Daily Millionaire Imagine that there is a new lottery game to be launched:</vt:lpstr>
      <vt:lpstr>New Years Eve 13 millionaires Imagine that there is a new lottery game to be launched:</vt:lpstr>
      <vt:lpstr>Millionaires Flood Imagine that there is a new lottery game to be launched:</vt:lpstr>
      <vt:lpstr>Real estate prizes added to existing lottery Imagine that there is a new add-on game for players of the Euromillions lottery game:</vt:lpstr>
      <vt:lpstr>Experiential prizes added to annuity lottery (SFL) Imagine that there is a new add-on game offered for players of the Set For Life lottery game:</vt:lpstr>
      <vt:lpstr>Euromillions (benchmark) Imagine that there is a new lottery game to be launched:</vt:lpstr>
      <vt:lpstr>Set for life (benchmark) Imagine that there is a new lottery game to be launched: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42</cp:revision>
  <dcterms:created xsi:type="dcterms:W3CDTF">2022-11-09T07:36:23Z</dcterms:created>
  <dcterms:modified xsi:type="dcterms:W3CDTF">2025-12-16T08:23:59Z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