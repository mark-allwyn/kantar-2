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8229600" cy="1371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4400" b="1">
                <a:solidFill>
                  <a:srgbClr val="003366"/>
                </a:solidFill>
              </a:defRPr>
            </a:pPr>
            <a:r>
              <a:t>S.A.G.E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3657600"/>
            <a:ext cx="82296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400">
                <a:solidFill>
                  <a:srgbClr val="646464"/>
                </a:solidFill>
              </a:defRPr>
            </a:pPr>
            <a:r>
              <a:t>Synthetic Audience Generation Engine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4572000"/>
            <a:ext cx="82296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800">
                <a:solidFill>
                  <a:srgbClr val="808080"/>
                </a:solidFill>
              </a:defRPr>
            </a:pPr>
            <a:r>
              <a:t>January 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003366"/>
                </a:solidFill>
              </a:defRPr>
            </a:pPr>
            <a:r>
              <a:t>Executive Summary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05840"/>
            <a:ext cx="82296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2000"/>
            </a:pPr>
            <a:r>
              <a:t>• System generates synthetic survey respondents using LLMs + Semantic Similarity Rating</a:t>
            </a:r>
          </a:p>
          <a:p>
            <a:pPr>
              <a:spcAft>
                <a:spcPts val="1200"/>
              </a:spcAft>
              <a:defRPr sz="2000"/>
            </a:pPr>
            <a:r>
              <a:t>• Validated against 7 Kantar study/market combinations (US, UK)</a:t>
            </a:r>
          </a:p>
          <a:p>
            <a:pPr>
              <a:spcAft>
                <a:spcPts val="1200"/>
              </a:spcAft>
              <a:defRPr sz="2000"/>
            </a:pPr>
            <a:r>
              <a:t>• Core questions (Purchase Intent, Excitement) achieve 81-97% similarity</a:t>
            </a:r>
          </a:p>
          <a:p>
            <a:pPr>
              <a:spcAft>
                <a:spcPts val="1200"/>
              </a:spcAft>
              <a:defRPr sz="2000"/>
            </a:pPr>
            <a:r>
              <a:t>• Overall KS similarity ranges from 76-98% depending on study complexity</a:t>
            </a:r>
          </a:p>
          <a:p>
            <a:pPr>
              <a:spcAft>
                <a:spcPts val="1200"/>
              </a:spcAft>
              <a:defRPr sz="2000"/>
            </a:pPr>
            <a:r>
              <a:t>• Cost: ~$2-5 per 50 respondents vs. $500+ for Kantar fielding</a:t>
            </a:r>
          </a:p>
          <a:p>
            <a:pPr>
              <a:spcAft>
                <a:spcPts val="1200"/>
              </a:spcAft>
              <a:defRPr sz="2000"/>
            </a:pPr>
            <a:r>
              <a:t>• Speed: Same-day concept iteration vs. weeks for re-fielding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003366"/>
                </a:solidFill>
              </a:defRPr>
            </a:pPr>
            <a:r>
              <a:t>Key Results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457200" y="1188720"/>
          <a:ext cx="8229600" cy="32004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57400"/>
                <a:gridCol w="2057400"/>
                <a:gridCol w="2057400"/>
                <a:gridCol w="2057400"/>
              </a:tblGrid>
              <a:tr h="457200">
                <a:tc>
                  <a:txBody>
                    <a:bodyPr/>
                    <a:lstStyle/>
                    <a:p>
                      <a:pPr>
                        <a:defRPr b="1" sz="1400">
                          <a:solidFill>
                            <a:srgbClr val="FFFFFF"/>
                          </a:solidFill>
                        </a:defRPr>
                      </a:pPr>
                      <a:r>
                        <a:t>Metric</a:t>
                      </a:r>
                    </a:p>
                  </a:txBody>
                  <a:tcPr>
                    <a:solidFill>
                      <a:srgbClr val="00336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b="1" sz="1400">
                          <a:solidFill>
                            <a:srgbClr val="FFFFFF"/>
                          </a:solidFill>
                        </a:defRPr>
                      </a:pPr>
                      <a:r>
                        <a:t>Target</a:t>
                      </a:r>
                    </a:p>
                  </a:txBody>
                  <a:tcPr>
                    <a:solidFill>
                      <a:srgbClr val="00336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b="1" sz="1400">
                          <a:solidFill>
                            <a:srgbClr val="FFFFFF"/>
                          </a:solidFill>
                        </a:defRPr>
                      </a:pPr>
                      <a:r>
                        <a:t>Achieved</a:t>
                      </a:r>
                    </a:p>
                  </a:txBody>
                  <a:tcPr>
                    <a:solidFill>
                      <a:srgbClr val="00336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b="1" sz="1400">
                          <a:solidFill>
                            <a:srgbClr val="FFFFFF"/>
                          </a:solidFill>
                        </a:defRPr>
                      </a:pPr>
                      <a:r>
                        <a:t>Status</a:t>
                      </a:r>
                    </a:p>
                  </a:txBody>
                  <a:tcPr>
                    <a:solidFill>
                      <a:srgbClr val="003366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KS Similarity (Overall)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&gt;85%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76-98%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Variable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KS Similarity (Core Questions)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&gt;85%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81-97%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Strong</a:t>
                      </a:r>
                    </a:p>
                  </a:txBody>
                  <a:tcPr/>
                </a:tc>
              </a:tr>
              <a:tr h="457200"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KL Divergence (Mean)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&lt;0.20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0.02-3.70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Variable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KL Divergence (Median)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&lt;0.20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0.03-1.29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Closer</a:t>
                      </a:r>
                    </a:p>
                  </a:txBody>
                  <a:tcPr/>
                </a:tc>
              </a:tr>
              <a:tr h="457200"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Question Coverage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100%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100%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Meets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Cost per 50 respondents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&lt; $10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~$2-5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Exceeds</a:t>
                      </a:r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2560320"/>
            <a:ext cx="9144000" cy="1371600"/>
          </a:xfrm>
          <a:prstGeom prst="rect">
            <a:avLst/>
          </a:prstGeom>
          <a:solidFill>
            <a:srgbClr val="00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743200"/>
            <a:ext cx="8229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4000" b="1">
                <a:solidFill>
                  <a:srgbClr val="FFFFFF"/>
                </a:solidFill>
              </a:defRPr>
            </a:pPr>
            <a:r>
              <a:t>Methodology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003366"/>
                </a:solidFill>
              </a:defRPr>
            </a:pPr>
            <a:r>
              <a:t>How It Works: SSR Methodology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05840"/>
            <a:ext cx="82296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646464"/>
                </a:solidFill>
              </a:defRPr>
            </a:pPr>
            <a:r>
              <a:t>Semantic Similarity Rating converts free-text to scale ratings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463040"/>
            <a:ext cx="82296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2000"/>
            </a:pPr>
            <a:r>
              <a:t>• Based on academic paper: 'LLMs Reproduce Human Purchase Intent via Semantic Similarity' (arXiv:2510.08338)</a:t>
            </a:r>
          </a:p>
          <a:p>
            <a:pPr>
              <a:spcAft>
                <a:spcPts val="1200"/>
              </a:spcAft>
              <a:defRPr sz="2000"/>
            </a:pPr>
            <a:r>
              <a:t>• LLM generates natural language response to survey question</a:t>
            </a:r>
          </a:p>
          <a:p>
            <a:pPr>
              <a:spcAft>
                <a:spcPts val="1200"/>
              </a:spcAft>
              <a:defRPr sz="2000"/>
            </a:pPr>
            <a:r>
              <a:t>• Response embedded using text-embedding-3-small</a:t>
            </a:r>
          </a:p>
          <a:p>
            <a:pPr>
              <a:spcAft>
                <a:spcPts val="1200"/>
              </a:spcAft>
              <a:defRPr sz="2000"/>
            </a:pPr>
            <a:r>
              <a:t>• Cosine similarity computed against anchor texts for each scale level</a:t>
            </a:r>
          </a:p>
          <a:p>
            <a:pPr>
              <a:spcAft>
                <a:spcPts val="1200"/>
              </a:spcAft>
              <a:defRPr sz="2000"/>
            </a:pPr>
            <a:r>
              <a:t>• 6 reference sets averaged for robustness</a:t>
            </a:r>
          </a:p>
          <a:p>
            <a:pPr>
              <a:spcAft>
                <a:spcPts val="1200"/>
              </a:spcAft>
              <a:defRPr sz="2000"/>
            </a:pPr>
            <a:r>
              <a:t>• Final rating selected via sampling (preserves variance)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003366"/>
                </a:solidFill>
              </a:defRPr>
            </a:pPr>
            <a:r>
              <a:t>Generation Pipeline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05840"/>
            <a:ext cx="82296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2000"/>
            </a:pPr>
            <a:r>
              <a:t>• 1. Load ground truth data, extract concepts from PPTX</a:t>
            </a:r>
          </a:p>
          <a:p>
            <a:pPr>
              <a:spcAft>
                <a:spcPts val="1200"/>
              </a:spcAft>
              <a:defRPr sz="2000"/>
            </a:pPr>
            <a:r>
              <a:t>• 2. Sample demographics from ground truth distributions</a:t>
            </a:r>
          </a:p>
          <a:p>
            <a:pPr>
              <a:spcAft>
                <a:spcPts val="1200"/>
              </a:spcAft>
              <a:defRPr sz="2000"/>
            </a:pPr>
            <a:r>
              <a:t>• 3. Assign 3 concepts per respondent (matching Kantar method)</a:t>
            </a:r>
          </a:p>
          <a:p>
            <a:pPr>
              <a:spcAft>
                <a:spcPts val="1200"/>
              </a:spcAft>
              <a:defRPr sz="2000"/>
            </a:pPr>
            <a:r>
              <a:t>• 4. Generate free-text responses using GPT-4o-mini with persona context</a:t>
            </a:r>
          </a:p>
          <a:p>
            <a:pPr>
              <a:spcAft>
                <a:spcPts val="1200"/>
              </a:spcAft>
              <a:defRPr sz="2000"/>
            </a:pPr>
            <a:r>
              <a:t>• 5. Apply SSR to convert text to scale ratings</a:t>
            </a:r>
          </a:p>
          <a:p>
            <a:pPr>
              <a:spcAft>
                <a:spcPts val="1200"/>
              </a:spcAft>
              <a:defRPr sz="2000"/>
            </a:pPr>
            <a:r>
              <a:t>• 6. Format output to match Kantar Excel template</a:t>
            </a:r>
          </a:p>
          <a:p>
            <a:pPr>
              <a:spcAft>
                <a:spcPts val="1200"/>
              </a:spcAft>
              <a:defRPr sz="2000"/>
            </a:pPr>
            <a:r>
              <a:t>• 7. Validate against ground truth using KL divergence and KS statistics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2560320"/>
            <a:ext cx="9144000" cy="1371600"/>
          </a:xfrm>
          <a:prstGeom prst="rect">
            <a:avLst/>
          </a:prstGeom>
          <a:solidFill>
            <a:srgbClr val="00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743200"/>
            <a:ext cx="8229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4000" b="1">
                <a:solidFill>
                  <a:srgbClr val="FFFFFF"/>
                </a:solidFill>
              </a:defRPr>
            </a:pPr>
            <a:r>
              <a:t>Results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003366"/>
                </a:solidFill>
              </a:defRPr>
            </a:pPr>
            <a:r>
              <a:t>Validation Results by Study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457200" y="1188720"/>
          <a:ext cx="8229600" cy="36576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645920"/>
                <a:gridCol w="1645920"/>
                <a:gridCol w="1645920"/>
                <a:gridCol w="1645920"/>
                <a:gridCol w="1645920"/>
              </a:tblGrid>
              <a:tr h="457200">
                <a:tc>
                  <a:txBody>
                    <a:bodyPr/>
                    <a:lstStyle/>
                    <a:p>
                      <a:pPr>
                        <a:defRPr b="1" sz="1400">
                          <a:solidFill>
                            <a:srgbClr val="FFFFFF"/>
                          </a:solidFill>
                        </a:defRPr>
                      </a:pPr>
                      <a:r>
                        <a:t>Study</a:t>
                      </a:r>
                    </a:p>
                  </a:txBody>
                  <a:tcPr>
                    <a:solidFill>
                      <a:srgbClr val="00336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b="1" sz="1400">
                          <a:solidFill>
                            <a:srgbClr val="FFFFFF"/>
                          </a:solidFill>
                        </a:defRPr>
                      </a:pPr>
                      <a:r>
                        <a:t>Market</a:t>
                      </a:r>
                    </a:p>
                  </a:txBody>
                  <a:tcPr>
                    <a:solidFill>
                      <a:srgbClr val="00336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b="1" sz="1400">
                          <a:solidFill>
                            <a:srgbClr val="FFFFFF"/>
                          </a:solidFill>
                        </a:defRPr>
                      </a:pPr>
                      <a:r>
                        <a:t>KS Similarity</a:t>
                      </a:r>
                    </a:p>
                  </a:txBody>
                  <a:tcPr>
                    <a:solidFill>
                      <a:srgbClr val="00336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b="1" sz="1400">
                          <a:solidFill>
                            <a:srgbClr val="FFFFFF"/>
                          </a:solidFill>
                        </a:defRPr>
                      </a:pPr>
                      <a:r>
                        <a:t>Mean KL</a:t>
                      </a:r>
                    </a:p>
                  </a:txBody>
                  <a:tcPr>
                    <a:solidFill>
                      <a:srgbClr val="00336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b="1" sz="1400">
                          <a:solidFill>
                            <a:srgbClr val="FFFFFF"/>
                          </a:solidFill>
                        </a:defRPr>
                      </a:pPr>
                      <a:r>
                        <a:t>Questions</a:t>
                      </a:r>
                    </a:p>
                  </a:txBody>
                  <a:tcPr>
                    <a:solidFill>
                      <a:srgbClr val="003366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Ideas Screening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UK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97.7%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0.02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2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Ideas Screening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US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90.3%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0.07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2</a:t>
                      </a:r>
                    </a:p>
                  </a:txBody>
                  <a:tcPr/>
                </a:tc>
              </a:tr>
              <a:tr h="457200"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Tech ScratchCards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US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81.5%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3.65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12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Innovation Concepts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US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77.8%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2.99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22</a:t>
                      </a:r>
                    </a:p>
                  </a:txBody>
                  <a:tcPr/>
                </a:tc>
              </a:tr>
              <a:tr h="457200"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iGaming Concept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UK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78.6%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2.67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30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iGaming Concept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US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75.9%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3.33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30</a:t>
                      </a:r>
                    </a:p>
                  </a:txBody>
                  <a:tcPr/>
                </a:tc>
              </a:tr>
              <a:tr h="457200"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Thunderball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UK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77.3%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3.70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18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</a:tr>
            </a:tbl>
          </a:graphicData>
        </a:graphic>
      </p:graphicFrame>
      <p:sp>
        <p:nvSpPr>
          <p:cNvPr id="4" name="TextBox 3"/>
          <p:cNvSpPr txBox="1"/>
          <p:nvPr/>
        </p:nvSpPr>
        <p:spPr>
          <a:xfrm>
            <a:off x="457200" y="5943600"/>
            <a:ext cx="82296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i="1"/>
            </a:pPr>
            <a:r>
              <a:t>Metrics exclude: demographics (sampled from GT), screening questions, and open-ended questions.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003366"/>
                </a:solidFill>
              </a:defRPr>
            </a:pPr>
            <a:r>
              <a:t>Performance by Question Type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457200" y="1188720"/>
          <a:ext cx="8229600" cy="36576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57400"/>
                <a:gridCol w="2057400"/>
                <a:gridCol w="2057400"/>
                <a:gridCol w="2057400"/>
              </a:tblGrid>
              <a:tr h="457200">
                <a:tc>
                  <a:txBody>
                    <a:bodyPr/>
                    <a:lstStyle/>
                    <a:p>
                      <a:pPr>
                        <a:defRPr b="1" sz="1400">
                          <a:solidFill>
                            <a:srgbClr val="FFFFFF"/>
                          </a:solidFill>
                        </a:defRPr>
                      </a:pPr>
                      <a:r>
                        <a:t>Question</a:t>
                      </a:r>
                    </a:p>
                  </a:txBody>
                  <a:tcPr>
                    <a:solidFill>
                      <a:srgbClr val="00336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b="1" sz="1400">
                          <a:solidFill>
                            <a:srgbClr val="FFFFFF"/>
                          </a:solidFill>
                        </a:defRPr>
                      </a:pPr>
                      <a:r>
                        <a:t>KS Similarity</a:t>
                      </a:r>
                    </a:p>
                  </a:txBody>
                  <a:tcPr>
                    <a:solidFill>
                      <a:srgbClr val="00336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b="1" sz="1400">
                          <a:solidFill>
                            <a:srgbClr val="FFFFFF"/>
                          </a:solidFill>
                        </a:defRPr>
                      </a:pPr>
                      <a:r>
                        <a:t>KL Divergence</a:t>
                      </a:r>
                    </a:p>
                  </a:txBody>
                  <a:tcPr>
                    <a:solidFill>
                      <a:srgbClr val="00336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b="1" sz="1400">
                          <a:solidFill>
                            <a:srgbClr val="FFFFFF"/>
                          </a:solidFill>
                        </a:defRPr>
                      </a:pPr>
                      <a:r>
                        <a:t>Status</a:t>
                      </a:r>
                    </a:p>
                  </a:txBody>
                  <a:tcPr>
                    <a:solidFill>
                      <a:srgbClr val="003366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Purchase Intent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81-92%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0.03-0.19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Strong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Excitement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62-97%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0.005-1.95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Strong</a:t>
                      </a:r>
                    </a:p>
                  </a:txBody>
                  <a:tcPr/>
                </a:tc>
              </a:tr>
              <a:tr h="457200"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Uniqueness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60-97%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0.04-2.06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Good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Likeability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74-94%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0.05-2.08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Good</a:t>
                      </a:r>
                    </a:p>
                  </a:txBody>
                  <a:tcPr/>
                </a:tc>
              </a:tr>
              <a:tr h="457200"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Believability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57-84%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0.13-0.68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Needs work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Relevance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29-86%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0.07-9.71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Challenging</a:t>
                      </a:r>
                    </a:p>
                  </a:txBody>
                  <a:tcPr/>
                </a:tc>
              </a:tr>
              <a:tr h="457200"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Open Text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40-56%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17.3-18.5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Poor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</a:tr>
            </a:tbl>
          </a:graphicData>
        </a:graphic>
      </p:graphicFrame>
      <p:sp>
        <p:nvSpPr>
          <p:cNvPr id="4" name="TextBox 3"/>
          <p:cNvSpPr txBox="1"/>
          <p:nvPr/>
        </p:nvSpPr>
        <p:spPr>
          <a:xfrm>
            <a:off x="457200" y="5943600"/>
            <a:ext cx="82296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i="1"/>
            </a:pPr>
            <a:r>
              <a:t>Note: Demographics, screening questions (CATBUYER, CATNREJ, BRDBUY), and open-ended questions (LIKES_STD) are excluded from validation metrics.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2560320"/>
            <a:ext cx="9144000" cy="1371600"/>
          </a:xfrm>
          <a:prstGeom prst="rect">
            <a:avLst/>
          </a:prstGeom>
          <a:solidFill>
            <a:srgbClr val="00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743200"/>
            <a:ext cx="8229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4000" b="1">
                <a:solidFill>
                  <a:srgbClr val="FFFFFF"/>
                </a:solidFill>
              </a:defRPr>
            </a:pPr>
            <a:r>
              <a:t>Findings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003366"/>
                </a:solidFill>
              </a:defRPr>
            </a:pPr>
            <a:r>
              <a:t>What Works vs. What Needs Work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393192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 b="1">
                <a:solidFill>
                  <a:srgbClr val="008000"/>
                </a:solidFill>
              </a:defRPr>
            </a:pPr>
            <a:r>
              <a:t>Works Well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554480"/>
            <a:ext cx="393192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600"/>
            </a:pPr>
            <a:r>
              <a:t>• Purchase Intent (KS 81-92%, KL 0.03-0.19)</a:t>
            </a:r>
          </a:p>
          <a:p>
            <a:pPr>
              <a:spcAft>
                <a:spcPts val="800"/>
              </a:spcAft>
              <a:defRPr sz="1600"/>
            </a:pPr>
            <a:r>
              <a:t>• Excitement (KS 62-97%, KL 0.005-1.95)</a:t>
            </a:r>
          </a:p>
          <a:p>
            <a:pPr>
              <a:spcAft>
                <a:spcPts val="800"/>
              </a:spcAft>
              <a:defRPr sz="1600"/>
            </a:pPr>
            <a:r>
              <a:t>• Uniqueness (KS 60-97%, KL 0.04-2.06)</a:t>
            </a:r>
          </a:p>
          <a:p>
            <a:pPr>
              <a:spcAft>
                <a:spcPts val="800"/>
              </a:spcAft>
              <a:defRPr sz="1600"/>
            </a:pPr>
            <a:r>
              <a:t>• Simple studies (97.7% KS, 0.02 KL)</a:t>
            </a:r>
          </a:p>
          <a:p>
            <a:pPr>
              <a:spcAft>
                <a:spcPts val="800"/>
              </a:spcAft>
              <a:defRPr sz="1600"/>
            </a:pPr>
            <a:r>
              <a:t>• Cross-market consistency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754880" y="1097280"/>
            <a:ext cx="393192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 b="1">
                <a:solidFill>
                  <a:srgbClr val="B40000"/>
                </a:solidFill>
              </a:defRPr>
            </a:pPr>
            <a:r>
              <a:t>Needs Improvement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754880" y="1554480"/>
            <a:ext cx="393192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600"/>
            </a:pPr>
            <a:r>
              <a:t>• Relevance (KS 29-86%, KL up to 9.71)</a:t>
            </a:r>
          </a:p>
          <a:p>
            <a:pPr>
              <a:spcAft>
                <a:spcPts val="800"/>
              </a:spcAft>
              <a:defRPr sz="1600"/>
            </a:pPr>
            <a:r>
              <a:t>• Believability (KS 57-84%)</a:t>
            </a:r>
          </a:p>
          <a:p>
            <a:pPr>
              <a:spcAft>
                <a:spcPts val="800"/>
              </a:spcAft>
              <a:defRPr sz="1600"/>
            </a:pPr>
          </a:p>
          <a:p>
            <a:pPr>
              <a:spcAft>
                <a:spcPts val="800"/>
              </a:spcAft>
              <a:defRPr sz="1600"/>
            </a:pPr>
          </a:p>
          <a:p>
            <a:pPr>
              <a:spcAft>
                <a:spcPts val="800"/>
              </a:spcAft>
              <a:defRPr sz="1600"/>
            </a:pPr>
            <a:r>
              <a:t>• Complex multi-concept studies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2560320"/>
            <a:ext cx="9144000" cy="1371600"/>
          </a:xfrm>
          <a:prstGeom prst="rect">
            <a:avLst/>
          </a:prstGeom>
          <a:solidFill>
            <a:srgbClr val="00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743200"/>
            <a:ext cx="8229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4000" b="1">
                <a:solidFill>
                  <a:srgbClr val="FFFFFF"/>
                </a:solidFill>
              </a:defRPr>
            </a:pPr>
            <a:r>
              <a:t>Recommendations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003366"/>
                </a:solidFill>
              </a:defRPr>
            </a:pPr>
            <a:r>
              <a:t>Use Cases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393192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 b="1">
                <a:solidFill>
                  <a:srgbClr val="008000"/>
                </a:solidFill>
              </a:defRPr>
            </a:pPr>
            <a:r>
              <a:t>Ready Now (High Confidence)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554480"/>
            <a:ext cx="393192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600"/>
            </a:pPr>
            <a:r>
              <a:t>• Concept screening for early-stage winnowing</a:t>
            </a:r>
          </a:p>
          <a:p>
            <a:pPr>
              <a:spcAft>
                <a:spcPts val="800"/>
              </a:spcAft>
              <a:defRPr sz="1600"/>
            </a:pPr>
            <a:r>
              <a:t>• A/B concept comparison (relative rankings)</a:t>
            </a:r>
          </a:p>
          <a:p>
            <a:pPr>
              <a:spcAft>
                <a:spcPts val="800"/>
              </a:spcAft>
              <a:defRPr sz="1600"/>
            </a:pPr>
            <a:r>
              <a:t>• Rapid iteration testing</a:t>
            </a:r>
          </a:p>
          <a:p>
            <a:pPr>
              <a:spcAft>
                <a:spcPts val="800"/>
              </a:spcAft>
              <a:defRPr sz="1600"/>
            </a:pPr>
            <a:r>
              <a:t>• Internal prototyping before fielding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754880" y="1097280"/>
            <a:ext cx="393192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 b="1">
                <a:solidFill>
                  <a:srgbClr val="B40000"/>
                </a:solidFill>
              </a:defRPr>
            </a:pPr>
            <a:r>
              <a:t>Use With Caution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754880" y="1554480"/>
            <a:ext cx="393192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600"/>
            </a:pPr>
            <a:r>
              <a:t>• Final go/no-go decisions</a:t>
            </a:r>
          </a:p>
          <a:p>
            <a:pPr>
              <a:spcAft>
                <a:spcPts val="800"/>
              </a:spcAft>
              <a:defRPr sz="1600"/>
            </a:pPr>
            <a:r>
              <a:t>• Relevance-heavy studies</a:t>
            </a:r>
          </a:p>
          <a:p>
            <a:pPr>
              <a:spcAft>
                <a:spcPts val="800"/>
              </a:spcAft>
              <a:defRPr sz="1600"/>
            </a:pPr>
          </a:p>
          <a:p>
            <a:pPr>
              <a:spcAft>
                <a:spcPts val="800"/>
              </a:spcAft>
              <a:defRPr sz="1600"/>
            </a:pPr>
            <a:r>
              <a:t>• Studies requiring exact percentages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003366"/>
                </a:solidFill>
              </a:defRPr>
            </a:pPr>
            <a:r>
              <a:t>Recommended Approach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05840"/>
            <a:ext cx="82296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646464"/>
                </a:solidFill>
              </a:defRPr>
            </a:pPr>
            <a:r>
              <a:t>Balance speed and cost with appropriate validation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463040"/>
            <a:ext cx="82296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2000"/>
            </a:pPr>
            <a:r>
              <a:t>• Hybrid Model: Use synthetic for screening, validate finalists with real respondents</a:t>
            </a:r>
          </a:p>
          <a:p>
            <a:pPr>
              <a:spcAft>
                <a:spcPts val="1200"/>
              </a:spcAft>
              <a:defRPr sz="2000"/>
            </a:pPr>
            <a:r>
              <a:t>• Cost savings: Screen 10 concepts synthetically ($20), field top 3 with Kantar</a:t>
            </a:r>
          </a:p>
          <a:p>
            <a:pPr>
              <a:spcAft>
                <a:spcPts val="1200"/>
              </a:spcAft>
              <a:defRPr sz="2000"/>
            </a:pPr>
            <a:r>
              <a:t>• Speed advantage: Same-day iteration on concept modifications</a:t>
            </a:r>
          </a:p>
          <a:p>
            <a:pPr>
              <a:spcAft>
                <a:spcPts val="1200"/>
              </a:spcAft>
              <a:defRPr sz="2000"/>
            </a:pPr>
            <a:r>
              <a:t>• Validation cadence: Re-validate quarterly against new ground truth</a:t>
            </a:r>
          </a:p>
          <a:p>
            <a:pPr>
              <a:spcAft>
                <a:spcPts val="1200"/>
              </a:spcAft>
              <a:defRPr sz="2000"/>
            </a:pPr>
            <a:r>
              <a:t>• Clear communication: Stakeholders must understand this is directional, not definitive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2560320"/>
            <a:ext cx="9144000" cy="1371600"/>
          </a:xfrm>
          <a:prstGeom prst="rect">
            <a:avLst/>
          </a:prstGeom>
          <a:solidFill>
            <a:srgbClr val="00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743200"/>
            <a:ext cx="8229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4000" b="1">
                <a:solidFill>
                  <a:srgbClr val="FFFFFF"/>
                </a:solidFill>
              </a:defRPr>
            </a:pPr>
            <a:r>
              <a:t>Risks &amp; Limitations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003366"/>
                </a:solidFill>
              </a:defRPr>
            </a:pPr>
            <a:r>
              <a:t>Key Risks to Consider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05840"/>
            <a:ext cx="82296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2000"/>
            </a:pPr>
            <a:r>
              <a:t>• LLM Bias: Models may reflect training data biases, not authentic consumer opinions</a:t>
            </a:r>
          </a:p>
          <a:p>
            <a:pPr>
              <a:spcAft>
                <a:spcPts val="1200"/>
              </a:spcAft>
              <a:defRPr sz="2000"/>
            </a:pPr>
            <a:r>
              <a:t>• Distribution Collapse: LLMs produce more moderate responses, missing extremes</a:t>
            </a:r>
          </a:p>
          <a:p>
            <a:pPr>
              <a:spcAft>
                <a:spcPts val="1200"/>
              </a:spcAft>
              <a:defRPr sz="2000"/>
            </a:pPr>
            <a:r>
              <a:t>• Concept Misinterpretation: Visual elements described textually may lose context</a:t>
            </a:r>
          </a:p>
          <a:p>
            <a:pPr>
              <a:spcAft>
                <a:spcPts val="1200"/>
              </a:spcAft>
              <a:defRPr sz="2000"/>
            </a:pPr>
            <a:r>
              <a:t>• Overfitting: Tuning to one study may not generalize to others</a:t>
            </a:r>
          </a:p>
          <a:p>
            <a:pPr>
              <a:spcAft>
                <a:spcPts val="1200"/>
              </a:spcAft>
              <a:defRPr sz="2000"/>
            </a:pPr>
            <a:r>
              <a:t>• API Dependency: Relies on OpenAI availability and model stability</a:t>
            </a:r>
          </a:p>
          <a:p>
            <a:pPr>
              <a:spcAft>
                <a:spcPts val="1200"/>
              </a:spcAft>
              <a:defRPr sz="2000"/>
            </a:pPr>
            <a:r>
              <a:t>• Over-Reliance: Risk of treating synthetic as equivalent to real research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003366"/>
                </a:solidFill>
              </a:defRPr>
            </a:pPr>
            <a:r>
              <a:t>Mitigation Strategies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05840"/>
            <a:ext cx="82296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2000"/>
            </a:pPr>
            <a:r>
              <a:t>• Always validate against ground truth when available</a:t>
            </a:r>
          </a:p>
          <a:p>
            <a:pPr>
              <a:spcAft>
                <a:spcPts val="1200"/>
              </a:spcAft>
              <a:defRPr sz="2000"/>
            </a:pPr>
            <a:r>
              <a:t>• Use synthetic for directional insights, not final decisions</a:t>
            </a:r>
          </a:p>
          <a:p>
            <a:pPr>
              <a:spcAft>
                <a:spcPts val="1200"/>
              </a:spcAft>
              <a:defRPr sz="2000"/>
            </a:pPr>
            <a:r>
              <a:t>• Maintain validation cadence (quarterly against new GT data)</a:t>
            </a:r>
          </a:p>
          <a:p>
            <a:pPr>
              <a:spcAft>
                <a:spcPts val="1200"/>
              </a:spcAft>
              <a:defRPr sz="2000"/>
            </a:pPr>
            <a:r>
              <a:t>• Document and version-control all prompts and anchor texts</a:t>
            </a:r>
          </a:p>
          <a:p>
            <a:pPr>
              <a:spcAft>
                <a:spcPts val="1200"/>
              </a:spcAft>
              <a:defRPr sz="2000"/>
            </a:pPr>
            <a:r>
              <a:t>• Monitor LLM model versions; re-validate after updates</a:t>
            </a:r>
          </a:p>
          <a:p>
            <a:pPr>
              <a:spcAft>
                <a:spcPts val="1200"/>
              </a:spcAft>
              <a:defRPr sz="2000"/>
            </a:pPr>
            <a:r>
              <a:t>• Train stakeholders on appropriate use cases and limitations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003366"/>
                </a:solidFill>
              </a:defRPr>
            </a:pPr>
            <a:r>
              <a:t>Cost Comparison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457200" y="1188720"/>
          <a:ext cx="8229600" cy="27432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743200"/>
                <a:gridCol w="2743200"/>
                <a:gridCol w="2743200"/>
              </a:tblGrid>
              <a:tr h="457200">
                <a:tc>
                  <a:txBody>
                    <a:bodyPr/>
                    <a:lstStyle/>
                    <a:p>
                      <a:pPr>
                        <a:defRPr b="1" sz="1400">
                          <a:solidFill>
                            <a:srgbClr val="FFFFFF"/>
                          </a:solidFill>
                        </a:defRPr>
                      </a:pPr>
                      <a:r>
                        <a:t>Item</a:t>
                      </a:r>
                    </a:p>
                  </a:txBody>
                  <a:tcPr>
                    <a:solidFill>
                      <a:srgbClr val="00336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b="1" sz="1400">
                          <a:solidFill>
                            <a:srgbClr val="FFFFFF"/>
                          </a:solidFill>
                        </a:defRPr>
                      </a:pPr>
                      <a:r>
                        <a:t>Synthetic</a:t>
                      </a:r>
                    </a:p>
                  </a:txBody>
                  <a:tcPr>
                    <a:solidFill>
                      <a:srgbClr val="00336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b="1" sz="1400">
                          <a:solidFill>
                            <a:srgbClr val="FFFFFF"/>
                          </a:solidFill>
                        </a:defRPr>
                      </a:pPr>
                      <a:r>
                        <a:t>Kantar</a:t>
                      </a:r>
                    </a:p>
                  </a:txBody>
                  <a:tcPr>
                    <a:solidFill>
                      <a:srgbClr val="003366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50 respondents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~$2-5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$500+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100 respondents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~$4-10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$1,000+</a:t>
                      </a:r>
                    </a:p>
                  </a:txBody>
                  <a:tcPr/>
                </a:tc>
              </a:tr>
              <a:tr h="457200"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Turnaround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1.5 hours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1-2 weeks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Iteration cost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~$2-5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$500+ each</a:t>
                      </a:r>
                    </a:p>
                  </a:txBody>
                  <a:tcPr/>
                </a:tc>
              </a:tr>
              <a:tr h="457200"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10 concept screen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~$20-50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$5,000+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003366"/>
                </a:solidFill>
              </a:defRPr>
            </a:pPr>
            <a:r>
              <a:t>Next Steps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05840"/>
            <a:ext cx="82296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2000"/>
            </a:pPr>
            <a:r>
              <a:t>• 1. Pilot program: Run 2-3 upcoming concept screens in parallel (synthetic + Kantar)</a:t>
            </a:r>
          </a:p>
          <a:p>
            <a:pPr>
              <a:spcAft>
                <a:spcPts val="1200"/>
              </a:spcAft>
              <a:defRPr sz="2000"/>
            </a:pPr>
            <a:r>
              <a:t>• 2. Refine weak areas: Improve relevance and believability anchor texts</a:t>
            </a:r>
          </a:p>
          <a:p>
            <a:pPr>
              <a:spcAft>
                <a:spcPts val="1200"/>
              </a:spcAft>
              <a:defRPr sz="2000"/>
            </a:pPr>
            <a:r>
              <a:t>• 3. Expand validation: Test on additional study types beyond concept evaluation</a:t>
            </a:r>
          </a:p>
          <a:p>
            <a:pPr>
              <a:spcAft>
                <a:spcPts val="1200"/>
              </a:spcAft>
              <a:defRPr sz="2000"/>
            </a:pPr>
            <a:r>
              <a:t>• 4. Stakeholder training: Create guidelines for appropriate use</a:t>
            </a:r>
          </a:p>
          <a:p>
            <a:pPr>
              <a:spcAft>
                <a:spcPts val="1200"/>
              </a:spcAft>
              <a:defRPr sz="2000"/>
            </a:pPr>
            <a:r>
              <a:t>• 5. Monitoring: Set up validation tracking to detect drift over time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8229600" cy="1371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4400" b="1">
                <a:solidFill>
                  <a:srgbClr val="003366"/>
                </a:solidFill>
              </a:defRPr>
            </a:pPr>
            <a:r>
              <a:t>Questions?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3657600"/>
            <a:ext cx="82296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400">
                <a:solidFill>
                  <a:srgbClr val="646464"/>
                </a:solidFill>
              </a:defRPr>
            </a:pPr>
            <a:r>
              <a:t>S.A.G.E – Synthetic Audience Generation Engine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4572000"/>
            <a:ext cx="82296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800">
                <a:solidFill>
                  <a:srgbClr val="808080"/>
                </a:solidFill>
              </a:defRPr>
            </a:pPr>
            <a:r>
              <a:t>January 2026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