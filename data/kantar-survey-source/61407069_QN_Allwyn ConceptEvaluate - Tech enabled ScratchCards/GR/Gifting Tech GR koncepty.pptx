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71" r:id="rId2"/>
    <p:sldId id="272" r:id="rId3"/>
    <p:sldId id="273" r:id="rId4"/>
    <p:sldId id="274" r:id="rId5"/>
    <p:sldId id="275" r:id="rId6"/>
    <p:sldId id="276" r:id="rId7"/>
    <p:sldId id="277" r:id="rId8"/>
    <p:sldId id="278" r:id="rId9"/>
  </p:sldIdLst>
  <p:sldSz cx="6858000" cy="10799763"/>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54252C-E88D-4308-AC58-8CC85CF4B9B7}" v="8" dt="2025-12-16T08:44:37.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331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SCON Yuri" userId="S::yuri.gascon_allwyn.com#ext#@ktglbuc.onmicrosoft.com::0371d44c-4a7c-49a5-b3ed-fffd6a68f2f8" providerId="AD" clId="Web-{9CAC6ED3-5755-C887-E42B-7A4FEF469B22}"/>
    <pc:docChg chg="modSld">
      <pc:chgData name="GASCON Yuri" userId="S::yuri.gascon_allwyn.com#ext#@ktglbuc.onmicrosoft.com::0371d44c-4a7c-49a5-b3ed-fffd6a68f2f8" providerId="AD" clId="Web-{9CAC6ED3-5755-C887-E42B-7A4FEF469B22}" dt="2025-05-29T14:54:19.023" v="32" actId="20577"/>
      <pc:docMkLst>
        <pc:docMk/>
      </pc:docMkLst>
      <pc:sldChg chg="modSp">
        <pc:chgData name="GASCON Yuri" userId="S::yuri.gascon_allwyn.com#ext#@ktglbuc.onmicrosoft.com::0371d44c-4a7c-49a5-b3ed-fffd6a68f2f8" providerId="AD" clId="Web-{9CAC6ED3-5755-C887-E42B-7A4FEF469B22}" dt="2025-05-29T14:47:42.851" v="7" actId="20577"/>
        <pc:sldMkLst>
          <pc:docMk/>
          <pc:sldMk cId="2657097092" sldId="272"/>
        </pc:sldMkLst>
      </pc:sldChg>
      <pc:sldChg chg="modSp">
        <pc:chgData name="GASCON Yuri" userId="S::yuri.gascon_allwyn.com#ext#@ktglbuc.onmicrosoft.com::0371d44c-4a7c-49a5-b3ed-fffd6a68f2f8" providerId="AD" clId="Web-{9CAC6ED3-5755-C887-E42B-7A4FEF469B22}" dt="2025-05-29T14:47:58.117" v="9" actId="20577"/>
        <pc:sldMkLst>
          <pc:docMk/>
          <pc:sldMk cId="4117134501" sldId="273"/>
        </pc:sldMkLst>
      </pc:sldChg>
      <pc:sldChg chg="modSp">
        <pc:chgData name="GASCON Yuri" userId="S::yuri.gascon_allwyn.com#ext#@ktglbuc.onmicrosoft.com::0371d44c-4a7c-49a5-b3ed-fffd6a68f2f8" providerId="AD" clId="Web-{9CAC6ED3-5755-C887-E42B-7A4FEF469B22}" dt="2025-05-29T14:49:05.432" v="14" actId="20577"/>
        <pc:sldMkLst>
          <pc:docMk/>
          <pc:sldMk cId="116364638" sldId="274"/>
        </pc:sldMkLst>
      </pc:sldChg>
      <pc:sldChg chg="modSp">
        <pc:chgData name="GASCON Yuri" userId="S::yuri.gascon_allwyn.com#ext#@ktglbuc.onmicrosoft.com::0371d44c-4a7c-49a5-b3ed-fffd6a68f2f8" providerId="AD" clId="Web-{9CAC6ED3-5755-C887-E42B-7A4FEF469B22}" dt="2025-05-29T14:49:20.761" v="16" actId="20577"/>
        <pc:sldMkLst>
          <pc:docMk/>
          <pc:sldMk cId="2678950995" sldId="275"/>
        </pc:sldMkLst>
      </pc:sldChg>
      <pc:sldChg chg="modSp">
        <pc:chgData name="GASCON Yuri" userId="S::yuri.gascon_allwyn.com#ext#@ktglbuc.onmicrosoft.com::0371d44c-4a7c-49a5-b3ed-fffd6a68f2f8" providerId="AD" clId="Web-{9CAC6ED3-5755-C887-E42B-7A4FEF469B22}" dt="2025-05-29T14:51:40.329" v="22" actId="20577"/>
        <pc:sldMkLst>
          <pc:docMk/>
          <pc:sldMk cId="790849571" sldId="276"/>
        </pc:sldMkLst>
      </pc:sldChg>
      <pc:sldChg chg="modSp">
        <pc:chgData name="GASCON Yuri" userId="S::yuri.gascon_allwyn.com#ext#@ktglbuc.onmicrosoft.com::0371d44c-4a7c-49a5-b3ed-fffd6a68f2f8" providerId="AD" clId="Web-{9CAC6ED3-5755-C887-E42B-7A4FEF469B22}" dt="2025-05-29T14:53:48.365" v="27" actId="20577"/>
        <pc:sldMkLst>
          <pc:docMk/>
          <pc:sldMk cId="697953841" sldId="277"/>
        </pc:sldMkLst>
      </pc:sldChg>
      <pc:sldChg chg="modSp">
        <pc:chgData name="GASCON Yuri" userId="S::yuri.gascon_allwyn.com#ext#@ktglbuc.onmicrosoft.com::0371d44c-4a7c-49a5-b3ed-fffd6a68f2f8" providerId="AD" clId="Web-{9CAC6ED3-5755-C887-E42B-7A4FEF469B22}" dt="2025-05-29T14:54:19.023" v="32" actId="20577"/>
        <pc:sldMkLst>
          <pc:docMk/>
          <pc:sldMk cId="3012535913" sldId="278"/>
        </pc:sldMkLst>
      </pc:sldChg>
    </pc:docChg>
  </pc:docChgLst>
  <pc:docChgLst>
    <pc:chgData name="Peter Javornický" userId="3b98f8e0-d449-4f6e-b57d-5f9bfb7a5c2c" providerId="ADAL" clId="{88A10E76-C547-4713-B92A-3B48010D5CF0}"/>
    <pc:docChg chg="modSld">
      <pc:chgData name="Peter Javornický" userId="3b98f8e0-d449-4f6e-b57d-5f9bfb7a5c2c" providerId="ADAL" clId="{88A10E76-C547-4713-B92A-3B48010D5CF0}" dt="2025-12-16T08:44:37.058" v="7"/>
      <pc:docMkLst>
        <pc:docMk/>
      </pc:docMkLst>
      <pc:sldChg chg="addSp modSp">
        <pc:chgData name="Peter Javornický" userId="3b98f8e0-d449-4f6e-b57d-5f9bfb7a5c2c" providerId="ADAL" clId="{88A10E76-C547-4713-B92A-3B48010D5CF0}" dt="2025-12-16T08:41:32.213" v="0"/>
        <pc:sldMkLst>
          <pc:docMk/>
          <pc:sldMk cId="1475714791" sldId="271"/>
        </pc:sldMkLst>
        <pc:spChg chg="add mod">
          <ac:chgData name="Peter Javornický" userId="3b98f8e0-d449-4f6e-b57d-5f9bfb7a5c2c" providerId="ADAL" clId="{88A10E76-C547-4713-B92A-3B48010D5CF0}" dt="2025-12-16T08:41:32.213" v="0"/>
          <ac:spMkLst>
            <pc:docMk/>
            <pc:sldMk cId="1475714791" sldId="271"/>
            <ac:spMk id="4" creationId="{315507DD-03F2-75F2-2DD3-B5349CB9C1E6}"/>
          </ac:spMkLst>
        </pc:spChg>
      </pc:sldChg>
      <pc:sldChg chg="addSp modSp">
        <pc:chgData name="Peter Javornický" userId="3b98f8e0-d449-4f6e-b57d-5f9bfb7a5c2c" providerId="ADAL" clId="{88A10E76-C547-4713-B92A-3B48010D5CF0}" dt="2025-12-16T08:41:56.941" v="1"/>
        <pc:sldMkLst>
          <pc:docMk/>
          <pc:sldMk cId="2657097092" sldId="272"/>
        </pc:sldMkLst>
        <pc:spChg chg="add mod">
          <ac:chgData name="Peter Javornický" userId="3b98f8e0-d449-4f6e-b57d-5f9bfb7a5c2c" providerId="ADAL" clId="{88A10E76-C547-4713-B92A-3B48010D5CF0}" dt="2025-12-16T08:41:56.941" v="1"/>
          <ac:spMkLst>
            <pc:docMk/>
            <pc:sldMk cId="2657097092" sldId="272"/>
            <ac:spMk id="4" creationId="{1D940026-0BD8-37C1-B2C0-130550DCE166}"/>
          </ac:spMkLst>
        </pc:spChg>
      </pc:sldChg>
      <pc:sldChg chg="addSp modSp">
        <pc:chgData name="Peter Javornický" userId="3b98f8e0-d449-4f6e-b57d-5f9bfb7a5c2c" providerId="ADAL" clId="{88A10E76-C547-4713-B92A-3B48010D5CF0}" dt="2025-12-16T08:42:25.508" v="2"/>
        <pc:sldMkLst>
          <pc:docMk/>
          <pc:sldMk cId="4117134501" sldId="273"/>
        </pc:sldMkLst>
        <pc:spChg chg="add mod">
          <ac:chgData name="Peter Javornický" userId="3b98f8e0-d449-4f6e-b57d-5f9bfb7a5c2c" providerId="ADAL" clId="{88A10E76-C547-4713-B92A-3B48010D5CF0}" dt="2025-12-16T08:42:25.508" v="2"/>
          <ac:spMkLst>
            <pc:docMk/>
            <pc:sldMk cId="4117134501" sldId="273"/>
            <ac:spMk id="4" creationId="{1C2DA2FB-A6FF-079B-5832-1BEC7396CEB1}"/>
          </ac:spMkLst>
        </pc:spChg>
      </pc:sldChg>
      <pc:sldChg chg="addSp modSp">
        <pc:chgData name="Peter Javornický" userId="3b98f8e0-d449-4f6e-b57d-5f9bfb7a5c2c" providerId="ADAL" clId="{88A10E76-C547-4713-B92A-3B48010D5CF0}" dt="2025-12-16T08:42:53.112" v="3"/>
        <pc:sldMkLst>
          <pc:docMk/>
          <pc:sldMk cId="116364638" sldId="274"/>
        </pc:sldMkLst>
        <pc:spChg chg="add mod">
          <ac:chgData name="Peter Javornický" userId="3b98f8e0-d449-4f6e-b57d-5f9bfb7a5c2c" providerId="ADAL" clId="{88A10E76-C547-4713-B92A-3B48010D5CF0}" dt="2025-12-16T08:42:53.112" v="3"/>
          <ac:spMkLst>
            <pc:docMk/>
            <pc:sldMk cId="116364638" sldId="274"/>
            <ac:spMk id="4" creationId="{21EAA0B8-7E67-E962-F44B-211AC26E30A2}"/>
          </ac:spMkLst>
        </pc:spChg>
      </pc:sldChg>
      <pc:sldChg chg="addSp modSp">
        <pc:chgData name="Peter Javornický" userId="3b98f8e0-d449-4f6e-b57d-5f9bfb7a5c2c" providerId="ADAL" clId="{88A10E76-C547-4713-B92A-3B48010D5CF0}" dt="2025-12-16T08:43:23.668" v="4"/>
        <pc:sldMkLst>
          <pc:docMk/>
          <pc:sldMk cId="2678950995" sldId="275"/>
        </pc:sldMkLst>
        <pc:spChg chg="add mod">
          <ac:chgData name="Peter Javornický" userId="3b98f8e0-d449-4f6e-b57d-5f9bfb7a5c2c" providerId="ADAL" clId="{88A10E76-C547-4713-B92A-3B48010D5CF0}" dt="2025-12-16T08:43:23.668" v="4"/>
          <ac:spMkLst>
            <pc:docMk/>
            <pc:sldMk cId="2678950995" sldId="275"/>
            <ac:spMk id="4" creationId="{F3296F2C-F3F6-07C1-CADA-191A484C5155}"/>
          </ac:spMkLst>
        </pc:spChg>
      </pc:sldChg>
      <pc:sldChg chg="addSp modSp">
        <pc:chgData name="Peter Javornický" userId="3b98f8e0-d449-4f6e-b57d-5f9bfb7a5c2c" providerId="ADAL" clId="{88A10E76-C547-4713-B92A-3B48010D5CF0}" dt="2025-12-16T08:43:47.970" v="5"/>
        <pc:sldMkLst>
          <pc:docMk/>
          <pc:sldMk cId="790849571" sldId="276"/>
        </pc:sldMkLst>
        <pc:spChg chg="add mod">
          <ac:chgData name="Peter Javornický" userId="3b98f8e0-d449-4f6e-b57d-5f9bfb7a5c2c" providerId="ADAL" clId="{88A10E76-C547-4713-B92A-3B48010D5CF0}" dt="2025-12-16T08:43:47.970" v="5"/>
          <ac:spMkLst>
            <pc:docMk/>
            <pc:sldMk cId="790849571" sldId="276"/>
            <ac:spMk id="5" creationId="{04F80C10-2E75-7CD3-723B-4B7FE3161673}"/>
          </ac:spMkLst>
        </pc:spChg>
      </pc:sldChg>
      <pc:sldChg chg="addSp modSp">
        <pc:chgData name="Peter Javornický" userId="3b98f8e0-d449-4f6e-b57d-5f9bfb7a5c2c" providerId="ADAL" clId="{88A10E76-C547-4713-B92A-3B48010D5CF0}" dt="2025-12-16T08:44:14.131" v="6"/>
        <pc:sldMkLst>
          <pc:docMk/>
          <pc:sldMk cId="697953841" sldId="277"/>
        </pc:sldMkLst>
        <pc:spChg chg="add mod">
          <ac:chgData name="Peter Javornický" userId="3b98f8e0-d449-4f6e-b57d-5f9bfb7a5c2c" providerId="ADAL" clId="{88A10E76-C547-4713-B92A-3B48010D5CF0}" dt="2025-12-16T08:44:14.131" v="6"/>
          <ac:spMkLst>
            <pc:docMk/>
            <pc:sldMk cId="697953841" sldId="277"/>
            <ac:spMk id="4" creationId="{14E3E6FB-6360-FAEB-C9AD-ADF3A56DE247}"/>
          </ac:spMkLst>
        </pc:spChg>
      </pc:sldChg>
      <pc:sldChg chg="addSp modSp">
        <pc:chgData name="Peter Javornický" userId="3b98f8e0-d449-4f6e-b57d-5f9bfb7a5c2c" providerId="ADAL" clId="{88A10E76-C547-4713-B92A-3B48010D5CF0}" dt="2025-12-16T08:44:37.058" v="7"/>
        <pc:sldMkLst>
          <pc:docMk/>
          <pc:sldMk cId="3012535913" sldId="278"/>
        </pc:sldMkLst>
        <pc:spChg chg="add mod">
          <ac:chgData name="Peter Javornický" userId="3b98f8e0-d449-4f6e-b57d-5f9bfb7a5c2c" providerId="ADAL" clId="{88A10E76-C547-4713-B92A-3B48010D5CF0}" dt="2025-12-16T08:44:37.058" v="7"/>
          <ac:spMkLst>
            <pc:docMk/>
            <pc:sldMk cId="3012535913" sldId="278"/>
            <ac:spMk id="5" creationId="{2AF2F5BF-4C50-34B4-6FFD-9502EABE151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8FD2F1-A3F8-4D2F-A732-36209F258435}" type="datetimeFigureOut">
              <a:rPr lang="en-US" smtClean="0"/>
              <a:t>12/16/2025</a:t>
            </a:fld>
            <a:endParaRPr lang="en-US"/>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B9DD6-A685-4D30-9A3F-71203410716A}" type="slidenum">
              <a:rPr lang="en-US" smtClean="0"/>
              <a:t>‹#›</a:t>
            </a:fld>
            <a:endParaRPr lang="en-US"/>
          </a:p>
        </p:txBody>
      </p:sp>
    </p:spTree>
    <p:extLst>
      <p:ext uri="{BB962C8B-B14F-4D97-AF65-F5344CB8AC3E}">
        <p14:creationId xmlns:p14="http://schemas.microsoft.com/office/powerpoint/2010/main" val="2068454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ffectLst/>
              </a:rPr>
              <a:t>Christmas AR Message</a:t>
            </a:r>
            <a:endParaRPr lang="en-US"/>
          </a:p>
        </p:txBody>
      </p:sp>
      <p:sp>
        <p:nvSpPr>
          <p:cNvPr id="4" name="Slide Number Placeholder 3"/>
          <p:cNvSpPr>
            <a:spLocks noGrp="1"/>
          </p:cNvSpPr>
          <p:nvPr>
            <p:ph type="sldNum" sz="quarter" idx="5"/>
          </p:nvPr>
        </p:nvSpPr>
        <p:spPr/>
        <p:txBody>
          <a:bodyPr/>
          <a:lstStyle/>
          <a:p>
            <a:fld id="{5FEF3203-849B-4784-BD5D-A210CDCB2B30}" type="slidenum">
              <a:rPr lang="en-US" smtClean="0"/>
              <a:t>1</a:t>
            </a:fld>
            <a:endParaRPr lang="en-US"/>
          </a:p>
        </p:txBody>
      </p:sp>
    </p:spTree>
    <p:extLst>
      <p:ext uri="{BB962C8B-B14F-4D97-AF65-F5344CB8AC3E}">
        <p14:creationId xmlns:p14="http://schemas.microsoft.com/office/powerpoint/2010/main" val="625495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4E0F-0BC9-970D-7737-AF90F5C96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65663-095D-E931-85FD-6E48B3D23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8684C-7615-B9F8-893D-916B9A635D37}"/>
              </a:ext>
            </a:extLst>
          </p:cNvPr>
          <p:cNvSpPr>
            <a:spLocks noGrp="1"/>
          </p:cNvSpPr>
          <p:nvPr>
            <p:ph type="body" idx="1"/>
          </p:nvPr>
        </p:nvSpPr>
        <p:spPr/>
        <p:txBody>
          <a:bodyPr/>
          <a:lstStyle/>
          <a:p>
            <a:r>
              <a:rPr lang="cs-CZ">
                <a:effectLst/>
              </a:rPr>
              <a:t>Elf Yourself</a:t>
            </a:r>
            <a:endParaRPr lang="en-US"/>
          </a:p>
        </p:txBody>
      </p:sp>
      <p:sp>
        <p:nvSpPr>
          <p:cNvPr id="4" name="Slide Number Placeholder 3">
            <a:extLst>
              <a:ext uri="{FF2B5EF4-FFF2-40B4-BE49-F238E27FC236}">
                <a16:creationId xmlns:a16="http://schemas.microsoft.com/office/drawing/2014/main" id="{B35BDCCD-CFB1-58A8-3E4C-A08077C21DFA}"/>
              </a:ext>
            </a:extLst>
          </p:cNvPr>
          <p:cNvSpPr>
            <a:spLocks noGrp="1"/>
          </p:cNvSpPr>
          <p:nvPr>
            <p:ph type="sldNum" sz="quarter" idx="5"/>
          </p:nvPr>
        </p:nvSpPr>
        <p:spPr/>
        <p:txBody>
          <a:bodyPr/>
          <a:lstStyle/>
          <a:p>
            <a:fld id="{5FEF3203-849B-4784-BD5D-A210CDCB2B30}" type="slidenum">
              <a:rPr lang="en-US" smtClean="0"/>
              <a:t>2</a:t>
            </a:fld>
            <a:endParaRPr lang="en-US"/>
          </a:p>
        </p:txBody>
      </p:sp>
    </p:spTree>
    <p:extLst>
      <p:ext uri="{BB962C8B-B14F-4D97-AF65-F5344CB8AC3E}">
        <p14:creationId xmlns:p14="http://schemas.microsoft.com/office/powerpoint/2010/main" val="747024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5329-4541-42A3-2908-8CC6B0325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FFE9F-4416-2FF7-DB0B-FDA088985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ADEEA-C1A1-3EF4-9872-C6C0967D540F}"/>
              </a:ext>
            </a:extLst>
          </p:cNvPr>
          <p:cNvSpPr>
            <a:spLocks noGrp="1"/>
          </p:cNvSpPr>
          <p:nvPr>
            <p:ph type="body" idx="1"/>
          </p:nvPr>
        </p:nvSpPr>
        <p:spPr/>
        <p:txBody>
          <a:bodyPr/>
          <a:lstStyle/>
          <a:p>
            <a:r>
              <a:rPr lang="cs-CZ">
                <a:effectLst/>
              </a:rPr>
              <a:t>AR Christmas Mini Game</a:t>
            </a:r>
            <a:endParaRPr lang="en-US"/>
          </a:p>
        </p:txBody>
      </p:sp>
      <p:sp>
        <p:nvSpPr>
          <p:cNvPr id="4" name="Slide Number Placeholder 3">
            <a:extLst>
              <a:ext uri="{FF2B5EF4-FFF2-40B4-BE49-F238E27FC236}">
                <a16:creationId xmlns:a16="http://schemas.microsoft.com/office/drawing/2014/main" id="{FCCBFCED-CFBE-F058-5767-62E0AEE0F90B}"/>
              </a:ext>
            </a:extLst>
          </p:cNvPr>
          <p:cNvSpPr>
            <a:spLocks noGrp="1"/>
          </p:cNvSpPr>
          <p:nvPr>
            <p:ph type="sldNum" sz="quarter" idx="5"/>
          </p:nvPr>
        </p:nvSpPr>
        <p:spPr/>
        <p:txBody>
          <a:bodyPr/>
          <a:lstStyle/>
          <a:p>
            <a:fld id="{5FEF3203-849B-4784-BD5D-A210CDCB2B30}" type="slidenum">
              <a:rPr lang="en-US" smtClean="0"/>
              <a:t>3</a:t>
            </a:fld>
            <a:endParaRPr lang="en-US"/>
          </a:p>
        </p:txBody>
      </p:sp>
    </p:spTree>
    <p:extLst>
      <p:ext uri="{BB962C8B-B14F-4D97-AF65-F5344CB8AC3E}">
        <p14:creationId xmlns:p14="http://schemas.microsoft.com/office/powerpoint/2010/main" val="229146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D033B-6D30-624D-09FF-B8F6AA860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2E0A1-72CE-EB7D-2BF2-856FAFFBD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68D0A-0450-B6CA-EAE0-91143215766D}"/>
              </a:ext>
            </a:extLst>
          </p:cNvPr>
          <p:cNvSpPr>
            <a:spLocks noGrp="1"/>
          </p:cNvSpPr>
          <p:nvPr>
            <p:ph type="body" idx="1"/>
          </p:nvPr>
        </p:nvSpPr>
        <p:spPr/>
        <p:txBody>
          <a:bodyPr/>
          <a:lstStyle/>
          <a:p>
            <a:r>
              <a:rPr lang="en-US">
                <a:effectLst/>
              </a:rPr>
              <a:t>Christmas </a:t>
            </a:r>
            <a:r>
              <a:rPr lang="cs-CZ">
                <a:effectLst/>
              </a:rPr>
              <a:t>Lip Sync</a:t>
            </a:r>
            <a:endParaRPr lang="en-US"/>
          </a:p>
        </p:txBody>
      </p:sp>
      <p:sp>
        <p:nvSpPr>
          <p:cNvPr id="4" name="Slide Number Placeholder 3">
            <a:extLst>
              <a:ext uri="{FF2B5EF4-FFF2-40B4-BE49-F238E27FC236}">
                <a16:creationId xmlns:a16="http://schemas.microsoft.com/office/drawing/2014/main" id="{79DBDE20-7355-19D4-D20F-B0B66D3116CC}"/>
              </a:ext>
            </a:extLst>
          </p:cNvPr>
          <p:cNvSpPr>
            <a:spLocks noGrp="1"/>
          </p:cNvSpPr>
          <p:nvPr>
            <p:ph type="sldNum" sz="quarter" idx="5"/>
          </p:nvPr>
        </p:nvSpPr>
        <p:spPr/>
        <p:txBody>
          <a:bodyPr/>
          <a:lstStyle/>
          <a:p>
            <a:fld id="{5FEF3203-849B-4784-BD5D-A210CDCB2B30}" type="slidenum">
              <a:rPr lang="en-US" smtClean="0"/>
              <a:t>4</a:t>
            </a:fld>
            <a:endParaRPr lang="en-US"/>
          </a:p>
        </p:txBody>
      </p:sp>
    </p:spTree>
    <p:extLst>
      <p:ext uri="{BB962C8B-B14F-4D97-AF65-F5344CB8AC3E}">
        <p14:creationId xmlns:p14="http://schemas.microsoft.com/office/powerpoint/2010/main" val="1377034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F7DB8-52F6-FA3C-92A3-D46F26868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3B4BF-3A9B-118F-3280-324E7B4F0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ACCA1-223E-6282-F45E-3F767EF5C32F}"/>
              </a:ext>
            </a:extLst>
          </p:cNvPr>
          <p:cNvSpPr>
            <a:spLocks noGrp="1"/>
          </p:cNvSpPr>
          <p:nvPr>
            <p:ph type="body" idx="1"/>
          </p:nvPr>
        </p:nvSpPr>
        <p:spPr/>
        <p:txBody>
          <a:bodyPr/>
          <a:lstStyle/>
          <a:p>
            <a:r>
              <a:rPr lang="cs-CZ">
                <a:effectLst/>
              </a:rPr>
              <a:t>Christmas Duet</a:t>
            </a:r>
            <a:endParaRPr lang="en-US"/>
          </a:p>
        </p:txBody>
      </p:sp>
      <p:sp>
        <p:nvSpPr>
          <p:cNvPr id="4" name="Slide Number Placeholder 3">
            <a:extLst>
              <a:ext uri="{FF2B5EF4-FFF2-40B4-BE49-F238E27FC236}">
                <a16:creationId xmlns:a16="http://schemas.microsoft.com/office/drawing/2014/main" id="{FDAFEB05-8337-747E-71F1-D024185C75D4}"/>
              </a:ext>
            </a:extLst>
          </p:cNvPr>
          <p:cNvSpPr>
            <a:spLocks noGrp="1"/>
          </p:cNvSpPr>
          <p:nvPr>
            <p:ph type="sldNum" sz="quarter" idx="5"/>
          </p:nvPr>
        </p:nvSpPr>
        <p:spPr/>
        <p:txBody>
          <a:bodyPr/>
          <a:lstStyle/>
          <a:p>
            <a:fld id="{5FEF3203-849B-4784-BD5D-A210CDCB2B30}" type="slidenum">
              <a:rPr lang="en-US" smtClean="0"/>
              <a:t>5</a:t>
            </a:fld>
            <a:endParaRPr lang="en-US"/>
          </a:p>
        </p:txBody>
      </p:sp>
    </p:spTree>
    <p:extLst>
      <p:ext uri="{BB962C8B-B14F-4D97-AF65-F5344CB8AC3E}">
        <p14:creationId xmlns:p14="http://schemas.microsoft.com/office/powerpoint/2010/main" val="258597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CEC3-8BB3-C05E-854A-7F988372E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6CCFA-1A66-5A59-8B7B-0D05581E9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F5D4D-6D12-C8DF-E852-820746171969}"/>
              </a:ext>
            </a:extLst>
          </p:cNvPr>
          <p:cNvSpPr>
            <a:spLocks noGrp="1"/>
          </p:cNvSpPr>
          <p:nvPr>
            <p:ph type="body" idx="1"/>
          </p:nvPr>
        </p:nvSpPr>
        <p:spPr/>
        <p:txBody>
          <a:bodyPr/>
          <a:lstStyle/>
          <a:p>
            <a:r>
              <a:rPr lang="cs-CZ">
                <a:effectLst/>
              </a:rPr>
              <a:t>Christmas Cake Suprise</a:t>
            </a:r>
            <a:endParaRPr lang="en-US"/>
          </a:p>
        </p:txBody>
      </p:sp>
      <p:sp>
        <p:nvSpPr>
          <p:cNvPr id="4" name="Slide Number Placeholder 3">
            <a:extLst>
              <a:ext uri="{FF2B5EF4-FFF2-40B4-BE49-F238E27FC236}">
                <a16:creationId xmlns:a16="http://schemas.microsoft.com/office/drawing/2014/main" id="{0A8E1D55-87BA-EFE1-E878-BA08A84D9C5B}"/>
              </a:ext>
            </a:extLst>
          </p:cNvPr>
          <p:cNvSpPr>
            <a:spLocks noGrp="1"/>
          </p:cNvSpPr>
          <p:nvPr>
            <p:ph type="sldNum" sz="quarter" idx="5"/>
          </p:nvPr>
        </p:nvSpPr>
        <p:spPr/>
        <p:txBody>
          <a:bodyPr/>
          <a:lstStyle/>
          <a:p>
            <a:fld id="{5FEF3203-849B-4784-BD5D-A210CDCB2B30}" type="slidenum">
              <a:rPr lang="en-US" smtClean="0"/>
              <a:t>6</a:t>
            </a:fld>
            <a:endParaRPr lang="en-US"/>
          </a:p>
        </p:txBody>
      </p:sp>
    </p:spTree>
    <p:extLst>
      <p:ext uri="{BB962C8B-B14F-4D97-AF65-F5344CB8AC3E}">
        <p14:creationId xmlns:p14="http://schemas.microsoft.com/office/powerpoint/2010/main" val="166852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26F1-8EDC-9D06-0805-12384859E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C3221-D2CF-C411-7C17-2BEEB8600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A35BD-A72D-9105-8BCF-F391BB7B07AD}"/>
              </a:ext>
            </a:extLst>
          </p:cNvPr>
          <p:cNvSpPr>
            <a:spLocks noGrp="1"/>
          </p:cNvSpPr>
          <p:nvPr>
            <p:ph type="body" idx="1"/>
          </p:nvPr>
        </p:nvSpPr>
        <p:spPr/>
        <p:txBody>
          <a:bodyPr/>
          <a:lstStyle/>
          <a:p>
            <a:r>
              <a:rPr lang="cs-CZ"/>
              <a:t>Birthday Message</a:t>
            </a:r>
            <a:endParaRPr lang="en-US"/>
          </a:p>
        </p:txBody>
      </p:sp>
      <p:sp>
        <p:nvSpPr>
          <p:cNvPr id="4" name="Slide Number Placeholder 3">
            <a:extLst>
              <a:ext uri="{FF2B5EF4-FFF2-40B4-BE49-F238E27FC236}">
                <a16:creationId xmlns:a16="http://schemas.microsoft.com/office/drawing/2014/main" id="{D9AD270E-F3D0-B1EB-48FE-EFF708523A92}"/>
              </a:ext>
            </a:extLst>
          </p:cNvPr>
          <p:cNvSpPr>
            <a:spLocks noGrp="1"/>
          </p:cNvSpPr>
          <p:nvPr>
            <p:ph type="sldNum" sz="quarter" idx="5"/>
          </p:nvPr>
        </p:nvSpPr>
        <p:spPr/>
        <p:txBody>
          <a:bodyPr/>
          <a:lstStyle/>
          <a:p>
            <a:fld id="{5FEF3203-849B-4784-BD5D-A210CDCB2B30}" type="slidenum">
              <a:rPr lang="en-US" smtClean="0"/>
              <a:t>7</a:t>
            </a:fld>
            <a:endParaRPr lang="en-US"/>
          </a:p>
        </p:txBody>
      </p:sp>
    </p:spTree>
    <p:extLst>
      <p:ext uri="{BB962C8B-B14F-4D97-AF65-F5344CB8AC3E}">
        <p14:creationId xmlns:p14="http://schemas.microsoft.com/office/powerpoint/2010/main" val="401062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3B23-A024-15BF-27DF-AF46D9D9E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B05ED-B8EB-F48A-2B46-AEABB96CC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714BD-2847-43E5-AE9D-9E3381C43F63}"/>
              </a:ext>
            </a:extLst>
          </p:cNvPr>
          <p:cNvSpPr>
            <a:spLocks noGrp="1"/>
          </p:cNvSpPr>
          <p:nvPr>
            <p:ph type="body" idx="1"/>
          </p:nvPr>
        </p:nvSpPr>
        <p:spPr/>
        <p:txBody>
          <a:bodyPr/>
          <a:lstStyle/>
          <a:p>
            <a:r>
              <a:rPr lang="en-US"/>
              <a:t>Valentine Message</a:t>
            </a:r>
          </a:p>
        </p:txBody>
      </p:sp>
      <p:sp>
        <p:nvSpPr>
          <p:cNvPr id="4" name="Slide Number Placeholder 3">
            <a:extLst>
              <a:ext uri="{FF2B5EF4-FFF2-40B4-BE49-F238E27FC236}">
                <a16:creationId xmlns:a16="http://schemas.microsoft.com/office/drawing/2014/main" id="{7228CF1B-EFB1-620D-0ABB-966557AAEE08}"/>
              </a:ext>
            </a:extLst>
          </p:cNvPr>
          <p:cNvSpPr>
            <a:spLocks noGrp="1"/>
          </p:cNvSpPr>
          <p:nvPr>
            <p:ph type="sldNum" sz="quarter" idx="5"/>
          </p:nvPr>
        </p:nvSpPr>
        <p:spPr/>
        <p:txBody>
          <a:bodyPr/>
          <a:lstStyle/>
          <a:p>
            <a:fld id="{5FEF3203-849B-4784-BD5D-A210CDCB2B30}" type="slidenum">
              <a:rPr lang="en-US" smtClean="0"/>
              <a:t>8</a:t>
            </a:fld>
            <a:endParaRPr lang="en-US"/>
          </a:p>
        </p:txBody>
      </p:sp>
    </p:spTree>
    <p:extLst>
      <p:ext uri="{BB962C8B-B14F-4D97-AF65-F5344CB8AC3E}">
        <p14:creationId xmlns:p14="http://schemas.microsoft.com/office/powerpoint/2010/main" val="3991596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
        <p:nvSpPr>
          <p:cNvPr id="2" name="Title 1"/>
          <p:cNvSpPr>
            <a:spLocks noGrp="1"/>
          </p:cNvSpPr>
          <p:nvPr>
            <p:ph type="title"/>
          </p:nvPr>
        </p:nvSpPr>
        <p:spPr>
          <a:xfrm>
            <a:off x="384312" y="357050"/>
            <a:ext cx="6069497" cy="922506"/>
          </a:xfrm>
        </p:spPr>
        <p:txBody>
          <a:bodyPr/>
          <a:lstStyle/>
          <a:p>
            <a:r>
              <a:rPr lang="en-US"/>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384312" y="1279525"/>
            <a:ext cx="6069497" cy="9255953"/>
          </a:xfrm>
        </p:spPr>
        <p:txBody>
          <a:bodyPr>
            <a:normAutofit/>
          </a:bodyPr>
          <a:lstStyle>
            <a:lvl1pPr>
              <a:defRPr sz="3600"/>
            </a:lvl1pPr>
            <a:lvl2pPr>
              <a:defRPr sz="3600"/>
            </a:lvl2pPr>
            <a:lvl3pPr>
              <a:defRPr sz="3600"/>
            </a:lvl3pPr>
            <a:lvl4pPr>
              <a:defRPr sz="3600"/>
            </a:lvl4pPr>
            <a:lvl5pPr>
              <a:defRPr sz="36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3BE9-9922-5FC6-B345-324C4730EE01}"/>
              </a:ext>
            </a:extLst>
          </p:cNvPr>
          <p:cNvSpPr>
            <a:spLocks noGrp="1"/>
          </p:cNvSpPr>
          <p:nvPr>
            <p:ph type="title"/>
          </p:nvPr>
        </p:nvSpPr>
        <p:spPr>
          <a:xfrm>
            <a:off x="188843" y="357050"/>
            <a:ext cx="6351105" cy="922506"/>
          </a:xfrm>
        </p:spPr>
        <p:txBody>
          <a:bodyPr>
            <a:noAutofit/>
          </a:bodyPr>
          <a:lstStyle/>
          <a:p>
            <a:r>
              <a:rPr lang="el-GR" sz="2800"/>
              <a:t>Φανταστείτε ότι κυκλοφόρησε μια νέα εξατομικευμένη ξυστή </a:t>
            </a:r>
            <a:r>
              <a:rPr lang="el-GR" sz="2800" b="1" u="sng"/>
              <a:t>κάρτα με βίντεο </a:t>
            </a:r>
            <a:r>
              <a:rPr lang="en-GB" sz="2800" b="1" noProof="0"/>
              <a:t>:</a:t>
            </a:r>
            <a:endParaRPr lang="cs-CZ" sz="2600"/>
          </a:p>
        </p:txBody>
      </p:sp>
      <p:sp>
        <p:nvSpPr>
          <p:cNvPr id="3" name="Text Placeholder 2">
            <a:extLst>
              <a:ext uri="{FF2B5EF4-FFF2-40B4-BE49-F238E27FC236}">
                <a16:creationId xmlns:a16="http://schemas.microsoft.com/office/drawing/2014/main" id="{20508380-EBBD-4C06-2DA1-D8241EF551A5}"/>
              </a:ext>
            </a:extLst>
          </p:cNvPr>
          <p:cNvSpPr>
            <a:spLocks noGrp="1"/>
          </p:cNvSpPr>
          <p:nvPr>
            <p:ph type="body" sz="quarter" idx="10"/>
          </p:nvPr>
        </p:nvSpPr>
        <p:spPr>
          <a:xfrm>
            <a:off x="188843" y="1361661"/>
            <a:ext cx="6500191" cy="9173817"/>
          </a:xfrm>
        </p:spPr>
        <p:txBody>
          <a:bodyPr>
            <a:normAutofit/>
          </a:bodyPr>
          <a:lstStyle/>
          <a:p>
            <a:pPr>
              <a:spcBef>
                <a:spcPts val="1200"/>
              </a:spcBef>
              <a:spcAft>
                <a:spcPts val="1200"/>
              </a:spcAft>
              <a:buNone/>
            </a:pPr>
            <a:r>
              <a:rPr lang="el-GR" sz="2400"/>
              <a:t>🎁 Αυτό το δώρο-</a:t>
            </a:r>
            <a:r>
              <a:rPr lang="en-US" sz="2400"/>
              <a:t>Scratch</a:t>
            </a:r>
            <a:r>
              <a:rPr lang="el-GR" sz="2400"/>
              <a:t> είναι πάντα κερδισμένο, με λιανική τιμή 10 € και χριστουγεννιάτικο σχεδιασμό — ιδανικό για δώρο γιορτινής εποχής.</a:t>
            </a:r>
          </a:p>
          <a:p>
            <a:pPr>
              <a:spcBef>
                <a:spcPts val="1200"/>
              </a:spcBef>
              <a:spcAft>
                <a:spcPts val="1200"/>
              </a:spcAft>
              <a:buNone/>
            </a:pPr>
            <a:r>
              <a:rPr lang="el-GR" sz="2400"/>
              <a:t>Στο μπροστινό μέρος της κάρτας υπάρχει ένας QR κωδικός, τον οποίο μπορείτε να σαρώσετε με το κινητό σας. Αφού τον σαρώσετε, μπορείτε να ηχογραφήσετε ένα σύντομο βίντεο με τις ευχές σας για Καλά Χριστούγεννα προς το άτομο στο οποίο κάνετε το δώρο. Μετά την ηχογράφηση, το βίντεο διακοσμείται με χριστουγεννιάτικο φίλτρο και εορταστικό σχέδιο.</a:t>
            </a:r>
          </a:p>
          <a:p>
            <a:pPr>
              <a:spcBef>
                <a:spcPts val="1200"/>
              </a:spcBef>
              <a:spcAft>
                <a:spcPts val="1200"/>
              </a:spcAft>
            </a:pPr>
            <a:r>
              <a:rPr lang="el-GR" sz="2400"/>
              <a:t>🎄 Όταν η κάρτα δοθεί ως δώρο, ο παραλήπτης μπορεί να την ξύσει, να αποκαλύψει το κέρδος του και στη συνέχεια να σαρώσει τον QR κωδικό. Το προσωπικό σας μήνυμα θα εμφανιστεί πάνω στην κάρτα — ζωντανό, χάρη στην επαυξημένη πραγματικότητα και ψηφιακά εορταστικά εφέ.</a:t>
            </a:r>
          </a:p>
          <a:p>
            <a:pPr marL="0" indent="0" algn="just">
              <a:buNone/>
            </a:pPr>
            <a:endParaRPr lang="en-GB" sz="2400" noProof="0">
              <a:ea typeface="Calibri" panose="020F0502020204030204" pitchFamily="34" charset="0"/>
              <a:cs typeface="Times New Roman" panose="02020603050405020304" pitchFamily="18" charset="0"/>
            </a:endParaRPr>
          </a:p>
          <a:p>
            <a:pPr algn="just"/>
            <a:endParaRPr lang="en-GB" sz="2400" noProof="0"/>
          </a:p>
        </p:txBody>
      </p:sp>
      <p:pic>
        <p:nvPicPr>
          <p:cNvPr id="8" name="Picture 7" descr="A hand holding a cell phone with a picture of a family&#10;&#10;AI-generated content may be incorrect.">
            <a:extLst>
              <a:ext uri="{FF2B5EF4-FFF2-40B4-BE49-F238E27FC236}">
                <a16:creationId xmlns:a16="http://schemas.microsoft.com/office/drawing/2014/main" id="{179F1309-65D3-7BF1-9C60-BF35C93CD3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8336" y="8122115"/>
            <a:ext cx="2203283" cy="2684771"/>
          </a:xfrm>
          <a:prstGeom prst="rect">
            <a:avLst/>
          </a:prstGeom>
        </p:spPr>
      </p:pic>
      <p:pic>
        <p:nvPicPr>
          <p:cNvPr id="10" name="Picture 9" descr="A christmas card on a table&#10;&#10;AI-generated content may be incorrect.">
            <a:extLst>
              <a:ext uri="{FF2B5EF4-FFF2-40B4-BE49-F238E27FC236}">
                <a16:creationId xmlns:a16="http://schemas.microsoft.com/office/drawing/2014/main" id="{6B385477-43F4-479A-9F15-73836AAA08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258" y="8122116"/>
            <a:ext cx="2150865" cy="2672177"/>
          </a:xfrm>
          <a:prstGeom prst="rect">
            <a:avLst/>
          </a:prstGeom>
        </p:spPr>
      </p:pic>
      <p:pic>
        <p:nvPicPr>
          <p:cNvPr id="12" name="Picture 11" descr="A hand holding a phone with a screen showing a christmas tree&#10;&#10;AI-generated content may be incorrect.">
            <a:extLst>
              <a:ext uri="{FF2B5EF4-FFF2-40B4-BE49-F238E27FC236}">
                <a16:creationId xmlns:a16="http://schemas.microsoft.com/office/drawing/2014/main" id="{DBF184B7-91DE-B290-E0C3-22590BA0A8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59024" y="8122116"/>
            <a:ext cx="2390895" cy="2672177"/>
          </a:xfrm>
          <a:prstGeom prst="rect">
            <a:avLst/>
          </a:prstGeom>
        </p:spPr>
      </p:pic>
      <p:sp>
        <p:nvSpPr>
          <p:cNvPr id="4" name="TextBox 3">
            <a:extLst>
              <a:ext uri="{FF2B5EF4-FFF2-40B4-BE49-F238E27FC236}">
                <a16:creationId xmlns:a16="http://schemas.microsoft.com/office/drawing/2014/main" id="{315507DD-03F2-75F2-2DD3-B5349CB9C1E6}"/>
              </a:ext>
            </a:extLst>
          </p:cNvPr>
          <p:cNvSpPr txBox="1"/>
          <p:nvPr/>
        </p:nvSpPr>
        <p:spPr>
          <a:xfrm>
            <a:off x="-50354" y="0"/>
            <a:ext cx="4418756" cy="369332"/>
          </a:xfrm>
          <a:prstGeom prst="rect">
            <a:avLst/>
          </a:prstGeom>
          <a:noFill/>
        </p:spPr>
        <p:txBody>
          <a:bodyPr wrap="square">
            <a:spAutoFit/>
          </a:bodyPr>
          <a:lstStyle/>
          <a:p>
            <a:r>
              <a:rPr lang="cs-CZ" b="1" dirty="0" err="1"/>
              <a:t>Christmas</a:t>
            </a:r>
            <a:r>
              <a:rPr lang="cs-CZ" b="1" dirty="0"/>
              <a:t> AR </a:t>
            </a:r>
            <a:r>
              <a:rPr lang="cs-CZ" b="1" dirty="0" err="1"/>
              <a:t>Message</a:t>
            </a:r>
            <a:endParaRPr lang="cs-CZ" b="1" dirty="0"/>
          </a:p>
        </p:txBody>
      </p:sp>
    </p:spTree>
    <p:extLst>
      <p:ext uri="{BB962C8B-B14F-4D97-AF65-F5344CB8AC3E}">
        <p14:creationId xmlns:p14="http://schemas.microsoft.com/office/powerpoint/2010/main" val="1475714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CB145-674B-6AC8-5427-005B7D811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92C3C-3092-3722-47E1-180CEF5B2F99}"/>
              </a:ext>
            </a:extLst>
          </p:cNvPr>
          <p:cNvSpPr>
            <a:spLocks noGrp="1"/>
          </p:cNvSpPr>
          <p:nvPr>
            <p:ph type="title"/>
          </p:nvPr>
        </p:nvSpPr>
        <p:spPr>
          <a:xfrm>
            <a:off x="188843" y="357050"/>
            <a:ext cx="6500191" cy="922506"/>
          </a:xfrm>
        </p:spPr>
        <p:txBody>
          <a:bodyPr>
            <a:noAutofit/>
          </a:bodyPr>
          <a:lstStyle/>
          <a:p>
            <a:pPr>
              <a:spcAft>
                <a:spcPts val="600"/>
              </a:spcAft>
            </a:pPr>
            <a:r>
              <a:rPr lang="en-US" sz="2800" i="1">
                <a:effectLst/>
                <a:latin typeface="Calibri" panose="020F0502020204030204" pitchFamily="34" charset="0"/>
                <a:ea typeface="Times New Roman" panose="02020603050405020304" pitchFamily="18" charset="0"/>
              </a:rPr>
              <a:t>Φα</a:t>
            </a:r>
            <a:r>
              <a:rPr lang="en-US" sz="2800" i="1" err="1">
                <a:effectLst/>
                <a:latin typeface="Calibri" panose="020F0502020204030204" pitchFamily="34" charset="0"/>
                <a:ea typeface="Times New Roman" panose="02020603050405020304" pitchFamily="18" charset="0"/>
              </a:rPr>
              <a:t>ντ</a:t>
            </a:r>
            <a:r>
              <a:rPr lang="en-US" sz="2800" i="1">
                <a:effectLst/>
                <a:latin typeface="Calibri" panose="020F0502020204030204" pitchFamily="34" charset="0"/>
                <a:ea typeface="Times New Roman" panose="02020603050405020304" pitchFamily="18" charset="0"/>
              </a:rPr>
              <a:t>αστείτε ότι κυκλοφόρησε ένας νέος Χριστουγεννιάτικος λαχνός ΣΚΡΑΤΣ με </a:t>
            </a:r>
            <a:r>
              <a:rPr lang="en-US" sz="2800" b="1" i="1" u="sng">
                <a:effectLst/>
                <a:latin typeface="Calibri" panose="020F0502020204030204" pitchFamily="34" charset="0"/>
                <a:ea typeface="Times New Roman" panose="02020603050405020304" pitchFamily="18" charset="0"/>
              </a:rPr>
              <a:t>επαυξημένη πραγματικότητα</a:t>
            </a:r>
            <a:r>
              <a:rPr lang="en-GB" sz="2800" b="1" noProof="0"/>
              <a:t>:</a:t>
            </a:r>
            <a:endParaRPr lang="cs-CZ" sz="2600" u="sng"/>
          </a:p>
        </p:txBody>
      </p:sp>
      <p:sp>
        <p:nvSpPr>
          <p:cNvPr id="3" name="Text Placeholder 2">
            <a:extLst>
              <a:ext uri="{FF2B5EF4-FFF2-40B4-BE49-F238E27FC236}">
                <a16:creationId xmlns:a16="http://schemas.microsoft.com/office/drawing/2014/main" id="{11FF3B95-B4A4-2936-19BA-CAE3E30D4147}"/>
              </a:ext>
            </a:extLst>
          </p:cNvPr>
          <p:cNvSpPr>
            <a:spLocks noGrp="1"/>
          </p:cNvSpPr>
          <p:nvPr>
            <p:ph type="body" sz="quarter" idx="10"/>
          </p:nvPr>
        </p:nvSpPr>
        <p:spPr>
          <a:xfrm>
            <a:off x="188843" y="1500809"/>
            <a:ext cx="6500191" cy="9034668"/>
          </a:xfrm>
        </p:spPr>
        <p:txBody>
          <a:bodyPr vert="horz" lIns="91440" tIns="45720" rIns="91440" bIns="45720" rtlCol="0" anchor="t">
            <a:normAutofit/>
          </a:bodyPr>
          <a:lstStyle/>
          <a:p>
            <a:pPr>
              <a:spcBef>
                <a:spcPts val="600"/>
              </a:spcBef>
              <a:spcAft>
                <a:spcPts val="600"/>
              </a:spcAft>
              <a:buNone/>
            </a:pPr>
            <a:r>
              <a:rPr lang="el-GR" sz="2200"/>
              <a:t>🎁 </a:t>
            </a:r>
            <a:r>
              <a:rPr lang="en-US" sz="2200" err="1">
                <a:effectLst/>
                <a:ea typeface="Times New Roman" panose="02020603050405020304" pitchFamily="18" charset="0"/>
              </a:rPr>
              <a:t>Αυτός</a:t>
            </a:r>
            <a:r>
              <a:rPr lang="en-US" sz="2200">
                <a:effectLst/>
                <a:ea typeface="Times New Roman" panose="02020603050405020304" pitchFamily="18" charset="0"/>
              </a:rPr>
              <a:t> ο </a:t>
            </a:r>
            <a:r>
              <a:rPr lang="en-US" sz="2200" err="1">
                <a:effectLst/>
                <a:ea typeface="Times New Roman" panose="02020603050405020304" pitchFamily="18" charset="0"/>
              </a:rPr>
              <a:t>Χριστουγεννιάτικος</a:t>
            </a:r>
            <a:r>
              <a:rPr lang="en-US" sz="2200">
                <a:effectLst/>
                <a:ea typeface="Times New Roman" panose="02020603050405020304" pitchFamily="18" charset="0"/>
              </a:rPr>
              <a:t> λα</a:t>
            </a:r>
            <a:r>
              <a:rPr lang="en-US" sz="2200" err="1">
                <a:effectLst/>
                <a:ea typeface="Times New Roman" panose="02020603050405020304" pitchFamily="18" charset="0"/>
              </a:rPr>
              <a:t>χνός</a:t>
            </a:r>
            <a:r>
              <a:rPr lang="en-US" sz="2200">
                <a:effectLst/>
                <a:ea typeface="Times New Roman" panose="02020603050405020304" pitchFamily="18" charset="0"/>
              </a:rPr>
              <a:t> ΣΚΡΑΤΣ </a:t>
            </a:r>
            <a:r>
              <a:rPr lang="en-US" sz="2200" err="1">
                <a:effectLst/>
                <a:ea typeface="Times New Roman" panose="02020603050405020304" pitchFamily="18" charset="0"/>
              </a:rPr>
              <a:t>έχει</a:t>
            </a:r>
            <a:r>
              <a:rPr lang="en-US" sz="2200">
                <a:effectLst/>
                <a:ea typeface="Times New Roman" panose="02020603050405020304" pitchFamily="18" charset="0"/>
              </a:rPr>
              <a:t> </a:t>
            </a:r>
            <a:r>
              <a:rPr lang="en-US" sz="2200" err="1">
                <a:effectLst/>
                <a:ea typeface="Times New Roman" panose="02020603050405020304" pitchFamily="18" charset="0"/>
              </a:rPr>
              <a:t>εγγυημένο</a:t>
            </a:r>
            <a:r>
              <a:rPr lang="en-US" sz="2200">
                <a:effectLst/>
                <a:ea typeface="Times New Roman" panose="02020603050405020304" pitchFamily="18" charset="0"/>
              </a:rPr>
              <a:t> </a:t>
            </a:r>
            <a:r>
              <a:rPr lang="en-US" sz="2200" err="1">
                <a:effectLst/>
                <a:ea typeface="Times New Roman" panose="02020603050405020304" pitchFamily="18" charset="0"/>
              </a:rPr>
              <a:t>κέρδος</a:t>
            </a:r>
            <a:r>
              <a:rPr lang="en-US" sz="2200">
                <a:effectLst/>
                <a:ea typeface="Times New Roman" panose="02020603050405020304" pitchFamily="18" charset="0"/>
              </a:rPr>
              <a:t> και </a:t>
            </a:r>
            <a:r>
              <a:rPr lang="en-US" sz="2200" err="1">
                <a:effectLst/>
                <a:ea typeface="Times New Roman" panose="02020603050405020304" pitchFamily="18" charset="0"/>
              </a:rPr>
              <a:t>λι</a:t>
            </a:r>
            <a:r>
              <a:rPr lang="en-US" sz="2200">
                <a:effectLst/>
                <a:ea typeface="Times New Roman" panose="02020603050405020304" pitchFamily="18" charset="0"/>
              </a:rPr>
              <a:t>ανική τιμή 10 € και εορταστικό σχεδιασμό – ιδανικό για δώρο Χριστουγέννων</a:t>
            </a:r>
            <a:r>
              <a:rPr lang="el-GR" sz="2200"/>
              <a:t>.</a:t>
            </a:r>
          </a:p>
          <a:p>
            <a:r>
              <a:rPr lang="el-GR" sz="2200"/>
              <a:t>Στην μπροστινή πλευρά της κάρτας υπάρχει ένας QR κωδικός. Μόλις τον σαρώσετε με το κινητό σας, μπορείτε να γράψετε ένα σύντομο χριστουγεννιάτικο μήνυμα για το πρόσωπο στο οποίο χαρίζετε το ΣΚΡΑΤΣ. Στη συνέχεια μπορείτε να ανεβάσετε μια φωτογραφία ή να βγάλετε ένα </a:t>
            </a:r>
            <a:r>
              <a:rPr lang="el-GR" sz="2200" err="1">
                <a:solidFill>
                  <a:srgbClr val="111111"/>
                </a:solidFill>
              </a:rPr>
              <a:t>σέλφι</a:t>
            </a:r>
            <a:r>
              <a:rPr lang="el-GR" sz="2200"/>
              <a:t>, το οποίο προβάλλεται πάνω σε χορευτικά σώματα ξωτικών, δημιουργώντας ένα διασκεδαστικό, προσωποποιημένο χριστουγεννιάτικο βίντεο με μουσική – εμπνευσμένο από το </a:t>
            </a:r>
            <a:r>
              <a:rPr lang="el-GR" sz="2200">
                <a:solidFill>
                  <a:srgbClr val="111111"/>
                </a:solidFill>
              </a:rPr>
              <a:t>ιογενής τάση </a:t>
            </a:r>
            <a:r>
              <a:rPr lang="el-GR" sz="2200"/>
              <a:t>"</a:t>
            </a:r>
            <a:r>
              <a:rPr lang="el-GR" sz="2200" err="1"/>
              <a:t>Elf</a:t>
            </a:r>
            <a:r>
              <a:rPr lang="el-GR" sz="2200"/>
              <a:t> </a:t>
            </a:r>
            <a:r>
              <a:rPr lang="el-GR" sz="2200" err="1"/>
              <a:t>Yourself</a:t>
            </a:r>
            <a:r>
              <a:rPr lang="el-GR" sz="2200"/>
              <a:t>".</a:t>
            </a:r>
          </a:p>
          <a:p>
            <a:pPr>
              <a:spcBef>
                <a:spcPts val="600"/>
              </a:spcBef>
              <a:spcAft>
                <a:spcPts val="600"/>
              </a:spcAft>
              <a:buNone/>
            </a:pPr>
            <a:r>
              <a:rPr lang="el-GR" sz="2200"/>
              <a:t>🎄 Αφού χαρίσετε την κάρτα, ο παραλήπτης μπορεί να τη ξύσει, να δει το κέρδος του και στη συνέχεια να σαρώσει τον QR κωδικό.</a:t>
            </a:r>
          </a:p>
          <a:p>
            <a:pPr>
              <a:spcBef>
                <a:spcPts val="600"/>
              </a:spcBef>
              <a:spcAft>
                <a:spcPts val="600"/>
              </a:spcAft>
            </a:pPr>
            <a:r>
              <a:rPr lang="el-GR" sz="2200"/>
              <a:t>Το προσωπικό μήνυμα που ετοιμάσατε θα εμφανιστεί πάνω από το </a:t>
            </a:r>
            <a:r>
              <a:rPr lang="en-US" sz="2200"/>
              <a:t>ΣΚΡΑΤΣ</a:t>
            </a:r>
            <a:r>
              <a:rPr lang="el-GR" sz="2200"/>
              <a:t>, πρώτα με το διακοσμητικό εορταστικό σχέδιο και στη συνέχεια με το αστείο, προσωποποιημένο βίντεο με το ξωτικό.</a:t>
            </a:r>
          </a:p>
          <a:p>
            <a:pPr algn="just"/>
            <a:endParaRPr lang="en-GB" sz="2200" noProof="0"/>
          </a:p>
        </p:txBody>
      </p:sp>
      <p:pic>
        <p:nvPicPr>
          <p:cNvPr id="6" name="Picture 5" descr="A hand holding a phone&#10;&#10;AI-generated content may be incorrect.">
            <a:extLst>
              <a:ext uri="{FF2B5EF4-FFF2-40B4-BE49-F238E27FC236}">
                <a16:creationId xmlns:a16="http://schemas.microsoft.com/office/drawing/2014/main" id="{5F79DC43-35D1-4F12-E211-B61C85B568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6785" y="8228317"/>
            <a:ext cx="2084114" cy="2571445"/>
          </a:xfrm>
          <a:prstGeom prst="rect">
            <a:avLst/>
          </a:prstGeom>
        </p:spPr>
      </p:pic>
      <p:pic>
        <p:nvPicPr>
          <p:cNvPr id="10" name="Picture 9" descr="A hand holding a cell phone with a cartoon character on the screen&#10;&#10;AI-generated content may be incorrect.">
            <a:extLst>
              <a:ext uri="{FF2B5EF4-FFF2-40B4-BE49-F238E27FC236}">
                <a16:creationId xmlns:a16="http://schemas.microsoft.com/office/drawing/2014/main" id="{73771405-28E4-4F23-97B2-300CD8B320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7441" y="8228317"/>
            <a:ext cx="2158178" cy="2571446"/>
          </a:xfrm>
          <a:prstGeom prst="rect">
            <a:avLst/>
          </a:prstGeom>
        </p:spPr>
      </p:pic>
      <p:pic>
        <p:nvPicPr>
          <p:cNvPr id="11" name="Picture 10" descr="A hand holding a phone with a screen showing a christmas tree&#10;&#10;AI-generated content may be incorrect.">
            <a:extLst>
              <a:ext uri="{FF2B5EF4-FFF2-40B4-BE49-F238E27FC236}">
                <a16:creationId xmlns:a16="http://schemas.microsoft.com/office/drawing/2014/main" id="{A29A5791-6FC3-4914-25DD-D9C8258171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7" y="8228319"/>
            <a:ext cx="2300765" cy="2571443"/>
          </a:xfrm>
          <a:prstGeom prst="rect">
            <a:avLst/>
          </a:prstGeom>
        </p:spPr>
      </p:pic>
      <p:sp>
        <p:nvSpPr>
          <p:cNvPr id="4" name="TextBox 3">
            <a:extLst>
              <a:ext uri="{FF2B5EF4-FFF2-40B4-BE49-F238E27FC236}">
                <a16:creationId xmlns:a16="http://schemas.microsoft.com/office/drawing/2014/main" id="{1D940026-0BD8-37C1-B2C0-130550DCE166}"/>
              </a:ext>
            </a:extLst>
          </p:cNvPr>
          <p:cNvSpPr txBox="1"/>
          <p:nvPr/>
        </p:nvSpPr>
        <p:spPr>
          <a:xfrm>
            <a:off x="-50354" y="0"/>
            <a:ext cx="4418756" cy="369332"/>
          </a:xfrm>
          <a:prstGeom prst="rect">
            <a:avLst/>
          </a:prstGeom>
          <a:noFill/>
        </p:spPr>
        <p:txBody>
          <a:bodyPr wrap="square">
            <a:spAutoFit/>
          </a:bodyPr>
          <a:lstStyle/>
          <a:p>
            <a:r>
              <a:rPr lang="cs-CZ" b="1" dirty="0"/>
              <a:t>Elf </a:t>
            </a:r>
            <a:r>
              <a:rPr lang="cs-CZ" b="1" dirty="0" err="1"/>
              <a:t>Yourself</a:t>
            </a:r>
            <a:endParaRPr lang="cs-CZ" b="1" dirty="0"/>
          </a:p>
        </p:txBody>
      </p:sp>
    </p:spTree>
    <p:extLst>
      <p:ext uri="{BB962C8B-B14F-4D97-AF65-F5344CB8AC3E}">
        <p14:creationId xmlns:p14="http://schemas.microsoft.com/office/powerpoint/2010/main" val="2657097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309A-B641-018D-7975-7C7061CD7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BA029-F31B-DD6C-CA72-33408696EB27}"/>
              </a:ext>
            </a:extLst>
          </p:cNvPr>
          <p:cNvSpPr>
            <a:spLocks noGrp="1"/>
          </p:cNvSpPr>
          <p:nvPr>
            <p:ph type="title"/>
          </p:nvPr>
        </p:nvSpPr>
        <p:spPr>
          <a:xfrm>
            <a:off x="188843" y="357050"/>
            <a:ext cx="6500191" cy="922506"/>
          </a:xfrm>
        </p:spPr>
        <p:txBody>
          <a:bodyPr>
            <a:noAutofit/>
          </a:bodyPr>
          <a:lstStyle/>
          <a:p>
            <a:r>
              <a:rPr lang="el-GR" sz="2800"/>
              <a:t>Φανταστείτε ότι μπορείτε να παίξετε ένα </a:t>
            </a:r>
            <a:r>
              <a:rPr lang="el-GR" sz="2800" b="1" u="sng"/>
              <a:t>νέο AR μίνι παιχνίδι </a:t>
            </a:r>
            <a:r>
              <a:rPr lang="el-GR" sz="2800"/>
              <a:t>πάνω στο </a:t>
            </a:r>
            <a:r>
              <a:rPr lang="en-US" sz="2800" i="1">
                <a:effectLst/>
                <a:latin typeface="Calibri" panose="020F0502020204030204" pitchFamily="34" charset="0"/>
                <a:ea typeface="Times New Roman" panose="02020603050405020304" pitchFamily="18" charset="0"/>
              </a:rPr>
              <a:t>ΣΚΡΑΤΣ</a:t>
            </a:r>
            <a:r>
              <a:rPr lang="el-GR" sz="2800"/>
              <a:t> σας</a:t>
            </a:r>
            <a:r>
              <a:rPr lang="en-GB" sz="2800" b="1" noProof="0"/>
              <a:t>:</a:t>
            </a:r>
            <a:endParaRPr lang="cs-CZ" sz="2600" u="sng"/>
          </a:p>
        </p:txBody>
      </p:sp>
      <p:sp>
        <p:nvSpPr>
          <p:cNvPr id="3" name="Text Placeholder 2">
            <a:extLst>
              <a:ext uri="{FF2B5EF4-FFF2-40B4-BE49-F238E27FC236}">
                <a16:creationId xmlns:a16="http://schemas.microsoft.com/office/drawing/2014/main" id="{1BE5FDD3-6C55-0DAD-2A43-202A38AF04D0}"/>
              </a:ext>
            </a:extLst>
          </p:cNvPr>
          <p:cNvSpPr>
            <a:spLocks noGrp="1"/>
          </p:cNvSpPr>
          <p:nvPr>
            <p:ph type="body" sz="quarter" idx="10"/>
          </p:nvPr>
        </p:nvSpPr>
        <p:spPr>
          <a:xfrm>
            <a:off x="188843" y="1343320"/>
            <a:ext cx="6500191" cy="9255953"/>
          </a:xfrm>
        </p:spPr>
        <p:txBody>
          <a:bodyPr vert="horz" lIns="91440" tIns="45720" rIns="91440" bIns="45720" rtlCol="0" anchor="t">
            <a:normAutofit/>
          </a:bodyPr>
          <a:lstStyle/>
          <a:p>
            <a:pPr>
              <a:spcBef>
                <a:spcPts val="1200"/>
              </a:spcBef>
              <a:spcAft>
                <a:spcPts val="600"/>
              </a:spcAft>
            </a:pPr>
            <a:r>
              <a:rPr lang="el-GR" sz="2000"/>
              <a:t>🎁 Αυτό το χριστουγεννιάτικο </a:t>
            </a:r>
            <a:r>
              <a:rPr lang="en-US" sz="2200"/>
              <a:t>ΣΚΡΑΤΣ</a:t>
            </a:r>
            <a:r>
              <a:rPr lang="el-GR" sz="2000"/>
              <a:t> δώρο είναι πάντα κερδισμένο, με λιανική τιμή 10 € και εορταστικό σχεδιασμό – ιδανικό για δώρο κάτω από το δέντρο.</a:t>
            </a:r>
          </a:p>
          <a:p>
            <a:pPr>
              <a:spcBef>
                <a:spcPts val="1200"/>
              </a:spcBef>
              <a:spcAft>
                <a:spcPts val="600"/>
              </a:spcAft>
              <a:buNone/>
            </a:pPr>
            <a:r>
              <a:rPr lang="el-GR" sz="2000"/>
              <a:t>Στην μπροστινή πλευρά του ξυστού υπάρχει ένας QR κωδικός, τον οποίο μπορείτε να σαρώσετε με το κινητό σας. Μόλις τον σαρώσετε, μπορείτε να γράψετε ένα σύντομο χριστουγεννιάτικο μήνυμα για το άτομο που θα λάβει το δώρο και να ανεβάσετε μια φωτογραφία ή selfie.</a:t>
            </a:r>
          </a:p>
          <a:p>
            <a:pPr>
              <a:spcBef>
                <a:spcPts val="1200"/>
              </a:spcBef>
              <a:spcAft>
                <a:spcPts val="600"/>
              </a:spcAft>
              <a:buNone/>
            </a:pPr>
            <a:r>
              <a:rPr lang="el-GR" sz="2000"/>
              <a:t>🎮 Αφού η κάρτα δοθεί ως δώρο, ο παραλήπτης μπορεί να τη ξύσει, να αποκαλύψει το κέρδος του και στη συνέχεια να σαρώσει ξανά τον ίδιο QR κωδικό για να παίξει ένα επιπλέον ψηφιακό μίνι παιχνίδι.</a:t>
            </a:r>
          </a:p>
          <a:p>
            <a:pPr>
              <a:spcBef>
                <a:spcPts val="1200"/>
              </a:spcBef>
              <a:spcAft>
                <a:spcPts val="600"/>
              </a:spcAft>
            </a:pPr>
            <a:r>
              <a:rPr lang="el-GR" sz="2000"/>
              <a:t>Όταν ο παραλήπτης σηκώσει το κινητό του, εμφανίζεται μια σκηνή χιονισμένου τοπίου με world tracking, που προβάλλεται στον πραγματικό του χώρο – με λόφους από χιόνι, καρότσια και τοίχους. Η φωτογραφία του δωρητή, που είχε ήδη αποσταλεί, προβάλλεται πάνω σε έναν διασκεδαστικό τρισδιάστατο χαρακτήρα που ξεπροβάλλει πίσω από εμπόδια και ρίχνει εικονικές χιονόμπαλες. Ο παίκτης μπορεί να ανταποδώσει και να ρίχνει πίσω, στοχεύοντας για να κερδίσει!</a:t>
            </a:r>
          </a:p>
          <a:p>
            <a:pPr marL="0" indent="0" algn="just">
              <a:spcBef>
                <a:spcPts val="1200"/>
              </a:spcBef>
              <a:spcAft>
                <a:spcPts val="1200"/>
              </a:spcAft>
              <a:buNone/>
            </a:pPr>
            <a:endParaRPr lang="en-GB" sz="2000" b="0" i="0" u="none" strike="noStrike">
              <a:solidFill>
                <a:srgbClr val="000000"/>
              </a:solidFill>
              <a:effectLst/>
              <a:cs typeface="Calibri" panose="020F0502020204030204" pitchFamily="34" charset="0"/>
            </a:endParaRPr>
          </a:p>
          <a:p>
            <a:pPr marL="0" indent="0" algn="just">
              <a:spcBef>
                <a:spcPts val="1200"/>
              </a:spcBef>
              <a:spcAft>
                <a:spcPts val="1200"/>
              </a:spcAft>
              <a:buNone/>
            </a:pPr>
            <a:endParaRPr lang="en-GB" sz="2000" b="0" i="0" u="none" strike="noStrike">
              <a:solidFill>
                <a:srgbClr val="000000"/>
              </a:solidFill>
              <a:effectLst/>
              <a:cs typeface="Calibri" panose="020F0502020204030204" pitchFamily="34" charset="0"/>
            </a:endParaRPr>
          </a:p>
          <a:p>
            <a:pPr marL="0" indent="0" algn="just">
              <a:spcBef>
                <a:spcPts val="1200"/>
              </a:spcBef>
              <a:spcAft>
                <a:spcPts val="1200"/>
              </a:spcAft>
              <a:buNone/>
            </a:pPr>
            <a:endParaRPr lang="en-GB" sz="2000">
              <a:ea typeface="Calibri" panose="020F0502020204030204" pitchFamily="34" charset="0"/>
              <a:cs typeface="Calibri" panose="020F0502020204030204" pitchFamily="34" charset="0"/>
            </a:endParaRPr>
          </a:p>
          <a:p>
            <a:pPr marL="0" indent="0" algn="just">
              <a:spcBef>
                <a:spcPts val="1200"/>
              </a:spcBef>
              <a:spcAft>
                <a:spcPts val="1200"/>
              </a:spcAft>
              <a:buNone/>
            </a:pPr>
            <a:endParaRPr lang="en-GB" sz="2000" noProof="0">
              <a:ea typeface="Calibri" panose="020F0502020204030204" pitchFamily="34" charset="0"/>
              <a:cs typeface="Times New Roman" panose="02020603050405020304" pitchFamily="18" charset="0"/>
            </a:endParaRPr>
          </a:p>
          <a:p>
            <a:pPr marL="0" indent="0" algn="just">
              <a:spcBef>
                <a:spcPts val="1200"/>
              </a:spcBef>
              <a:spcAft>
                <a:spcPts val="1200"/>
              </a:spcAft>
              <a:buNone/>
            </a:pPr>
            <a:endParaRPr lang="en-GB" sz="2000" noProof="0">
              <a:ea typeface="Calibri" panose="020F0502020204030204" pitchFamily="34" charset="0"/>
              <a:cs typeface="Times New Roman" panose="02020603050405020304" pitchFamily="18" charset="0"/>
            </a:endParaRPr>
          </a:p>
          <a:p>
            <a:pPr algn="just"/>
            <a:endParaRPr lang="en-GB" sz="2100" noProof="0"/>
          </a:p>
        </p:txBody>
      </p:sp>
      <p:pic>
        <p:nvPicPr>
          <p:cNvPr id="6" name="Picture 5" descr="A hand holding a cell phone&#10;&#10;AI-generated content may be incorrect.">
            <a:extLst>
              <a:ext uri="{FF2B5EF4-FFF2-40B4-BE49-F238E27FC236}">
                <a16:creationId xmlns:a16="http://schemas.microsoft.com/office/drawing/2014/main" id="{0F8F0747-8C78-BFDB-38BC-72976D3D81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6070" y="8080055"/>
            <a:ext cx="2121007" cy="2719708"/>
          </a:xfrm>
          <a:prstGeom prst="rect">
            <a:avLst/>
          </a:prstGeom>
        </p:spPr>
      </p:pic>
      <p:pic>
        <p:nvPicPr>
          <p:cNvPr id="10" name="Picture 9" descr="A hand holding a phone with a screen showing a person and a snowball fight&#10;&#10;AI-generated content may be incorrect.">
            <a:extLst>
              <a:ext uri="{FF2B5EF4-FFF2-40B4-BE49-F238E27FC236}">
                <a16:creationId xmlns:a16="http://schemas.microsoft.com/office/drawing/2014/main" id="{369795D4-E699-CCED-B9FB-87BAF940BC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9934" y="8080055"/>
            <a:ext cx="2179649" cy="2713662"/>
          </a:xfrm>
          <a:prstGeom prst="rect">
            <a:avLst/>
          </a:prstGeom>
        </p:spPr>
      </p:pic>
      <p:pic>
        <p:nvPicPr>
          <p:cNvPr id="11" name="Picture 10" descr="A hand holding a phone with a screen showing a christmas tree&#10;&#10;AI-generated content may be incorrect.">
            <a:extLst>
              <a:ext uri="{FF2B5EF4-FFF2-40B4-BE49-F238E27FC236}">
                <a16:creationId xmlns:a16="http://schemas.microsoft.com/office/drawing/2014/main" id="{C37D50C6-0B9E-6F8B-0D64-7DF730FB6A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210" y="8080055"/>
            <a:ext cx="2433423" cy="2719708"/>
          </a:xfrm>
          <a:prstGeom prst="rect">
            <a:avLst/>
          </a:prstGeom>
        </p:spPr>
      </p:pic>
      <p:sp>
        <p:nvSpPr>
          <p:cNvPr id="4" name="TextBox 3">
            <a:extLst>
              <a:ext uri="{FF2B5EF4-FFF2-40B4-BE49-F238E27FC236}">
                <a16:creationId xmlns:a16="http://schemas.microsoft.com/office/drawing/2014/main" id="{1C2DA2FB-A6FF-079B-5832-1BEC7396CEB1}"/>
              </a:ext>
            </a:extLst>
          </p:cNvPr>
          <p:cNvSpPr txBox="1"/>
          <p:nvPr/>
        </p:nvSpPr>
        <p:spPr>
          <a:xfrm>
            <a:off x="-50354" y="0"/>
            <a:ext cx="4418756" cy="369332"/>
          </a:xfrm>
          <a:prstGeom prst="rect">
            <a:avLst/>
          </a:prstGeom>
          <a:noFill/>
        </p:spPr>
        <p:txBody>
          <a:bodyPr wrap="square">
            <a:spAutoFit/>
          </a:bodyPr>
          <a:lstStyle/>
          <a:p>
            <a:r>
              <a:rPr lang="cs-CZ" b="1" dirty="0"/>
              <a:t>AR </a:t>
            </a:r>
            <a:r>
              <a:rPr lang="cs-CZ" b="1" dirty="0" err="1"/>
              <a:t>Christmas</a:t>
            </a:r>
            <a:r>
              <a:rPr lang="cs-CZ" b="1" dirty="0"/>
              <a:t> Mini Game</a:t>
            </a:r>
          </a:p>
        </p:txBody>
      </p:sp>
    </p:spTree>
    <p:extLst>
      <p:ext uri="{BB962C8B-B14F-4D97-AF65-F5344CB8AC3E}">
        <p14:creationId xmlns:p14="http://schemas.microsoft.com/office/powerpoint/2010/main" val="4117134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A7480-2230-62C5-9B95-13580CEF0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E6D62-92F5-EBBD-4C0E-50AECE62D30A}"/>
              </a:ext>
            </a:extLst>
          </p:cNvPr>
          <p:cNvSpPr>
            <a:spLocks noGrp="1"/>
          </p:cNvSpPr>
          <p:nvPr>
            <p:ph type="title"/>
          </p:nvPr>
        </p:nvSpPr>
        <p:spPr>
          <a:xfrm>
            <a:off x="188843" y="357050"/>
            <a:ext cx="6500191" cy="922506"/>
          </a:xfrm>
        </p:spPr>
        <p:txBody>
          <a:bodyPr>
            <a:noAutofit/>
          </a:bodyPr>
          <a:lstStyle/>
          <a:p>
            <a:r>
              <a:rPr lang="el-GR" sz="2800" dirty="0"/>
              <a:t>Έρχεται το πιο διασκεδαστικό </a:t>
            </a:r>
            <a:r>
              <a:rPr lang="en-US" sz="2800" i="1" dirty="0">
                <a:effectLst/>
                <a:latin typeface="Calibri" panose="020F0502020204030204" pitchFamily="34" charset="0"/>
                <a:ea typeface="Times New Roman" panose="02020603050405020304" pitchFamily="18" charset="0"/>
              </a:rPr>
              <a:t>ΣΚΡΑΤΣ</a:t>
            </a:r>
            <a:r>
              <a:rPr lang="el-GR" sz="2800" dirty="0"/>
              <a:t> – τραγουδήστε κι εσείς με </a:t>
            </a:r>
            <a:r>
              <a:rPr lang="el-GR" sz="2800" b="1" u="sng" dirty="0"/>
              <a:t>lip-sync έκπληξη </a:t>
            </a:r>
            <a:r>
              <a:rPr lang="en-GB" sz="2800" b="1" noProof="0" dirty="0"/>
              <a:t>:</a:t>
            </a:r>
            <a:endParaRPr lang="cs-CZ" sz="2600" u="sng" dirty="0"/>
          </a:p>
        </p:txBody>
      </p:sp>
      <p:sp>
        <p:nvSpPr>
          <p:cNvPr id="3" name="Text Placeholder 2">
            <a:extLst>
              <a:ext uri="{FF2B5EF4-FFF2-40B4-BE49-F238E27FC236}">
                <a16:creationId xmlns:a16="http://schemas.microsoft.com/office/drawing/2014/main" id="{93E73553-AF49-C849-8FDD-ED3874C9D289}"/>
              </a:ext>
            </a:extLst>
          </p:cNvPr>
          <p:cNvSpPr>
            <a:spLocks noGrp="1"/>
          </p:cNvSpPr>
          <p:nvPr>
            <p:ph type="body" sz="quarter" idx="10"/>
          </p:nvPr>
        </p:nvSpPr>
        <p:spPr>
          <a:xfrm>
            <a:off x="188843" y="1381539"/>
            <a:ext cx="6660963" cy="9153939"/>
          </a:xfrm>
        </p:spPr>
        <p:txBody>
          <a:bodyPr vert="horz" lIns="91440" tIns="45720" rIns="91440" bIns="45720" rtlCol="0" anchor="t">
            <a:normAutofit/>
          </a:bodyPr>
          <a:lstStyle/>
          <a:p>
            <a:pPr>
              <a:spcBef>
                <a:spcPts val="600"/>
              </a:spcBef>
              <a:spcAft>
                <a:spcPts val="600"/>
              </a:spcAft>
            </a:pPr>
            <a:r>
              <a:rPr lang="el-GR" sz="2300" dirty="0"/>
              <a:t>🎁 Αυτό το χριστουγεννιάτικο </a:t>
            </a:r>
            <a:r>
              <a:rPr lang="en-US" sz="2200" dirty="0"/>
              <a:t>ΣΚΡΑΤΣ</a:t>
            </a:r>
            <a:r>
              <a:rPr lang="el-GR" sz="2300" dirty="0"/>
              <a:t> είναι πάντα κερδισμένο!</a:t>
            </a:r>
            <a:br>
              <a:rPr lang="el-GR" sz="2300" dirty="0"/>
            </a:br>
            <a:r>
              <a:rPr lang="el-GR" sz="2300" dirty="0"/>
              <a:t>Η λιανική του τιμή είναι 10 € και έχει χριστουγεννιάτικο σχέδιο – ιδανικό για γιορτινό δώρο.</a:t>
            </a:r>
          </a:p>
          <a:p>
            <a:pPr>
              <a:spcBef>
                <a:spcPts val="600"/>
              </a:spcBef>
              <a:spcAft>
                <a:spcPts val="600"/>
              </a:spcAft>
              <a:buNone/>
            </a:pPr>
            <a:r>
              <a:rPr lang="el-GR" sz="2300" dirty="0"/>
              <a:t>Στην μπροστινή πλευρά του ξυστού υπάρχει ένας QR κωδικός, τον οποίο μπορείτε να σαρώσετε με το κινητό σας. Μόλις το κάνετε, μπορείτε να ηχογραφήσετε ένα γρήγορο βίντεο με ευχές για Καλά Χριστούγεννα, να διαλέξετε ένα γιορτινό φίλτρο και την αγαπημένη σας χριστουγεννιάτικη μελωδία για lip-sync!</a:t>
            </a:r>
          </a:p>
          <a:p>
            <a:pPr>
              <a:spcBef>
                <a:spcPts val="600"/>
              </a:spcBef>
              <a:spcAft>
                <a:spcPts val="600"/>
              </a:spcAft>
            </a:pPr>
            <a:r>
              <a:rPr lang="el-GR" sz="2300" dirty="0"/>
              <a:t>🎄 Όταν το </a:t>
            </a:r>
            <a:r>
              <a:rPr lang="en-US" sz="2200" dirty="0"/>
              <a:t>ΣΚΡΑΤΣ</a:t>
            </a:r>
            <a:r>
              <a:rPr lang="el-GR" sz="2300" dirty="0"/>
              <a:t> δοθεί ως δώρο, ο παραλήπτης μπορεί να το ξύσει, να ανακαλύψει το κέρδος του και να σαρώσει τον QR κωδικό για να δει το εορταστικό σας μήνυμα. Το προσωπικό σας βίντεο θα εμφανιστεί πάνω από το </a:t>
            </a:r>
            <a:r>
              <a:rPr lang="en-US" sz="2200" dirty="0"/>
              <a:t>ΣΚΡΑΤΣ</a:t>
            </a:r>
            <a:r>
              <a:rPr lang="el-GR" sz="2300" dirty="0"/>
              <a:t>, με γιορτινό φίλτρο και εσάς να τραγουδάτε με πάθος την αγαπημένη σας μελωδία – και τους στίχους να προβάλλονται στην οθόνη για να τραγουδήσει μαζί σας!</a:t>
            </a:r>
          </a:p>
          <a:p>
            <a:pPr algn="just">
              <a:spcAft>
                <a:spcPts val="1200"/>
              </a:spcAft>
            </a:pPr>
            <a:endParaRPr lang="en-GB" sz="2300" noProof="0" dirty="0"/>
          </a:p>
        </p:txBody>
      </p:sp>
      <p:pic>
        <p:nvPicPr>
          <p:cNvPr id="6" name="Picture 5" descr="A christmas card on a table&#10;&#10;AI-generated content may be incorrect.">
            <a:extLst>
              <a:ext uri="{FF2B5EF4-FFF2-40B4-BE49-F238E27FC236}">
                <a16:creationId xmlns:a16="http://schemas.microsoft.com/office/drawing/2014/main" id="{F7E79825-6A32-66F6-D86A-ED1750E28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01875"/>
            <a:ext cx="2091069" cy="2597888"/>
          </a:xfrm>
          <a:prstGeom prst="rect">
            <a:avLst/>
          </a:prstGeom>
        </p:spPr>
      </p:pic>
      <p:pic>
        <p:nvPicPr>
          <p:cNvPr id="8" name="Picture 7" descr="A hand holding a phone with a screen showing a christmas tree&#10;&#10;AI-generated content may be incorrect.">
            <a:extLst>
              <a:ext uri="{FF2B5EF4-FFF2-40B4-BE49-F238E27FC236}">
                <a16:creationId xmlns:a16="http://schemas.microsoft.com/office/drawing/2014/main" id="{17DCBA62-356E-FC9E-2AF8-54B75FC2AC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6722" y="8201875"/>
            <a:ext cx="2324426" cy="2597888"/>
          </a:xfrm>
          <a:prstGeom prst="rect">
            <a:avLst/>
          </a:prstGeom>
        </p:spPr>
      </p:pic>
      <p:pic>
        <p:nvPicPr>
          <p:cNvPr id="9" name="Picture 8" descr="A hand holding a cell phone with a person wearing a santa hat&#10;&#10;AI-generated content may be incorrect.">
            <a:extLst>
              <a:ext uri="{FF2B5EF4-FFF2-40B4-BE49-F238E27FC236}">
                <a16:creationId xmlns:a16="http://schemas.microsoft.com/office/drawing/2014/main" id="{92324092-F167-3C42-2553-20ED6AF11F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6801" y="8201875"/>
            <a:ext cx="2123005" cy="2597888"/>
          </a:xfrm>
          <a:prstGeom prst="rect">
            <a:avLst/>
          </a:prstGeom>
        </p:spPr>
      </p:pic>
      <p:sp>
        <p:nvSpPr>
          <p:cNvPr id="4" name="TextBox 3">
            <a:extLst>
              <a:ext uri="{FF2B5EF4-FFF2-40B4-BE49-F238E27FC236}">
                <a16:creationId xmlns:a16="http://schemas.microsoft.com/office/drawing/2014/main" id="{21EAA0B8-7E67-E962-F44B-211AC26E30A2}"/>
              </a:ext>
            </a:extLst>
          </p:cNvPr>
          <p:cNvSpPr txBox="1"/>
          <p:nvPr/>
        </p:nvSpPr>
        <p:spPr>
          <a:xfrm>
            <a:off x="-50354" y="0"/>
            <a:ext cx="4418756" cy="369332"/>
          </a:xfrm>
          <a:prstGeom prst="rect">
            <a:avLst/>
          </a:prstGeom>
          <a:noFill/>
        </p:spPr>
        <p:txBody>
          <a:bodyPr wrap="square">
            <a:spAutoFit/>
          </a:bodyPr>
          <a:lstStyle/>
          <a:p>
            <a:r>
              <a:rPr lang="en-GB" b="1" dirty="0"/>
              <a:t>Christmas Lip Sync</a:t>
            </a:r>
            <a:endParaRPr lang="cs-CZ" b="1" dirty="0"/>
          </a:p>
        </p:txBody>
      </p:sp>
    </p:spTree>
    <p:extLst>
      <p:ext uri="{BB962C8B-B14F-4D97-AF65-F5344CB8AC3E}">
        <p14:creationId xmlns:p14="http://schemas.microsoft.com/office/powerpoint/2010/main" val="116364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DDCF-5044-8CEC-630A-7238E835D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83107-7CBE-E30D-8188-6AAEE76BF9A8}"/>
              </a:ext>
            </a:extLst>
          </p:cNvPr>
          <p:cNvSpPr>
            <a:spLocks noGrp="1"/>
          </p:cNvSpPr>
          <p:nvPr>
            <p:ph type="title"/>
          </p:nvPr>
        </p:nvSpPr>
        <p:spPr>
          <a:xfrm>
            <a:off x="188843" y="357050"/>
            <a:ext cx="6351105" cy="922506"/>
          </a:xfrm>
        </p:spPr>
        <p:txBody>
          <a:bodyPr>
            <a:noAutofit/>
          </a:bodyPr>
          <a:lstStyle/>
          <a:p>
            <a:r>
              <a:rPr lang="el-GR" sz="2800" b="1"/>
              <a:t> </a:t>
            </a:r>
            <a:r>
              <a:rPr lang="el-GR" sz="2800" b="1" u="sng"/>
              <a:t>Τραγουδήστε μαζί </a:t>
            </a:r>
            <a:r>
              <a:rPr lang="el-GR" sz="2800" b="1"/>
              <a:t>– </a:t>
            </a:r>
            <a:r>
              <a:rPr lang="el-GR" sz="2800"/>
              <a:t>στο πιο κεφάτο </a:t>
            </a:r>
            <a:r>
              <a:rPr lang="en-US" sz="2800">
                <a:effectLst/>
                <a:latin typeface="Calibri" panose="020F0502020204030204" pitchFamily="34" charset="0"/>
                <a:ea typeface="Times New Roman" panose="02020603050405020304" pitchFamily="18" charset="0"/>
              </a:rPr>
              <a:t>ΣΚΡΑΤΣ</a:t>
            </a:r>
            <a:r>
              <a:rPr lang="el-GR" sz="2800"/>
              <a:t> της χρονιάς</a:t>
            </a:r>
            <a:r>
              <a:rPr lang="en-GB" sz="2800" b="1" noProof="0"/>
              <a:t>:</a:t>
            </a:r>
            <a:endParaRPr lang="cs-CZ" sz="2600"/>
          </a:p>
        </p:txBody>
      </p:sp>
      <p:sp>
        <p:nvSpPr>
          <p:cNvPr id="3" name="Text Placeholder 2">
            <a:extLst>
              <a:ext uri="{FF2B5EF4-FFF2-40B4-BE49-F238E27FC236}">
                <a16:creationId xmlns:a16="http://schemas.microsoft.com/office/drawing/2014/main" id="{C67A2A6F-3200-5ADF-8480-0888F48E35C2}"/>
              </a:ext>
            </a:extLst>
          </p:cNvPr>
          <p:cNvSpPr>
            <a:spLocks noGrp="1"/>
          </p:cNvSpPr>
          <p:nvPr>
            <p:ph type="body" sz="quarter" idx="10"/>
          </p:nvPr>
        </p:nvSpPr>
        <p:spPr>
          <a:xfrm>
            <a:off x="188843" y="1361661"/>
            <a:ext cx="6500191" cy="9173817"/>
          </a:xfrm>
        </p:spPr>
        <p:txBody>
          <a:bodyPr vert="horz" lIns="91440" tIns="45720" rIns="91440" bIns="45720" rtlCol="0" anchor="t">
            <a:normAutofit/>
          </a:bodyPr>
          <a:lstStyle/>
          <a:p>
            <a:pPr>
              <a:spcAft>
                <a:spcPts val="1200"/>
              </a:spcAft>
            </a:pPr>
            <a:r>
              <a:rPr lang="el-GR" sz="2300" dirty="0"/>
              <a:t>🎁 Αυτό το χριστουγεννιάτικο </a:t>
            </a:r>
            <a:r>
              <a:rPr lang="en-US" sz="2200" dirty="0"/>
              <a:t>ΣΚΡΑΤΣ</a:t>
            </a:r>
            <a:r>
              <a:rPr lang="el-GR" sz="2300" dirty="0"/>
              <a:t> είναι πάντα κερδισμένο!</a:t>
            </a:r>
            <a:br>
              <a:rPr lang="el-GR" sz="2300" dirty="0"/>
            </a:br>
            <a:r>
              <a:rPr lang="el-GR" sz="2300" dirty="0"/>
              <a:t>Με λιανική τιμή 10 € και γιορτινό σχέδιο, είναι το ιδανικό δώρο για τα Χριστούγεννα.</a:t>
            </a:r>
          </a:p>
          <a:p>
            <a:pPr>
              <a:spcAft>
                <a:spcPts val="1200"/>
              </a:spcAft>
              <a:buNone/>
            </a:pPr>
            <a:r>
              <a:rPr lang="el-GR" sz="2300" dirty="0"/>
              <a:t>Στην μπροστινή πλευρά της κάρτας υπάρχει QR κωδικός. Μόλις τον σαρώσετε με το κινητό σας, μπορείτε να ηχογραφήσετε ένα σύντομο βίντεο με ευχές για Καλά Χριστούγεννα, να προσθέσετε ένα χριστουγεννιάτικο φίλτρο και να επιλέξετε την αγαπημένη σας χριστουγεννιάτικη μελωδία για</a:t>
            </a:r>
            <a:br>
              <a:rPr lang="en-GB" sz="2300" dirty="0"/>
            </a:br>
            <a:r>
              <a:rPr lang="el-GR" sz="2300" dirty="0"/>
              <a:t>lip-sync.</a:t>
            </a:r>
          </a:p>
          <a:p>
            <a:pPr>
              <a:spcAft>
                <a:spcPts val="1200"/>
              </a:spcAft>
            </a:pPr>
            <a:r>
              <a:rPr lang="el-GR" sz="2300" dirty="0"/>
              <a:t>🎄 Αφού η κάρτα δοθεί ως δώρο, ο παραλήπτης μπορεί να τη ξύσει, να αποκαλύψει το κέρδος του και να σαρώσει τον QR κωδικό για να δει το εορταστικό μήνυμα. Το προσωπικό σας βίντεο θα εμφανιστεί και εκείνος θα μπορεί να ηχογραφήσει τον εαυτό του κάνοντας lip-sync μαζί σας! Το τελικό ντουέτο θα είναι διαθέσιμο για να το μοιραστεί σε μηνύματα ή μέσα κοινωνικής δικτύωσης.</a:t>
            </a:r>
          </a:p>
          <a:p>
            <a:pPr algn="just">
              <a:spcAft>
                <a:spcPts val="1200"/>
              </a:spcAft>
            </a:pPr>
            <a:endParaRPr lang="en-GB" sz="2300" dirty="0">
              <a:cs typeface="Times New Roman" panose="02020603050405020304" pitchFamily="18" charset="0"/>
            </a:endParaRPr>
          </a:p>
          <a:p>
            <a:pPr algn="just">
              <a:spcAft>
                <a:spcPts val="1200"/>
              </a:spcAft>
            </a:pPr>
            <a:endParaRPr lang="en-GB" sz="2300" dirty="0">
              <a:cs typeface="Times New Roman" panose="02020603050405020304" pitchFamily="18" charset="0"/>
            </a:endParaRPr>
          </a:p>
          <a:p>
            <a:pPr marL="0" indent="0" algn="just">
              <a:spcAft>
                <a:spcPts val="1200"/>
              </a:spcAft>
              <a:buNone/>
            </a:pPr>
            <a:endParaRPr lang="en-GB" sz="2300" dirty="0">
              <a:ea typeface="Calibri" panose="020F0502020204030204" pitchFamily="34" charset="0"/>
              <a:cs typeface="Calibri" panose="020F0502020204030204" pitchFamily="34" charset="0"/>
            </a:endParaRPr>
          </a:p>
          <a:p>
            <a:pPr marL="0" indent="0" algn="just">
              <a:spcAft>
                <a:spcPts val="1200"/>
              </a:spcAft>
              <a:buNone/>
            </a:pPr>
            <a:endParaRPr lang="en-GB" sz="2300" noProof="0" dirty="0">
              <a:ea typeface="Calibri" panose="020F0502020204030204" pitchFamily="34" charset="0"/>
              <a:cs typeface="Times New Roman" panose="02020603050405020304" pitchFamily="18" charset="0"/>
            </a:endParaRPr>
          </a:p>
          <a:p>
            <a:pPr marL="0" indent="0" algn="just">
              <a:spcAft>
                <a:spcPts val="1200"/>
              </a:spcAft>
              <a:buNone/>
            </a:pPr>
            <a:endParaRPr lang="en-GB" sz="2300" noProof="0" dirty="0">
              <a:ea typeface="Calibri" panose="020F0502020204030204" pitchFamily="34" charset="0"/>
              <a:cs typeface="Times New Roman" panose="02020603050405020304" pitchFamily="18" charset="0"/>
            </a:endParaRPr>
          </a:p>
          <a:p>
            <a:pPr algn="just">
              <a:spcAft>
                <a:spcPts val="1200"/>
              </a:spcAft>
            </a:pPr>
            <a:endParaRPr lang="en-GB" sz="2300" noProof="0" dirty="0"/>
          </a:p>
        </p:txBody>
      </p:sp>
      <p:pic>
        <p:nvPicPr>
          <p:cNvPr id="6" name="Picture 5" descr="A christmas card on a table&#10;&#10;AI-generated content may be incorrect.">
            <a:extLst>
              <a:ext uri="{FF2B5EF4-FFF2-40B4-BE49-F238E27FC236}">
                <a16:creationId xmlns:a16="http://schemas.microsoft.com/office/drawing/2014/main" id="{DCB2566F-CD30-BC74-F259-191C41BBA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75449"/>
            <a:ext cx="2110864" cy="2622481"/>
          </a:xfrm>
          <a:prstGeom prst="rect">
            <a:avLst/>
          </a:prstGeom>
        </p:spPr>
      </p:pic>
      <p:pic>
        <p:nvPicPr>
          <p:cNvPr id="8" name="Picture 7" descr="A hand holding a phone with a screen showing a christmas tree&#10;&#10;AI-generated content may be incorrect.">
            <a:extLst>
              <a:ext uri="{FF2B5EF4-FFF2-40B4-BE49-F238E27FC236}">
                <a16:creationId xmlns:a16="http://schemas.microsoft.com/office/drawing/2014/main" id="{9553864B-A5B4-D00D-89FB-6DA1D60549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3875" y="8175449"/>
            <a:ext cx="2346431" cy="2622481"/>
          </a:xfrm>
          <a:prstGeom prst="rect">
            <a:avLst/>
          </a:prstGeom>
        </p:spPr>
      </p:pic>
      <p:pic>
        <p:nvPicPr>
          <p:cNvPr id="9" name="Picture 8" descr="A hand holding a cell phone with a screen showing a group of men&#10;&#10;AI-generated content may be incorrect.">
            <a:extLst>
              <a:ext uri="{FF2B5EF4-FFF2-40B4-BE49-F238E27FC236}">
                <a16:creationId xmlns:a16="http://schemas.microsoft.com/office/drawing/2014/main" id="{3B563D5D-97B3-7394-A28D-471E090F01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3316" y="8177282"/>
            <a:ext cx="1998756" cy="2622481"/>
          </a:xfrm>
          <a:prstGeom prst="rect">
            <a:avLst/>
          </a:prstGeom>
        </p:spPr>
      </p:pic>
      <p:sp>
        <p:nvSpPr>
          <p:cNvPr id="4" name="TextBox 3">
            <a:extLst>
              <a:ext uri="{FF2B5EF4-FFF2-40B4-BE49-F238E27FC236}">
                <a16:creationId xmlns:a16="http://schemas.microsoft.com/office/drawing/2014/main" id="{F3296F2C-F3F6-07C1-CADA-191A484C5155}"/>
              </a:ext>
            </a:extLst>
          </p:cNvPr>
          <p:cNvSpPr txBox="1"/>
          <p:nvPr/>
        </p:nvSpPr>
        <p:spPr>
          <a:xfrm>
            <a:off x="-50354" y="0"/>
            <a:ext cx="4418756" cy="369332"/>
          </a:xfrm>
          <a:prstGeom prst="rect">
            <a:avLst/>
          </a:prstGeom>
          <a:noFill/>
        </p:spPr>
        <p:txBody>
          <a:bodyPr wrap="square">
            <a:spAutoFit/>
          </a:bodyPr>
          <a:lstStyle/>
          <a:p>
            <a:r>
              <a:rPr lang="cs-CZ" b="1" dirty="0" err="1"/>
              <a:t>Christmas</a:t>
            </a:r>
            <a:r>
              <a:rPr lang="cs-CZ" b="1" dirty="0"/>
              <a:t> Duet</a:t>
            </a:r>
          </a:p>
        </p:txBody>
      </p:sp>
    </p:spTree>
    <p:extLst>
      <p:ext uri="{BB962C8B-B14F-4D97-AF65-F5344CB8AC3E}">
        <p14:creationId xmlns:p14="http://schemas.microsoft.com/office/powerpoint/2010/main" val="2678950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0EF2-F025-044C-2CDF-1E8E13F8A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CB002-3F5A-39B1-37DD-C3E496E0E3E9}"/>
              </a:ext>
            </a:extLst>
          </p:cNvPr>
          <p:cNvSpPr>
            <a:spLocks noGrp="1"/>
          </p:cNvSpPr>
          <p:nvPr>
            <p:ph type="title"/>
          </p:nvPr>
        </p:nvSpPr>
        <p:spPr>
          <a:xfrm>
            <a:off x="188843" y="357050"/>
            <a:ext cx="6351105" cy="922506"/>
          </a:xfrm>
        </p:spPr>
        <p:txBody>
          <a:bodyPr>
            <a:noAutofit/>
          </a:bodyPr>
          <a:lstStyle/>
          <a:p>
            <a:r>
              <a:rPr lang="el-GR" sz="2800" b="1"/>
              <a:t> </a:t>
            </a:r>
            <a:r>
              <a:rPr lang="el-GR" sz="2800" b="1" u="sng"/>
              <a:t>Έκπληξη με αγάπη </a:t>
            </a:r>
            <a:r>
              <a:rPr lang="el-GR" sz="2800"/>
              <a:t>στο χριστουγεννιάτικο σου </a:t>
            </a:r>
            <a:r>
              <a:rPr lang="en-US" sz="2800"/>
              <a:t>ΣΚΡΑΤΣ</a:t>
            </a:r>
            <a:r>
              <a:rPr lang="en-GB" sz="2800"/>
              <a:t>:</a:t>
            </a:r>
            <a:endParaRPr lang="cs-CZ" sz="2800" u="sng"/>
          </a:p>
        </p:txBody>
      </p:sp>
      <p:sp>
        <p:nvSpPr>
          <p:cNvPr id="3" name="Text Placeholder 2">
            <a:extLst>
              <a:ext uri="{FF2B5EF4-FFF2-40B4-BE49-F238E27FC236}">
                <a16:creationId xmlns:a16="http://schemas.microsoft.com/office/drawing/2014/main" id="{024448EB-1F88-BAF0-4022-2B1C541766C7}"/>
              </a:ext>
            </a:extLst>
          </p:cNvPr>
          <p:cNvSpPr>
            <a:spLocks noGrp="1"/>
          </p:cNvSpPr>
          <p:nvPr>
            <p:ph type="body" sz="quarter" idx="10"/>
          </p:nvPr>
        </p:nvSpPr>
        <p:spPr>
          <a:xfrm>
            <a:off x="188843" y="1351722"/>
            <a:ext cx="6669157" cy="9183756"/>
          </a:xfrm>
        </p:spPr>
        <p:txBody>
          <a:bodyPr vert="horz" lIns="91440" tIns="45720" rIns="91440" bIns="45720" rtlCol="0" anchor="t">
            <a:normAutofit/>
          </a:bodyPr>
          <a:lstStyle/>
          <a:p>
            <a:pPr>
              <a:spcBef>
                <a:spcPts val="600"/>
              </a:spcBef>
              <a:spcAft>
                <a:spcPts val="600"/>
              </a:spcAft>
            </a:pPr>
            <a:r>
              <a:rPr lang="el-GR" sz="2300" dirty="0"/>
              <a:t>🎁 Αυτό το χριστουγεννιάτικο </a:t>
            </a:r>
            <a:r>
              <a:rPr lang="en-US" sz="2200" dirty="0"/>
              <a:t>ΣΚΡΑΤΣ</a:t>
            </a:r>
            <a:r>
              <a:rPr lang="el-GR" sz="2300" dirty="0"/>
              <a:t> είναι πάντα κερδισμένο!</a:t>
            </a:r>
            <a:br>
              <a:rPr lang="el-GR" sz="2300" dirty="0"/>
            </a:br>
            <a:r>
              <a:rPr lang="el-GR" sz="2300" dirty="0"/>
              <a:t>Με τιμή 10 € και γιορτινό design, είναι το τέλειο δώρο για τα Χριστούγεννα.</a:t>
            </a:r>
          </a:p>
          <a:p>
            <a:pPr>
              <a:spcBef>
                <a:spcPts val="600"/>
              </a:spcBef>
              <a:spcAft>
                <a:spcPts val="600"/>
              </a:spcAft>
              <a:buNone/>
            </a:pPr>
            <a:r>
              <a:rPr lang="el-GR" sz="2300" dirty="0"/>
              <a:t>Στην μπροστινή πλευρά του ξυστού υπάρχει ένας QR κωδικός. Μόλις τον σαρώσετε με το κινητό σας, μπορείτε να ανεβάσετε μια φωτογραφία ή να τραβήξετε μια selfie και να επιλέξετε έναν γιορτινό χαρακτήρα (Άγιος Βασίλης, ξωτικό ή ταρανδάκι).</a:t>
            </a:r>
          </a:p>
          <a:p>
            <a:pPr>
              <a:spcBef>
                <a:spcPts val="600"/>
              </a:spcBef>
              <a:spcAft>
                <a:spcPts val="600"/>
              </a:spcAft>
            </a:pPr>
            <a:r>
              <a:rPr lang="el-GR" sz="2300" dirty="0"/>
              <a:t>🎄 Όταν το </a:t>
            </a:r>
            <a:r>
              <a:rPr lang="en-US" sz="2200" dirty="0"/>
              <a:t>ΣΚΡΑΤΣ </a:t>
            </a:r>
            <a:r>
              <a:rPr lang="el-GR" sz="2300" dirty="0"/>
              <a:t> δοθεί, ο παραλήπτης το ξύνει, βλέπει το κέρδος του και σαρώνει ξανά τον ίδιο QR. Εκεί του ζητείται να τοποθετήσει μια “τούρτα” στον χώρο γύρω του μέσω world tracking – και στη συνέχεια να κοιτάξει πιο προσεκτικά... Από την τούρτα πετάγεται ο φίλος του, μεταμορφωμένος σε γιορτινό χαρακτήρα!</a:t>
            </a:r>
          </a:p>
          <a:p>
            <a:pPr>
              <a:spcBef>
                <a:spcPts val="600"/>
              </a:spcBef>
              <a:spcAft>
                <a:spcPts val="600"/>
              </a:spcAft>
            </a:pPr>
            <a:r>
              <a:rPr lang="el-GR" sz="2300" dirty="0"/>
              <a:t>Η αντίδρασή του καταγράφεται και όλη η εμπειρία προβάλλεται ως βίντεο που μπορεί να μοιραστεί μαζί με το χριστουγεννιάτικο μήνυμα.</a:t>
            </a:r>
          </a:p>
          <a:p>
            <a:pPr algn="just" rtl="0">
              <a:spcBef>
                <a:spcPts val="600"/>
              </a:spcBef>
              <a:spcAft>
                <a:spcPts val="600"/>
              </a:spcAft>
              <a:buNone/>
            </a:pPr>
            <a:endParaRPr lang="en-GB" sz="2300" dirty="0">
              <a:cs typeface="Times New Roman" panose="02020603050405020304" pitchFamily="18" charset="0"/>
            </a:endParaRPr>
          </a:p>
          <a:p>
            <a:pPr algn="just">
              <a:spcBef>
                <a:spcPts val="600"/>
              </a:spcBef>
              <a:spcAft>
                <a:spcPts val="600"/>
              </a:spcAft>
            </a:pPr>
            <a:endParaRPr lang="en-GB" sz="2300" dirty="0">
              <a:cs typeface="Times New Roman" panose="02020603050405020304" pitchFamily="18" charset="0"/>
            </a:endParaRPr>
          </a:p>
          <a:p>
            <a:pPr marL="0" indent="0" algn="just">
              <a:spcBef>
                <a:spcPts val="600"/>
              </a:spcBef>
              <a:spcAft>
                <a:spcPts val="600"/>
              </a:spcAft>
              <a:buNone/>
            </a:pPr>
            <a:endParaRPr lang="en-GB" sz="2300" dirty="0">
              <a:cs typeface="Times New Roman" panose="02020603050405020304" pitchFamily="18" charset="0"/>
            </a:endParaRPr>
          </a:p>
          <a:p>
            <a:pPr marL="0" indent="0" algn="just">
              <a:spcBef>
                <a:spcPts val="600"/>
              </a:spcBef>
              <a:spcAft>
                <a:spcPts val="600"/>
              </a:spcAft>
              <a:buNone/>
            </a:pPr>
            <a:endParaRPr lang="en-GB" sz="2300" dirty="0">
              <a:cs typeface="Times New Roman" panose="02020603050405020304" pitchFamily="18" charset="0"/>
            </a:endParaRPr>
          </a:p>
          <a:p>
            <a:pPr marL="0" indent="0" algn="just">
              <a:spcAft>
                <a:spcPts val="1200"/>
              </a:spcAft>
              <a:buNone/>
            </a:pPr>
            <a:endParaRPr lang="en-GB" sz="2300" dirty="0">
              <a:ea typeface="Calibri" panose="020F0502020204030204" pitchFamily="34" charset="0"/>
              <a:cs typeface="Calibri" panose="020F0502020204030204" pitchFamily="34" charset="0"/>
            </a:endParaRPr>
          </a:p>
          <a:p>
            <a:pPr marL="0" indent="0" algn="just">
              <a:spcAft>
                <a:spcPts val="1200"/>
              </a:spcAft>
              <a:buNone/>
            </a:pPr>
            <a:endParaRPr lang="en-GB" sz="2300" noProof="0" dirty="0">
              <a:ea typeface="Calibri" panose="020F0502020204030204" pitchFamily="34" charset="0"/>
              <a:cs typeface="Times New Roman" panose="02020603050405020304" pitchFamily="18" charset="0"/>
            </a:endParaRPr>
          </a:p>
          <a:p>
            <a:pPr marL="0" indent="0" algn="just">
              <a:spcAft>
                <a:spcPts val="1200"/>
              </a:spcAft>
              <a:buNone/>
            </a:pPr>
            <a:endParaRPr lang="en-GB" sz="2300" noProof="0" dirty="0">
              <a:ea typeface="Calibri" panose="020F0502020204030204" pitchFamily="34" charset="0"/>
              <a:cs typeface="Times New Roman" panose="02020603050405020304" pitchFamily="18" charset="0"/>
            </a:endParaRPr>
          </a:p>
          <a:p>
            <a:pPr algn="just">
              <a:spcAft>
                <a:spcPts val="1200"/>
              </a:spcAft>
            </a:pPr>
            <a:endParaRPr lang="en-GB" sz="2300" noProof="0" dirty="0"/>
          </a:p>
        </p:txBody>
      </p:sp>
      <p:pic>
        <p:nvPicPr>
          <p:cNvPr id="4" name="Picture 3">
            <a:extLst>
              <a:ext uri="{FF2B5EF4-FFF2-40B4-BE49-F238E27FC236}">
                <a16:creationId xmlns:a16="http://schemas.microsoft.com/office/drawing/2014/main" id="{EEE08214-7840-2371-285A-B03079E3DD92}"/>
              </a:ext>
            </a:extLst>
          </p:cNvPr>
          <p:cNvPicPr>
            <a:picLocks noChangeAspect="1"/>
          </p:cNvPicPr>
          <p:nvPr/>
        </p:nvPicPr>
        <p:blipFill>
          <a:blip r:embed="rId3"/>
          <a:stretch>
            <a:fillRect/>
          </a:stretch>
        </p:blipFill>
        <p:spPr>
          <a:xfrm>
            <a:off x="4761677" y="8102195"/>
            <a:ext cx="2096896" cy="2697568"/>
          </a:xfrm>
          <a:prstGeom prst="rect">
            <a:avLst/>
          </a:prstGeom>
        </p:spPr>
      </p:pic>
      <p:pic>
        <p:nvPicPr>
          <p:cNvPr id="8" name="Picture 7" descr="A christmas card on a table&#10;&#10;AI-generated content may be incorrect.">
            <a:extLst>
              <a:ext uri="{FF2B5EF4-FFF2-40B4-BE49-F238E27FC236}">
                <a16:creationId xmlns:a16="http://schemas.microsoft.com/office/drawing/2014/main" id="{6872799A-BFDD-B29F-B2CC-E78FD7BBD8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94" y="8102195"/>
            <a:ext cx="2171303" cy="2697568"/>
          </a:xfrm>
          <a:prstGeom prst="rect">
            <a:avLst/>
          </a:prstGeom>
        </p:spPr>
      </p:pic>
      <p:pic>
        <p:nvPicPr>
          <p:cNvPr id="9" name="Picture 8" descr="A hand holding a phone with a screen showing a christmas tree&#10;&#10;AI-generated content may be incorrect.">
            <a:extLst>
              <a:ext uri="{FF2B5EF4-FFF2-40B4-BE49-F238E27FC236}">
                <a16:creationId xmlns:a16="http://schemas.microsoft.com/office/drawing/2014/main" id="{055B68D1-1F2A-EB9D-3DCE-F779AFB212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3536" y="8102194"/>
            <a:ext cx="2413614" cy="2697569"/>
          </a:xfrm>
          <a:prstGeom prst="rect">
            <a:avLst/>
          </a:prstGeom>
        </p:spPr>
      </p:pic>
      <p:sp>
        <p:nvSpPr>
          <p:cNvPr id="5" name="TextBox 4">
            <a:extLst>
              <a:ext uri="{FF2B5EF4-FFF2-40B4-BE49-F238E27FC236}">
                <a16:creationId xmlns:a16="http://schemas.microsoft.com/office/drawing/2014/main" id="{04F80C10-2E75-7CD3-723B-4B7FE3161673}"/>
              </a:ext>
            </a:extLst>
          </p:cNvPr>
          <p:cNvSpPr txBox="1"/>
          <p:nvPr/>
        </p:nvSpPr>
        <p:spPr>
          <a:xfrm>
            <a:off x="-50354" y="0"/>
            <a:ext cx="4418756" cy="369332"/>
          </a:xfrm>
          <a:prstGeom prst="rect">
            <a:avLst/>
          </a:prstGeom>
          <a:noFill/>
        </p:spPr>
        <p:txBody>
          <a:bodyPr wrap="square">
            <a:spAutoFit/>
          </a:bodyPr>
          <a:lstStyle/>
          <a:p>
            <a:r>
              <a:rPr lang="en-GB" b="1" dirty="0"/>
              <a:t>Christmas Cake Suprise</a:t>
            </a:r>
            <a:endParaRPr lang="cs-CZ" b="1" dirty="0"/>
          </a:p>
        </p:txBody>
      </p:sp>
    </p:spTree>
    <p:extLst>
      <p:ext uri="{BB962C8B-B14F-4D97-AF65-F5344CB8AC3E}">
        <p14:creationId xmlns:p14="http://schemas.microsoft.com/office/powerpoint/2010/main" val="790849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1FAAB-956A-78C4-202E-BCA34415C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EC3A0-2258-0403-A3BB-1AC8F74205B4}"/>
              </a:ext>
            </a:extLst>
          </p:cNvPr>
          <p:cNvSpPr>
            <a:spLocks noGrp="1"/>
          </p:cNvSpPr>
          <p:nvPr>
            <p:ph type="title"/>
          </p:nvPr>
        </p:nvSpPr>
        <p:spPr>
          <a:xfrm>
            <a:off x="188843" y="357050"/>
            <a:ext cx="6351105" cy="922506"/>
          </a:xfrm>
        </p:spPr>
        <p:txBody>
          <a:bodyPr>
            <a:noAutofit/>
          </a:bodyPr>
          <a:lstStyle/>
          <a:p>
            <a:r>
              <a:rPr lang="el-GR" sz="2800" dirty="0"/>
              <a:t>Ξύσε – κέρδισε – και δες ποιος σου </a:t>
            </a:r>
            <a:r>
              <a:rPr lang="el-GR" sz="2800" b="1" u="sng" dirty="0"/>
              <a:t>εύχεται χρόνια πολλά</a:t>
            </a:r>
            <a:r>
              <a:rPr lang="en-GB" sz="2800" b="1" dirty="0"/>
              <a:t>:</a:t>
            </a:r>
            <a:endParaRPr lang="en-GB" sz="2800" b="1" dirty="0">
              <a:ea typeface="Calibri"/>
              <a:cs typeface="Calibri"/>
            </a:endParaRPr>
          </a:p>
        </p:txBody>
      </p:sp>
      <p:sp>
        <p:nvSpPr>
          <p:cNvPr id="3" name="Text Placeholder 2">
            <a:extLst>
              <a:ext uri="{FF2B5EF4-FFF2-40B4-BE49-F238E27FC236}">
                <a16:creationId xmlns:a16="http://schemas.microsoft.com/office/drawing/2014/main" id="{1C39F049-D047-43E1-FCC9-C1A49D38719D}"/>
              </a:ext>
            </a:extLst>
          </p:cNvPr>
          <p:cNvSpPr>
            <a:spLocks noGrp="1"/>
          </p:cNvSpPr>
          <p:nvPr>
            <p:ph type="body" sz="quarter" idx="10"/>
          </p:nvPr>
        </p:nvSpPr>
        <p:spPr>
          <a:xfrm>
            <a:off x="188843" y="1521842"/>
            <a:ext cx="6500191" cy="9183756"/>
          </a:xfrm>
        </p:spPr>
        <p:txBody>
          <a:bodyPr vert="horz" lIns="91440" tIns="45720" rIns="91440" bIns="45720" rtlCol="0" anchor="t">
            <a:normAutofit/>
          </a:bodyPr>
          <a:lstStyle/>
          <a:p>
            <a:pPr>
              <a:spcAft>
                <a:spcPts val="1200"/>
              </a:spcAft>
            </a:pPr>
            <a:r>
              <a:rPr lang="el-GR" sz="2600"/>
              <a:t>🎁 Αυτό το δώρο-</a:t>
            </a:r>
            <a:r>
              <a:rPr lang="en-US" sz="2200">
                <a:solidFill>
                  <a:srgbClr val="000000"/>
                </a:solidFill>
                <a:latin typeface="Calibri"/>
                <a:ea typeface="Calibri"/>
                <a:cs typeface="Calibri"/>
              </a:rPr>
              <a:t>ΣΚΡΑΤΣ</a:t>
            </a:r>
            <a:r>
              <a:rPr lang="el-GR" sz="2600"/>
              <a:t> είναι πάντα</a:t>
            </a:r>
            <a:r>
              <a:rPr lang="en-GB" sz="2600"/>
              <a:t> </a:t>
            </a:r>
            <a:r>
              <a:rPr lang="el-GR" sz="2600"/>
              <a:t>κερδισμένο!</a:t>
            </a:r>
            <a:br>
              <a:rPr lang="el-GR" sz="2600"/>
            </a:br>
            <a:r>
              <a:rPr lang="el-GR" sz="2600"/>
              <a:t>Με λιανική τιμή 10 €.</a:t>
            </a:r>
          </a:p>
          <a:p>
            <a:pPr>
              <a:spcAft>
                <a:spcPts val="1200"/>
              </a:spcAft>
              <a:buNone/>
            </a:pPr>
            <a:r>
              <a:rPr lang="el-GR" sz="2600"/>
              <a:t>Στην μπροστινή πλευρά της κάρτας υπάρχει QR κωδικός, τον οποίο μπορείτε να σαρώσετε με το κινητό σας. Ως ο αγοραστής του ξυστού, μόλις σαρώσετε τον κωδικό, μπορείτε να ηχογραφήσετε ένα χαρούμενο μήνυμα γενεθλίων για τον φίλο στον οποίο σκοπεύετε να το χαρίσετε.</a:t>
            </a:r>
          </a:p>
          <a:p>
            <a:pPr>
              <a:spcAft>
                <a:spcPts val="1200"/>
              </a:spcAft>
            </a:pPr>
            <a:r>
              <a:rPr lang="el-GR" sz="2600"/>
              <a:t>🎉 Όταν η κάρτα δοθεί, ο παραλήπτης μπορεί να τη ξύσει, να δει το δώρο του και μετά να σαρώσει τον QR κωδικό. </a:t>
            </a:r>
            <a:r>
              <a:rPr lang="en-US" sz="2600" err="1">
                <a:effectLst/>
                <a:ea typeface="Times New Roman" panose="02020603050405020304" pitchFamily="18" charset="0"/>
              </a:rPr>
              <a:t>Το</a:t>
            </a:r>
            <a:r>
              <a:rPr lang="en-US" sz="2600">
                <a:effectLst/>
                <a:ea typeface="Times New Roman" panose="02020603050405020304" pitchFamily="18" charset="0"/>
              </a:rPr>
              <a:t> π</a:t>
            </a:r>
            <a:r>
              <a:rPr lang="en-US" sz="2600" err="1">
                <a:effectLst/>
                <a:ea typeface="Times New Roman" panose="02020603050405020304" pitchFamily="18" charset="0"/>
              </a:rPr>
              <a:t>ροσω</a:t>
            </a:r>
            <a:r>
              <a:rPr lang="en-US" sz="2600">
                <a:effectLst/>
                <a:ea typeface="Times New Roman" panose="02020603050405020304" pitchFamily="18" charset="0"/>
              </a:rPr>
              <a:t>πικό σας μήνυμα θα εμφανιστεί πάνω στο ΣΚΡΑΤΣ και θα ζωντανέψει μέσω βίντεο επαυξημένης πραγματικότητας</a:t>
            </a:r>
            <a:r>
              <a:rPr lang="el-GR" sz="2600"/>
              <a:t>.</a:t>
            </a:r>
          </a:p>
          <a:p>
            <a:pPr algn="just">
              <a:spcAft>
                <a:spcPts val="1200"/>
              </a:spcAft>
            </a:pPr>
            <a:endParaRPr lang="en-GB" sz="2600">
              <a:ea typeface="Calibri"/>
              <a:cs typeface="Calibri"/>
            </a:endParaRPr>
          </a:p>
          <a:p>
            <a:pPr algn="just">
              <a:spcAft>
                <a:spcPts val="1200"/>
              </a:spcAft>
            </a:pPr>
            <a:endParaRPr lang="en-GB" sz="2600">
              <a:highlight>
                <a:srgbClr val="FFFF00"/>
              </a:highlight>
              <a:cs typeface="Times New Roman" panose="02020603050405020304" pitchFamily="18" charset="0"/>
            </a:endParaRPr>
          </a:p>
          <a:p>
            <a:pPr algn="just">
              <a:spcAft>
                <a:spcPts val="1200"/>
              </a:spcAft>
            </a:pPr>
            <a:endParaRPr lang="en-GB" sz="2600">
              <a:cs typeface="Times New Roman" panose="02020603050405020304" pitchFamily="18" charset="0"/>
            </a:endParaRPr>
          </a:p>
          <a:p>
            <a:pPr algn="just">
              <a:spcAft>
                <a:spcPts val="1200"/>
              </a:spcAft>
            </a:pPr>
            <a:endParaRPr lang="en-GB" sz="2600">
              <a:cs typeface="Times New Roman" panose="02020603050405020304" pitchFamily="18" charset="0"/>
            </a:endParaRPr>
          </a:p>
          <a:p>
            <a:pPr algn="just">
              <a:spcAft>
                <a:spcPts val="1200"/>
              </a:spcAft>
            </a:pPr>
            <a:endParaRPr lang="en-GB" sz="2600">
              <a:ea typeface="Calibri" panose="020F0502020204030204" pitchFamily="34" charset="0"/>
              <a:cs typeface="Calibri" panose="020F0502020204030204" pitchFamily="34" charset="0"/>
            </a:endParaRPr>
          </a:p>
          <a:p>
            <a:pPr algn="just">
              <a:spcAft>
                <a:spcPts val="1200"/>
              </a:spcAft>
            </a:pPr>
            <a:endParaRPr lang="en-GB" sz="2600">
              <a:ea typeface="Calibri" panose="020F0502020204030204" pitchFamily="34" charset="0"/>
              <a:cs typeface="Times New Roman" panose="02020603050405020304" pitchFamily="18" charset="0"/>
            </a:endParaRPr>
          </a:p>
          <a:p>
            <a:pPr algn="just">
              <a:spcAft>
                <a:spcPts val="1200"/>
              </a:spcAft>
            </a:pPr>
            <a:endParaRPr lang="en-GB" sz="2600">
              <a:ea typeface="Calibri" panose="020F0502020204030204" pitchFamily="34" charset="0"/>
              <a:cs typeface="Times New Roman" panose="02020603050405020304" pitchFamily="18" charset="0"/>
            </a:endParaRPr>
          </a:p>
          <a:p>
            <a:pPr algn="just">
              <a:spcAft>
                <a:spcPts val="1200"/>
              </a:spcAft>
            </a:pPr>
            <a:endParaRPr lang="en-GB" sz="2600"/>
          </a:p>
        </p:txBody>
      </p:sp>
      <p:pic>
        <p:nvPicPr>
          <p:cNvPr id="8" name="Picture 7" descr="A birthday card on a table&#10;&#10;AI-generated content may be incorrect.">
            <a:extLst>
              <a:ext uri="{FF2B5EF4-FFF2-40B4-BE49-F238E27FC236}">
                <a16:creationId xmlns:a16="http://schemas.microsoft.com/office/drawing/2014/main" id="{7443D624-5B18-DD1D-814B-D05B9942D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016806"/>
            <a:ext cx="1729543" cy="2782957"/>
          </a:xfrm>
          <a:prstGeom prst="rect">
            <a:avLst/>
          </a:prstGeom>
        </p:spPr>
      </p:pic>
      <p:pic>
        <p:nvPicPr>
          <p:cNvPr id="10" name="Picture 9" descr="A hand holding a phone&#10;&#10;AI-generated content may be incorrect.">
            <a:extLst>
              <a:ext uri="{FF2B5EF4-FFF2-40B4-BE49-F238E27FC236}">
                <a16:creationId xmlns:a16="http://schemas.microsoft.com/office/drawing/2014/main" id="{86D17BA0-3C2C-8512-FED0-0F7EC78683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7529" y="8016807"/>
            <a:ext cx="2518991" cy="2782956"/>
          </a:xfrm>
          <a:prstGeom prst="rect">
            <a:avLst/>
          </a:prstGeom>
        </p:spPr>
      </p:pic>
      <p:pic>
        <p:nvPicPr>
          <p:cNvPr id="12" name="Picture 11" descr="A hand holding a phone with a picture of a couple in sunglasses&#10;&#10;AI-generated content may be incorrect.">
            <a:extLst>
              <a:ext uri="{FF2B5EF4-FFF2-40B4-BE49-F238E27FC236}">
                <a16:creationId xmlns:a16="http://schemas.microsoft.com/office/drawing/2014/main" id="{59D3C48A-3114-2EAC-CA4F-0CA9FB8E42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4505" y="8028738"/>
            <a:ext cx="2093495" cy="2771026"/>
          </a:xfrm>
          <a:prstGeom prst="rect">
            <a:avLst/>
          </a:prstGeom>
        </p:spPr>
      </p:pic>
      <p:sp>
        <p:nvSpPr>
          <p:cNvPr id="4" name="TextBox 3">
            <a:extLst>
              <a:ext uri="{FF2B5EF4-FFF2-40B4-BE49-F238E27FC236}">
                <a16:creationId xmlns:a16="http://schemas.microsoft.com/office/drawing/2014/main" id="{14E3E6FB-6360-FAEB-C9AD-ADF3A56DE247}"/>
              </a:ext>
            </a:extLst>
          </p:cNvPr>
          <p:cNvSpPr txBox="1"/>
          <p:nvPr/>
        </p:nvSpPr>
        <p:spPr>
          <a:xfrm>
            <a:off x="-50354" y="0"/>
            <a:ext cx="4418756" cy="369332"/>
          </a:xfrm>
          <a:prstGeom prst="rect">
            <a:avLst/>
          </a:prstGeom>
          <a:noFill/>
        </p:spPr>
        <p:txBody>
          <a:bodyPr wrap="square">
            <a:spAutoFit/>
          </a:bodyPr>
          <a:lstStyle/>
          <a:p>
            <a:r>
              <a:rPr lang="en-GB" b="1" dirty="0"/>
              <a:t>Christmas Cake Suprise</a:t>
            </a:r>
            <a:endParaRPr lang="cs-CZ" b="1" dirty="0"/>
          </a:p>
        </p:txBody>
      </p:sp>
    </p:spTree>
    <p:extLst>
      <p:ext uri="{BB962C8B-B14F-4D97-AF65-F5344CB8AC3E}">
        <p14:creationId xmlns:p14="http://schemas.microsoft.com/office/powerpoint/2010/main" val="69795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E573C-FCD3-4B2A-6DA2-8762BA196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3B3F0-558C-C1CC-EB01-9F890EC1A001}"/>
              </a:ext>
            </a:extLst>
          </p:cNvPr>
          <p:cNvSpPr>
            <a:spLocks noGrp="1"/>
          </p:cNvSpPr>
          <p:nvPr>
            <p:ph type="title"/>
          </p:nvPr>
        </p:nvSpPr>
        <p:spPr>
          <a:xfrm>
            <a:off x="188843" y="357050"/>
            <a:ext cx="6351105" cy="922506"/>
          </a:xfrm>
        </p:spPr>
        <p:txBody>
          <a:bodyPr>
            <a:noAutofit/>
          </a:bodyPr>
          <a:lstStyle/>
          <a:p>
            <a:r>
              <a:rPr lang="el-GR" sz="2800"/>
              <a:t>Όταν το </a:t>
            </a:r>
            <a:r>
              <a:rPr lang="en-US" sz="2800">
                <a:effectLst/>
                <a:latin typeface="Calibri" panose="020F0502020204030204" pitchFamily="34" charset="0"/>
                <a:ea typeface="Times New Roman" panose="02020603050405020304" pitchFamily="18" charset="0"/>
              </a:rPr>
              <a:t>ΣΚΡΑΤΣ</a:t>
            </a:r>
            <a:r>
              <a:rPr lang="el-GR" sz="2800"/>
              <a:t> κρύβει </a:t>
            </a:r>
            <a:r>
              <a:rPr lang="el-GR" sz="2800" b="1" u="sng"/>
              <a:t>λόγια αγάπης</a:t>
            </a:r>
            <a:r>
              <a:rPr lang="en-GB" sz="2800" b="1"/>
              <a:t>.</a:t>
            </a:r>
            <a:endParaRPr lang="en-GB" sz="2800" b="1">
              <a:ea typeface="Calibri"/>
              <a:cs typeface="Calibri"/>
            </a:endParaRPr>
          </a:p>
        </p:txBody>
      </p:sp>
      <p:sp>
        <p:nvSpPr>
          <p:cNvPr id="3" name="Text Placeholder 2">
            <a:extLst>
              <a:ext uri="{FF2B5EF4-FFF2-40B4-BE49-F238E27FC236}">
                <a16:creationId xmlns:a16="http://schemas.microsoft.com/office/drawing/2014/main" id="{0234B5EC-8CE6-A834-82E8-00CB4328E165}"/>
              </a:ext>
            </a:extLst>
          </p:cNvPr>
          <p:cNvSpPr>
            <a:spLocks noGrp="1"/>
          </p:cNvSpPr>
          <p:nvPr>
            <p:ph type="body" sz="quarter" idx="10"/>
          </p:nvPr>
        </p:nvSpPr>
        <p:spPr>
          <a:xfrm>
            <a:off x="188843" y="1364616"/>
            <a:ext cx="6500191" cy="9255922"/>
          </a:xfrm>
        </p:spPr>
        <p:txBody>
          <a:bodyPr vert="horz" lIns="91440" tIns="45720" rIns="91440" bIns="45720" rtlCol="0" anchor="t">
            <a:normAutofit/>
          </a:bodyPr>
          <a:lstStyle/>
          <a:p>
            <a:pPr>
              <a:spcAft>
                <a:spcPts val="1200"/>
              </a:spcAft>
            </a:pPr>
            <a:r>
              <a:rPr lang="el-GR" sz="2600"/>
              <a:t>🎁 Αυτό το δώρο-</a:t>
            </a:r>
            <a:r>
              <a:rPr lang="en-US" sz="2200"/>
              <a:t>ΣΚΡΑΤΣ</a:t>
            </a:r>
            <a:r>
              <a:rPr lang="el-GR" sz="2600"/>
              <a:t> είναι πάντα κερδισμένο!</a:t>
            </a:r>
            <a:br>
              <a:rPr lang="el-GR" sz="2600"/>
            </a:br>
            <a:r>
              <a:rPr lang="el-GR" sz="2600"/>
              <a:t>Με λιανική τιμή 10 €.</a:t>
            </a:r>
          </a:p>
          <a:p>
            <a:pPr>
              <a:spcAft>
                <a:spcPts val="1200"/>
              </a:spcAft>
              <a:buNone/>
            </a:pPr>
            <a:r>
              <a:rPr lang="el-GR" sz="2600"/>
              <a:t>Στην μπροστινή πλευρά του ξυστού υπάρχει QR κωδικός, τον οποίο μπορείτε να σαρώσετε με το κινητό σας. Ως ο αγοραστής της κάρτας, αφού σαρώσετε τον κωδικό, μπορείτε να ηχογραφήσετε ένα προσωπικό μήνυμα για τον παραλήπτη — έναν φίλο στον οποίο σκοπεύετε να χαρίσετε το </a:t>
            </a:r>
            <a:r>
              <a:rPr lang="en-US" sz="2200"/>
              <a:t>ΣΚΡΑΤΣ</a:t>
            </a:r>
            <a:r>
              <a:rPr lang="el-GR" sz="2600"/>
              <a:t>.</a:t>
            </a:r>
            <a:endParaRPr lang="el-GR" sz="2600">
              <a:ea typeface="Calibri"/>
              <a:cs typeface="Calibri"/>
            </a:endParaRPr>
          </a:p>
          <a:p>
            <a:pPr>
              <a:spcAft>
                <a:spcPts val="1200"/>
              </a:spcAft>
            </a:pPr>
            <a:r>
              <a:rPr lang="el-GR" sz="2600"/>
              <a:t>🎉 Αφού το </a:t>
            </a:r>
            <a:r>
              <a:rPr lang="en-US" sz="2200"/>
              <a:t>ΣΚΡΑΤΣ</a:t>
            </a:r>
            <a:r>
              <a:rPr lang="el-GR" sz="2600"/>
              <a:t> δοθεί, ο παραλήπτης μπορεί να το ξύσει, να ανακαλύψει το κέρδος του και να σαρώσει ξανά τον QR κωδικό. </a:t>
            </a:r>
            <a:r>
              <a:rPr lang="en-US" sz="2600" err="1">
                <a:effectLst/>
                <a:ea typeface="Times New Roman" panose="02020603050405020304" pitchFamily="18" charset="0"/>
              </a:rPr>
              <a:t>Το</a:t>
            </a:r>
            <a:r>
              <a:rPr lang="en-US" sz="2600">
                <a:effectLst/>
                <a:ea typeface="Times New Roman" panose="02020603050405020304" pitchFamily="18" charset="0"/>
              </a:rPr>
              <a:t> π</a:t>
            </a:r>
            <a:r>
              <a:rPr lang="en-US" sz="2600" err="1">
                <a:effectLst/>
                <a:ea typeface="Times New Roman" panose="02020603050405020304" pitchFamily="18" charset="0"/>
              </a:rPr>
              <a:t>ροσω</a:t>
            </a:r>
            <a:r>
              <a:rPr lang="en-US" sz="2600">
                <a:effectLst/>
                <a:ea typeface="Times New Roman" panose="02020603050405020304" pitchFamily="18" charset="0"/>
              </a:rPr>
              <a:t>π</a:t>
            </a:r>
            <a:r>
              <a:rPr lang="en-US" sz="2600" err="1">
                <a:effectLst/>
                <a:ea typeface="Times New Roman" panose="02020603050405020304" pitchFamily="18" charset="0"/>
              </a:rPr>
              <a:t>ικό</a:t>
            </a:r>
            <a:r>
              <a:rPr lang="en-US" sz="2600">
                <a:effectLst/>
                <a:ea typeface="Times New Roman" panose="02020603050405020304" pitchFamily="18" charset="0"/>
              </a:rPr>
              <a:t> σας </a:t>
            </a:r>
            <a:r>
              <a:rPr lang="en-US" sz="2600" err="1">
                <a:effectLst/>
                <a:ea typeface="Times New Roman" panose="02020603050405020304" pitchFamily="18" charset="0"/>
              </a:rPr>
              <a:t>μήνυμ</a:t>
            </a:r>
            <a:r>
              <a:rPr lang="en-US" sz="2600">
                <a:effectLst/>
                <a:ea typeface="Times New Roman" panose="02020603050405020304" pitchFamily="18" charset="0"/>
              </a:rPr>
              <a:t>α θα εμφανιστεί πάνω στο ΣΚΡΑΤΣ και θα ζωντανέψει μέσω βίντεο επαυξημένης πραγματικότητας</a:t>
            </a:r>
            <a:r>
              <a:rPr lang="el-GR" sz="2600"/>
              <a:t>.</a:t>
            </a:r>
          </a:p>
          <a:p>
            <a:pPr algn="just">
              <a:spcAft>
                <a:spcPts val="1200"/>
              </a:spcAft>
            </a:pPr>
            <a:endParaRPr lang="en-GB" sz="2600">
              <a:ea typeface="Calibri"/>
              <a:cs typeface="Calibri"/>
            </a:endParaRPr>
          </a:p>
          <a:p>
            <a:pPr algn="just">
              <a:spcAft>
                <a:spcPts val="1200"/>
              </a:spcAft>
            </a:pPr>
            <a:endParaRPr lang="en-GB" sz="2600">
              <a:highlight>
                <a:srgbClr val="FFFF00"/>
              </a:highlight>
              <a:cs typeface="Times New Roman" panose="02020603050405020304" pitchFamily="18" charset="0"/>
            </a:endParaRPr>
          </a:p>
          <a:p>
            <a:pPr algn="just">
              <a:spcAft>
                <a:spcPts val="1200"/>
              </a:spcAft>
            </a:pPr>
            <a:endParaRPr lang="en-GB" sz="2600">
              <a:cs typeface="Times New Roman" panose="02020603050405020304" pitchFamily="18" charset="0"/>
            </a:endParaRPr>
          </a:p>
          <a:p>
            <a:pPr algn="just">
              <a:spcAft>
                <a:spcPts val="1200"/>
              </a:spcAft>
            </a:pPr>
            <a:endParaRPr lang="en-GB" sz="2600">
              <a:cs typeface="Times New Roman" panose="02020603050405020304" pitchFamily="18" charset="0"/>
            </a:endParaRPr>
          </a:p>
          <a:p>
            <a:pPr algn="just">
              <a:spcAft>
                <a:spcPts val="1200"/>
              </a:spcAft>
            </a:pPr>
            <a:endParaRPr lang="en-GB" sz="2600">
              <a:ea typeface="Calibri" panose="020F0502020204030204" pitchFamily="34" charset="0"/>
              <a:cs typeface="Calibri" panose="020F0502020204030204" pitchFamily="34" charset="0"/>
            </a:endParaRPr>
          </a:p>
          <a:p>
            <a:pPr algn="just">
              <a:spcAft>
                <a:spcPts val="1200"/>
              </a:spcAft>
            </a:pPr>
            <a:endParaRPr lang="en-GB" sz="2600">
              <a:ea typeface="Calibri" panose="020F0502020204030204" pitchFamily="34" charset="0"/>
              <a:cs typeface="Times New Roman" panose="02020603050405020304" pitchFamily="18" charset="0"/>
            </a:endParaRPr>
          </a:p>
          <a:p>
            <a:pPr algn="just">
              <a:spcAft>
                <a:spcPts val="1200"/>
              </a:spcAft>
            </a:pPr>
            <a:endParaRPr lang="en-GB" sz="2600">
              <a:ea typeface="Calibri" panose="020F0502020204030204" pitchFamily="34" charset="0"/>
              <a:cs typeface="Times New Roman" panose="02020603050405020304" pitchFamily="18" charset="0"/>
            </a:endParaRPr>
          </a:p>
          <a:p>
            <a:pPr algn="just">
              <a:spcAft>
                <a:spcPts val="1200"/>
              </a:spcAft>
            </a:pPr>
            <a:endParaRPr lang="en-GB" sz="2600"/>
          </a:p>
        </p:txBody>
      </p:sp>
      <p:pic>
        <p:nvPicPr>
          <p:cNvPr id="4" name="Picture 3" descr="A person taking a picture of a card&#10;&#10;AI-generated content may be incorrect.">
            <a:extLst>
              <a:ext uri="{FF2B5EF4-FFF2-40B4-BE49-F238E27FC236}">
                <a16:creationId xmlns:a16="http://schemas.microsoft.com/office/drawing/2014/main" id="{74A65976-ADA0-2928-1466-2D82FA450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196" y="8058434"/>
            <a:ext cx="2474035" cy="2741329"/>
          </a:xfrm>
          <a:prstGeom prst="rect">
            <a:avLst/>
          </a:prstGeom>
        </p:spPr>
      </p:pic>
      <p:pic>
        <p:nvPicPr>
          <p:cNvPr id="6" name="Picture 5" descr="A person taking a picture of a person's face on a cellphone&#10;&#10;AI-generated content may be incorrect.">
            <a:extLst>
              <a:ext uri="{FF2B5EF4-FFF2-40B4-BE49-F238E27FC236}">
                <a16:creationId xmlns:a16="http://schemas.microsoft.com/office/drawing/2014/main" id="{4473D11F-EAD7-7E8C-0EE4-255E34060B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9333" y="8058434"/>
            <a:ext cx="2260121" cy="2741329"/>
          </a:xfrm>
          <a:prstGeom prst="rect">
            <a:avLst/>
          </a:prstGeom>
        </p:spPr>
      </p:pic>
      <p:pic>
        <p:nvPicPr>
          <p:cNvPr id="8" name="Picture 7" descr="A pink card with a pink design on it&#10;&#10;AI-generated content may be incorrect.">
            <a:extLst>
              <a:ext uri="{FF2B5EF4-FFF2-40B4-BE49-F238E27FC236}">
                <a16:creationId xmlns:a16="http://schemas.microsoft.com/office/drawing/2014/main" id="{CA70874D-CD76-8089-B549-A3B6C56523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9" y="8058434"/>
            <a:ext cx="1878495" cy="2741329"/>
          </a:xfrm>
          <a:prstGeom prst="rect">
            <a:avLst/>
          </a:prstGeom>
        </p:spPr>
      </p:pic>
      <p:sp>
        <p:nvSpPr>
          <p:cNvPr id="5" name="TextBox 4">
            <a:extLst>
              <a:ext uri="{FF2B5EF4-FFF2-40B4-BE49-F238E27FC236}">
                <a16:creationId xmlns:a16="http://schemas.microsoft.com/office/drawing/2014/main" id="{2AF2F5BF-4C50-34B4-6FFD-9502EABE1517}"/>
              </a:ext>
            </a:extLst>
          </p:cNvPr>
          <p:cNvSpPr txBox="1"/>
          <p:nvPr/>
        </p:nvSpPr>
        <p:spPr>
          <a:xfrm>
            <a:off x="-50354" y="0"/>
            <a:ext cx="4418756" cy="369332"/>
          </a:xfrm>
          <a:prstGeom prst="rect">
            <a:avLst/>
          </a:prstGeom>
          <a:noFill/>
        </p:spPr>
        <p:txBody>
          <a:bodyPr wrap="square">
            <a:spAutoFit/>
          </a:bodyPr>
          <a:lstStyle/>
          <a:p>
            <a:r>
              <a:rPr lang="cs-CZ" b="1" dirty="0"/>
              <a:t>Valentine </a:t>
            </a:r>
            <a:r>
              <a:rPr lang="cs-CZ" b="1" dirty="0" err="1"/>
              <a:t>Message</a:t>
            </a:r>
            <a:endParaRPr lang="cs-CZ" b="1" dirty="0"/>
          </a:p>
        </p:txBody>
      </p:sp>
    </p:spTree>
    <p:extLst>
      <p:ext uri="{BB962C8B-B14F-4D97-AF65-F5344CB8AC3E}">
        <p14:creationId xmlns:p14="http://schemas.microsoft.com/office/powerpoint/2010/main" val="30125359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removed="0"/>
</clbl:labelList>
</file>

<file path=docProps/app.xml><?xml version="1.0" encoding="utf-8"?>
<Properties xmlns="http://schemas.openxmlformats.org/officeDocument/2006/extended-properties" xmlns:vt="http://schemas.openxmlformats.org/officeDocument/2006/docPropsVTypes">
  <Template>Office Theme</Template>
  <TotalTime>6</TotalTime>
  <Words>1275</Words>
  <Application>Microsoft Office PowerPoint</Application>
  <PresentationFormat>Custom</PresentationFormat>
  <Paragraphs>85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Times New Roman</vt:lpstr>
      <vt:lpstr>Office Theme</vt:lpstr>
      <vt:lpstr>Φανταστείτε ότι κυκλοφόρησε μια νέα εξατομικευμένη ξυστή κάρτα με βίντεο :</vt:lpstr>
      <vt:lpstr>Φανταστείτε ότι κυκλοφόρησε ένας νέος Χριστουγεννιάτικος λαχνός ΣΚΡΑΤΣ με επαυξημένη πραγματικότητα:</vt:lpstr>
      <vt:lpstr>Φανταστείτε ότι μπορείτε να παίξετε ένα νέο AR μίνι παιχνίδι πάνω στο ΣΚΡΑΤΣ σας:</vt:lpstr>
      <vt:lpstr>Έρχεται το πιο διασκεδαστικό ΣΚΡΑΤΣ – τραγουδήστε κι εσείς με lip-sync έκπληξη :</vt:lpstr>
      <vt:lpstr> Τραγουδήστε μαζί – στο πιο κεφάτο ΣΚΡΑΤΣ της χρονιάς:</vt:lpstr>
      <vt:lpstr> Έκπληξη με αγάπη στο χριστουγεννιάτικο σου ΣΚΡΑΤΣ:</vt:lpstr>
      <vt:lpstr>Ξύσε – κέρδισε – και δες ποιος σου εύχεται χρόνια πολλά:</vt:lpstr>
      <vt:lpstr>Όταν το ΣΚΡΑΤΣ κρύβει λόγια αγάπης.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2</cp:revision>
  <dcterms:created xsi:type="dcterms:W3CDTF">2022-11-09T07:36:23Z</dcterms:created>
  <dcterms:modified xsi:type="dcterms:W3CDTF">2025-12-16T08:44:47Z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