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8" r:id="rId2"/>
    <p:sldId id="269" r:id="rId3"/>
    <p:sldId id="270" r:id="rId4"/>
    <p:sldId id="271" r:id="rId5"/>
  </p:sldIdLst>
  <p:sldSz cx="6858000" cy="10799763"/>
  <p:notesSz cx="6858000" cy="9144000"/>
  <p:custDataLst>
    <p:tags r:id="rId6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E241CD0-A2E9-4383-9017-0B80347C4CB4}" v="2" dt="2025-12-16T14:18:44.10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94" autoAdjust="0"/>
    <p:restoredTop sz="94660"/>
  </p:normalViewPr>
  <p:slideViewPr>
    <p:cSldViewPr snapToGrid="0">
      <p:cViewPr varScale="1">
        <p:scale>
          <a:sx n="65" d="100"/>
          <a:sy n="65" d="100"/>
        </p:scale>
        <p:origin x="334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gs" Target="tags/tag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eter Javornický" userId="3b98f8e0-d449-4f6e-b57d-5f9bfb7a5c2c" providerId="ADAL" clId="{88A10E76-C547-4713-B92A-3B48010D5CF0}"/>
    <pc:docChg chg="modSld">
      <pc:chgData name="Peter Javornický" userId="3b98f8e0-d449-4f6e-b57d-5f9bfb7a5c2c" providerId="ADAL" clId="{88A10E76-C547-4713-B92A-3B48010D5CF0}" dt="2025-12-16T14:18:50.524" v="8" actId="404"/>
      <pc:docMkLst>
        <pc:docMk/>
      </pc:docMkLst>
      <pc:sldChg chg="modSp mod">
        <pc:chgData name="Peter Javornický" userId="3b98f8e0-d449-4f6e-b57d-5f9bfb7a5c2c" providerId="ADAL" clId="{88A10E76-C547-4713-B92A-3B48010D5CF0}" dt="2025-12-16T14:18:35.427" v="3" actId="404"/>
        <pc:sldMkLst>
          <pc:docMk/>
          <pc:sldMk cId="46857855" sldId="268"/>
        </pc:sldMkLst>
        <pc:spChg chg="mod">
          <ac:chgData name="Peter Javornický" userId="3b98f8e0-d449-4f6e-b57d-5f9bfb7a5c2c" providerId="ADAL" clId="{88A10E76-C547-4713-B92A-3B48010D5CF0}" dt="2025-12-16T14:18:35.427" v="3" actId="404"/>
          <ac:spMkLst>
            <pc:docMk/>
            <pc:sldMk cId="46857855" sldId="268"/>
            <ac:spMk id="3" creationId="{FF7F3D8E-FF11-1FC3-E262-8AB6EA3796E7}"/>
          </ac:spMkLst>
        </pc:spChg>
      </pc:sldChg>
      <pc:sldChg chg="modSp mod">
        <pc:chgData name="Peter Javornický" userId="3b98f8e0-d449-4f6e-b57d-5f9bfb7a5c2c" providerId="ADAL" clId="{88A10E76-C547-4713-B92A-3B48010D5CF0}" dt="2025-12-16T14:18:50.524" v="8" actId="404"/>
        <pc:sldMkLst>
          <pc:docMk/>
          <pc:sldMk cId="3168554335" sldId="269"/>
        </pc:sldMkLst>
        <pc:spChg chg="mod">
          <ac:chgData name="Peter Javornický" userId="3b98f8e0-d449-4f6e-b57d-5f9bfb7a5c2c" providerId="ADAL" clId="{88A10E76-C547-4713-B92A-3B48010D5CF0}" dt="2025-12-16T14:18:50.524" v="8" actId="404"/>
          <ac:spMkLst>
            <pc:docMk/>
            <pc:sldMk cId="3168554335" sldId="269"/>
            <ac:spMk id="3" creationId="{C97CA788-BEE6-AF28-CB3A-877D4596AE9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cept - Širš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5288" y="357050"/>
            <a:ext cx="6361042" cy="92250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71AA04-A0F8-87B9-B272-01F3327D49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25288" y="1279525"/>
            <a:ext cx="6361042" cy="9255953"/>
          </a:xfrm>
        </p:spPr>
        <p:txBody>
          <a:bodyPr>
            <a:normAutofit/>
          </a:bodyPr>
          <a:lstStyle>
            <a:lvl1pPr>
              <a:defRPr sz="3600"/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9543878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cept Užš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4312" y="357050"/>
            <a:ext cx="6069497" cy="92250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71AA04-A0F8-87B9-B272-01F3327D49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4312" y="1279525"/>
            <a:ext cx="6069497" cy="9255953"/>
          </a:xfrm>
        </p:spPr>
        <p:txBody>
          <a:bodyPr>
            <a:normAutofit/>
          </a:bodyPr>
          <a:lstStyle>
            <a:lvl1pPr>
              <a:defRPr sz="3600"/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673364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d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71AA04-A0F8-87B9-B272-01F3327D49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9270" y="357809"/>
            <a:ext cx="6626087" cy="10177669"/>
          </a:xfr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6600"/>
            </a:lvl1pPr>
            <a:lvl2pPr>
              <a:defRPr sz="40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577700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357050"/>
            <a:ext cx="5915025" cy="9225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1444488"/>
            <a:ext cx="5915025" cy="89982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36371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lnSpc>
          <a:spcPct val="90000"/>
        </a:lnSpc>
        <a:spcBef>
          <a:spcPts val="750"/>
        </a:spcBef>
        <a:buFontTx/>
        <a:buNone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0" algn="l" defTabSz="685800" rtl="0" eaLnBrk="1" latinLnBrk="0" hangingPunct="1">
        <a:lnSpc>
          <a:spcPct val="90000"/>
        </a:lnSpc>
        <a:spcBef>
          <a:spcPts val="375"/>
        </a:spcBef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0" algn="l" defTabSz="685800" rtl="0" eaLnBrk="1" latinLnBrk="0" hangingPunct="1">
        <a:lnSpc>
          <a:spcPct val="90000"/>
        </a:lnSpc>
        <a:spcBef>
          <a:spcPts val="375"/>
        </a:spcBef>
        <a:buFontTx/>
        <a:buNone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indent="0" algn="l" defTabSz="685800" rtl="0" eaLnBrk="1" latinLnBrk="0" hangingPunct="1">
        <a:lnSpc>
          <a:spcPct val="90000"/>
        </a:lnSpc>
        <a:spcBef>
          <a:spcPts val="375"/>
        </a:spcBef>
        <a:buFontTx/>
        <a:buNone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0" algn="l" defTabSz="685800" rtl="0" eaLnBrk="1" latinLnBrk="0" hangingPunct="1">
        <a:lnSpc>
          <a:spcPct val="90000"/>
        </a:lnSpc>
        <a:spcBef>
          <a:spcPts val="375"/>
        </a:spcBef>
        <a:buFontTx/>
        <a:buNone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7F3D8E-FF11-1FC3-E262-8AB6EA3796E7}"/>
              </a:ext>
            </a:extLst>
          </p:cNvPr>
          <p:cNvSpPr>
            <a:spLocks noGrp="1" noChangeAspect="1"/>
          </p:cNvSpPr>
          <p:nvPr>
            <p:ph type="body" sz="quarter" idx="10"/>
          </p:nvPr>
        </p:nvSpPr>
        <p:spPr>
          <a:xfrm>
            <a:off x="91437" y="1"/>
            <a:ext cx="6720843" cy="7482572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</a:pPr>
            <a:r>
              <a:rPr lang="en-US" sz="2800" b="1" dirty="0"/>
              <a:t>Daily Millionaire - A new lottery game</a:t>
            </a:r>
          </a:p>
          <a:p>
            <a:r>
              <a:rPr lang="en-US" sz="2200" noProof="0" dirty="0"/>
              <a:t>This is an international lottery game where players have the chance to win up to £1 Million every day if they match 6 numbers from 1-52. </a:t>
            </a:r>
          </a:p>
          <a:p>
            <a:r>
              <a:rPr lang="en-US" sz="2200" noProof="0" dirty="0"/>
              <a:t>And that’s not the only way to become a millionaire. </a:t>
            </a:r>
            <a:br>
              <a:rPr lang="en-US" sz="2200" noProof="0" dirty="0"/>
            </a:br>
            <a:r>
              <a:rPr lang="en-US" sz="2200" noProof="0" dirty="0"/>
              <a:t>This new lottery also includes a special prize bonus: </a:t>
            </a:r>
            <a:br>
              <a:rPr lang="en-US" sz="2200" noProof="0" dirty="0"/>
            </a:br>
            <a:r>
              <a:rPr lang="en-US" sz="2200" noProof="0" dirty="0"/>
              <a:t>the Millionaire Drop. A portion of the prize pool for each draw is set aside in the “Millionaire’s Fund”. </a:t>
            </a:r>
            <a:br>
              <a:rPr lang="en-US" sz="2200" noProof="0" dirty="0"/>
            </a:br>
            <a:r>
              <a:rPr lang="en-US" sz="2200" noProof="0" dirty="0"/>
              <a:t>Prize money from this fund will be distributed among the game’s lucky players on the day that all numbers drawn are even or odd. This should theoretically happen every 6 weeks. If, for example, the “Millionaire’s Fund” features £15.5 million, a total of 15 players will be chosen based on the serial number of their lottery ticket. Each of these players win £1 Million.</a:t>
            </a:r>
            <a:endParaRPr lang="en-US" sz="2200" noProof="0" dirty="0">
              <a:ea typeface="Calibri"/>
              <a:cs typeface="Calibri"/>
            </a:endParaRPr>
          </a:p>
          <a:p>
            <a:r>
              <a:rPr lang="en-US" sz="2200" noProof="0" dirty="0"/>
              <a:t>The price of one line is £1.50.</a:t>
            </a:r>
          </a:p>
          <a:p>
            <a:r>
              <a:rPr lang="en-US" sz="2200" noProof="0" dirty="0"/>
              <a:t>Players can subscribe to this lottery game for one week, one month or longer. This way, they will never miss a draw where the “Millionaire Drop” occurs. </a:t>
            </a:r>
            <a:br>
              <a:rPr lang="en-US" sz="2200" noProof="0" dirty="0"/>
            </a:br>
            <a:r>
              <a:rPr lang="en-US" sz="2200" noProof="0" dirty="0"/>
              <a:t>Players can also purchase a </a:t>
            </a:r>
            <a:r>
              <a:rPr lang="en-US" sz="2200" dirty="0"/>
              <a:t>share</a:t>
            </a:r>
            <a:r>
              <a:rPr lang="en-US" sz="2200" noProof="0" dirty="0"/>
              <a:t> of a pre-paid ticket, such as one-tenth of a monthly ticket for £4.50 and so on.</a:t>
            </a:r>
          </a:p>
          <a:p>
            <a:r>
              <a:rPr lang="en-US" sz="2200" noProof="0" dirty="0"/>
              <a:t>The draw takes place every evening in Austria. </a:t>
            </a:r>
          </a:p>
          <a:p>
            <a:endParaRPr lang="en-US" sz="2200" i="1" noProof="0" dirty="0"/>
          </a:p>
          <a:p>
            <a:endParaRPr lang="en-US" sz="2200" i="1" noProof="0" dirty="0"/>
          </a:p>
          <a:p>
            <a:endParaRPr lang="en-US" sz="2200" i="1" noProof="0" dirty="0"/>
          </a:p>
          <a:p>
            <a:endParaRPr lang="en-US" sz="2200" i="1" noProof="0" dirty="0"/>
          </a:p>
          <a:p>
            <a:endParaRPr lang="en-US" sz="2200" i="1" noProof="0" dirty="0"/>
          </a:p>
          <a:p>
            <a:endParaRPr lang="en-US" sz="2200" i="1" noProof="0" dirty="0"/>
          </a:p>
          <a:p>
            <a:endParaRPr lang="en-US" sz="1800" i="1" noProof="0" dirty="0"/>
          </a:p>
          <a:p>
            <a:endParaRPr lang="en-US" sz="1800" i="1" noProof="0" dirty="0"/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</a:pPr>
            <a:endParaRPr lang="en-US" sz="2400" noProof="0" dirty="0"/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</a:pPr>
            <a:endParaRPr lang="en-US" sz="2400" noProof="0" dirty="0"/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</a:pPr>
            <a:endParaRPr lang="en-US" sz="2400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F262134-F2D2-ED00-4E39-3A200596028D}"/>
              </a:ext>
            </a:extLst>
          </p:cNvPr>
          <p:cNvSpPr/>
          <p:nvPr/>
        </p:nvSpPr>
        <p:spPr>
          <a:xfrm>
            <a:off x="0" y="0"/>
            <a:ext cx="45719" cy="107997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28E2E8E-49AD-C4A1-0FDE-4FAC8EEAE6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7488594"/>
              </p:ext>
            </p:extLst>
          </p:nvPr>
        </p:nvGraphicFramePr>
        <p:xfrm>
          <a:off x="124725" y="7482573"/>
          <a:ext cx="6608550" cy="2698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79949">
                  <a:extLst>
                    <a:ext uri="{9D8B030D-6E8A-4147-A177-3AD203B41FA5}">
                      <a16:colId xmlns:a16="http://schemas.microsoft.com/office/drawing/2014/main" val="2285407711"/>
                    </a:ext>
                  </a:extLst>
                </a:gridCol>
                <a:gridCol w="3428601">
                  <a:extLst>
                    <a:ext uri="{9D8B030D-6E8A-4147-A177-3AD203B41FA5}">
                      <a16:colId xmlns:a16="http://schemas.microsoft.com/office/drawing/2014/main" val="1271847178"/>
                    </a:ext>
                  </a:extLst>
                </a:gridCol>
              </a:tblGrid>
              <a:tr h="298846">
                <a:tc>
                  <a:txBody>
                    <a:bodyPr/>
                    <a:lstStyle/>
                    <a:p>
                      <a:r>
                        <a:rPr lang="en-US" sz="1800" b="0" noProof="0" dirty="0">
                          <a:latin typeface="+mn-lt"/>
                        </a:rPr>
                        <a:t>Price per line</a:t>
                      </a:r>
                      <a:endParaRPr lang="en-US" sz="1800" b="0" i="0" u="none" strike="noStrike" noProof="0" dirty="0">
                        <a:solidFill>
                          <a:srgbClr val="333333"/>
                        </a:solidFill>
                        <a:latin typeface="+mn-lt"/>
                      </a:endParaRPr>
                    </a:p>
                  </a:txBody>
                  <a:tcPr marL="45720" marR="45720" marT="36000" marB="36000"/>
                </a:tc>
                <a:tc>
                  <a:txBody>
                    <a:bodyPr/>
                    <a:lstStyle/>
                    <a:p>
                      <a:r>
                        <a:rPr lang="en-US" sz="1800" b="0" noProof="0" dirty="0">
                          <a:latin typeface="+mn-lt"/>
                        </a:rPr>
                        <a:t>£1.50</a:t>
                      </a:r>
                      <a:endParaRPr lang="en-US" sz="1800" b="0" i="0" u="none" strike="noStrike" noProof="0" dirty="0">
                        <a:solidFill>
                          <a:srgbClr val="333333"/>
                        </a:solidFill>
                        <a:latin typeface="+mn-lt"/>
                      </a:endParaRPr>
                    </a:p>
                  </a:txBody>
                  <a:tcPr marL="45720" marR="45720" marT="36000" marB="36000"/>
                </a:tc>
                <a:extLst>
                  <a:ext uri="{0D108BD9-81ED-4DB2-BD59-A6C34878D82A}">
                    <a16:rowId xmlns:a16="http://schemas.microsoft.com/office/drawing/2014/main" val="3452552409"/>
                  </a:ext>
                </a:extLst>
              </a:tr>
              <a:tr h="298846">
                <a:tc>
                  <a:txBody>
                    <a:bodyPr/>
                    <a:lstStyle/>
                    <a:p>
                      <a:r>
                        <a:rPr lang="en-US" sz="1800" b="0" noProof="0" dirty="0">
                          <a:solidFill>
                            <a:schemeClr val="tx1"/>
                          </a:solidFill>
                          <a:latin typeface="+mn-lt"/>
                        </a:rPr>
                        <a:t>Main prize – every day</a:t>
                      </a:r>
                    </a:p>
                  </a:txBody>
                  <a:tcPr marL="45720" marR="45720" marT="36000" marB="36000"/>
                </a:tc>
                <a:tc>
                  <a:txBody>
                    <a:bodyPr/>
                    <a:lstStyle/>
                    <a:p>
                      <a:pPr marL="273050" marR="0" lvl="0" indent="-2730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noProof="0" dirty="0">
                          <a:solidFill>
                            <a:schemeClr val="tx1"/>
                          </a:solidFill>
                          <a:latin typeface="+mn-lt"/>
                        </a:rPr>
                        <a:t>£1 Million</a:t>
                      </a:r>
                    </a:p>
                  </a:txBody>
                  <a:tcPr marL="45720" marR="45720" marT="36000" marB="36000"/>
                </a:tc>
                <a:extLst>
                  <a:ext uri="{0D108BD9-81ED-4DB2-BD59-A6C34878D82A}">
                    <a16:rowId xmlns:a16="http://schemas.microsoft.com/office/drawing/2014/main" val="729213333"/>
                  </a:ext>
                </a:extLst>
              </a:tr>
              <a:tr h="535561">
                <a:tc>
                  <a:txBody>
                    <a:bodyPr/>
                    <a:lstStyle/>
                    <a:p>
                      <a:r>
                        <a:rPr lang="en-US" sz="1800" b="0" noProof="0" dirty="0">
                          <a:solidFill>
                            <a:schemeClr val="tx1"/>
                          </a:solidFill>
                          <a:latin typeface="+mn-lt"/>
                        </a:rPr>
                        <a:t>Win for the Drop</a:t>
                      </a:r>
                    </a:p>
                  </a:txBody>
                  <a:tcPr marL="45720" marR="45720" marT="36000" marB="36000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baseline="0" noProof="0" dirty="0">
                          <a:solidFill>
                            <a:schemeClr val="tx1"/>
                          </a:solidFill>
                          <a:latin typeface="+mn-lt"/>
                        </a:rPr>
                        <a:t>£1 Million</a:t>
                      </a:r>
                      <a:r>
                        <a:rPr lang="en-US" sz="1800" b="0" noProof="0" dirty="0">
                          <a:solidFill>
                            <a:schemeClr val="tx1"/>
                          </a:solidFill>
                          <a:latin typeface="+mn-lt"/>
                        </a:rPr>
                        <a:t> for 13 winners (theoretically)</a:t>
                      </a:r>
                    </a:p>
                  </a:txBody>
                  <a:tcPr marL="45720" marR="45720" marT="36000" marB="36000"/>
                </a:tc>
                <a:extLst>
                  <a:ext uri="{0D108BD9-81ED-4DB2-BD59-A6C34878D82A}">
                    <a16:rowId xmlns:a16="http://schemas.microsoft.com/office/drawing/2014/main" val="1234508754"/>
                  </a:ext>
                </a:extLst>
              </a:tr>
              <a:tr h="298846"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800" b="0" noProof="0" dirty="0">
                          <a:solidFill>
                            <a:schemeClr val="tx1"/>
                          </a:solidFill>
                          <a:latin typeface="+mn-lt"/>
                        </a:rPr>
                        <a:t>Minimum win</a:t>
                      </a:r>
                    </a:p>
                  </a:txBody>
                  <a:tcPr marL="45720" marR="45720" marT="36000" marB="36000"/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800" b="0" noProof="0" dirty="0">
                          <a:solidFill>
                            <a:schemeClr val="tx1"/>
                          </a:solidFill>
                          <a:latin typeface="+mn-lt"/>
                        </a:rPr>
                        <a:t>£1.50</a:t>
                      </a:r>
                    </a:p>
                  </a:txBody>
                  <a:tcPr marL="45720" marR="45720" marT="36000" marB="36000"/>
                </a:tc>
                <a:extLst>
                  <a:ext uri="{0D108BD9-81ED-4DB2-BD59-A6C34878D82A}">
                    <a16:rowId xmlns:a16="http://schemas.microsoft.com/office/drawing/2014/main" val="3752542039"/>
                  </a:ext>
                </a:extLst>
              </a:tr>
              <a:tr h="298846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noProof="0" dirty="0">
                          <a:solidFill>
                            <a:schemeClr val="tx1"/>
                          </a:solidFill>
                          <a:latin typeface="+mn-lt"/>
                        </a:rPr>
                        <a:t>Winning frequency of main prize</a:t>
                      </a:r>
                    </a:p>
                  </a:txBody>
                  <a:tcPr marL="45720" marR="45720" marT="36000" marB="36000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noProof="0" dirty="0">
                          <a:solidFill>
                            <a:schemeClr val="tx1"/>
                          </a:solidFill>
                          <a:latin typeface="+mn-lt"/>
                        </a:rPr>
                        <a:t>Every 3 weeks (theoretically)</a:t>
                      </a:r>
                    </a:p>
                  </a:txBody>
                  <a:tcPr marL="45720" marR="45720" marT="36000" marB="36000"/>
                </a:tc>
                <a:extLst>
                  <a:ext uri="{0D108BD9-81ED-4DB2-BD59-A6C34878D82A}">
                    <a16:rowId xmlns:a16="http://schemas.microsoft.com/office/drawing/2014/main" val="540976133"/>
                  </a:ext>
                </a:extLst>
              </a:tr>
              <a:tr h="298846">
                <a:tc>
                  <a:txBody>
                    <a:bodyPr/>
                    <a:lstStyle/>
                    <a:p>
                      <a:r>
                        <a:rPr lang="en-US" sz="1800" b="0" noProof="0" dirty="0">
                          <a:solidFill>
                            <a:schemeClr val="tx1"/>
                          </a:solidFill>
                          <a:latin typeface="+mn-lt"/>
                        </a:rPr>
                        <a:t>Frequency of Drop</a:t>
                      </a:r>
                    </a:p>
                  </a:txBody>
                  <a:tcPr marL="45720" marR="45720" marT="36000" marB="36000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noProof="0" dirty="0">
                          <a:solidFill>
                            <a:schemeClr val="tx1"/>
                          </a:solidFill>
                          <a:latin typeface="+mn-lt"/>
                        </a:rPr>
                        <a:t>Every 6 weeks (theoretically)</a:t>
                      </a:r>
                    </a:p>
                  </a:txBody>
                  <a:tcPr marL="45720" marR="45720" marT="36000" marB="36000"/>
                </a:tc>
                <a:extLst>
                  <a:ext uri="{0D108BD9-81ED-4DB2-BD59-A6C34878D82A}">
                    <a16:rowId xmlns:a16="http://schemas.microsoft.com/office/drawing/2014/main" val="2109885055"/>
                  </a:ext>
                </a:extLst>
              </a:tr>
              <a:tr h="298846">
                <a:tc>
                  <a:txBody>
                    <a:bodyPr/>
                    <a:lstStyle/>
                    <a:p>
                      <a:r>
                        <a:rPr lang="en-US" sz="1800" b="0" noProof="0" dirty="0">
                          <a:solidFill>
                            <a:schemeClr val="tx1"/>
                          </a:solidFill>
                          <a:latin typeface="+mn-lt"/>
                        </a:rPr>
                        <a:t>Overall probability of winning</a:t>
                      </a:r>
                    </a:p>
                  </a:txBody>
                  <a:tcPr marL="45720" marR="45720" marT="36000" marB="36000"/>
                </a:tc>
                <a:tc>
                  <a:txBody>
                    <a:bodyPr/>
                    <a:lstStyle/>
                    <a:p>
                      <a:r>
                        <a:rPr lang="en-US" sz="1800" b="0" noProof="0" dirty="0">
                          <a:solidFill>
                            <a:schemeClr val="tx1"/>
                          </a:solidFill>
                          <a:latin typeface="+mn-lt"/>
                        </a:rPr>
                        <a:t> 1:7</a:t>
                      </a:r>
                    </a:p>
                  </a:txBody>
                  <a:tcPr marL="45720" marR="45720" marT="36000" marB="36000"/>
                </a:tc>
                <a:extLst>
                  <a:ext uri="{0D108BD9-81ED-4DB2-BD59-A6C34878D82A}">
                    <a16:rowId xmlns:a16="http://schemas.microsoft.com/office/drawing/2014/main" val="2861532557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C29188BF-728D-0C5C-E1E3-50B8629E8636}"/>
              </a:ext>
            </a:extLst>
          </p:cNvPr>
          <p:cNvSpPr txBox="1"/>
          <p:nvPr/>
        </p:nvSpPr>
        <p:spPr>
          <a:xfrm>
            <a:off x="45719" y="10199251"/>
            <a:ext cx="68122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noProof="0" dirty="0"/>
              <a:t>In the UK, tickets are available for purchase in lottery retail points </a:t>
            </a:r>
            <a:br>
              <a:rPr lang="en-US" i="1" noProof="0" dirty="0"/>
            </a:br>
            <a:r>
              <a:rPr lang="en-US" i="1" noProof="0" dirty="0"/>
              <a:t>of sale, online, and on an app. </a:t>
            </a:r>
            <a:endParaRPr lang="en-US" i="1" noProof="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68578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E2EB7F-603F-AA1A-141F-E0A3E41C0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7CA788-BEE6-AF28-CB3A-877D4596AE92}"/>
              </a:ext>
            </a:extLst>
          </p:cNvPr>
          <p:cNvSpPr>
            <a:spLocks noGrp="1" noChangeAspect="1"/>
          </p:cNvSpPr>
          <p:nvPr>
            <p:ph type="body" sz="quarter" idx="10"/>
          </p:nvPr>
        </p:nvSpPr>
        <p:spPr>
          <a:xfrm>
            <a:off x="91437" y="1"/>
            <a:ext cx="6720843" cy="7440764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</a:pPr>
            <a:r>
              <a:rPr lang="en-US" sz="2400" b="1" dirty="0"/>
              <a:t>Thunderball inspired - A new lottery game</a:t>
            </a:r>
          </a:p>
          <a:p>
            <a:r>
              <a:rPr lang="en-US" sz="2200" noProof="0" dirty="0"/>
              <a:t>This is an international lottery game where players can win up to £1 Million every day if they correctly match </a:t>
            </a:r>
            <a:br>
              <a:rPr lang="en-US" sz="2200" noProof="0" dirty="0"/>
            </a:br>
            <a:r>
              <a:rPr lang="en-US" sz="2200" noProof="0" dirty="0"/>
              <a:t>5 numbers between 1-39 and one number from 1-14. </a:t>
            </a:r>
          </a:p>
          <a:p>
            <a:r>
              <a:rPr lang="en-US" sz="2200" noProof="0" dirty="0"/>
              <a:t>And that’s not the only way how to win big.  </a:t>
            </a:r>
            <a:br>
              <a:rPr lang="en-US" sz="2200" noProof="0" dirty="0"/>
            </a:br>
            <a:r>
              <a:rPr lang="en-US" sz="2200" noProof="0" dirty="0"/>
              <a:t>This new lottery also includes a special prize bonus: the Millionaire Drop. A portion of the prize pool for each draw is set aside in the “Millionaire’s Fund”.  </a:t>
            </a:r>
            <a:br>
              <a:rPr lang="en-US" sz="2200" noProof="0" dirty="0"/>
            </a:br>
            <a:r>
              <a:rPr lang="en-US" sz="2200" noProof="0" dirty="0"/>
              <a:t>The prize money from this fund will be distributed to lucky winners when all 5 drawn numbers are even, or all 5 are odd. This should theoretically occur once every </a:t>
            </a:r>
            <a:br>
              <a:rPr lang="en-US" sz="2200" noProof="0" dirty="0"/>
            </a:br>
            <a:r>
              <a:rPr lang="en-US" sz="2200" noProof="0" dirty="0"/>
              <a:t>8 weeks. If, for example, the “Millionaire’s Fund” includes £10.5 Million on when this happens, 10 lucky players will be chosen based on the serial number of their ticket. Each of these 10 players win 1 million GBP. </a:t>
            </a:r>
          </a:p>
          <a:p>
            <a:r>
              <a:rPr lang="en-US" sz="2200" noProof="0" dirty="0"/>
              <a:t>The price of one line is £1.50.</a:t>
            </a:r>
          </a:p>
          <a:p>
            <a:r>
              <a:rPr lang="en-US" sz="2200" noProof="0" dirty="0"/>
              <a:t>Players can subscribe to this lottery game for one week, one month or longer. This way, they will  never miss a draw where the “Millionaire Drop” occurs. </a:t>
            </a:r>
            <a:br>
              <a:rPr lang="en-US" sz="2200" noProof="0" dirty="0"/>
            </a:br>
            <a:r>
              <a:rPr lang="en-US" sz="2200" noProof="0" dirty="0"/>
              <a:t>Players can also purchase a share of a pre-paid ticket, such as one-tenth of a monthly ticket for £4.50 and so on.</a:t>
            </a:r>
          </a:p>
          <a:p>
            <a:r>
              <a:rPr lang="en-US" sz="2200" noProof="0" dirty="0"/>
              <a:t>The draw takes place every evening in Austria. </a:t>
            </a:r>
          </a:p>
          <a:p>
            <a:endParaRPr lang="en-US" sz="2200" noProof="0" dirty="0"/>
          </a:p>
          <a:p>
            <a:endParaRPr lang="en-US" sz="2200" i="1" noProof="0" dirty="0"/>
          </a:p>
          <a:p>
            <a:endParaRPr lang="en-US" sz="2200" i="1" noProof="0" dirty="0"/>
          </a:p>
          <a:p>
            <a:endParaRPr lang="en-US" sz="2200" i="1" noProof="0" dirty="0"/>
          </a:p>
          <a:p>
            <a:endParaRPr lang="en-US" sz="2200" i="1" noProof="0" dirty="0"/>
          </a:p>
          <a:p>
            <a:endParaRPr lang="en-US" sz="2200" i="1" noProof="0" dirty="0"/>
          </a:p>
          <a:p>
            <a:endParaRPr lang="en-US" sz="1800" i="1" noProof="0" dirty="0"/>
          </a:p>
          <a:p>
            <a:endParaRPr lang="en-US" sz="1800" i="1" noProof="0" dirty="0"/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</a:pPr>
            <a:endParaRPr lang="en-US" sz="2400" noProof="0" dirty="0"/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</a:pPr>
            <a:endParaRPr lang="en-US" sz="2400" noProof="0" dirty="0"/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</a:pPr>
            <a:endParaRPr lang="en-US" sz="2400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8FB7D47-2C35-85AD-D569-03507707F41C}"/>
              </a:ext>
            </a:extLst>
          </p:cNvPr>
          <p:cNvSpPr/>
          <p:nvPr/>
        </p:nvSpPr>
        <p:spPr>
          <a:xfrm>
            <a:off x="0" y="0"/>
            <a:ext cx="45719" cy="10799763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4C45FFF-9E17-46C6-C750-413037AD7C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2258305"/>
              </p:ext>
            </p:extLst>
          </p:nvPr>
        </p:nvGraphicFramePr>
        <p:xfrm>
          <a:off x="147583" y="7470728"/>
          <a:ext cx="6608550" cy="269856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3179949">
                  <a:extLst>
                    <a:ext uri="{9D8B030D-6E8A-4147-A177-3AD203B41FA5}">
                      <a16:colId xmlns:a16="http://schemas.microsoft.com/office/drawing/2014/main" val="2285407711"/>
                    </a:ext>
                  </a:extLst>
                </a:gridCol>
                <a:gridCol w="3428601">
                  <a:extLst>
                    <a:ext uri="{9D8B030D-6E8A-4147-A177-3AD203B41FA5}">
                      <a16:colId xmlns:a16="http://schemas.microsoft.com/office/drawing/2014/main" val="1271847178"/>
                    </a:ext>
                  </a:extLst>
                </a:gridCol>
              </a:tblGrid>
              <a:tr h="298846">
                <a:tc>
                  <a:txBody>
                    <a:bodyPr/>
                    <a:lstStyle/>
                    <a:p>
                      <a:r>
                        <a:rPr lang="en-US" sz="1800" b="0" noProof="0" dirty="0"/>
                        <a:t>Price per line</a:t>
                      </a:r>
                      <a:endParaRPr lang="en-US" sz="1800" b="0" i="0" u="none" strike="noStrike" noProof="0" dirty="0">
                        <a:solidFill>
                          <a:srgbClr val="333333"/>
                        </a:solidFill>
                        <a:latin typeface="+mn-lt"/>
                      </a:endParaRPr>
                    </a:p>
                  </a:txBody>
                  <a:tcPr marL="45720" marR="45720" marT="36000" marB="36000"/>
                </a:tc>
                <a:tc>
                  <a:txBody>
                    <a:bodyPr/>
                    <a:lstStyle/>
                    <a:p>
                      <a:r>
                        <a:rPr lang="en-US" sz="1800" b="0" noProof="0" dirty="0"/>
                        <a:t>£1.50</a:t>
                      </a:r>
                      <a:endParaRPr lang="en-US" sz="1800" b="0" i="0" u="none" strike="noStrike" noProof="0" dirty="0">
                        <a:solidFill>
                          <a:srgbClr val="333333"/>
                        </a:solidFill>
                        <a:latin typeface="+mn-lt"/>
                      </a:endParaRPr>
                    </a:p>
                  </a:txBody>
                  <a:tcPr marL="45720" marR="45720" marT="36000" marB="36000"/>
                </a:tc>
                <a:extLst>
                  <a:ext uri="{0D108BD9-81ED-4DB2-BD59-A6C34878D82A}">
                    <a16:rowId xmlns:a16="http://schemas.microsoft.com/office/drawing/2014/main" val="3452552409"/>
                  </a:ext>
                </a:extLst>
              </a:tr>
              <a:tr h="298846">
                <a:tc>
                  <a:txBody>
                    <a:bodyPr/>
                    <a:lstStyle/>
                    <a:p>
                      <a:r>
                        <a:rPr lang="en-US" sz="1800" b="0" noProof="0" dirty="0">
                          <a:solidFill>
                            <a:schemeClr val="tx1"/>
                          </a:solidFill>
                        </a:rPr>
                        <a:t>Main prize – every day</a:t>
                      </a:r>
                      <a:endParaRPr lang="en-US" sz="1800" b="0" noProof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45720" marR="45720" marT="36000" marB="36000"/>
                </a:tc>
                <a:tc>
                  <a:txBody>
                    <a:bodyPr/>
                    <a:lstStyle/>
                    <a:p>
                      <a:pPr marL="273050" marR="0" lvl="0" indent="-2730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noProof="0" dirty="0">
                          <a:solidFill>
                            <a:schemeClr val="tx1"/>
                          </a:solidFill>
                        </a:rPr>
                        <a:t>£1 Million</a:t>
                      </a:r>
                      <a:endParaRPr lang="en-US" sz="1800" b="0" noProof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45720" marR="45720" marT="36000" marB="36000"/>
                </a:tc>
                <a:extLst>
                  <a:ext uri="{0D108BD9-81ED-4DB2-BD59-A6C34878D82A}">
                    <a16:rowId xmlns:a16="http://schemas.microsoft.com/office/drawing/2014/main" val="729213333"/>
                  </a:ext>
                </a:extLst>
              </a:tr>
              <a:tr h="535561">
                <a:tc>
                  <a:txBody>
                    <a:bodyPr/>
                    <a:lstStyle/>
                    <a:p>
                      <a:r>
                        <a:rPr lang="en-US" sz="1800" b="0" noProof="0" dirty="0">
                          <a:solidFill>
                            <a:schemeClr val="tx1"/>
                          </a:solidFill>
                        </a:rPr>
                        <a:t>Win for the Drop</a:t>
                      </a:r>
                      <a:endParaRPr lang="en-US" sz="1800" b="0" noProof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45720" marR="45720" marT="36000" marB="36000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u="none" strike="noStrike" baseline="0" noProof="0" dirty="0">
                          <a:solidFill>
                            <a:schemeClr val="tx1"/>
                          </a:solidFill>
                        </a:rPr>
                        <a:t>£1 Million</a:t>
                      </a:r>
                      <a:r>
                        <a:rPr lang="en-US" sz="1800" b="0" noProof="0" dirty="0">
                          <a:solidFill>
                            <a:schemeClr val="tx1"/>
                          </a:solidFill>
                        </a:rPr>
                        <a:t> for 10 winners (theoretically) </a:t>
                      </a:r>
                      <a:endParaRPr lang="en-US" sz="1800" b="0" noProof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45720" marR="45720" marT="36000" marB="36000"/>
                </a:tc>
                <a:extLst>
                  <a:ext uri="{0D108BD9-81ED-4DB2-BD59-A6C34878D82A}">
                    <a16:rowId xmlns:a16="http://schemas.microsoft.com/office/drawing/2014/main" val="1234508754"/>
                  </a:ext>
                </a:extLst>
              </a:tr>
              <a:tr h="298846"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800" b="0" noProof="0" dirty="0">
                          <a:solidFill>
                            <a:schemeClr val="tx1"/>
                          </a:solidFill>
                        </a:rPr>
                        <a:t>Minimum win</a:t>
                      </a:r>
                      <a:endParaRPr lang="en-US" sz="1800" b="0" noProof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45720" marR="45720" marT="36000" marB="36000"/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800" b="0" noProof="0" dirty="0">
                          <a:solidFill>
                            <a:schemeClr val="tx1"/>
                          </a:solidFill>
                        </a:rPr>
                        <a:t>£3</a:t>
                      </a:r>
                      <a:r>
                        <a:rPr lang="cs-CZ" sz="1800" b="0" noProof="0" dirty="0">
                          <a:solidFill>
                            <a:schemeClr val="tx1"/>
                          </a:solidFill>
                        </a:rPr>
                        <a:t>.00</a:t>
                      </a:r>
                      <a:endParaRPr lang="en-US" sz="1800" b="0" noProof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45720" marR="45720" marT="36000" marB="36000"/>
                </a:tc>
                <a:extLst>
                  <a:ext uri="{0D108BD9-81ED-4DB2-BD59-A6C34878D82A}">
                    <a16:rowId xmlns:a16="http://schemas.microsoft.com/office/drawing/2014/main" val="3752542039"/>
                  </a:ext>
                </a:extLst>
              </a:tr>
              <a:tr h="298846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noProof="0" dirty="0">
                          <a:solidFill>
                            <a:schemeClr val="tx1"/>
                          </a:solidFill>
                        </a:rPr>
                        <a:t>Winning frequency of main prize</a:t>
                      </a:r>
                      <a:endParaRPr lang="en-US" sz="1800" b="0" noProof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45720" marR="45720" marT="36000" marB="36000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noProof="0" dirty="0">
                          <a:solidFill>
                            <a:schemeClr val="tx1"/>
                          </a:solidFill>
                        </a:rPr>
                        <a:t>Every 2 weeks (theoretically)</a:t>
                      </a:r>
                      <a:endParaRPr lang="en-US" sz="1800" b="0" noProof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45720" marR="45720" marT="36000" marB="36000"/>
                </a:tc>
                <a:extLst>
                  <a:ext uri="{0D108BD9-81ED-4DB2-BD59-A6C34878D82A}">
                    <a16:rowId xmlns:a16="http://schemas.microsoft.com/office/drawing/2014/main" val="540976133"/>
                  </a:ext>
                </a:extLst>
              </a:tr>
              <a:tr h="298846">
                <a:tc>
                  <a:txBody>
                    <a:bodyPr/>
                    <a:lstStyle/>
                    <a:p>
                      <a:r>
                        <a:rPr lang="en-US" sz="1800" b="0" noProof="0" dirty="0">
                          <a:solidFill>
                            <a:schemeClr val="tx1"/>
                          </a:solidFill>
                        </a:rPr>
                        <a:t>Frequency of Drop</a:t>
                      </a:r>
                      <a:endParaRPr lang="en-US" sz="1800" b="0" noProof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45720" marR="45720" marT="36000" marB="36000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noProof="0" dirty="0">
                          <a:solidFill>
                            <a:schemeClr val="tx1"/>
                          </a:solidFill>
                        </a:rPr>
                        <a:t>Every 8 weeks (theoretically)</a:t>
                      </a:r>
                      <a:endParaRPr lang="en-US" sz="1800" b="0" noProof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45720" marR="45720" marT="36000" marB="36000"/>
                </a:tc>
                <a:extLst>
                  <a:ext uri="{0D108BD9-81ED-4DB2-BD59-A6C34878D82A}">
                    <a16:rowId xmlns:a16="http://schemas.microsoft.com/office/drawing/2014/main" val="2109885055"/>
                  </a:ext>
                </a:extLst>
              </a:tr>
              <a:tr h="298846">
                <a:tc>
                  <a:txBody>
                    <a:bodyPr/>
                    <a:lstStyle/>
                    <a:p>
                      <a:r>
                        <a:rPr lang="en-US" sz="1800" b="0" noProof="0" dirty="0">
                          <a:solidFill>
                            <a:schemeClr val="tx1"/>
                          </a:solidFill>
                        </a:rPr>
                        <a:t>Overall probability of winning</a:t>
                      </a:r>
                      <a:endParaRPr lang="en-US" sz="1800" b="0" noProof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45720" marR="45720" marT="36000" marB="36000"/>
                </a:tc>
                <a:tc>
                  <a:txBody>
                    <a:bodyPr/>
                    <a:lstStyle/>
                    <a:p>
                      <a:r>
                        <a:rPr lang="en-US" sz="1800" b="0" noProof="0" dirty="0">
                          <a:solidFill>
                            <a:schemeClr val="tx1"/>
                          </a:solidFill>
                        </a:rPr>
                        <a:t> 1:6</a:t>
                      </a:r>
                      <a:endParaRPr lang="en-US" sz="1800" b="0" noProof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45720" marR="45720" marT="36000" marB="36000"/>
                </a:tc>
                <a:extLst>
                  <a:ext uri="{0D108BD9-81ED-4DB2-BD59-A6C34878D82A}">
                    <a16:rowId xmlns:a16="http://schemas.microsoft.com/office/drawing/2014/main" val="2861532557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37EB3688-F623-AAAE-C5F5-703DCF007439}"/>
              </a:ext>
            </a:extLst>
          </p:cNvPr>
          <p:cNvSpPr txBox="1"/>
          <p:nvPr/>
        </p:nvSpPr>
        <p:spPr>
          <a:xfrm>
            <a:off x="45719" y="10199251"/>
            <a:ext cx="68122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noProof="0" dirty="0"/>
              <a:t>In the UK, tickets are available for purchase in lottery retail points </a:t>
            </a:r>
            <a:br>
              <a:rPr lang="en-US" i="1" noProof="0" dirty="0"/>
            </a:br>
            <a:r>
              <a:rPr lang="en-US" i="1" noProof="0" dirty="0"/>
              <a:t>of sale, online, and on an app. </a:t>
            </a:r>
            <a:endParaRPr lang="en-US" i="1" noProof="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685543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1AE80F-A21E-D97A-D73A-AD9E2CBD63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E9A169-A4DA-578D-83E0-6664D7E9AD1F}"/>
              </a:ext>
            </a:extLst>
          </p:cNvPr>
          <p:cNvSpPr>
            <a:spLocks noGrp="1" noChangeAspect="1"/>
          </p:cNvSpPr>
          <p:nvPr>
            <p:ph type="body" sz="quarter" idx="10"/>
          </p:nvPr>
        </p:nvSpPr>
        <p:spPr>
          <a:xfrm>
            <a:off x="91437" y="1"/>
            <a:ext cx="6720843" cy="7046214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</a:pPr>
            <a:r>
              <a:rPr lang="en-US" sz="3200" b="1" noProof="0" dirty="0"/>
              <a:t>Thunderball</a:t>
            </a:r>
          </a:p>
          <a:p>
            <a:r>
              <a:rPr lang="en-US" sz="2400" noProof="0" dirty="0"/>
              <a:t>Thunderball is a UK-based lottery game where players can win up to £500,000 four times per week if they correctly match 5 numbers between 1-39 and one number from 1-14. Winners of this game don't have to share their winnings with anyone else.</a:t>
            </a:r>
          </a:p>
          <a:p>
            <a:r>
              <a:rPr lang="en-US" sz="2400" dirty="0"/>
              <a:t>For one play slip, players can choose a maximum of 7 lines of numbers. They can also buy a maximum of 10 lottery tickets per draw. Players can also purchase multi-draw tickets for several consecutive weeks</a:t>
            </a:r>
            <a:r>
              <a:rPr lang="en-US" sz="2400" noProof="0" dirty="0"/>
              <a:t>.</a:t>
            </a:r>
            <a:endParaRPr lang="en-US" sz="2400" noProof="0" dirty="0">
              <a:ea typeface="Calibri"/>
              <a:cs typeface="Calibri"/>
            </a:endParaRPr>
          </a:p>
          <a:p>
            <a:r>
              <a:rPr lang="en-US" sz="2400" noProof="0" dirty="0"/>
              <a:t>The price of one line is £1.00.</a:t>
            </a:r>
            <a:endParaRPr lang="en-US" sz="2400" noProof="0" dirty="0">
              <a:ea typeface="Calibri"/>
              <a:cs typeface="Calibri"/>
            </a:endParaRPr>
          </a:p>
          <a:p>
            <a:r>
              <a:rPr lang="en-US" sz="2400" dirty="0"/>
              <a:t>Players can choose their draw dates. The draw takes place every Tuesday, Wednesday, Friday, and Saturday.</a:t>
            </a:r>
            <a:r>
              <a:rPr lang="en-US" sz="2400" noProof="0" dirty="0"/>
              <a:t> </a:t>
            </a:r>
            <a:endParaRPr lang="en-US" sz="2200" i="1" noProof="0" dirty="0"/>
          </a:p>
          <a:p>
            <a:endParaRPr lang="en-US" sz="2200" i="1" noProof="0" dirty="0"/>
          </a:p>
          <a:p>
            <a:endParaRPr lang="en-US" sz="2200" i="1" noProof="0" dirty="0"/>
          </a:p>
          <a:p>
            <a:endParaRPr lang="en-US" sz="2200" i="1" noProof="0" dirty="0"/>
          </a:p>
          <a:p>
            <a:endParaRPr lang="en-US" sz="2200" i="1" noProof="0" dirty="0"/>
          </a:p>
          <a:p>
            <a:endParaRPr lang="en-US" sz="1800" i="1" noProof="0" dirty="0"/>
          </a:p>
          <a:p>
            <a:endParaRPr lang="en-US" sz="1800" i="1" noProof="0" dirty="0"/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</a:pPr>
            <a:endParaRPr lang="en-US" sz="2400" noProof="0" dirty="0"/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</a:pPr>
            <a:endParaRPr lang="en-US" sz="2400" noProof="0" dirty="0"/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</a:pPr>
            <a:endParaRPr lang="en-US" sz="2400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B70F4F3-53A7-F787-C702-35FBAC4BA7E7}"/>
              </a:ext>
            </a:extLst>
          </p:cNvPr>
          <p:cNvSpPr/>
          <p:nvPr/>
        </p:nvSpPr>
        <p:spPr>
          <a:xfrm>
            <a:off x="0" y="0"/>
            <a:ext cx="45719" cy="107997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BC610C8-E711-CFC8-B27B-A7C4B90C82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8790162"/>
              </p:ext>
            </p:extLst>
          </p:nvPr>
        </p:nvGraphicFramePr>
        <p:xfrm>
          <a:off x="124725" y="6224575"/>
          <a:ext cx="6608550" cy="173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79949">
                  <a:extLst>
                    <a:ext uri="{9D8B030D-6E8A-4147-A177-3AD203B41FA5}">
                      <a16:colId xmlns:a16="http://schemas.microsoft.com/office/drawing/2014/main" val="2285407711"/>
                    </a:ext>
                  </a:extLst>
                </a:gridCol>
                <a:gridCol w="3428601">
                  <a:extLst>
                    <a:ext uri="{9D8B030D-6E8A-4147-A177-3AD203B41FA5}">
                      <a16:colId xmlns:a16="http://schemas.microsoft.com/office/drawing/2014/main" val="1271847178"/>
                    </a:ext>
                  </a:extLst>
                </a:gridCol>
              </a:tblGrid>
              <a:tr h="298846">
                <a:tc>
                  <a:txBody>
                    <a:bodyPr/>
                    <a:lstStyle/>
                    <a:p>
                      <a:r>
                        <a:rPr lang="en-US" sz="1800" b="0" noProof="0" dirty="0">
                          <a:latin typeface="+mn-lt"/>
                        </a:rPr>
                        <a:t>Price per line</a:t>
                      </a:r>
                      <a:endParaRPr lang="en-US" sz="1800" b="0" i="0" u="none" strike="noStrike" noProof="0" dirty="0">
                        <a:solidFill>
                          <a:srgbClr val="333333"/>
                        </a:solidFill>
                        <a:latin typeface="+mn-lt"/>
                      </a:endParaRPr>
                    </a:p>
                  </a:txBody>
                  <a:tcPr marL="45720" marR="45720" marT="36000" marB="36000"/>
                </a:tc>
                <a:tc>
                  <a:txBody>
                    <a:bodyPr/>
                    <a:lstStyle/>
                    <a:p>
                      <a:r>
                        <a:rPr lang="en-US" sz="1800" b="0" noProof="0" dirty="0">
                          <a:latin typeface="+mn-lt"/>
                        </a:rPr>
                        <a:t>£1.00</a:t>
                      </a:r>
                      <a:endParaRPr lang="en-US" sz="1800" b="0" i="0" u="none" strike="noStrike" noProof="0" dirty="0">
                        <a:solidFill>
                          <a:srgbClr val="333333"/>
                        </a:solidFill>
                        <a:latin typeface="+mn-lt"/>
                      </a:endParaRPr>
                    </a:p>
                  </a:txBody>
                  <a:tcPr marL="45720" marR="45720" marT="36000" marB="36000"/>
                </a:tc>
                <a:extLst>
                  <a:ext uri="{0D108BD9-81ED-4DB2-BD59-A6C34878D82A}">
                    <a16:rowId xmlns:a16="http://schemas.microsoft.com/office/drawing/2014/main" val="3452552409"/>
                  </a:ext>
                </a:extLst>
              </a:tr>
              <a:tr h="298846">
                <a:tc>
                  <a:txBody>
                    <a:bodyPr/>
                    <a:lstStyle/>
                    <a:p>
                      <a:r>
                        <a:rPr lang="en-US" sz="1800" b="0" noProof="0" dirty="0">
                          <a:solidFill>
                            <a:schemeClr val="tx1"/>
                          </a:solidFill>
                          <a:latin typeface="+mn-lt"/>
                        </a:rPr>
                        <a:t>Main prize</a:t>
                      </a:r>
                    </a:p>
                  </a:txBody>
                  <a:tcPr marL="45720" marR="45720" marT="36000" marB="36000"/>
                </a:tc>
                <a:tc>
                  <a:txBody>
                    <a:bodyPr/>
                    <a:lstStyle/>
                    <a:p>
                      <a:pPr marL="273050" marR="0" lvl="0" indent="-2730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noProof="0" dirty="0">
                          <a:solidFill>
                            <a:schemeClr val="tx1"/>
                          </a:solidFill>
                        </a:rPr>
                        <a:t>£500,000</a:t>
                      </a:r>
                      <a:endParaRPr lang="en-US" sz="1800" b="0" noProof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45720" marR="45720" marT="36000" marB="36000"/>
                </a:tc>
                <a:extLst>
                  <a:ext uri="{0D108BD9-81ED-4DB2-BD59-A6C34878D82A}">
                    <a16:rowId xmlns:a16="http://schemas.microsoft.com/office/drawing/2014/main" val="729213333"/>
                  </a:ext>
                </a:extLst>
              </a:tr>
              <a:tr h="298846"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800" b="0" noProof="0" dirty="0">
                          <a:solidFill>
                            <a:schemeClr val="tx1"/>
                          </a:solidFill>
                          <a:latin typeface="+mn-lt"/>
                        </a:rPr>
                        <a:t>Minimum win</a:t>
                      </a:r>
                    </a:p>
                  </a:txBody>
                  <a:tcPr marL="45720" marR="45720" marT="36000" marB="36000"/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800" b="0" noProof="0" dirty="0">
                          <a:solidFill>
                            <a:schemeClr val="tx1"/>
                          </a:solidFill>
                          <a:latin typeface="+mn-lt"/>
                        </a:rPr>
                        <a:t>£3.00</a:t>
                      </a:r>
                    </a:p>
                  </a:txBody>
                  <a:tcPr marL="45720" marR="45720" marT="36000" marB="36000"/>
                </a:tc>
                <a:extLst>
                  <a:ext uri="{0D108BD9-81ED-4DB2-BD59-A6C34878D82A}">
                    <a16:rowId xmlns:a16="http://schemas.microsoft.com/office/drawing/2014/main" val="3752542039"/>
                  </a:ext>
                </a:extLst>
              </a:tr>
              <a:tr h="298846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noProof="0" dirty="0">
                          <a:solidFill>
                            <a:schemeClr val="tx1"/>
                          </a:solidFill>
                          <a:latin typeface="+mn-lt"/>
                        </a:rPr>
                        <a:t>Winning frequency of main prize</a:t>
                      </a:r>
                    </a:p>
                  </a:txBody>
                  <a:tcPr marL="45720" marR="45720" marT="36000" marB="36000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noProof="0" dirty="0">
                          <a:solidFill>
                            <a:schemeClr val="tx1"/>
                          </a:solidFill>
                          <a:latin typeface="+mn-lt"/>
                        </a:rPr>
                        <a:t>Every 2 weeks (theoretically)</a:t>
                      </a:r>
                    </a:p>
                  </a:txBody>
                  <a:tcPr marL="45720" marR="45720" marT="36000" marB="36000"/>
                </a:tc>
                <a:extLst>
                  <a:ext uri="{0D108BD9-81ED-4DB2-BD59-A6C34878D82A}">
                    <a16:rowId xmlns:a16="http://schemas.microsoft.com/office/drawing/2014/main" val="540976133"/>
                  </a:ext>
                </a:extLst>
              </a:tr>
              <a:tr h="298846">
                <a:tc>
                  <a:txBody>
                    <a:bodyPr/>
                    <a:lstStyle/>
                    <a:p>
                      <a:r>
                        <a:rPr lang="en-US" sz="1800" b="0" noProof="0" dirty="0">
                          <a:solidFill>
                            <a:schemeClr val="tx1"/>
                          </a:solidFill>
                          <a:latin typeface="+mn-lt"/>
                        </a:rPr>
                        <a:t>Overall probability of winning</a:t>
                      </a:r>
                    </a:p>
                  </a:txBody>
                  <a:tcPr marL="45720" marR="45720" marT="36000" marB="36000"/>
                </a:tc>
                <a:tc>
                  <a:txBody>
                    <a:bodyPr/>
                    <a:lstStyle/>
                    <a:p>
                      <a:r>
                        <a:rPr lang="en-US" sz="1800" b="0" noProof="0" dirty="0">
                          <a:solidFill>
                            <a:schemeClr val="tx1"/>
                          </a:solidFill>
                          <a:latin typeface="+mn-lt"/>
                        </a:rPr>
                        <a:t> 1:</a:t>
                      </a:r>
                      <a:r>
                        <a:rPr lang="cs-CZ" sz="1800" b="0" noProof="0" dirty="0">
                          <a:solidFill>
                            <a:schemeClr val="tx1"/>
                          </a:solidFill>
                          <a:latin typeface="+mn-lt"/>
                        </a:rPr>
                        <a:t>13</a:t>
                      </a:r>
                      <a:endParaRPr lang="en-US" sz="1800" b="0" noProof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45720" marR="45720" marT="36000" marB="36000"/>
                </a:tc>
                <a:extLst>
                  <a:ext uri="{0D108BD9-81ED-4DB2-BD59-A6C34878D82A}">
                    <a16:rowId xmlns:a16="http://schemas.microsoft.com/office/drawing/2014/main" val="2861532557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FF474F1D-AAB2-A896-6FA7-ABC15F85228C}"/>
              </a:ext>
            </a:extLst>
          </p:cNvPr>
          <p:cNvSpPr txBox="1"/>
          <p:nvPr/>
        </p:nvSpPr>
        <p:spPr>
          <a:xfrm>
            <a:off x="45719" y="10199251"/>
            <a:ext cx="68122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/>
              <a:t>Tickets are available for purchase in all usual lottery points of sale, online, and on the app.</a:t>
            </a:r>
            <a:endParaRPr lang="en-US" i="1" noProof="0" dirty="0">
              <a:ea typeface="Calibri"/>
              <a:cs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8EEB5E9-F944-0E1A-3ACB-EF334C802E9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81603" y="53237"/>
            <a:ext cx="1565170" cy="613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88634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6B476A-F90E-C6AA-ED0D-974D7D602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EC0487-D08B-3915-1FD1-342AFAEB0DB2}"/>
              </a:ext>
            </a:extLst>
          </p:cNvPr>
          <p:cNvSpPr>
            <a:spLocks noGrp="1" noChangeAspect="1"/>
          </p:cNvSpPr>
          <p:nvPr>
            <p:ph type="body" sz="quarter" idx="10"/>
          </p:nvPr>
        </p:nvSpPr>
        <p:spPr>
          <a:xfrm>
            <a:off x="91437" y="-32084"/>
            <a:ext cx="6766563" cy="762451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</a:pPr>
            <a:r>
              <a:rPr lang="en-US" sz="2800" b="1" noProof="0" dirty="0"/>
              <a:t>A new version of the Thunderball</a:t>
            </a:r>
          </a:p>
          <a:p>
            <a:pPr>
              <a:spcBef>
                <a:spcPts val="300"/>
              </a:spcBef>
            </a:pPr>
            <a:r>
              <a:rPr lang="en-US" sz="2100" noProof="0" dirty="0"/>
              <a:t>Thunderball is a UK-based lottery game where players must correctly guess 5 numbers between 1-39 and one number from 1-14. In this alternative version, thanks to a shared prize pool with several European countries, players can win </a:t>
            </a:r>
            <a:br>
              <a:rPr lang="cs-CZ" sz="2100" noProof="0" dirty="0"/>
            </a:br>
            <a:r>
              <a:rPr lang="en-US" sz="2100" noProof="0" dirty="0"/>
              <a:t>£1</a:t>
            </a:r>
            <a:r>
              <a:rPr lang="cs-CZ" sz="2100" noProof="0" dirty="0"/>
              <a:t> </a:t>
            </a:r>
            <a:r>
              <a:rPr lang="en-US" sz="2100" noProof="0" dirty="0"/>
              <a:t>Million every day. Winners of this game don't have to share their winnings with anyone else. </a:t>
            </a:r>
          </a:p>
          <a:p>
            <a:pPr>
              <a:spcBef>
                <a:spcPts val="300"/>
              </a:spcBef>
            </a:pPr>
            <a:r>
              <a:rPr lang="en-US" sz="2100" noProof="0" dirty="0"/>
              <a:t>And that’s not the only way to win big. This game also includes a special prize bonus: the Millionaire Drop. A portion of the prize pool for each draw is set aside in the “Millionaire’s Fund”.  The prize money from this fund will be distributed to lucky winners when all 5 drawn numbers are even, or all 5 are odd. </a:t>
            </a:r>
            <a:br>
              <a:rPr lang="cs-CZ" sz="2100" noProof="0" dirty="0"/>
            </a:br>
            <a:r>
              <a:rPr lang="en-US" sz="2100" noProof="0" dirty="0"/>
              <a:t>This should theoretically occur once every 8 weeks. </a:t>
            </a:r>
            <a:br>
              <a:rPr lang="cs-CZ" sz="2100" noProof="0" dirty="0"/>
            </a:br>
            <a:r>
              <a:rPr lang="en-US" sz="2100" noProof="0" dirty="0"/>
              <a:t>If, for example, the “Millionaire’s Fund” includes £10.5 Million when this happens, 10 lucky players will be chosen based on the serial number of their ticket. Each of these 10 players win £1 Million. </a:t>
            </a:r>
            <a:endParaRPr lang="en-US" sz="2100" noProof="0" dirty="0">
              <a:ea typeface="Calibri"/>
              <a:cs typeface="Calibri"/>
            </a:endParaRPr>
          </a:p>
          <a:p>
            <a:pPr>
              <a:spcBef>
                <a:spcPts val="300"/>
              </a:spcBef>
            </a:pPr>
            <a:r>
              <a:rPr lang="en-US" sz="2100" noProof="0" dirty="0"/>
              <a:t>The price of one line is £1.50.</a:t>
            </a:r>
            <a:endParaRPr lang="cs-CZ" sz="2100" noProof="0" dirty="0"/>
          </a:p>
          <a:p>
            <a:pPr>
              <a:spcBef>
                <a:spcPts val="300"/>
              </a:spcBef>
            </a:pPr>
            <a:r>
              <a:rPr lang="en-US" sz="2100" noProof="0" dirty="0">
                <a:ea typeface="Calibri"/>
                <a:cs typeface="Calibri"/>
              </a:rPr>
              <a:t>Players can subscribe to this lottery game for one week, one month or longer. This way, they will never miss a draw where the “Millionaire Drop” occurs. </a:t>
            </a:r>
            <a:br>
              <a:rPr lang="cs-CZ" sz="2100" noProof="0" dirty="0">
                <a:ea typeface="Calibri"/>
                <a:cs typeface="Calibri"/>
              </a:rPr>
            </a:br>
            <a:r>
              <a:rPr lang="en-US" sz="2100" noProof="0" dirty="0">
                <a:ea typeface="Calibri"/>
                <a:cs typeface="Calibri"/>
              </a:rPr>
              <a:t>Players can also purchase a share of a pre-paid ticket, such as one-tenth of a monthly ticket for £4.50 and so on.</a:t>
            </a:r>
          </a:p>
          <a:p>
            <a:pPr>
              <a:spcBef>
                <a:spcPts val="300"/>
              </a:spcBef>
            </a:pPr>
            <a:r>
              <a:rPr lang="en-US" sz="2100" noProof="0" dirty="0"/>
              <a:t>The draw takes place every evening in the UK.</a:t>
            </a:r>
            <a:endParaRPr lang="en-US" sz="2100" i="1" noProof="0" dirty="0"/>
          </a:p>
          <a:p>
            <a:pPr>
              <a:spcBef>
                <a:spcPts val="600"/>
              </a:spcBef>
            </a:pPr>
            <a:endParaRPr lang="en-US" sz="2000" i="1" noProof="0" dirty="0"/>
          </a:p>
          <a:p>
            <a:pPr>
              <a:spcBef>
                <a:spcPts val="600"/>
              </a:spcBef>
            </a:pPr>
            <a:endParaRPr lang="en-US" sz="2000" i="1" noProof="0" dirty="0"/>
          </a:p>
          <a:p>
            <a:endParaRPr lang="en-US" sz="2000" i="1" noProof="0" dirty="0"/>
          </a:p>
          <a:p>
            <a:endParaRPr lang="en-US" sz="2000" i="1" noProof="0" dirty="0"/>
          </a:p>
          <a:p>
            <a:endParaRPr lang="en-US" sz="2000" i="1" noProof="0" dirty="0"/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</a:pPr>
            <a:endParaRPr lang="en-US" sz="2000" noProof="0" dirty="0"/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</a:pPr>
            <a:endParaRPr lang="en-US" sz="2000" noProof="0" dirty="0"/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</a:pPr>
            <a:endParaRPr lang="en-US" sz="2400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FF2BFFC-E442-63E1-98FF-D15062E8CF82}"/>
              </a:ext>
            </a:extLst>
          </p:cNvPr>
          <p:cNvSpPr/>
          <p:nvPr/>
        </p:nvSpPr>
        <p:spPr>
          <a:xfrm>
            <a:off x="0" y="0"/>
            <a:ext cx="45719" cy="107997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28DD365-8C49-F19B-3514-72BDA9C962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0725072"/>
              </p:ext>
            </p:extLst>
          </p:nvPr>
        </p:nvGraphicFramePr>
        <p:xfrm>
          <a:off x="124725" y="7592429"/>
          <a:ext cx="6608550" cy="2698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79949">
                  <a:extLst>
                    <a:ext uri="{9D8B030D-6E8A-4147-A177-3AD203B41FA5}">
                      <a16:colId xmlns:a16="http://schemas.microsoft.com/office/drawing/2014/main" val="2285407711"/>
                    </a:ext>
                  </a:extLst>
                </a:gridCol>
                <a:gridCol w="3428601">
                  <a:extLst>
                    <a:ext uri="{9D8B030D-6E8A-4147-A177-3AD203B41FA5}">
                      <a16:colId xmlns:a16="http://schemas.microsoft.com/office/drawing/2014/main" val="1271847178"/>
                    </a:ext>
                  </a:extLst>
                </a:gridCol>
              </a:tblGrid>
              <a:tr h="298846">
                <a:tc>
                  <a:txBody>
                    <a:bodyPr/>
                    <a:lstStyle/>
                    <a:p>
                      <a:r>
                        <a:rPr lang="en-US" sz="1800" b="0" noProof="0" dirty="0">
                          <a:latin typeface="+mn-lt"/>
                        </a:rPr>
                        <a:t>Price per line</a:t>
                      </a:r>
                      <a:endParaRPr lang="en-US" sz="1800" b="0" i="0" u="none" strike="noStrike" noProof="0" dirty="0">
                        <a:solidFill>
                          <a:srgbClr val="333333"/>
                        </a:solidFill>
                        <a:latin typeface="+mn-lt"/>
                      </a:endParaRPr>
                    </a:p>
                  </a:txBody>
                  <a:tcPr marL="45720" marR="45720" marT="36000" marB="36000"/>
                </a:tc>
                <a:tc>
                  <a:txBody>
                    <a:bodyPr/>
                    <a:lstStyle/>
                    <a:p>
                      <a:r>
                        <a:rPr lang="en-US" sz="1800" b="0" noProof="0" dirty="0">
                          <a:latin typeface="+mn-lt"/>
                        </a:rPr>
                        <a:t>£1.50</a:t>
                      </a:r>
                      <a:endParaRPr lang="en-US" sz="1800" b="0" i="0" u="none" strike="noStrike" noProof="0" dirty="0">
                        <a:solidFill>
                          <a:srgbClr val="333333"/>
                        </a:solidFill>
                        <a:latin typeface="+mn-lt"/>
                      </a:endParaRPr>
                    </a:p>
                  </a:txBody>
                  <a:tcPr marL="45720" marR="45720" marT="36000" marB="36000"/>
                </a:tc>
                <a:extLst>
                  <a:ext uri="{0D108BD9-81ED-4DB2-BD59-A6C34878D82A}">
                    <a16:rowId xmlns:a16="http://schemas.microsoft.com/office/drawing/2014/main" val="3452552409"/>
                  </a:ext>
                </a:extLst>
              </a:tr>
              <a:tr h="298846">
                <a:tc>
                  <a:txBody>
                    <a:bodyPr/>
                    <a:lstStyle/>
                    <a:p>
                      <a:r>
                        <a:rPr lang="en-US" sz="1800" b="0" noProof="0" dirty="0">
                          <a:solidFill>
                            <a:schemeClr val="tx1"/>
                          </a:solidFill>
                          <a:latin typeface="+mn-lt"/>
                        </a:rPr>
                        <a:t>Main prize – every day</a:t>
                      </a:r>
                    </a:p>
                  </a:txBody>
                  <a:tcPr marL="45720" marR="45720" marT="36000" marB="36000"/>
                </a:tc>
                <a:tc>
                  <a:txBody>
                    <a:bodyPr/>
                    <a:lstStyle/>
                    <a:p>
                      <a:r>
                        <a:rPr lang="en-US" sz="1800" b="0" noProof="0" dirty="0">
                          <a:solidFill>
                            <a:schemeClr val="tx1"/>
                          </a:solidFill>
                        </a:rPr>
                        <a:t>£1 Million</a:t>
                      </a:r>
                    </a:p>
                  </a:txBody>
                  <a:tcPr marL="45720" marR="45720" marT="36000" marB="36000"/>
                </a:tc>
                <a:extLst>
                  <a:ext uri="{0D108BD9-81ED-4DB2-BD59-A6C34878D82A}">
                    <a16:rowId xmlns:a16="http://schemas.microsoft.com/office/drawing/2014/main" val="729213333"/>
                  </a:ext>
                </a:extLst>
              </a:tr>
              <a:tr h="298846">
                <a:tc>
                  <a:txBody>
                    <a:bodyPr/>
                    <a:lstStyle/>
                    <a:p>
                      <a:r>
                        <a:rPr lang="en-US" sz="1800" b="0" noProof="0" dirty="0">
                          <a:solidFill>
                            <a:schemeClr val="tx1"/>
                          </a:solidFill>
                          <a:latin typeface="+mn-lt"/>
                        </a:rPr>
                        <a:t>Win for the Drop</a:t>
                      </a:r>
                    </a:p>
                  </a:txBody>
                  <a:tcPr marL="45720" marR="45720" marT="36000" marB="36000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baseline="0" noProof="0" dirty="0">
                          <a:solidFill>
                            <a:schemeClr val="tx1"/>
                          </a:solidFill>
                          <a:latin typeface="+mn-lt"/>
                        </a:rPr>
                        <a:t>£1 Million</a:t>
                      </a:r>
                      <a:r>
                        <a:rPr lang="en-US" sz="1800" b="0" noProof="0" dirty="0">
                          <a:solidFill>
                            <a:schemeClr val="tx1"/>
                          </a:solidFill>
                          <a:latin typeface="+mn-lt"/>
                        </a:rPr>
                        <a:t> for 10 winners (theoretically)</a:t>
                      </a:r>
                    </a:p>
                  </a:txBody>
                  <a:tcPr marL="45720" marR="45720" marT="36000" marB="36000"/>
                </a:tc>
                <a:extLst>
                  <a:ext uri="{0D108BD9-81ED-4DB2-BD59-A6C34878D82A}">
                    <a16:rowId xmlns:a16="http://schemas.microsoft.com/office/drawing/2014/main" val="1461515410"/>
                  </a:ext>
                </a:extLst>
              </a:tr>
              <a:tr h="298846"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800" b="0" noProof="0" dirty="0">
                          <a:solidFill>
                            <a:schemeClr val="tx1"/>
                          </a:solidFill>
                          <a:latin typeface="+mn-lt"/>
                        </a:rPr>
                        <a:t>Minimum win</a:t>
                      </a:r>
                    </a:p>
                  </a:txBody>
                  <a:tcPr marL="45720" marR="45720" marT="36000" marB="36000"/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800" b="0" noProof="0" dirty="0">
                          <a:solidFill>
                            <a:schemeClr val="tx1"/>
                          </a:solidFill>
                          <a:latin typeface="+mn-lt"/>
                        </a:rPr>
                        <a:t>£3.00</a:t>
                      </a:r>
                    </a:p>
                  </a:txBody>
                  <a:tcPr marL="45720" marR="45720" marT="36000" marB="36000"/>
                </a:tc>
                <a:extLst>
                  <a:ext uri="{0D108BD9-81ED-4DB2-BD59-A6C34878D82A}">
                    <a16:rowId xmlns:a16="http://schemas.microsoft.com/office/drawing/2014/main" val="3752542039"/>
                  </a:ext>
                </a:extLst>
              </a:tr>
              <a:tr h="298846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noProof="0" dirty="0">
                          <a:solidFill>
                            <a:schemeClr val="tx1"/>
                          </a:solidFill>
                          <a:latin typeface="+mn-lt"/>
                        </a:rPr>
                        <a:t>Winning frequency of main prize</a:t>
                      </a:r>
                    </a:p>
                  </a:txBody>
                  <a:tcPr marL="45720" marR="45720" marT="36000" marB="36000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noProof="0" dirty="0">
                          <a:solidFill>
                            <a:schemeClr val="tx1"/>
                          </a:solidFill>
                          <a:latin typeface="+mn-lt"/>
                        </a:rPr>
                        <a:t>Every 2 weeks (theoretically)</a:t>
                      </a:r>
                    </a:p>
                  </a:txBody>
                  <a:tcPr marL="45720" marR="45720" marT="36000" marB="36000"/>
                </a:tc>
                <a:extLst>
                  <a:ext uri="{0D108BD9-81ED-4DB2-BD59-A6C34878D82A}">
                    <a16:rowId xmlns:a16="http://schemas.microsoft.com/office/drawing/2014/main" val="540976133"/>
                  </a:ext>
                </a:extLst>
              </a:tr>
              <a:tr h="298846">
                <a:tc>
                  <a:txBody>
                    <a:bodyPr/>
                    <a:lstStyle/>
                    <a:p>
                      <a:r>
                        <a:rPr lang="en-US" sz="1800" b="0" noProof="0" dirty="0">
                          <a:solidFill>
                            <a:schemeClr val="tx1"/>
                          </a:solidFill>
                          <a:latin typeface="+mn-lt"/>
                        </a:rPr>
                        <a:t>Frequency of Drop</a:t>
                      </a:r>
                    </a:p>
                  </a:txBody>
                  <a:tcPr marL="45720" marR="45720" marT="36000" marB="36000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noProof="0" dirty="0">
                          <a:solidFill>
                            <a:schemeClr val="tx1"/>
                          </a:solidFill>
                          <a:latin typeface="+mn-lt"/>
                        </a:rPr>
                        <a:t>Every 8 weeks (theoretically)</a:t>
                      </a:r>
                    </a:p>
                  </a:txBody>
                  <a:tcPr marL="45720" marR="45720" marT="36000" marB="36000"/>
                </a:tc>
                <a:extLst>
                  <a:ext uri="{0D108BD9-81ED-4DB2-BD59-A6C34878D82A}">
                    <a16:rowId xmlns:a16="http://schemas.microsoft.com/office/drawing/2014/main" val="372032833"/>
                  </a:ext>
                </a:extLst>
              </a:tr>
              <a:tr h="298846">
                <a:tc>
                  <a:txBody>
                    <a:bodyPr/>
                    <a:lstStyle/>
                    <a:p>
                      <a:r>
                        <a:rPr lang="en-US" sz="1800" b="0" noProof="0" dirty="0">
                          <a:solidFill>
                            <a:schemeClr val="tx1"/>
                          </a:solidFill>
                          <a:latin typeface="+mn-lt"/>
                        </a:rPr>
                        <a:t>Overall probability of winning</a:t>
                      </a:r>
                    </a:p>
                  </a:txBody>
                  <a:tcPr marL="45720" marR="45720" marT="36000" marB="36000"/>
                </a:tc>
                <a:tc>
                  <a:txBody>
                    <a:bodyPr/>
                    <a:lstStyle/>
                    <a:p>
                      <a:r>
                        <a:rPr lang="en-US" sz="1800" b="0" noProof="0" dirty="0">
                          <a:solidFill>
                            <a:schemeClr val="tx1"/>
                          </a:solidFill>
                          <a:latin typeface="+mn-lt"/>
                        </a:rPr>
                        <a:t> 1:6</a:t>
                      </a:r>
                    </a:p>
                  </a:txBody>
                  <a:tcPr marL="45720" marR="45720" marT="36000" marB="36000"/>
                </a:tc>
                <a:extLst>
                  <a:ext uri="{0D108BD9-81ED-4DB2-BD59-A6C34878D82A}">
                    <a16:rowId xmlns:a16="http://schemas.microsoft.com/office/drawing/2014/main" val="2861532557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18654010-E01D-0EF2-5F5F-89552557C1DD}"/>
              </a:ext>
            </a:extLst>
          </p:cNvPr>
          <p:cNvSpPr txBox="1"/>
          <p:nvPr/>
        </p:nvSpPr>
        <p:spPr>
          <a:xfrm>
            <a:off x="45719" y="10295503"/>
            <a:ext cx="6812279" cy="534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700"/>
              </a:lnSpc>
            </a:pPr>
            <a:r>
              <a:rPr lang="en-US" i="1" noProof="0" dirty="0"/>
              <a:t>Tickets are available for purchase in all usual lottery points of sale, online, and on the app.</a:t>
            </a:r>
            <a:endParaRPr lang="en-US" i="1" noProof="0" dirty="0">
              <a:ea typeface="Calibri"/>
              <a:cs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B4EA89D-55FF-E5A1-7807-4CA6AEAF25A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81603" y="53237"/>
            <a:ext cx="1565170" cy="613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7807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XCLUDEHIDDENSLIDES" val="False"/>
  <p:tag name="NUMBEROFPAGES" val="4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3741da7a-79c1-417c-b408-16c0bfe99fca}" enabled="1" method="Standard" siteId="{1e355c04-e0a4-42ed-8e2d-7351591f0ef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584</TotalTime>
  <Words>1145</Words>
  <Application>Microsoft Office PowerPoint</Application>
  <PresentationFormat>Custom</PresentationFormat>
  <Paragraphs>110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Rajsnerová, Jana (KTPRG)</dc:creator>
  <cp:lastModifiedBy>Peter Javornický</cp:lastModifiedBy>
  <cp:revision>27</cp:revision>
  <dcterms:created xsi:type="dcterms:W3CDTF">2022-11-09T07:36:23Z</dcterms:created>
  <dcterms:modified xsi:type="dcterms:W3CDTF">2025-12-16T14:18:55Z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741da7a-79c1-417c-b408-16c0bfe99fca_Enabled">
    <vt:lpwstr>true</vt:lpwstr>
  </property>
  <property fmtid="{D5CDD505-2E9C-101B-9397-08002B2CF9AE}" pid="3" name="MSIP_Label_3741da7a-79c1-417c-b408-16c0bfe99fca_SetDate">
    <vt:lpwstr>2023-03-30T08:52:17Z</vt:lpwstr>
  </property>
  <property fmtid="{D5CDD505-2E9C-101B-9397-08002B2CF9AE}" pid="4" name="MSIP_Label_3741da7a-79c1-417c-b408-16c0bfe99fca_Method">
    <vt:lpwstr>Standard</vt:lpwstr>
  </property>
  <property fmtid="{D5CDD505-2E9C-101B-9397-08002B2CF9AE}" pid="5" name="MSIP_Label_3741da7a-79c1-417c-b408-16c0bfe99fca_Name">
    <vt:lpwstr>Internal Only - Amber</vt:lpwstr>
  </property>
  <property fmtid="{D5CDD505-2E9C-101B-9397-08002B2CF9AE}" pid="6" name="MSIP_Label_3741da7a-79c1-417c-b408-16c0bfe99fca_SiteId">
    <vt:lpwstr>1e355c04-e0a4-42ed-8e2d-7351591f0ef1</vt:lpwstr>
  </property>
  <property fmtid="{D5CDD505-2E9C-101B-9397-08002B2CF9AE}" pid="7" name="MSIP_Label_3741da7a-79c1-417c-b408-16c0bfe99fca_ActionId">
    <vt:lpwstr>5b4cd54c-153d-4cdd-b8e7-de533e844d37</vt:lpwstr>
  </property>
  <property fmtid="{D5CDD505-2E9C-101B-9397-08002B2CF9AE}" pid="8" name="MSIP_Label_3741da7a-79c1-417c-b408-16c0bfe99fca_ContentBits">
    <vt:lpwstr>0</vt:lpwstr>
  </property>
</Properties>
</file>