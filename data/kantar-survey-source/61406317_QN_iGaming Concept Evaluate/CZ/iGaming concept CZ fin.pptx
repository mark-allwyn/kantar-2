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3" r:id="rId2"/>
    <p:sldId id="274" r:id="rId3"/>
    <p:sldId id="275" r:id="rId4"/>
    <p:sldId id="276" r:id="rId5"/>
  </p:sldIdLst>
  <p:sldSz cx="6858000" cy="10799763"/>
  <p:notesSz cx="6858000" cy="9144000"/>
  <p:custDataLst>
    <p:tags r:id="rId6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750" autoAdjust="0"/>
    <p:restoredTop sz="94660"/>
  </p:normalViewPr>
  <p:slideViewPr>
    <p:cSldViewPr snapToGrid="0">
      <p:cViewPr varScale="1">
        <p:scale>
          <a:sx n="65" d="100"/>
          <a:sy n="65" d="100"/>
        </p:scale>
        <p:origin x="31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Javornický" userId="3b98f8e0-d449-4f6e-b57d-5f9bfb7a5c2c" providerId="ADAL" clId="{88A10E76-C547-4713-B92A-3B48010D5CF0}"/>
    <pc:docChg chg="custSel modSld">
      <pc:chgData name="Peter Javornický" userId="3b98f8e0-d449-4f6e-b57d-5f9bfb7a5c2c" providerId="ADAL" clId="{88A10E76-C547-4713-B92A-3B48010D5CF0}" dt="2025-12-15T12:46:38.197" v="28" actId="6549"/>
      <pc:docMkLst>
        <pc:docMk/>
      </pc:docMkLst>
      <pc:sldChg chg="modSp mod">
        <pc:chgData name="Peter Javornický" userId="3b98f8e0-d449-4f6e-b57d-5f9bfb7a5c2c" providerId="ADAL" clId="{88A10E76-C547-4713-B92A-3B48010D5CF0}" dt="2025-12-15T12:43:13.141" v="6" actId="27636"/>
        <pc:sldMkLst>
          <pc:docMk/>
          <pc:sldMk cId="131628297" sldId="273"/>
        </pc:sldMkLst>
        <pc:spChg chg="mod">
          <ac:chgData name="Peter Javornický" userId="3b98f8e0-d449-4f6e-b57d-5f9bfb7a5c2c" providerId="ADAL" clId="{88A10E76-C547-4713-B92A-3B48010D5CF0}" dt="2025-12-15T12:43:13.141" v="6" actId="27636"/>
          <ac:spMkLst>
            <pc:docMk/>
            <pc:sldMk cId="131628297" sldId="273"/>
            <ac:spMk id="2" creationId="{6F301B1D-23EF-F404-4120-677E868974BE}"/>
          </ac:spMkLst>
        </pc:spChg>
      </pc:sldChg>
      <pc:sldChg chg="modSp mod">
        <pc:chgData name="Peter Javornický" userId="3b98f8e0-d449-4f6e-b57d-5f9bfb7a5c2c" providerId="ADAL" clId="{88A10E76-C547-4713-B92A-3B48010D5CF0}" dt="2025-12-15T12:44:32.259" v="18" actId="6549"/>
        <pc:sldMkLst>
          <pc:docMk/>
          <pc:sldMk cId="2124634765" sldId="274"/>
        </pc:sldMkLst>
        <pc:spChg chg="mod">
          <ac:chgData name="Peter Javornický" userId="3b98f8e0-d449-4f6e-b57d-5f9bfb7a5c2c" providerId="ADAL" clId="{88A10E76-C547-4713-B92A-3B48010D5CF0}" dt="2025-12-15T12:44:32.259" v="18" actId="6549"/>
          <ac:spMkLst>
            <pc:docMk/>
            <pc:sldMk cId="2124634765" sldId="274"/>
            <ac:spMk id="2" creationId="{6F301B1D-23EF-F404-4120-677E868974BE}"/>
          </ac:spMkLst>
        </pc:spChg>
      </pc:sldChg>
      <pc:sldChg chg="modSp mod">
        <pc:chgData name="Peter Javornický" userId="3b98f8e0-d449-4f6e-b57d-5f9bfb7a5c2c" providerId="ADAL" clId="{88A10E76-C547-4713-B92A-3B48010D5CF0}" dt="2025-12-15T12:45:41.319" v="24" actId="255"/>
        <pc:sldMkLst>
          <pc:docMk/>
          <pc:sldMk cId="1810616917" sldId="275"/>
        </pc:sldMkLst>
        <pc:spChg chg="mod">
          <ac:chgData name="Peter Javornický" userId="3b98f8e0-d449-4f6e-b57d-5f9bfb7a5c2c" providerId="ADAL" clId="{88A10E76-C547-4713-B92A-3B48010D5CF0}" dt="2025-12-15T12:45:41.319" v="24" actId="255"/>
          <ac:spMkLst>
            <pc:docMk/>
            <pc:sldMk cId="1810616917" sldId="275"/>
            <ac:spMk id="2" creationId="{6F301B1D-23EF-F404-4120-677E868974BE}"/>
          </ac:spMkLst>
        </pc:spChg>
      </pc:sldChg>
      <pc:sldChg chg="modSp mod">
        <pc:chgData name="Peter Javornický" userId="3b98f8e0-d449-4f6e-b57d-5f9bfb7a5c2c" providerId="ADAL" clId="{88A10E76-C547-4713-B92A-3B48010D5CF0}" dt="2025-12-15T12:46:38.197" v="28" actId="6549"/>
        <pc:sldMkLst>
          <pc:docMk/>
          <pc:sldMk cId="1516279244" sldId="276"/>
        </pc:sldMkLst>
        <pc:spChg chg="mod">
          <ac:chgData name="Peter Javornický" userId="3b98f8e0-d449-4f6e-b57d-5f9bfb7a5c2c" providerId="ADAL" clId="{88A10E76-C547-4713-B92A-3B48010D5CF0}" dt="2025-12-15T12:46:38.197" v="28" actId="6549"/>
          <ac:spMkLst>
            <pc:docMk/>
            <pc:sldMk cId="1516279244" sldId="276"/>
            <ac:spMk id="2" creationId="{6F301B1D-23EF-F404-4120-677E868974B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- Šir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8" y="357050"/>
            <a:ext cx="6361042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288" y="1279525"/>
            <a:ext cx="6361042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954387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cept Užš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312" y="357050"/>
            <a:ext cx="6069497" cy="92250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4312" y="1279525"/>
            <a:ext cx="6069497" cy="9255953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6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73364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d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1AA04-A0F8-87B9-B272-01F3327D49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9270" y="357809"/>
            <a:ext cx="6626087" cy="10177669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/>
            </a:lvl1pPr>
            <a:lvl2pPr>
              <a:defRPr sz="4000"/>
            </a:lvl2pPr>
            <a:lvl3pPr>
              <a:defRPr sz="3600"/>
            </a:lvl3pPr>
            <a:lvl4pPr>
              <a:defRPr sz="3600"/>
            </a:lvl4pPr>
            <a:lvl5pPr>
              <a:defRPr sz="3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5777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357050"/>
            <a:ext cx="5915025" cy="9225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1444488"/>
            <a:ext cx="5915025" cy="8998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637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Tx/>
        <a:buNone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Tx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75690"/>
            <a:ext cx="6400798" cy="922506"/>
          </a:xfrm>
        </p:spPr>
        <p:txBody>
          <a:bodyPr>
            <a:normAutofit/>
          </a:bodyPr>
          <a:lstStyle/>
          <a:p>
            <a:r>
              <a:rPr lang="cs-CZ" b="1" dirty="0" err="1">
                <a:effectLst/>
                <a:ea typeface="Times New Roman" panose="02020603050405020304" pitchFamily="18" charset="0"/>
              </a:rPr>
              <a:t>Exclusive</a:t>
            </a:r>
            <a:r>
              <a:rPr lang="cs-CZ" b="1" dirty="0">
                <a:effectLst/>
                <a:ea typeface="Times New Roman" panose="02020603050405020304" pitchFamily="18" charset="0"/>
              </a:rPr>
              <a:t> Game </a:t>
            </a:r>
            <a:r>
              <a:rPr lang="cs-CZ" b="1" dirty="0" err="1">
                <a:effectLst/>
                <a:ea typeface="Times New Roman" panose="02020603050405020304" pitchFamily="18" charset="0"/>
              </a:rPr>
              <a:t>Skins</a:t>
            </a:r>
            <a:br>
              <a:rPr lang="cs-CZ" b="1" dirty="0">
                <a:effectLst/>
                <a:ea typeface="Times New Roman" panose="02020603050405020304" pitchFamily="18" charset="0"/>
              </a:rPr>
            </a:br>
            <a:r>
              <a:rPr lang="cs-CZ" sz="2200" b="1" dirty="0">
                <a:effectLst/>
                <a:ea typeface="Times New Roman" panose="02020603050405020304" pitchFamily="18" charset="0"/>
              </a:rPr>
              <a:t>Exkluzivní herní skiny</a:t>
            </a:r>
            <a:r>
              <a:rPr lang="cs-CZ" sz="2200" dirty="0">
                <a:effectLst/>
                <a:ea typeface="Times New Roman" panose="02020603050405020304" pitchFamily="18" charset="0"/>
              </a:rPr>
              <a:t> </a:t>
            </a:r>
            <a:endParaRPr lang="cs-CZ" dirty="0">
              <a:effectLst/>
              <a:ea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998165"/>
            <a:ext cx="6400799" cy="9255953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</a:pPr>
            <a:r>
              <a:rPr lang="cs-CZ" sz="2500" i="1" dirty="0">
                <a:effectLst/>
                <a:ea typeface="Times New Roman" panose="02020603050405020304" pitchFamily="18" charset="0"/>
              </a:rPr>
              <a:t>Někdy </a:t>
            </a:r>
            <a:r>
              <a:rPr lang="cs-CZ" sz="2500" i="1" dirty="0">
                <a:ea typeface="Times New Roman" panose="02020603050405020304" pitchFamily="18" charset="0"/>
              </a:rPr>
              <a:t>bych si chtěl/a </a:t>
            </a:r>
            <a:r>
              <a:rPr lang="cs-CZ" sz="2500" i="1" dirty="0">
                <a:effectLst/>
                <a:ea typeface="Times New Roman" panose="02020603050405020304" pitchFamily="18" charset="0"/>
              </a:rPr>
              <a:t>vylepšit svůj herní zážitek. Ve hrách, jako je například </a:t>
            </a:r>
            <a:r>
              <a:rPr lang="en-US" sz="2500" i="1" dirty="0">
                <a:ea typeface="Times New Roman" panose="02020603050405020304" pitchFamily="18" charset="0"/>
              </a:rPr>
              <a:t>Counter Strike</a:t>
            </a:r>
            <a:r>
              <a:rPr lang="cs-CZ" sz="2500" i="1" dirty="0">
                <a:ea typeface="Times New Roman" panose="02020603050405020304" pitchFamily="18" charset="0"/>
              </a:rPr>
              <a:t> nebo </a:t>
            </a:r>
            <a:r>
              <a:rPr lang="en-US" sz="2500" i="1" dirty="0">
                <a:effectLst/>
                <a:ea typeface="Times New Roman" panose="02020603050405020304" pitchFamily="18" charset="0"/>
              </a:rPr>
              <a:t>League of Legends</a:t>
            </a:r>
            <a:r>
              <a:rPr lang="cs-CZ" sz="2500" i="1" dirty="0">
                <a:effectLst/>
                <a:ea typeface="Times New Roman" panose="02020603050405020304" pitchFamily="18" charset="0"/>
              </a:rPr>
              <a:t>, hledám exkluzivní a vizuálně atraktivní skiny, díky kterým se odliším nebo si přizpůsobím svou herní postavu.</a:t>
            </a:r>
            <a:endParaRPr lang="cs-CZ" sz="2500" dirty="0">
              <a:solidFill>
                <a:srgbClr val="FF0000"/>
              </a:solidFill>
            </a:endParaRPr>
          </a:p>
          <a:p>
            <a:pPr>
              <a:spcBef>
                <a:spcPts val="1200"/>
              </a:spcBef>
            </a:pPr>
            <a:endParaRPr lang="cs-CZ" sz="2500" dirty="0">
              <a:ea typeface="Times New Roman" panose="02020603050405020304" pitchFamily="18" charset="0"/>
            </a:endParaRPr>
          </a:p>
          <a:p>
            <a:pPr>
              <a:spcBef>
                <a:spcPts val="1200"/>
              </a:spcBef>
            </a:pPr>
            <a:r>
              <a:rPr lang="cs-CZ" sz="2500" dirty="0">
                <a:ea typeface="Times New Roman" panose="02020603050405020304" pitchFamily="18" charset="0"/>
              </a:rPr>
              <a:t>Hráči budou mít šanci </a:t>
            </a:r>
            <a:r>
              <a:rPr lang="cs-CZ" sz="2500" b="1" dirty="0">
                <a:ea typeface="Times New Roman" panose="02020603050405020304" pitchFamily="18" charset="0"/>
              </a:rPr>
              <a:t>vyhrát exkluzivní, vysoce kvalitní a na pohled atraktivní skiny</a:t>
            </a:r>
            <a:r>
              <a:rPr lang="cs-CZ" sz="2500" dirty="0">
                <a:ea typeface="Times New Roman" panose="02020603050405020304" pitchFamily="18" charset="0"/>
              </a:rPr>
              <a:t>, když si vsadí online los, koupí klasický</a:t>
            </a:r>
            <a:r>
              <a:rPr lang="cs-CZ" sz="2500" dirty="0">
                <a:effectLst/>
                <a:ea typeface="Times New Roman" panose="02020603050405020304" pitchFamily="18" charset="0"/>
              </a:rPr>
              <a:t> stírací los, nebo se zúčastní speciální online loterie.</a:t>
            </a:r>
            <a:endParaRPr lang="cs-CZ" sz="2500" dirty="0"/>
          </a:p>
          <a:p>
            <a:pPr>
              <a:spcBef>
                <a:spcPts val="1200"/>
              </a:spcBef>
            </a:pPr>
            <a:r>
              <a:rPr lang="cs-CZ" sz="2500" dirty="0">
                <a:effectLst/>
                <a:ea typeface="Times New Roman" panose="02020603050405020304" pitchFamily="18" charset="0"/>
              </a:rPr>
              <a:t>Tyto unikátní skiny umožní hráčům předvést své úspěchy a individualitu, čímž se obohatí jejich herní zážitek. </a:t>
            </a:r>
          </a:p>
          <a:p>
            <a:pPr>
              <a:spcBef>
                <a:spcPts val="1200"/>
              </a:spcBef>
            </a:pPr>
            <a:r>
              <a:rPr lang="cs-CZ" sz="25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Spolupráce mezi provozovatelem loterie a populárními vývojáři her </a:t>
            </a:r>
            <a:r>
              <a:rPr lang="cs-CZ" sz="2500" dirty="0">
                <a:ea typeface="Aptos" panose="020B0004020202020204" pitchFamily="34" charset="0"/>
                <a:cs typeface="Aptos" panose="020B0004020202020204" pitchFamily="34" charset="0"/>
              </a:rPr>
              <a:t>zajistí</a:t>
            </a:r>
            <a:r>
              <a:rPr lang="cs-CZ" sz="2500" dirty="0">
                <a:effectLst/>
                <a:ea typeface="Aptos" panose="020B0004020202020204" pitchFamily="34" charset="0"/>
                <a:cs typeface="Aptos" panose="020B0004020202020204" pitchFamily="34" charset="0"/>
              </a:rPr>
              <a:t>, že budou skiny  oficiálně uznávané a uplatnitelné ve hře. </a:t>
            </a:r>
            <a:endParaRPr lang="cs-CZ" sz="2500" dirty="0"/>
          </a:p>
          <a:p>
            <a:pPr>
              <a:spcBef>
                <a:spcPts val="1200"/>
              </a:spcBef>
            </a:pPr>
            <a:r>
              <a:rPr lang="cs-CZ" sz="2500" b="1" dirty="0"/>
              <a:t>Stačí se jen zúčastnit, vyhrát kód a užít si nový skin ve své oblíbené hře.</a:t>
            </a:r>
          </a:p>
          <a:p>
            <a:pPr>
              <a:spcBef>
                <a:spcPts val="1200"/>
              </a:spcBef>
            </a:pPr>
            <a:endParaRPr lang="cs-CZ" sz="2500" dirty="0"/>
          </a:p>
          <a:p>
            <a:pPr>
              <a:spcBef>
                <a:spcPts val="1200"/>
              </a:spcBef>
            </a:pPr>
            <a:r>
              <a:rPr lang="cs-CZ" sz="2500" dirty="0"/>
              <a:t>Příklad, jak to funguje:</a:t>
            </a:r>
          </a:p>
          <a:p>
            <a:r>
              <a:rPr lang="cs-CZ" sz="2500" dirty="0">
                <a:effectLst/>
                <a:ea typeface="Times New Roman" panose="02020603050405020304" pitchFamily="18" charset="0"/>
              </a:rPr>
              <a:t>Pokud hráč vsadí </a:t>
            </a:r>
            <a:r>
              <a:rPr lang="cs-CZ" sz="2500" noProof="1">
                <a:effectLst/>
                <a:ea typeface="Times New Roman" panose="02020603050405020304" pitchFamily="18" charset="0"/>
              </a:rPr>
              <a:t>online los a vyhraje</a:t>
            </a:r>
            <a:r>
              <a:rPr lang="cs-CZ" sz="2500" dirty="0">
                <a:effectLst/>
                <a:ea typeface="Times New Roman" panose="02020603050405020304" pitchFamily="18" charset="0"/>
              </a:rPr>
              <a:t>, obdrží kód, který odemkne unikátní skin pro </a:t>
            </a:r>
            <a:r>
              <a:rPr lang="en-US" sz="2500" dirty="0">
                <a:effectLst/>
                <a:ea typeface="Times New Roman" panose="02020603050405020304" pitchFamily="18" charset="0"/>
              </a:rPr>
              <a:t>Counter</a:t>
            </a:r>
            <a:r>
              <a:rPr lang="cs-CZ" sz="2500" dirty="0">
                <a:effectLst/>
                <a:ea typeface="Times New Roman" panose="02020603050405020304" pitchFamily="18" charset="0"/>
              </a:rPr>
              <a:t> Strike nebo jinou hru.</a:t>
            </a:r>
          </a:p>
          <a:p>
            <a:pPr>
              <a:spcBef>
                <a:spcPts val="1200"/>
              </a:spcBef>
            </a:pPr>
            <a:endParaRPr lang="cs-CZ" sz="2500" dirty="0"/>
          </a:p>
        </p:txBody>
      </p:sp>
    </p:spTree>
    <p:extLst>
      <p:ext uri="{BB962C8B-B14F-4D97-AF65-F5344CB8AC3E}">
        <p14:creationId xmlns:p14="http://schemas.microsoft.com/office/powerpoint/2010/main" val="1316282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EC37C0-34E0-6BED-1D48-083F18BDFD68}"/>
              </a:ext>
            </a:extLst>
          </p:cNvPr>
          <p:cNvSpPr/>
          <p:nvPr/>
        </p:nvSpPr>
        <p:spPr>
          <a:xfrm>
            <a:off x="0" y="0"/>
            <a:ext cx="6858000" cy="12935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230437"/>
            <a:ext cx="6400798" cy="922506"/>
          </a:xfrm>
        </p:spPr>
        <p:txBody>
          <a:bodyPr>
            <a:noAutofit/>
          </a:bodyPr>
          <a:lstStyle/>
          <a:p>
            <a:r>
              <a:rPr lang="en-GB" b="1" dirty="0"/>
              <a:t>Team Play with Social Sharing</a:t>
            </a:r>
            <a:br>
              <a:rPr lang="cs-CZ" b="1" dirty="0"/>
            </a:br>
            <a:r>
              <a:rPr lang="cs-CZ" sz="2200" b="1" dirty="0"/>
              <a:t>Team Play </a:t>
            </a:r>
            <a:r>
              <a:rPr lang="pt-BR" sz="2200" b="1" dirty="0"/>
              <a:t>se sdílením na sociálních sítích</a:t>
            </a:r>
            <a:endParaRPr lang="en-GB" sz="2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480407"/>
            <a:ext cx="6400799" cy="925595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cs-CZ" sz="2800" i="1" dirty="0"/>
              <a:t>Baví mě společenské a kolektivní hraní. Rád/a sdílím úspěchy a významná vítězství s přáteli a na sociálních sítích.</a:t>
            </a:r>
            <a:endParaRPr lang="cs-CZ" sz="2800" dirty="0"/>
          </a:p>
          <a:p>
            <a:pPr>
              <a:spcBef>
                <a:spcPts val="1200"/>
              </a:spcBef>
            </a:pPr>
            <a:endParaRPr lang="cs-CZ" sz="2800" dirty="0"/>
          </a:p>
          <a:p>
            <a:pPr>
              <a:spcBef>
                <a:spcPts val="1200"/>
              </a:spcBef>
            </a:pPr>
            <a:r>
              <a:rPr lang="cs-CZ" sz="2800" dirty="0"/>
              <a:t>Díky funkci zvané </a:t>
            </a:r>
            <a:r>
              <a:rPr lang="cs-CZ" sz="2800" b="1" dirty="0"/>
              <a:t>Team Play </a:t>
            </a:r>
            <a:r>
              <a:rPr lang="cs-CZ" sz="2800" dirty="0"/>
              <a:t>budou moci hráči při hraní placených online sázkových her, jako jsou online </a:t>
            </a:r>
            <a:r>
              <a:rPr lang="cs-CZ" sz="2800" dirty="0" err="1"/>
              <a:t>casino</a:t>
            </a:r>
            <a:r>
              <a:rPr lang="cs-CZ" sz="2800" dirty="0"/>
              <a:t> hry, sloty nebo online losy, vytvořit týmy a hrát společně.</a:t>
            </a:r>
          </a:p>
          <a:p>
            <a:pPr>
              <a:spcBef>
                <a:spcPts val="1200"/>
              </a:spcBef>
            </a:pPr>
            <a:r>
              <a:rPr lang="cs-CZ" sz="2800" dirty="0"/>
              <a:t>Každý </a:t>
            </a:r>
            <a:r>
              <a:rPr lang="cs-CZ" sz="2800" b="1" dirty="0"/>
              <a:t>člen týmu přispívá </a:t>
            </a:r>
            <a:r>
              <a:rPr lang="cs-CZ" sz="2800" dirty="0"/>
              <a:t>ke společnému skóre a </a:t>
            </a:r>
            <a:r>
              <a:rPr lang="cs-CZ" sz="2800" b="1" dirty="0"/>
              <a:t>výhry se rozdělují </a:t>
            </a:r>
            <a:r>
              <a:rPr lang="cs-CZ" sz="2800" dirty="0"/>
              <a:t>mezi členy týmu. </a:t>
            </a:r>
          </a:p>
          <a:p>
            <a:pPr>
              <a:spcBef>
                <a:spcPts val="1200"/>
              </a:spcBef>
            </a:pPr>
            <a:r>
              <a:rPr lang="cs-CZ" sz="2800" dirty="0"/>
              <a:t>Své herní výsledky, významná vítězství a úspěchy mohou hráči sdílet na </a:t>
            </a:r>
            <a:r>
              <a:rPr lang="cs-CZ" sz="2800" b="1" dirty="0"/>
              <a:t>sociálních sítích </a:t>
            </a:r>
            <a:r>
              <a:rPr lang="cs-CZ" sz="2800" dirty="0"/>
              <a:t>(WhatsApp, Facebook/Messenger, Telegram nebo Instagram).</a:t>
            </a:r>
          </a:p>
          <a:p>
            <a:pPr>
              <a:spcBef>
                <a:spcPts val="1200"/>
              </a:spcBef>
            </a:pPr>
            <a:r>
              <a:rPr lang="cs-CZ" sz="2800" b="1" dirty="0"/>
              <a:t>Sdílení na sociálních sítích a společná hra podporují smysl pro komunitu.</a:t>
            </a:r>
            <a:endParaRPr lang="cs-CZ" sz="2800" dirty="0"/>
          </a:p>
          <a:p>
            <a:pPr>
              <a:spcBef>
                <a:spcPts val="1200"/>
              </a:spcBef>
            </a:pPr>
            <a:endParaRPr lang="cs-CZ" sz="2800" dirty="0"/>
          </a:p>
          <a:p>
            <a:pPr>
              <a:spcBef>
                <a:spcPts val="1200"/>
              </a:spcBef>
            </a:pPr>
            <a:r>
              <a:rPr lang="cs-CZ" sz="2800" dirty="0"/>
              <a:t>Příklad, jak to funguje:</a:t>
            </a:r>
          </a:p>
          <a:p>
            <a:pPr>
              <a:spcBef>
                <a:spcPts val="1200"/>
              </a:spcBef>
            </a:pPr>
            <a:r>
              <a:rPr lang="cs-CZ" sz="2800" dirty="0"/>
              <a:t>Tým čtyř hráčů může kombinovat svá skóre a dostat se tak k větším odměnám. </a:t>
            </a:r>
          </a:p>
        </p:txBody>
      </p:sp>
    </p:spTree>
    <p:extLst>
      <p:ext uri="{BB962C8B-B14F-4D97-AF65-F5344CB8AC3E}">
        <p14:creationId xmlns:p14="http://schemas.microsoft.com/office/powerpoint/2010/main" val="2124634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896BD8-E766-CE5D-EF6E-DA66449A0C6F}"/>
              </a:ext>
            </a:extLst>
          </p:cNvPr>
          <p:cNvSpPr/>
          <p:nvPr/>
        </p:nvSpPr>
        <p:spPr>
          <a:xfrm>
            <a:off x="0" y="0"/>
            <a:ext cx="6858000" cy="9981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75690"/>
            <a:ext cx="6400798" cy="922506"/>
          </a:xfrm>
        </p:spPr>
        <p:txBody>
          <a:bodyPr>
            <a:normAutofit/>
          </a:bodyPr>
          <a:lstStyle/>
          <a:p>
            <a:r>
              <a:rPr lang="cs-CZ" b="1" dirty="0" err="1"/>
              <a:t>Battle</a:t>
            </a:r>
            <a:r>
              <a:rPr lang="cs-CZ" b="1" dirty="0"/>
              <a:t> </a:t>
            </a:r>
            <a:r>
              <a:rPr lang="cs-CZ" b="1" dirty="0" err="1"/>
              <a:t>Royale</a:t>
            </a:r>
            <a:r>
              <a:rPr lang="cs-CZ" b="1" dirty="0"/>
              <a:t> </a:t>
            </a:r>
            <a:r>
              <a:rPr lang="cs-CZ" b="1" dirty="0" err="1"/>
              <a:t>for</a:t>
            </a:r>
            <a:r>
              <a:rPr lang="cs-CZ" b="1" dirty="0"/>
              <a:t> Jackpot </a:t>
            </a:r>
            <a:br>
              <a:rPr lang="cs-CZ" b="1" dirty="0"/>
            </a:br>
            <a:r>
              <a:rPr lang="en-US" sz="2200" b="1" dirty="0"/>
              <a:t>Battle Royale o jackpot</a:t>
            </a:r>
            <a:endParaRPr lang="en-GB" sz="22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352127"/>
            <a:ext cx="6400799" cy="9255953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cs-CZ" sz="2600" i="1" dirty="0"/>
              <a:t>Mám rád/a hry, ve kterých se soutěží, které jsou plné vzrušujících vyřazovacích kol nebo honby za velkými odměnami. Jsem rád/a, když dostávám za své výkony uznání a herní odměny.</a:t>
            </a:r>
            <a:endParaRPr lang="cs-CZ" sz="2600" dirty="0"/>
          </a:p>
          <a:p>
            <a:pPr>
              <a:spcBef>
                <a:spcPts val="1200"/>
              </a:spcBef>
            </a:pPr>
            <a:r>
              <a:rPr lang="cs-CZ" sz="2600" dirty="0" err="1"/>
              <a:t>Battle</a:t>
            </a:r>
            <a:r>
              <a:rPr lang="cs-CZ" sz="2600" dirty="0"/>
              <a:t> </a:t>
            </a:r>
            <a:r>
              <a:rPr lang="cs-CZ" sz="2600" dirty="0" err="1"/>
              <a:t>Royale</a:t>
            </a:r>
            <a:r>
              <a:rPr lang="cs-CZ" sz="2600" dirty="0"/>
              <a:t> je placená sázková hra, ve které hráči soutěží v řadě kol a postupně se vyřazují, až zůstane jen jeden. Hráč, který zůstane poslední, vyhrává </a:t>
            </a:r>
            <a:r>
              <a:rPr lang="cs-CZ" sz="2600" b="1" dirty="0"/>
              <a:t>jackpot. </a:t>
            </a:r>
          </a:p>
          <a:p>
            <a:pPr>
              <a:spcBef>
                <a:spcPts val="1200"/>
              </a:spcBef>
            </a:pPr>
            <a:r>
              <a:rPr lang="cs-CZ" sz="2600" dirty="0"/>
              <a:t>Ostatní top hráči získávají </a:t>
            </a:r>
            <a:r>
              <a:rPr lang="cs-CZ" sz="2600" b="1" dirty="0"/>
              <a:t>herní odměny, </a:t>
            </a:r>
            <a:r>
              <a:rPr lang="cs-CZ" sz="2600" dirty="0"/>
              <a:t>jako jsou úspěchy (</a:t>
            </a:r>
            <a:r>
              <a:rPr lang="cs-CZ" sz="2600" dirty="0" err="1"/>
              <a:t>achievements</a:t>
            </a:r>
            <a:r>
              <a:rPr lang="cs-CZ" sz="2600" dirty="0"/>
              <a:t>) a bonusy. </a:t>
            </a:r>
          </a:p>
          <a:p>
            <a:pPr>
              <a:spcBef>
                <a:spcPts val="1200"/>
              </a:spcBef>
            </a:pPr>
            <a:r>
              <a:rPr lang="cs-CZ" sz="2600" dirty="0"/>
              <a:t>Všichni účastníci získávají </a:t>
            </a:r>
            <a:r>
              <a:rPr lang="cs-CZ" sz="2600" b="1" dirty="0"/>
              <a:t>věrnostní odměny</a:t>
            </a:r>
            <a:r>
              <a:rPr lang="cs-CZ" sz="2600" dirty="0"/>
              <a:t>, které je možné vyměnit za různé výhody (free-spiny, bonusy za vklady) nebo za vstupy do losování o ceny.</a:t>
            </a:r>
          </a:p>
          <a:p>
            <a:pPr>
              <a:spcBef>
                <a:spcPts val="1200"/>
              </a:spcBef>
            </a:pPr>
            <a:r>
              <a:rPr lang="cs-CZ" sz="2600" b="1" dirty="0"/>
              <a:t>Kombinace vzrušení a hmatatelných odměn přináší okamžité uspokojení i dlouhodobé výhody. </a:t>
            </a:r>
            <a:endParaRPr lang="cs-CZ" sz="2600" dirty="0"/>
          </a:p>
          <a:p>
            <a:pPr>
              <a:spcBef>
                <a:spcPts val="1200"/>
              </a:spcBef>
            </a:pPr>
            <a:r>
              <a:rPr lang="cs-CZ" sz="2600" dirty="0"/>
              <a:t>Příklad, jak to funguje:</a:t>
            </a:r>
          </a:p>
          <a:p>
            <a:pPr>
              <a:spcBef>
                <a:spcPts val="1200"/>
              </a:spcBef>
            </a:pPr>
            <a:r>
              <a:rPr lang="cs-CZ" sz="2600" dirty="0"/>
              <a:t>Soutěží např. 100 hráčů. Vítěz získá jackpot a 10 nejlepších hráčů obdrží herní odměny. Všichni hráči získávají za svou účast věrnostní odměny.</a:t>
            </a:r>
          </a:p>
        </p:txBody>
      </p:sp>
    </p:spTree>
    <p:extLst>
      <p:ext uri="{BB962C8B-B14F-4D97-AF65-F5344CB8AC3E}">
        <p14:creationId xmlns:p14="http://schemas.microsoft.com/office/powerpoint/2010/main" val="1810616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6BF357-D1F9-9403-C8F6-6A5FCE24D26C}"/>
              </a:ext>
            </a:extLst>
          </p:cNvPr>
          <p:cNvSpPr/>
          <p:nvPr/>
        </p:nvSpPr>
        <p:spPr>
          <a:xfrm>
            <a:off x="0" y="0"/>
            <a:ext cx="6858000" cy="12093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301B1D-23EF-F404-4120-677E86897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084" y="146030"/>
            <a:ext cx="6400798" cy="922506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Multiplayer Game </a:t>
            </a:r>
            <a:br>
              <a:rPr lang="en-GB" b="1" dirty="0"/>
            </a:br>
            <a:r>
              <a:rPr lang="en-GB" b="1" dirty="0"/>
              <a:t>with Shared Winnings</a:t>
            </a:r>
            <a:br>
              <a:rPr lang="cs-CZ" b="1" dirty="0"/>
            </a:br>
            <a:r>
              <a:rPr lang="cs-CZ" sz="2400" b="1" dirty="0"/>
              <a:t>Multiplayer hra (pro více hráčů) se sdílenými výhrami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D9BB9-7BDB-6DCC-7920-DA0C3A614F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83" y="1466968"/>
            <a:ext cx="6400799" cy="8973964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cs-CZ" sz="2600" i="1" dirty="0"/>
              <a:t>Mám rád/a hry, které podporují </a:t>
            </a:r>
            <a:r>
              <a:rPr lang="cs-CZ" sz="2600" b="1" i="1" dirty="0"/>
              <a:t>kamarádství a vzájemnou pomoc</a:t>
            </a:r>
            <a:r>
              <a:rPr lang="cs-CZ" sz="2600" i="1" dirty="0"/>
              <a:t>. Rád/a s přáteli sdílím úspěchy a výhody ze společných výher.</a:t>
            </a:r>
          </a:p>
          <a:p>
            <a:pPr>
              <a:spcBef>
                <a:spcPts val="1200"/>
              </a:spcBef>
            </a:pPr>
            <a:endParaRPr lang="cs-CZ" sz="2600" dirty="0"/>
          </a:p>
          <a:p>
            <a:pPr>
              <a:spcBef>
                <a:spcPts val="1200"/>
              </a:spcBef>
            </a:pPr>
            <a:r>
              <a:rPr lang="cs-CZ" sz="2600" dirty="0"/>
              <a:t>Jedná se o </a:t>
            </a:r>
            <a:r>
              <a:rPr lang="cs-CZ" sz="2600" b="1" dirty="0"/>
              <a:t>placenou sázkovou hru pro více hráčů</a:t>
            </a:r>
            <a:r>
              <a:rPr lang="cs-CZ" sz="2600" dirty="0"/>
              <a:t> určenou pro přátele, kteří se mohou o své výhry vzájemně podělit. </a:t>
            </a:r>
          </a:p>
          <a:p>
            <a:pPr>
              <a:spcBef>
                <a:spcPts val="1200"/>
              </a:spcBef>
            </a:pPr>
            <a:r>
              <a:rPr lang="cs-CZ" sz="2600" dirty="0"/>
              <a:t>Pokud některý z hráčů týmu vyhraje, ponechá si 50 % z výhry a zbylých 50 % se </a:t>
            </a:r>
            <a:r>
              <a:rPr lang="cs-CZ" sz="2600" b="1" dirty="0"/>
              <a:t>rovnoměrně rozdělí</a:t>
            </a:r>
            <a:r>
              <a:rPr lang="cs-CZ" sz="2600" dirty="0"/>
              <a:t> mezi ostatní členy týmu. </a:t>
            </a:r>
          </a:p>
          <a:p>
            <a:pPr>
              <a:spcBef>
                <a:spcPts val="1200"/>
              </a:spcBef>
            </a:pPr>
            <a:r>
              <a:rPr lang="cs-CZ" sz="2600" dirty="0"/>
              <a:t>K dispozici je také možnost zahrát si zdarma s body a žebříčky, kde se rozdělují skutečné ceny a bonusy.</a:t>
            </a:r>
          </a:p>
          <a:p>
            <a:pPr>
              <a:spcBef>
                <a:spcPts val="1200"/>
              </a:spcBef>
            </a:pPr>
            <a:r>
              <a:rPr lang="cs-CZ" sz="2600" b="1" dirty="0"/>
              <a:t>Je to výhodné pro všechny, takže hra je zábavnější a více odměňující.</a:t>
            </a:r>
          </a:p>
          <a:p>
            <a:pPr>
              <a:spcBef>
                <a:spcPts val="1200"/>
              </a:spcBef>
            </a:pPr>
            <a:endParaRPr lang="cs-CZ" sz="2600" b="1" dirty="0"/>
          </a:p>
          <a:p>
            <a:pPr>
              <a:spcBef>
                <a:spcPts val="1200"/>
              </a:spcBef>
            </a:pPr>
            <a:r>
              <a:rPr lang="cs-CZ" sz="2600" dirty="0"/>
              <a:t>Příklad, jak to funguje:</a:t>
            </a:r>
          </a:p>
          <a:p>
            <a:pPr>
              <a:spcBef>
                <a:spcPts val="1200"/>
              </a:spcBef>
            </a:pPr>
            <a:r>
              <a:rPr lang="cs-CZ" sz="2600" dirty="0"/>
              <a:t>V případě, že hrají tři hráči a jeden z nich vyhraje, obdrží výherce 50 % z výhry, ostatní dva hráči dostanou každý 25 % z výhry.</a:t>
            </a:r>
          </a:p>
        </p:txBody>
      </p:sp>
    </p:spTree>
    <p:extLst>
      <p:ext uri="{BB962C8B-B14F-4D97-AF65-F5344CB8AC3E}">
        <p14:creationId xmlns:p14="http://schemas.microsoft.com/office/powerpoint/2010/main" val="15162792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XCLUDEHIDDENSLIDES" val="False"/>
  <p:tag name="NUMBEROFPAGES" val="4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741da7a-79c1-417c-b408-16c0bfe99fca}" enabled="1" method="Standard" siteId="{1e355c04-e0a4-42ed-8e2d-7351591f0e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2326</TotalTime>
  <Words>634</Words>
  <Application>Microsoft Office PowerPoint</Application>
  <PresentationFormat>Custom</PresentationFormat>
  <Paragraphs>38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Calibri</vt:lpstr>
      <vt:lpstr>Times New Roman</vt:lpstr>
      <vt:lpstr>Office Theme</vt:lpstr>
      <vt:lpstr>Exclusive Game Skins Exkluzivní herní skiny </vt:lpstr>
      <vt:lpstr>Team Play with Social Sharing Team Play se sdílením na sociálních sítích</vt:lpstr>
      <vt:lpstr>Battle Royale for Jackpot  Battle Royale o jackpot</vt:lpstr>
      <vt:lpstr>Multiplayer Game  with Shared Winnings Multiplayer hra (pro více hráčů) se sdílenými výhrami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Rajsnerová, Jana (KTPRG)</dc:creator>
  <cp:lastModifiedBy>Peter Javornický</cp:lastModifiedBy>
  <cp:revision>40</cp:revision>
  <dcterms:created xsi:type="dcterms:W3CDTF">2022-11-09T07:36:23Z</dcterms:created>
  <dcterms:modified xsi:type="dcterms:W3CDTF">2025-12-15T12:46:45Z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741da7a-79c1-417c-b408-16c0bfe99fca_Enabled">
    <vt:lpwstr>true</vt:lpwstr>
  </property>
  <property fmtid="{D5CDD505-2E9C-101B-9397-08002B2CF9AE}" pid="3" name="MSIP_Label_3741da7a-79c1-417c-b408-16c0bfe99fca_SetDate">
    <vt:lpwstr>2023-03-30T08:52:17Z</vt:lpwstr>
  </property>
  <property fmtid="{D5CDD505-2E9C-101B-9397-08002B2CF9AE}" pid="4" name="MSIP_Label_3741da7a-79c1-417c-b408-16c0bfe99fca_Method">
    <vt:lpwstr>Standard</vt:lpwstr>
  </property>
  <property fmtid="{D5CDD505-2E9C-101B-9397-08002B2CF9AE}" pid="5" name="MSIP_Label_3741da7a-79c1-417c-b408-16c0bfe99fca_Name">
    <vt:lpwstr>Internal Only - Amber</vt:lpwstr>
  </property>
  <property fmtid="{D5CDD505-2E9C-101B-9397-08002B2CF9AE}" pid="6" name="MSIP_Label_3741da7a-79c1-417c-b408-16c0bfe99fca_SiteId">
    <vt:lpwstr>1e355c04-e0a4-42ed-8e2d-7351591f0ef1</vt:lpwstr>
  </property>
  <property fmtid="{D5CDD505-2E9C-101B-9397-08002B2CF9AE}" pid="7" name="MSIP_Label_3741da7a-79c1-417c-b408-16c0bfe99fca_ActionId">
    <vt:lpwstr>5b4cd54c-153d-4cdd-b8e7-de533e844d37</vt:lpwstr>
  </property>
  <property fmtid="{D5CDD505-2E9C-101B-9397-08002B2CF9AE}" pid="8" name="MSIP_Label_3741da7a-79c1-417c-b408-16c0bfe99fca_ContentBits">
    <vt:lpwstr>0</vt:lpwstr>
  </property>
</Properties>
</file>