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3"/>
  </p:notesMasterIdLst>
  <p:sldIdLst>
    <p:sldId id="272" r:id="rId2"/>
    <p:sldId id="273" r:id="rId3"/>
    <p:sldId id="274" r:id="rId4"/>
    <p:sldId id="275" r:id="rId5"/>
    <p:sldId id="276" r:id="rId6"/>
    <p:sldId id="277" r:id="rId7"/>
    <p:sldId id="278" r:id="rId8"/>
    <p:sldId id="279" r:id="rId9"/>
    <p:sldId id="280" r:id="rId10"/>
    <p:sldId id="281" r:id="rId11"/>
    <p:sldId id="282" r:id="rId12"/>
  </p:sldIdLst>
  <p:sldSz cx="6858000" cy="10799763"/>
  <p:notesSz cx="6858000" cy="9144000"/>
  <p:custDataLst>
    <p:tags r:id="rId14"/>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699D118-4476-4662-9A9B-FB7E5D2AE5C8}" v="11" dt="2025-12-16T08:23:37.38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94" autoAdjust="0"/>
    <p:restoredTop sz="94660"/>
  </p:normalViewPr>
  <p:slideViewPr>
    <p:cSldViewPr snapToGrid="0">
      <p:cViewPr varScale="1">
        <p:scale>
          <a:sx n="65" d="100"/>
          <a:sy n="65" d="100"/>
        </p:scale>
        <p:origin x="3348"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gs" Target="tags/tag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eter Javornický" userId="3b98f8e0-d449-4f6e-b57d-5f9bfb7a5c2c" providerId="ADAL" clId="{88A10E76-C547-4713-B92A-3B48010D5CF0}"/>
    <pc:docChg chg="undo custSel modSld">
      <pc:chgData name="Peter Javornický" userId="3b98f8e0-d449-4f6e-b57d-5f9bfb7a5c2c" providerId="ADAL" clId="{88A10E76-C547-4713-B92A-3B48010D5CF0}" dt="2025-12-16T08:23:37.389" v="39"/>
      <pc:docMkLst>
        <pc:docMk/>
      </pc:docMkLst>
      <pc:sldChg chg="modSp mod">
        <pc:chgData name="Peter Javornický" userId="3b98f8e0-d449-4f6e-b57d-5f9bfb7a5c2c" providerId="ADAL" clId="{88A10E76-C547-4713-B92A-3B48010D5CF0}" dt="2025-12-16T08:15:48.068" v="9"/>
        <pc:sldMkLst>
          <pc:docMk/>
          <pc:sldMk cId="3669162915" sldId="272"/>
        </pc:sldMkLst>
        <pc:spChg chg="mod">
          <ac:chgData name="Peter Javornický" userId="3b98f8e0-d449-4f6e-b57d-5f9bfb7a5c2c" providerId="ADAL" clId="{88A10E76-C547-4713-B92A-3B48010D5CF0}" dt="2025-12-16T08:15:48.068" v="9"/>
          <ac:spMkLst>
            <pc:docMk/>
            <pc:sldMk cId="3669162915" sldId="272"/>
            <ac:spMk id="2" creationId="{44502129-00D9-C538-5C9D-8BE935563DC8}"/>
          </ac:spMkLst>
        </pc:spChg>
      </pc:sldChg>
      <pc:sldChg chg="modSp mod">
        <pc:chgData name="Peter Javornický" userId="3b98f8e0-d449-4f6e-b57d-5f9bfb7a5c2c" providerId="ADAL" clId="{88A10E76-C547-4713-B92A-3B48010D5CF0}" dt="2025-12-16T08:16:37.552" v="12"/>
        <pc:sldMkLst>
          <pc:docMk/>
          <pc:sldMk cId="3385882476" sldId="273"/>
        </pc:sldMkLst>
        <pc:spChg chg="mod">
          <ac:chgData name="Peter Javornický" userId="3b98f8e0-d449-4f6e-b57d-5f9bfb7a5c2c" providerId="ADAL" clId="{88A10E76-C547-4713-B92A-3B48010D5CF0}" dt="2025-12-16T08:16:37.552" v="12"/>
          <ac:spMkLst>
            <pc:docMk/>
            <pc:sldMk cId="3385882476" sldId="273"/>
            <ac:spMk id="21" creationId="{A669874F-89FA-6E78-114B-B92FDA79AFA0}"/>
          </ac:spMkLst>
        </pc:spChg>
      </pc:sldChg>
      <pc:sldChg chg="modSp mod">
        <pc:chgData name="Peter Javornický" userId="3b98f8e0-d449-4f6e-b57d-5f9bfb7a5c2c" providerId="ADAL" clId="{88A10E76-C547-4713-B92A-3B48010D5CF0}" dt="2025-12-16T08:17:36.051" v="15"/>
        <pc:sldMkLst>
          <pc:docMk/>
          <pc:sldMk cId="1036419051" sldId="274"/>
        </pc:sldMkLst>
        <pc:spChg chg="mod">
          <ac:chgData name="Peter Javornický" userId="3b98f8e0-d449-4f6e-b57d-5f9bfb7a5c2c" providerId="ADAL" clId="{88A10E76-C547-4713-B92A-3B48010D5CF0}" dt="2025-12-16T08:17:36.051" v="15"/>
          <ac:spMkLst>
            <pc:docMk/>
            <pc:sldMk cId="1036419051" sldId="274"/>
            <ac:spMk id="26" creationId="{E429CABF-1FF3-A85E-0EB7-30C550D607D9}"/>
          </ac:spMkLst>
        </pc:spChg>
      </pc:sldChg>
      <pc:sldChg chg="modSp mod">
        <pc:chgData name="Peter Javornický" userId="3b98f8e0-d449-4f6e-b57d-5f9bfb7a5c2c" providerId="ADAL" clId="{88A10E76-C547-4713-B92A-3B48010D5CF0}" dt="2025-12-16T08:18:20.258" v="18"/>
        <pc:sldMkLst>
          <pc:docMk/>
          <pc:sldMk cId="2300396861" sldId="275"/>
        </pc:sldMkLst>
        <pc:spChg chg="mod">
          <ac:chgData name="Peter Javornický" userId="3b98f8e0-d449-4f6e-b57d-5f9bfb7a5c2c" providerId="ADAL" clId="{88A10E76-C547-4713-B92A-3B48010D5CF0}" dt="2025-12-16T08:18:20.258" v="18"/>
          <ac:spMkLst>
            <pc:docMk/>
            <pc:sldMk cId="2300396861" sldId="275"/>
            <ac:spMk id="27" creationId="{89153A0E-BD1C-669D-A9E8-1FD97DABBBC9}"/>
          </ac:spMkLst>
        </pc:spChg>
      </pc:sldChg>
      <pc:sldChg chg="modSp mod">
        <pc:chgData name="Peter Javornický" userId="3b98f8e0-d449-4f6e-b57d-5f9bfb7a5c2c" providerId="ADAL" clId="{88A10E76-C547-4713-B92A-3B48010D5CF0}" dt="2025-12-16T08:18:59.083" v="21"/>
        <pc:sldMkLst>
          <pc:docMk/>
          <pc:sldMk cId="2574641618" sldId="276"/>
        </pc:sldMkLst>
        <pc:spChg chg="mod">
          <ac:chgData name="Peter Javornický" userId="3b98f8e0-d449-4f6e-b57d-5f9bfb7a5c2c" providerId="ADAL" clId="{88A10E76-C547-4713-B92A-3B48010D5CF0}" dt="2025-12-16T08:18:59.083" v="21"/>
          <ac:spMkLst>
            <pc:docMk/>
            <pc:sldMk cId="2574641618" sldId="276"/>
            <ac:spMk id="19" creationId="{108C060C-D3A8-7D72-6BB5-F7B8BF99C5CE}"/>
          </ac:spMkLst>
        </pc:spChg>
      </pc:sldChg>
      <pc:sldChg chg="modSp mod">
        <pc:chgData name="Peter Javornický" userId="3b98f8e0-d449-4f6e-b57d-5f9bfb7a5c2c" providerId="ADAL" clId="{88A10E76-C547-4713-B92A-3B48010D5CF0}" dt="2025-12-16T08:19:45.642" v="24"/>
        <pc:sldMkLst>
          <pc:docMk/>
          <pc:sldMk cId="3522380568" sldId="277"/>
        </pc:sldMkLst>
        <pc:spChg chg="mod">
          <ac:chgData name="Peter Javornický" userId="3b98f8e0-d449-4f6e-b57d-5f9bfb7a5c2c" providerId="ADAL" clId="{88A10E76-C547-4713-B92A-3B48010D5CF0}" dt="2025-12-16T08:19:45.642" v="24"/>
          <ac:spMkLst>
            <pc:docMk/>
            <pc:sldMk cId="3522380568" sldId="277"/>
            <ac:spMk id="17" creationId="{E6D56636-B781-6C72-9345-D6D0A3D280FB}"/>
          </ac:spMkLst>
        </pc:spChg>
      </pc:sldChg>
      <pc:sldChg chg="modSp mod">
        <pc:chgData name="Peter Javornický" userId="3b98f8e0-d449-4f6e-b57d-5f9bfb7a5c2c" providerId="ADAL" clId="{88A10E76-C547-4713-B92A-3B48010D5CF0}" dt="2025-12-16T08:20:29.758" v="27"/>
        <pc:sldMkLst>
          <pc:docMk/>
          <pc:sldMk cId="2895819414" sldId="278"/>
        </pc:sldMkLst>
        <pc:spChg chg="mod">
          <ac:chgData name="Peter Javornický" userId="3b98f8e0-d449-4f6e-b57d-5f9bfb7a5c2c" providerId="ADAL" clId="{88A10E76-C547-4713-B92A-3B48010D5CF0}" dt="2025-12-16T08:20:29.758" v="27"/>
          <ac:spMkLst>
            <pc:docMk/>
            <pc:sldMk cId="2895819414" sldId="278"/>
            <ac:spMk id="15" creationId="{A2B7A311-281C-FD69-FDB3-75067AFB0BE5}"/>
          </ac:spMkLst>
        </pc:spChg>
      </pc:sldChg>
      <pc:sldChg chg="modSp mod">
        <pc:chgData name="Peter Javornický" userId="3b98f8e0-d449-4f6e-b57d-5f9bfb7a5c2c" providerId="ADAL" clId="{88A10E76-C547-4713-B92A-3B48010D5CF0}" dt="2025-12-16T08:21:17.837" v="30"/>
        <pc:sldMkLst>
          <pc:docMk/>
          <pc:sldMk cId="2270449164" sldId="279"/>
        </pc:sldMkLst>
        <pc:spChg chg="mod">
          <ac:chgData name="Peter Javornický" userId="3b98f8e0-d449-4f6e-b57d-5f9bfb7a5c2c" providerId="ADAL" clId="{88A10E76-C547-4713-B92A-3B48010D5CF0}" dt="2025-12-16T08:21:17.837" v="30"/>
          <ac:spMkLst>
            <pc:docMk/>
            <pc:sldMk cId="2270449164" sldId="279"/>
            <ac:spMk id="23" creationId="{40E9EF81-5DC9-3A08-A348-823FDD5F16CD}"/>
          </ac:spMkLst>
        </pc:spChg>
      </pc:sldChg>
      <pc:sldChg chg="modSp mod">
        <pc:chgData name="Peter Javornický" userId="3b98f8e0-d449-4f6e-b57d-5f9bfb7a5c2c" providerId="ADAL" clId="{88A10E76-C547-4713-B92A-3B48010D5CF0}" dt="2025-12-16T08:21:59.806" v="33"/>
        <pc:sldMkLst>
          <pc:docMk/>
          <pc:sldMk cId="2577955923" sldId="280"/>
        </pc:sldMkLst>
        <pc:spChg chg="mod">
          <ac:chgData name="Peter Javornický" userId="3b98f8e0-d449-4f6e-b57d-5f9bfb7a5c2c" providerId="ADAL" clId="{88A10E76-C547-4713-B92A-3B48010D5CF0}" dt="2025-12-16T08:21:59.806" v="33"/>
          <ac:spMkLst>
            <pc:docMk/>
            <pc:sldMk cId="2577955923" sldId="280"/>
            <ac:spMk id="14" creationId="{3508B767-0564-750A-D90F-F07E9F080224}"/>
          </ac:spMkLst>
        </pc:spChg>
      </pc:sldChg>
      <pc:sldChg chg="modSp mod">
        <pc:chgData name="Peter Javornický" userId="3b98f8e0-d449-4f6e-b57d-5f9bfb7a5c2c" providerId="ADAL" clId="{88A10E76-C547-4713-B92A-3B48010D5CF0}" dt="2025-12-16T08:22:52.241" v="36"/>
        <pc:sldMkLst>
          <pc:docMk/>
          <pc:sldMk cId="3820080283" sldId="281"/>
        </pc:sldMkLst>
        <pc:spChg chg="mod">
          <ac:chgData name="Peter Javornický" userId="3b98f8e0-d449-4f6e-b57d-5f9bfb7a5c2c" providerId="ADAL" clId="{88A10E76-C547-4713-B92A-3B48010D5CF0}" dt="2025-12-16T08:22:52.241" v="36"/>
          <ac:spMkLst>
            <pc:docMk/>
            <pc:sldMk cId="3820080283" sldId="281"/>
            <ac:spMk id="15" creationId="{23FC829F-190D-FCDB-8BCE-B3C54BCE7E24}"/>
          </ac:spMkLst>
        </pc:spChg>
      </pc:sldChg>
      <pc:sldChg chg="modSp mod">
        <pc:chgData name="Peter Javornický" userId="3b98f8e0-d449-4f6e-b57d-5f9bfb7a5c2c" providerId="ADAL" clId="{88A10E76-C547-4713-B92A-3B48010D5CF0}" dt="2025-12-16T08:23:37.389" v="39"/>
        <pc:sldMkLst>
          <pc:docMk/>
          <pc:sldMk cId="177573063" sldId="282"/>
        </pc:sldMkLst>
        <pc:spChg chg="mod">
          <ac:chgData name="Peter Javornický" userId="3b98f8e0-d449-4f6e-b57d-5f9bfb7a5c2c" providerId="ADAL" clId="{88A10E76-C547-4713-B92A-3B48010D5CF0}" dt="2025-12-16T08:23:37.389" v="39"/>
          <ac:spMkLst>
            <pc:docMk/>
            <pc:sldMk cId="177573063" sldId="282"/>
            <ac:spMk id="18" creationId="{A30F4D9E-0DAE-5BF5-BBED-A6B72CE567C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8428576-1518-49B0-AA00-14C05CA98206}" type="datetimeFigureOut">
              <a:rPr lang="en-US" smtClean="0"/>
              <a:t>12/16/2025</a:t>
            </a:fld>
            <a:endParaRPr lang="en-US"/>
          </a:p>
        </p:txBody>
      </p:sp>
      <p:sp>
        <p:nvSpPr>
          <p:cNvPr id="4" name="Slide Image Placeholder 3"/>
          <p:cNvSpPr>
            <a:spLocks noGrp="1" noRot="1" noChangeAspect="1"/>
          </p:cNvSpPr>
          <p:nvPr>
            <p:ph type="sldImg" idx="2"/>
          </p:nvPr>
        </p:nvSpPr>
        <p:spPr>
          <a:xfrm>
            <a:off x="2449513" y="1143000"/>
            <a:ext cx="195897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22E046B-D405-48ED-9E04-8643E3702DCC}" type="slidenum">
              <a:rPr lang="en-US" smtClean="0"/>
              <a:t>‹#›</a:t>
            </a:fld>
            <a:endParaRPr lang="en-US"/>
          </a:p>
        </p:txBody>
      </p:sp>
    </p:spTree>
    <p:extLst>
      <p:ext uri="{BB962C8B-B14F-4D97-AF65-F5344CB8AC3E}">
        <p14:creationId xmlns:p14="http://schemas.microsoft.com/office/powerpoint/2010/main" val="8579931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cs-CZ" sz="1200" dirty="0"/>
              <a:t>Concept 1 - Powerball</a:t>
            </a:r>
          </a:p>
        </p:txBody>
      </p:sp>
      <p:sp>
        <p:nvSpPr>
          <p:cNvPr id="4" name="Slide Number Placeholder 3"/>
          <p:cNvSpPr>
            <a:spLocks noGrp="1"/>
          </p:cNvSpPr>
          <p:nvPr>
            <p:ph type="sldNum" sz="quarter" idx="5"/>
          </p:nvPr>
        </p:nvSpPr>
        <p:spPr/>
        <p:txBody>
          <a:bodyPr/>
          <a:lstStyle/>
          <a:p>
            <a:fld id="{F22E046B-D405-48ED-9E04-8643E3702DCC}" type="slidenum">
              <a:rPr lang="en-US" smtClean="0"/>
              <a:t>1</a:t>
            </a:fld>
            <a:endParaRPr lang="en-US"/>
          </a:p>
        </p:txBody>
      </p:sp>
    </p:spTree>
    <p:extLst>
      <p:ext uri="{BB962C8B-B14F-4D97-AF65-F5344CB8AC3E}">
        <p14:creationId xmlns:p14="http://schemas.microsoft.com/office/powerpoint/2010/main" val="25320620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cs-CZ" sz="1200" dirty="0"/>
              <a:t>Concept 2 - MegaMillions</a:t>
            </a:r>
          </a:p>
        </p:txBody>
      </p:sp>
      <p:sp>
        <p:nvSpPr>
          <p:cNvPr id="4" name="Slide Number Placeholder 3"/>
          <p:cNvSpPr>
            <a:spLocks noGrp="1"/>
          </p:cNvSpPr>
          <p:nvPr>
            <p:ph type="sldNum" sz="quarter" idx="5"/>
          </p:nvPr>
        </p:nvSpPr>
        <p:spPr/>
        <p:txBody>
          <a:bodyPr/>
          <a:lstStyle/>
          <a:p>
            <a:fld id="{F22E046B-D405-48ED-9E04-8643E3702DCC}" type="slidenum">
              <a:rPr lang="en-US" smtClean="0"/>
              <a:t>2</a:t>
            </a:fld>
            <a:endParaRPr lang="en-US"/>
          </a:p>
        </p:txBody>
      </p:sp>
    </p:spTree>
    <p:extLst>
      <p:ext uri="{BB962C8B-B14F-4D97-AF65-F5344CB8AC3E}">
        <p14:creationId xmlns:p14="http://schemas.microsoft.com/office/powerpoint/2010/main" val="40110916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cs-CZ" sz="1200" dirty="0"/>
              <a:t>Concept 3 – Omaze-inspired</a:t>
            </a:r>
          </a:p>
        </p:txBody>
      </p:sp>
      <p:sp>
        <p:nvSpPr>
          <p:cNvPr id="4" name="Slide Number Placeholder 3"/>
          <p:cNvSpPr>
            <a:spLocks noGrp="1"/>
          </p:cNvSpPr>
          <p:nvPr>
            <p:ph type="sldNum" sz="quarter" idx="5"/>
          </p:nvPr>
        </p:nvSpPr>
        <p:spPr/>
        <p:txBody>
          <a:bodyPr/>
          <a:lstStyle/>
          <a:p>
            <a:fld id="{F22E046B-D405-48ED-9E04-8643E3702DCC}" type="slidenum">
              <a:rPr lang="en-US" smtClean="0"/>
              <a:t>3</a:t>
            </a:fld>
            <a:endParaRPr lang="en-US"/>
          </a:p>
        </p:txBody>
      </p:sp>
    </p:spTree>
    <p:extLst>
      <p:ext uri="{BB962C8B-B14F-4D97-AF65-F5344CB8AC3E}">
        <p14:creationId xmlns:p14="http://schemas.microsoft.com/office/powerpoint/2010/main" val="3675616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cs-CZ" sz="1200" dirty="0"/>
              <a:t>Concept 4 – Progressive annuity</a:t>
            </a:r>
          </a:p>
        </p:txBody>
      </p:sp>
      <p:sp>
        <p:nvSpPr>
          <p:cNvPr id="4" name="Slide Number Placeholder 3"/>
          <p:cNvSpPr>
            <a:spLocks noGrp="1"/>
          </p:cNvSpPr>
          <p:nvPr>
            <p:ph type="sldNum" sz="quarter" idx="5"/>
          </p:nvPr>
        </p:nvSpPr>
        <p:spPr/>
        <p:txBody>
          <a:bodyPr/>
          <a:lstStyle/>
          <a:p>
            <a:fld id="{F22E046B-D405-48ED-9E04-8643E3702DCC}" type="slidenum">
              <a:rPr lang="en-US" smtClean="0"/>
              <a:t>4</a:t>
            </a:fld>
            <a:endParaRPr lang="en-US"/>
          </a:p>
        </p:txBody>
      </p:sp>
    </p:spTree>
    <p:extLst>
      <p:ext uri="{BB962C8B-B14F-4D97-AF65-F5344CB8AC3E}">
        <p14:creationId xmlns:p14="http://schemas.microsoft.com/office/powerpoint/2010/main" val="30371395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cs-CZ" sz="1200" dirty="0"/>
              <a:t>Concept 5 – Daily Millionaire</a:t>
            </a:r>
          </a:p>
        </p:txBody>
      </p:sp>
      <p:sp>
        <p:nvSpPr>
          <p:cNvPr id="4" name="Slide Number Placeholder 3"/>
          <p:cNvSpPr>
            <a:spLocks noGrp="1"/>
          </p:cNvSpPr>
          <p:nvPr>
            <p:ph type="sldNum" sz="quarter" idx="5"/>
          </p:nvPr>
        </p:nvSpPr>
        <p:spPr/>
        <p:txBody>
          <a:bodyPr/>
          <a:lstStyle/>
          <a:p>
            <a:fld id="{F22E046B-D405-48ED-9E04-8643E3702DCC}" type="slidenum">
              <a:rPr lang="en-US" smtClean="0"/>
              <a:t>5</a:t>
            </a:fld>
            <a:endParaRPr lang="en-US"/>
          </a:p>
        </p:txBody>
      </p:sp>
    </p:spTree>
    <p:extLst>
      <p:ext uri="{BB962C8B-B14F-4D97-AF65-F5344CB8AC3E}">
        <p14:creationId xmlns:p14="http://schemas.microsoft.com/office/powerpoint/2010/main" val="24166121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cs-CZ" sz="1200" dirty="0"/>
              <a:t>Concept 6 – New Years Eve 13 millionaires</a:t>
            </a:r>
          </a:p>
        </p:txBody>
      </p:sp>
      <p:sp>
        <p:nvSpPr>
          <p:cNvPr id="4" name="Slide Number Placeholder 3"/>
          <p:cNvSpPr>
            <a:spLocks noGrp="1"/>
          </p:cNvSpPr>
          <p:nvPr>
            <p:ph type="sldNum" sz="quarter" idx="5"/>
          </p:nvPr>
        </p:nvSpPr>
        <p:spPr/>
        <p:txBody>
          <a:bodyPr/>
          <a:lstStyle/>
          <a:p>
            <a:fld id="{F22E046B-D405-48ED-9E04-8643E3702DCC}" type="slidenum">
              <a:rPr lang="en-US" smtClean="0"/>
              <a:t>6</a:t>
            </a:fld>
            <a:endParaRPr lang="en-US"/>
          </a:p>
        </p:txBody>
      </p:sp>
    </p:spTree>
    <p:extLst>
      <p:ext uri="{BB962C8B-B14F-4D97-AF65-F5344CB8AC3E}">
        <p14:creationId xmlns:p14="http://schemas.microsoft.com/office/powerpoint/2010/main" val="37958093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cs-CZ" sz="1200" dirty="0"/>
              <a:t>Concept 7 – Millionaires Flood</a:t>
            </a:r>
          </a:p>
        </p:txBody>
      </p:sp>
      <p:sp>
        <p:nvSpPr>
          <p:cNvPr id="4" name="Slide Number Placeholder 3"/>
          <p:cNvSpPr>
            <a:spLocks noGrp="1"/>
          </p:cNvSpPr>
          <p:nvPr>
            <p:ph type="sldNum" sz="quarter" idx="5"/>
          </p:nvPr>
        </p:nvSpPr>
        <p:spPr/>
        <p:txBody>
          <a:bodyPr/>
          <a:lstStyle/>
          <a:p>
            <a:fld id="{F22E046B-D405-48ED-9E04-8643E3702DCC}" type="slidenum">
              <a:rPr lang="en-US" smtClean="0"/>
              <a:t>7</a:t>
            </a:fld>
            <a:endParaRPr lang="en-US"/>
          </a:p>
        </p:txBody>
      </p:sp>
    </p:spTree>
    <p:extLst>
      <p:ext uri="{BB962C8B-B14F-4D97-AF65-F5344CB8AC3E}">
        <p14:creationId xmlns:p14="http://schemas.microsoft.com/office/powerpoint/2010/main" val="64733146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cs-CZ" sz="1200" dirty="0"/>
              <a:t>Concept 8 – Real estate prizes added to Eurojackpot</a:t>
            </a:r>
          </a:p>
        </p:txBody>
      </p:sp>
      <p:sp>
        <p:nvSpPr>
          <p:cNvPr id="4" name="Slide Number Placeholder 3"/>
          <p:cNvSpPr>
            <a:spLocks noGrp="1"/>
          </p:cNvSpPr>
          <p:nvPr>
            <p:ph type="sldNum" sz="quarter" idx="5"/>
          </p:nvPr>
        </p:nvSpPr>
        <p:spPr/>
        <p:txBody>
          <a:bodyPr/>
          <a:lstStyle/>
          <a:p>
            <a:fld id="{F22E046B-D405-48ED-9E04-8643E3702DCC}" type="slidenum">
              <a:rPr lang="en-US" smtClean="0"/>
              <a:t>8</a:t>
            </a:fld>
            <a:endParaRPr lang="en-US"/>
          </a:p>
        </p:txBody>
      </p:sp>
    </p:spTree>
    <p:extLst>
      <p:ext uri="{BB962C8B-B14F-4D97-AF65-F5344CB8AC3E}">
        <p14:creationId xmlns:p14="http://schemas.microsoft.com/office/powerpoint/2010/main" val="18940784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cs-CZ" sz="1200" dirty="0"/>
              <a:t>Concept 9 – Experiential prizes added to annuity lottery (Greek Lotto)</a:t>
            </a:r>
          </a:p>
        </p:txBody>
      </p:sp>
      <p:sp>
        <p:nvSpPr>
          <p:cNvPr id="4" name="Slide Number Placeholder 3"/>
          <p:cNvSpPr>
            <a:spLocks noGrp="1"/>
          </p:cNvSpPr>
          <p:nvPr>
            <p:ph type="sldNum" sz="quarter" idx="5"/>
          </p:nvPr>
        </p:nvSpPr>
        <p:spPr/>
        <p:txBody>
          <a:bodyPr/>
          <a:lstStyle/>
          <a:p>
            <a:fld id="{F22E046B-D405-48ED-9E04-8643E3702DCC}" type="slidenum">
              <a:rPr lang="en-US" smtClean="0"/>
              <a:t>9</a:t>
            </a:fld>
            <a:endParaRPr lang="en-US"/>
          </a:p>
        </p:txBody>
      </p:sp>
    </p:spTree>
    <p:extLst>
      <p:ext uri="{BB962C8B-B14F-4D97-AF65-F5344CB8AC3E}">
        <p14:creationId xmlns:p14="http://schemas.microsoft.com/office/powerpoint/2010/main" val="379692665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cs-CZ" sz="1200" dirty="0"/>
              <a:t>Concept 10 – Eurojackpot (benchmark)</a:t>
            </a:r>
          </a:p>
        </p:txBody>
      </p:sp>
      <p:sp>
        <p:nvSpPr>
          <p:cNvPr id="4" name="Slide Number Placeholder 3"/>
          <p:cNvSpPr>
            <a:spLocks noGrp="1"/>
          </p:cNvSpPr>
          <p:nvPr>
            <p:ph type="sldNum" sz="quarter" idx="5"/>
          </p:nvPr>
        </p:nvSpPr>
        <p:spPr/>
        <p:txBody>
          <a:bodyPr/>
          <a:lstStyle/>
          <a:p>
            <a:fld id="{F22E046B-D405-48ED-9E04-8643E3702DCC}" type="slidenum">
              <a:rPr lang="en-US" smtClean="0"/>
              <a:t>10</a:t>
            </a:fld>
            <a:endParaRPr lang="en-US"/>
          </a:p>
        </p:txBody>
      </p:sp>
    </p:spTree>
    <p:extLst>
      <p:ext uri="{BB962C8B-B14F-4D97-AF65-F5344CB8AC3E}">
        <p14:creationId xmlns:p14="http://schemas.microsoft.com/office/powerpoint/2010/main" val="190087522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cs-CZ" sz="1200" dirty="0"/>
              <a:t>Concept 11 – EuroDreams</a:t>
            </a:r>
            <a:r>
              <a:rPr lang="en-US" sz="1200" dirty="0"/>
              <a:t> </a:t>
            </a:r>
            <a:r>
              <a:rPr lang="cs-CZ" sz="1200" dirty="0"/>
              <a:t>(benchmark)</a:t>
            </a:r>
          </a:p>
        </p:txBody>
      </p:sp>
      <p:sp>
        <p:nvSpPr>
          <p:cNvPr id="4" name="Slide Number Placeholder 3"/>
          <p:cNvSpPr>
            <a:spLocks noGrp="1"/>
          </p:cNvSpPr>
          <p:nvPr>
            <p:ph type="sldNum" sz="quarter" idx="5"/>
          </p:nvPr>
        </p:nvSpPr>
        <p:spPr/>
        <p:txBody>
          <a:bodyPr/>
          <a:lstStyle/>
          <a:p>
            <a:fld id="{F22E046B-D405-48ED-9E04-8643E3702DCC}" type="slidenum">
              <a:rPr lang="en-US" smtClean="0"/>
              <a:t>11</a:t>
            </a:fld>
            <a:endParaRPr lang="en-US"/>
          </a:p>
        </p:txBody>
      </p:sp>
    </p:spTree>
    <p:extLst>
      <p:ext uri="{BB962C8B-B14F-4D97-AF65-F5344CB8AC3E}">
        <p14:creationId xmlns:p14="http://schemas.microsoft.com/office/powerpoint/2010/main" val="33487972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Koncept - Širší">
    <p:spTree>
      <p:nvGrpSpPr>
        <p:cNvPr id="1" name=""/>
        <p:cNvGrpSpPr/>
        <p:nvPr/>
      </p:nvGrpSpPr>
      <p:grpSpPr>
        <a:xfrm>
          <a:off x="0" y="0"/>
          <a:ext cx="0" cy="0"/>
          <a:chOff x="0" y="0"/>
          <a:chExt cx="0" cy="0"/>
        </a:xfrm>
      </p:grpSpPr>
      <p:sp>
        <p:nvSpPr>
          <p:cNvPr id="2" name="Title 1"/>
          <p:cNvSpPr>
            <a:spLocks noGrp="1"/>
          </p:cNvSpPr>
          <p:nvPr>
            <p:ph type="title"/>
          </p:nvPr>
        </p:nvSpPr>
        <p:spPr>
          <a:xfrm>
            <a:off x="225288" y="357050"/>
            <a:ext cx="6361042" cy="922506"/>
          </a:xfrm>
        </p:spPr>
        <p:txBody>
          <a:bodyPr/>
          <a:lstStyle/>
          <a:p>
            <a:r>
              <a:rPr lang="en-US" dirty="0"/>
              <a:t>Click to edit Master title style</a:t>
            </a:r>
          </a:p>
        </p:txBody>
      </p:sp>
      <p:sp>
        <p:nvSpPr>
          <p:cNvPr id="4" name="Text Placeholder 3">
            <a:extLst>
              <a:ext uri="{FF2B5EF4-FFF2-40B4-BE49-F238E27FC236}">
                <a16:creationId xmlns:a16="http://schemas.microsoft.com/office/drawing/2014/main" id="{3371AA04-A0F8-87B9-B272-01F3327D49CB}"/>
              </a:ext>
            </a:extLst>
          </p:cNvPr>
          <p:cNvSpPr>
            <a:spLocks noGrp="1"/>
          </p:cNvSpPr>
          <p:nvPr>
            <p:ph type="body" sz="quarter" idx="10"/>
          </p:nvPr>
        </p:nvSpPr>
        <p:spPr>
          <a:xfrm>
            <a:off x="225288" y="1279525"/>
            <a:ext cx="6361042" cy="9255953"/>
          </a:xfrm>
        </p:spPr>
        <p:txBody>
          <a:bodyPr>
            <a:normAutofit/>
          </a:bodyPr>
          <a:lstStyle>
            <a:lvl1pPr>
              <a:defRPr sz="3600"/>
            </a:lvl1pPr>
            <a:lvl2pPr>
              <a:defRPr sz="3600"/>
            </a:lvl2pPr>
            <a:lvl3pPr>
              <a:defRPr sz="3600"/>
            </a:lvl3pPr>
            <a:lvl4pPr>
              <a:defRPr sz="3600"/>
            </a:lvl4pPr>
            <a:lvl5pPr>
              <a:defRPr sz="3600"/>
            </a:lvl5pPr>
          </a:lstStyle>
          <a:p>
            <a:pPr lvl="0"/>
            <a:r>
              <a:rPr lang="en-US" dirty="0"/>
              <a:t>Click to edit Master text styles</a:t>
            </a:r>
          </a:p>
          <a:p>
            <a:pPr lvl="1"/>
            <a:r>
              <a:rPr lang="en-US" dirty="0"/>
              <a:t>Second level</a:t>
            </a:r>
          </a:p>
        </p:txBody>
      </p:sp>
    </p:spTree>
    <p:extLst>
      <p:ext uri="{BB962C8B-B14F-4D97-AF65-F5344CB8AC3E}">
        <p14:creationId xmlns:p14="http://schemas.microsoft.com/office/powerpoint/2010/main" val="9543878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Koncept Užší">
    <p:spTree>
      <p:nvGrpSpPr>
        <p:cNvPr id="1" name=""/>
        <p:cNvGrpSpPr/>
        <p:nvPr/>
      </p:nvGrpSpPr>
      <p:grpSpPr>
        <a:xfrm>
          <a:off x="0" y="0"/>
          <a:ext cx="0" cy="0"/>
          <a:chOff x="0" y="0"/>
          <a:chExt cx="0" cy="0"/>
        </a:xfrm>
      </p:grpSpPr>
    </p:spTree>
    <p:extLst>
      <p:ext uri="{BB962C8B-B14F-4D97-AF65-F5344CB8AC3E}">
        <p14:creationId xmlns:p14="http://schemas.microsoft.com/office/powerpoint/2010/main" val="36733643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dea">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3371AA04-A0F8-87B9-B272-01F3327D49CB}"/>
              </a:ext>
            </a:extLst>
          </p:cNvPr>
          <p:cNvSpPr>
            <a:spLocks noGrp="1"/>
          </p:cNvSpPr>
          <p:nvPr>
            <p:ph type="body" sz="quarter" idx="10"/>
          </p:nvPr>
        </p:nvSpPr>
        <p:spPr>
          <a:xfrm>
            <a:off x="119270" y="357809"/>
            <a:ext cx="6626087" cy="10177669"/>
          </a:xfrm>
        </p:spPr>
        <p:txBody>
          <a:bodyPr anchor="ctr">
            <a:normAutofit/>
          </a:bodyPr>
          <a:lstStyle>
            <a:lvl1pPr algn="ctr">
              <a:lnSpc>
                <a:spcPct val="100000"/>
              </a:lnSpc>
              <a:spcBef>
                <a:spcPts val="0"/>
              </a:spcBef>
              <a:defRPr sz="6600"/>
            </a:lvl1pPr>
            <a:lvl2pPr>
              <a:defRPr sz="4000"/>
            </a:lvl2pPr>
            <a:lvl3pPr>
              <a:defRPr sz="3600"/>
            </a:lvl3pPr>
            <a:lvl4pPr>
              <a:defRPr sz="3600"/>
            </a:lvl4pPr>
            <a:lvl5pPr>
              <a:defRPr sz="3600"/>
            </a:lvl5pPr>
          </a:lstStyle>
          <a:p>
            <a:pPr lvl="0"/>
            <a:r>
              <a:rPr lang="en-US" dirty="0"/>
              <a:t>Click to edit Master text styles</a:t>
            </a:r>
          </a:p>
        </p:txBody>
      </p:sp>
    </p:spTree>
    <p:extLst>
      <p:ext uri="{BB962C8B-B14F-4D97-AF65-F5344CB8AC3E}">
        <p14:creationId xmlns:p14="http://schemas.microsoft.com/office/powerpoint/2010/main" val="95777005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357050"/>
            <a:ext cx="5915025" cy="922506"/>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71488" y="1444488"/>
            <a:ext cx="5915025" cy="8998226"/>
          </a:xfrm>
          <a:prstGeom prst="rect">
            <a:avLst/>
          </a:prstGeom>
        </p:spPr>
        <p:txBody>
          <a:bodyPr vert="horz" lIns="91440" tIns="45720" rIns="91440" bIns="45720" rtlCol="0">
            <a:normAutofit/>
          </a:bodyPr>
          <a:lstStyle/>
          <a:p>
            <a:pPr lvl="0"/>
            <a:r>
              <a:rPr lang="en-US" dirty="0"/>
              <a:t>Click to edit Master text styles</a:t>
            </a:r>
          </a:p>
        </p:txBody>
      </p:sp>
    </p:spTree>
    <p:extLst>
      <p:ext uri="{BB962C8B-B14F-4D97-AF65-F5344CB8AC3E}">
        <p14:creationId xmlns:p14="http://schemas.microsoft.com/office/powerpoint/2010/main" val="3736371093"/>
      </p:ext>
    </p:extLst>
  </p:cSld>
  <p:clrMap bg1="lt1" tx1="dk1" bg2="lt2" tx2="dk2" accent1="accent1" accent2="accent2" accent3="accent3" accent4="accent4" accent5="accent5" accent6="accent6" hlink="hlink" folHlink="folHlink"/>
  <p:sldLayoutIdLst>
    <p:sldLayoutId id="2147483666" r:id="rId1"/>
    <p:sldLayoutId id="2147483667" r:id="rId2"/>
    <p:sldLayoutId id="2147483668" r:id="rId3"/>
  </p:sldLayoutIdLst>
  <p:txStyles>
    <p:titleStyle>
      <a:lvl1pPr algn="l" defTabSz="685800" rtl="0" eaLnBrk="1" latinLnBrk="0" hangingPunct="1">
        <a:lnSpc>
          <a:spcPct val="90000"/>
        </a:lnSpc>
        <a:spcBef>
          <a:spcPct val="0"/>
        </a:spcBef>
        <a:buNone/>
        <a:defRPr sz="3600" kern="1200">
          <a:solidFill>
            <a:schemeClr val="tx1"/>
          </a:solidFill>
          <a:latin typeface="+mn-lt"/>
          <a:ea typeface="+mj-ea"/>
          <a:cs typeface="+mj-cs"/>
        </a:defRPr>
      </a:lvl1pPr>
    </p:titleStyle>
    <p:bodyStyle>
      <a:lvl1pPr marL="0" indent="0" algn="l" defTabSz="685800" rtl="0" eaLnBrk="1" latinLnBrk="0" hangingPunct="1">
        <a:lnSpc>
          <a:spcPct val="90000"/>
        </a:lnSpc>
        <a:spcBef>
          <a:spcPts val="750"/>
        </a:spcBef>
        <a:buFontTx/>
        <a:buNone/>
        <a:defRPr sz="3600" kern="1200">
          <a:solidFill>
            <a:schemeClr val="tx1"/>
          </a:solidFill>
          <a:latin typeface="+mn-lt"/>
          <a:ea typeface="+mn-ea"/>
          <a:cs typeface="+mn-cs"/>
        </a:defRPr>
      </a:lvl1pPr>
      <a:lvl2pPr marL="342900" indent="0" algn="l" defTabSz="685800" rtl="0" eaLnBrk="1" latinLnBrk="0" hangingPunct="1">
        <a:lnSpc>
          <a:spcPct val="90000"/>
        </a:lnSpc>
        <a:spcBef>
          <a:spcPts val="375"/>
        </a:spcBef>
        <a:buFontTx/>
        <a:buNone/>
        <a:defRPr sz="1800" kern="1200">
          <a:solidFill>
            <a:schemeClr val="tx1"/>
          </a:solidFill>
          <a:latin typeface="+mn-lt"/>
          <a:ea typeface="+mn-ea"/>
          <a:cs typeface="+mn-cs"/>
        </a:defRPr>
      </a:lvl2pPr>
      <a:lvl3pPr marL="685800" indent="0" algn="l" defTabSz="685800" rtl="0" eaLnBrk="1" latinLnBrk="0" hangingPunct="1">
        <a:lnSpc>
          <a:spcPct val="90000"/>
        </a:lnSpc>
        <a:spcBef>
          <a:spcPts val="375"/>
        </a:spcBef>
        <a:buFontTx/>
        <a:buNone/>
        <a:defRPr sz="1500"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Tx/>
        <a:buNone/>
        <a:defRPr sz="1350"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Tx/>
        <a:buNone/>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9512753-E330-1E6C-98B0-A6568135A7CD}"/>
              </a:ext>
            </a:extLst>
          </p:cNvPr>
          <p:cNvPicPr>
            <a:picLocks noChangeAspect="1"/>
          </p:cNvPicPr>
          <p:nvPr/>
        </p:nvPicPr>
        <p:blipFill>
          <a:blip r:embed="rId3"/>
          <a:stretch>
            <a:fillRect/>
          </a:stretch>
        </p:blipFill>
        <p:spPr>
          <a:xfrm>
            <a:off x="317729" y="6515014"/>
            <a:ext cx="6222539" cy="4284750"/>
          </a:xfrm>
          <a:prstGeom prst="rect">
            <a:avLst/>
          </a:prstGeom>
        </p:spPr>
      </p:pic>
      <p:sp>
        <p:nvSpPr>
          <p:cNvPr id="4" name="Rectangle 3">
            <a:extLst>
              <a:ext uri="{FF2B5EF4-FFF2-40B4-BE49-F238E27FC236}">
                <a16:creationId xmlns:a16="http://schemas.microsoft.com/office/drawing/2014/main" id="{97AC7B6B-2C12-2FC7-4B61-26BDBC74F1F6}"/>
              </a:ext>
            </a:extLst>
          </p:cNvPr>
          <p:cNvSpPr/>
          <p:nvPr/>
        </p:nvSpPr>
        <p:spPr>
          <a:xfrm>
            <a:off x="0" y="-11916"/>
            <a:ext cx="6858000" cy="922475"/>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4502129-00D9-C538-5C9D-8BE935563DC8}"/>
              </a:ext>
            </a:extLst>
          </p:cNvPr>
          <p:cNvSpPr>
            <a:spLocks noGrp="1"/>
          </p:cNvSpPr>
          <p:nvPr>
            <p:ph type="title" idx="4294967295"/>
          </p:nvPr>
        </p:nvSpPr>
        <p:spPr>
          <a:xfrm>
            <a:off x="302952" y="20638"/>
            <a:ext cx="6384925" cy="922337"/>
          </a:xfrm>
        </p:spPr>
        <p:txBody>
          <a:bodyPr>
            <a:normAutofit fontScale="90000"/>
          </a:bodyPr>
          <a:lstStyle/>
          <a:p>
            <a:r>
              <a:rPr lang="cs-CZ" sz="2400" dirty="0" err="1"/>
              <a:t>Powerball</a:t>
            </a:r>
            <a:br>
              <a:rPr lang="cs-CZ" sz="2400" b="1" dirty="0"/>
            </a:br>
            <a:r>
              <a:rPr lang="el-GR" sz="2400" b="1" dirty="0"/>
              <a:t>Φανταστείτε ότι υπάρχει ένα νέο παιχνίδι λοταρίας που πρόκειται να κυκλοφορήσει:</a:t>
            </a:r>
          </a:p>
        </p:txBody>
      </p:sp>
      <p:sp>
        <p:nvSpPr>
          <p:cNvPr id="3" name="Text Placeholder 2">
            <a:extLst>
              <a:ext uri="{FF2B5EF4-FFF2-40B4-BE49-F238E27FC236}">
                <a16:creationId xmlns:a16="http://schemas.microsoft.com/office/drawing/2014/main" id="{2173771B-3D19-3D93-187F-DF1BE6DA3B6C}"/>
              </a:ext>
            </a:extLst>
          </p:cNvPr>
          <p:cNvSpPr>
            <a:spLocks noGrp="1"/>
          </p:cNvSpPr>
          <p:nvPr>
            <p:ph type="body" sz="quarter" idx="4294967295"/>
          </p:nvPr>
        </p:nvSpPr>
        <p:spPr>
          <a:xfrm>
            <a:off x="233550" y="942975"/>
            <a:ext cx="6400800" cy="5362575"/>
          </a:xfrm>
        </p:spPr>
        <p:txBody>
          <a:bodyPr>
            <a:noAutofit/>
          </a:bodyPr>
          <a:lstStyle/>
          <a:p>
            <a:pPr marL="0" indent="0" algn="just">
              <a:buNone/>
            </a:pPr>
            <a:r>
              <a:rPr lang="el-GR" sz="2000" dirty="0"/>
              <a:t>Αυτό το παιχνίδι λοταρίας θα προσφέρεται διεθνώς. Χάρη στο κοινό ταμείο μεταξύ πολλών συμμετεχουσών χωρών, αυτή </a:t>
            </a:r>
            <a:r>
              <a:rPr lang="el-GR" sz="2000" b="1" dirty="0"/>
              <a:t>είναι η μεγαλύτερη λοταρία στον κόσμο</a:t>
            </a:r>
            <a:r>
              <a:rPr lang="el-GR" sz="2000" dirty="0"/>
              <a:t>. Το τζακπότ της μπορεί να φτάσει πάνω από </a:t>
            </a:r>
            <a:r>
              <a:rPr lang="el-GR" sz="2000" b="1" dirty="0"/>
              <a:t>μισό δισεκατομμύριο Ευρώ</a:t>
            </a:r>
            <a:r>
              <a:rPr lang="el-GR" sz="2000" dirty="0"/>
              <a:t>. Ο μέσος όρος του τζακπότ είναι περίπου ένα τέταρτο του δισεκατομμυρίου Ευρώ. Το ελάχιστο επίπεδο του τζακπότ είναι εγγυημένο στα </a:t>
            </a:r>
            <a:r>
              <a:rPr lang="el-GR" sz="2000" b="1" dirty="0"/>
              <a:t>20 εκατομμύρια Ευρώ</a:t>
            </a:r>
            <a:r>
              <a:rPr lang="el-GR" sz="2000" dirty="0"/>
              <a:t>.</a:t>
            </a:r>
            <a:endParaRPr lang="cs-CZ" sz="2000" dirty="0"/>
          </a:p>
          <a:p>
            <a:pPr marL="0" indent="0" algn="just">
              <a:buNone/>
            </a:pPr>
            <a:r>
              <a:rPr lang="el-GR" sz="2000" dirty="0"/>
              <a:t>Για να συμμετάσχετε, επιλέγετε 5 αριθμούς από τους </a:t>
            </a:r>
            <a:br>
              <a:rPr lang="en-US" sz="2000" dirty="0"/>
            </a:br>
            <a:r>
              <a:rPr lang="el-GR" sz="2000" dirty="0"/>
              <a:t>69 και 1 αριθμό από τους 26 για κάθε γραμμή που παίζετε, ή απλά μια τυχαία επιλογή Quick Pick.</a:t>
            </a:r>
            <a:endParaRPr lang="cs-CZ" sz="2000" dirty="0"/>
          </a:p>
          <a:p>
            <a:pPr marL="0" indent="0" algn="just">
              <a:buNone/>
            </a:pPr>
            <a:r>
              <a:rPr lang="el-GR" sz="2000" dirty="0"/>
              <a:t>Η τιμή ανά συμμετοχή είναι </a:t>
            </a:r>
            <a:r>
              <a:rPr lang="el-GR" sz="2000" b="1" dirty="0"/>
              <a:t>4 Ευρώ</a:t>
            </a:r>
            <a:r>
              <a:rPr lang="el-GR" sz="2000" dirty="0"/>
              <a:t>. Για αυτή την τιμή, παίρνετε </a:t>
            </a:r>
            <a:r>
              <a:rPr lang="el-GR" sz="2000" b="1" dirty="0"/>
              <a:t>2 γραμμές</a:t>
            </a:r>
            <a:r>
              <a:rPr lang="el-GR" sz="2000" dirty="0"/>
              <a:t>, δηλαδή δύο ευκαιρίες να ταιριάξετε τους 5+1 αριθμούς.Υπάρχουν τρεις κληρώσεις την εβδομάδα, που πραγματοποιούνται κάθε Δευτέρα, Τετάρτη και Σάββατο. Το κορυφαίο έπαθλο κερδίζεται (θεωρητικά) 4-5 φορές το χρόνο.</a:t>
            </a:r>
            <a:endParaRPr lang="cs-CZ" sz="2000" dirty="0"/>
          </a:p>
          <a:p>
            <a:pPr marL="0" indent="0" algn="just">
              <a:buNone/>
            </a:pPr>
            <a:r>
              <a:rPr lang="el-GR" sz="2000" dirty="0"/>
              <a:t>Στην Ελλάδα, αυτό το παιχνίδι θα προσφερόταν σε όλα τα σημεία πώλησης όπου μπορεί κανείς να αγοράσει λαχεία ή ξυστά, ή online σεφαρμογές.</a:t>
            </a:r>
            <a:endParaRPr lang="cs-CZ" sz="2000" dirty="0"/>
          </a:p>
          <a:p>
            <a:pPr marL="0" indent="0" algn="just">
              <a:buNone/>
            </a:pPr>
            <a:endParaRPr lang="cs-CZ" sz="2000" dirty="0"/>
          </a:p>
          <a:p>
            <a:pPr algn="just"/>
            <a:endParaRPr lang="cs-CZ" sz="2000" dirty="0"/>
          </a:p>
        </p:txBody>
      </p:sp>
    </p:spTree>
    <p:extLst>
      <p:ext uri="{BB962C8B-B14F-4D97-AF65-F5344CB8AC3E}">
        <p14:creationId xmlns:p14="http://schemas.microsoft.com/office/powerpoint/2010/main" val="36691629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EA6ABE0-40DD-0416-3154-F2A42615424D}"/>
              </a:ext>
            </a:extLst>
          </p:cNvPr>
          <p:cNvPicPr>
            <a:picLocks noChangeAspect="1"/>
          </p:cNvPicPr>
          <p:nvPr/>
        </p:nvPicPr>
        <p:blipFill>
          <a:blip r:embed="rId3"/>
          <a:stretch>
            <a:fillRect/>
          </a:stretch>
        </p:blipFill>
        <p:spPr>
          <a:xfrm>
            <a:off x="450843" y="6698332"/>
            <a:ext cx="5956314" cy="4101432"/>
          </a:xfrm>
          <a:prstGeom prst="rect">
            <a:avLst/>
          </a:prstGeom>
        </p:spPr>
      </p:pic>
      <p:sp>
        <p:nvSpPr>
          <p:cNvPr id="2" name="Rectangle 1">
            <a:extLst>
              <a:ext uri="{FF2B5EF4-FFF2-40B4-BE49-F238E27FC236}">
                <a16:creationId xmlns:a16="http://schemas.microsoft.com/office/drawing/2014/main" id="{B32A5337-BC66-EFE2-ACAB-7FC91F98B684}"/>
              </a:ext>
            </a:extLst>
          </p:cNvPr>
          <p:cNvSpPr/>
          <p:nvPr/>
        </p:nvSpPr>
        <p:spPr>
          <a:xfrm>
            <a:off x="0" y="-11915"/>
            <a:ext cx="6858000" cy="748982"/>
          </a:xfrm>
          <a:prstGeom prst="rect">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itle 1">
            <a:extLst>
              <a:ext uri="{FF2B5EF4-FFF2-40B4-BE49-F238E27FC236}">
                <a16:creationId xmlns:a16="http://schemas.microsoft.com/office/drawing/2014/main" id="{A669874F-89FA-6E78-114B-B92FDA79AFA0}"/>
              </a:ext>
            </a:extLst>
          </p:cNvPr>
          <p:cNvSpPr txBox="1">
            <a:spLocks/>
          </p:cNvSpPr>
          <p:nvPr/>
        </p:nvSpPr>
        <p:spPr>
          <a:xfrm>
            <a:off x="228523" y="-64427"/>
            <a:ext cx="6384925" cy="922337"/>
          </a:xfrm>
          <a:prstGeom prst="rect">
            <a:avLst/>
          </a:prstGeom>
        </p:spPr>
        <p:txBody>
          <a:bodyPr vert="horz" lIns="91440" tIns="45720" rIns="91440" bIns="45720" rtlCol="0" anchor="ctr">
            <a:normAutofit fontScale="92500" lnSpcReduction="10000"/>
          </a:bodyPr>
          <a:lstStyle>
            <a:lvl1pPr algn="l" defTabSz="685800" rtl="0" eaLnBrk="1" latinLnBrk="0" hangingPunct="1">
              <a:lnSpc>
                <a:spcPct val="90000"/>
              </a:lnSpc>
              <a:spcBef>
                <a:spcPct val="0"/>
              </a:spcBef>
              <a:buNone/>
              <a:defRPr sz="3600" kern="1200">
                <a:solidFill>
                  <a:schemeClr val="tx1"/>
                </a:solidFill>
                <a:latin typeface="+mn-lt"/>
                <a:ea typeface="+mj-ea"/>
                <a:cs typeface="+mj-cs"/>
              </a:defRPr>
            </a:lvl1pPr>
          </a:lstStyle>
          <a:p>
            <a:r>
              <a:rPr lang="cs-CZ" sz="2400" dirty="0" err="1"/>
              <a:t>MegaMillions</a:t>
            </a:r>
            <a:endParaRPr lang="cs-CZ" sz="2400" b="1" dirty="0"/>
          </a:p>
          <a:p>
            <a:r>
              <a:rPr lang="el-GR" sz="2400" b="1" dirty="0"/>
              <a:t>Φανταστείτε ότι υπάρχει ένα νέο παιχνίδι λοταρίας που πρόκειται να κυκλοφορήσει:</a:t>
            </a:r>
          </a:p>
        </p:txBody>
      </p:sp>
      <p:sp>
        <p:nvSpPr>
          <p:cNvPr id="22" name="Text Placeholder 2">
            <a:extLst>
              <a:ext uri="{FF2B5EF4-FFF2-40B4-BE49-F238E27FC236}">
                <a16:creationId xmlns:a16="http://schemas.microsoft.com/office/drawing/2014/main" id="{0F53A738-C1F6-0569-FD56-07C8D922BCF6}"/>
              </a:ext>
            </a:extLst>
          </p:cNvPr>
          <p:cNvSpPr txBox="1">
            <a:spLocks/>
          </p:cNvSpPr>
          <p:nvPr/>
        </p:nvSpPr>
        <p:spPr>
          <a:xfrm>
            <a:off x="223287" y="737066"/>
            <a:ext cx="6402569" cy="5362575"/>
          </a:xfrm>
          <a:prstGeom prst="rect">
            <a:avLst/>
          </a:prstGeom>
        </p:spPr>
        <p:txBody>
          <a:bodyPr vert="horz" lIns="91440" tIns="45720" rIns="91440" bIns="45720" rtlCol="0">
            <a:noAutofit/>
          </a:bodyPr>
          <a:lstStyle>
            <a:lvl1pPr marL="0" indent="0" algn="l" defTabSz="685800" rtl="0" eaLnBrk="1" latinLnBrk="0" hangingPunct="1">
              <a:lnSpc>
                <a:spcPct val="90000"/>
              </a:lnSpc>
              <a:spcBef>
                <a:spcPts val="750"/>
              </a:spcBef>
              <a:buFontTx/>
              <a:buNone/>
              <a:defRPr sz="3600" kern="1200">
                <a:solidFill>
                  <a:schemeClr val="tx1"/>
                </a:solidFill>
                <a:latin typeface="+mn-lt"/>
                <a:ea typeface="+mn-ea"/>
                <a:cs typeface="+mn-cs"/>
              </a:defRPr>
            </a:lvl1pPr>
            <a:lvl2pPr marL="342900" indent="0" algn="l" defTabSz="685800" rtl="0" eaLnBrk="1" latinLnBrk="0" hangingPunct="1">
              <a:lnSpc>
                <a:spcPct val="90000"/>
              </a:lnSpc>
              <a:spcBef>
                <a:spcPts val="375"/>
              </a:spcBef>
              <a:buFontTx/>
              <a:buNone/>
              <a:defRPr sz="1800" kern="1200">
                <a:solidFill>
                  <a:schemeClr val="tx1"/>
                </a:solidFill>
                <a:latin typeface="+mn-lt"/>
                <a:ea typeface="+mn-ea"/>
                <a:cs typeface="+mn-cs"/>
              </a:defRPr>
            </a:lvl2pPr>
            <a:lvl3pPr marL="685800" indent="0" algn="l" defTabSz="685800" rtl="0" eaLnBrk="1" latinLnBrk="0" hangingPunct="1">
              <a:lnSpc>
                <a:spcPct val="90000"/>
              </a:lnSpc>
              <a:spcBef>
                <a:spcPts val="375"/>
              </a:spcBef>
              <a:buFontTx/>
              <a:buNone/>
              <a:defRPr sz="1500"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Tx/>
              <a:buNone/>
              <a:defRPr sz="1350"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Tx/>
              <a:buNone/>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a:buNone/>
            </a:pPr>
            <a:r>
              <a:rPr lang="el-GR" sz="1600" dirty="0"/>
              <a:t>Αυτό το παιχνίδι λοταρίας θα προσφέρεται διεθνώς. Το τζακπότ του μπορεί να φτάσει έως και </a:t>
            </a:r>
            <a:r>
              <a:rPr lang="el-GR" sz="1600" b="1" dirty="0"/>
              <a:t>1 δισεκατομμύριο ευρώ</a:t>
            </a:r>
            <a:r>
              <a:rPr lang="el-GR" sz="1600" dirty="0"/>
              <a:t>. Ο μέσος όρος του τζακπότ είναι περίπου ένα τέταρτο του δισεκατομμυρίου ευρώ. Το ελάχιστο επίπεδο του τζακπότ είναι εγγυημένο στα </a:t>
            </a:r>
            <a:br>
              <a:rPr lang="en-US" sz="1600" dirty="0"/>
            </a:br>
            <a:r>
              <a:rPr lang="el-GR" sz="1600" dirty="0"/>
              <a:t>50 εκατομμύρια ευρώ. </a:t>
            </a:r>
            <a:r>
              <a:rPr lang="el-GR" sz="1600" b="1" dirty="0"/>
              <a:t>Το τζακπότ καταβάλλεται σε ετήσιες δόσεις για 30 χρόνια</a:t>
            </a:r>
            <a:r>
              <a:rPr lang="el-GR" sz="1600" dirty="0"/>
              <a:t>. Οι ετήσιες δόσεις θα αυξάνονται με την πάροδο του χρόνου για να προστατεύουν τους παίκτες από τον πληθωρισμό. </a:t>
            </a:r>
            <a:br>
              <a:rPr lang="en-US" sz="1600" dirty="0"/>
            </a:br>
            <a:r>
              <a:rPr lang="el-GR" sz="1600" dirty="0"/>
              <a:t>Οι πληρωμές μπορούν επίσης να κληρονομηθούν.</a:t>
            </a:r>
          </a:p>
          <a:p>
            <a:pPr marL="0" indent="0" algn="just">
              <a:buNone/>
            </a:pPr>
            <a:r>
              <a:rPr lang="el-GR" sz="1600" dirty="0"/>
              <a:t>Για να συμμετάσχετε, επιλέγετε 5 αριθμούς από τους </a:t>
            </a:r>
            <a:br>
              <a:rPr lang="en-US" sz="1600" dirty="0"/>
            </a:br>
            <a:r>
              <a:rPr lang="el-GR" sz="1600" dirty="0"/>
              <a:t>70 και 1 αριθμό από τους 25 για κάθε γραμμή που παίζετε, ή απλά μια τυχαία επιλογή Quick Pick.</a:t>
            </a:r>
          </a:p>
          <a:p>
            <a:pPr marL="0" indent="0" algn="just">
              <a:buNone/>
            </a:pPr>
            <a:r>
              <a:rPr lang="el-GR" sz="1600" dirty="0"/>
              <a:t>Μαζί με το κύριο παιχνίδι, υπάρχει επίσης ένα συμπληρωματικό παιχνίδι που πολλαπλασιάζει όλα τα κέρδη (εκτός από το τζακπότ) κατά 2, κατά 3, κατά 4 ή κατά 5. Ο αριθμός του Πολλαπλασιαστή κληρώνεται πριν από κάθε κλήρωση. Έτσι, οι παίκτες που κερδίζουν 1 εκατομμύριο στη δεύτερη κατηγορία βραβείων μπορούν να πολλαπλασιάσουν τα κέρδη τους σε 2, 3, 4 ή 5 εκατομμύρια ευρώ.</a:t>
            </a:r>
          </a:p>
          <a:p>
            <a:pPr marL="0" indent="0" algn="just">
              <a:buNone/>
            </a:pPr>
            <a:r>
              <a:rPr lang="el-GR" sz="1600" dirty="0"/>
              <a:t>Η τιμή ανά συμμετοχή είναι </a:t>
            </a:r>
            <a:r>
              <a:rPr lang="el-GR" sz="1600" b="1" dirty="0"/>
              <a:t>5 ευρώ</a:t>
            </a:r>
            <a:r>
              <a:rPr lang="el-GR" sz="1600" dirty="0"/>
              <a:t>. Για αυτή την τιμή, παίρνετε</a:t>
            </a:r>
            <a:br>
              <a:rPr lang="en-US" sz="1600" dirty="0"/>
            </a:br>
            <a:r>
              <a:rPr lang="el-GR" sz="1600" b="1" dirty="0"/>
              <a:t>1 γραμμή </a:t>
            </a:r>
            <a:r>
              <a:rPr lang="el-GR" sz="1600" dirty="0"/>
              <a:t>του κύριου παιχνιδιού </a:t>
            </a:r>
            <a:r>
              <a:rPr lang="el-GR" sz="1600" b="1" dirty="0"/>
              <a:t>και επίσης τον πολλαπλασιαστή ως συμπληρωματικό παιχνίδι</a:t>
            </a:r>
            <a:r>
              <a:rPr lang="el-GR" sz="1600" dirty="0"/>
              <a:t>.</a:t>
            </a:r>
          </a:p>
          <a:p>
            <a:pPr marL="0" indent="0" algn="just">
              <a:buNone/>
            </a:pPr>
            <a:r>
              <a:rPr lang="el-GR" sz="1600" dirty="0"/>
              <a:t>Υπάρχουν δύο κληρώσεις την εβδομάδα. Το κορυφαίο έπαθλο κερδίζεται (θεωρητικά) 4-5 φορές το χρόνο.</a:t>
            </a:r>
          </a:p>
          <a:p>
            <a:pPr marL="0" indent="0" algn="just">
              <a:buNone/>
            </a:pPr>
            <a:r>
              <a:rPr lang="el-GR" sz="1600" dirty="0"/>
              <a:t>Στην Ελλάδα, αυτό το παιχνίδι θα προσφερόταν σε όλα τα σημεία πώλησης όπου μπορεί κανείς να αγοράσει λαχεία ή ξυστά, ή online σεφαρμογές.</a:t>
            </a:r>
            <a:endParaRPr lang="cs-CZ" sz="1600" dirty="0"/>
          </a:p>
          <a:p>
            <a:pPr marL="0" indent="0" algn="just">
              <a:buNone/>
            </a:pPr>
            <a:endParaRPr lang="cs-CZ" sz="1600" dirty="0"/>
          </a:p>
        </p:txBody>
      </p:sp>
    </p:spTree>
    <p:extLst>
      <p:ext uri="{BB962C8B-B14F-4D97-AF65-F5344CB8AC3E}">
        <p14:creationId xmlns:p14="http://schemas.microsoft.com/office/powerpoint/2010/main" val="33858824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CDD9084-DFDB-3EFF-563A-3E59AA9A6568}"/>
              </a:ext>
            </a:extLst>
          </p:cNvPr>
          <p:cNvPicPr>
            <a:picLocks noChangeAspect="1"/>
          </p:cNvPicPr>
          <p:nvPr/>
        </p:nvPicPr>
        <p:blipFill>
          <a:blip r:embed="rId3"/>
          <a:stretch>
            <a:fillRect/>
          </a:stretch>
        </p:blipFill>
        <p:spPr>
          <a:xfrm>
            <a:off x="296948" y="7486706"/>
            <a:ext cx="6264102" cy="3108735"/>
          </a:xfrm>
          <a:prstGeom prst="rect">
            <a:avLst/>
          </a:prstGeom>
        </p:spPr>
      </p:pic>
      <p:sp>
        <p:nvSpPr>
          <p:cNvPr id="2" name="Rectangle 1">
            <a:extLst>
              <a:ext uri="{FF2B5EF4-FFF2-40B4-BE49-F238E27FC236}">
                <a16:creationId xmlns:a16="http://schemas.microsoft.com/office/drawing/2014/main" id="{03B3FB94-4012-160B-1083-22261E3531E4}"/>
              </a:ext>
            </a:extLst>
          </p:cNvPr>
          <p:cNvSpPr/>
          <p:nvPr/>
        </p:nvSpPr>
        <p:spPr>
          <a:xfrm>
            <a:off x="0" y="-11916"/>
            <a:ext cx="6858000" cy="837557"/>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itle 1">
            <a:extLst>
              <a:ext uri="{FF2B5EF4-FFF2-40B4-BE49-F238E27FC236}">
                <a16:creationId xmlns:a16="http://schemas.microsoft.com/office/drawing/2014/main" id="{E429CABF-1FF3-A85E-0EB7-30C550D607D9}"/>
              </a:ext>
            </a:extLst>
          </p:cNvPr>
          <p:cNvSpPr txBox="1">
            <a:spLocks/>
          </p:cNvSpPr>
          <p:nvPr/>
        </p:nvSpPr>
        <p:spPr>
          <a:xfrm>
            <a:off x="302952" y="20639"/>
            <a:ext cx="6384925" cy="805004"/>
          </a:xfrm>
          <a:prstGeom prst="rect">
            <a:avLst/>
          </a:prstGeom>
        </p:spPr>
        <p:txBody>
          <a:bodyPr vert="horz" lIns="91440" tIns="45720" rIns="91440" bIns="45720" rtlCol="0" anchor="ctr">
            <a:normAutofit fontScale="85000" lnSpcReduction="20000"/>
          </a:bodyPr>
          <a:lstStyle>
            <a:lvl1pPr algn="l" defTabSz="685800" rtl="0" eaLnBrk="1" latinLnBrk="0" hangingPunct="1">
              <a:lnSpc>
                <a:spcPct val="90000"/>
              </a:lnSpc>
              <a:spcBef>
                <a:spcPct val="0"/>
              </a:spcBef>
              <a:buNone/>
              <a:defRPr sz="3600" kern="1200">
                <a:solidFill>
                  <a:schemeClr val="tx1"/>
                </a:solidFill>
                <a:latin typeface="+mn-lt"/>
                <a:ea typeface="+mj-ea"/>
                <a:cs typeface="+mj-cs"/>
              </a:defRPr>
            </a:lvl1pPr>
          </a:lstStyle>
          <a:p>
            <a:r>
              <a:rPr lang="cs-CZ" sz="2400" dirty="0" err="1"/>
              <a:t>Omaze-inspired</a:t>
            </a:r>
            <a:endParaRPr lang="cs-CZ" sz="2400" b="1" dirty="0"/>
          </a:p>
          <a:p>
            <a:r>
              <a:rPr lang="el-GR" sz="2400" b="1" dirty="0"/>
              <a:t>Φανταστείτε ότι υπάρχει ένα νέο παιχνίδι λοταρίας που πρόκειται να κυκλοφορήσει:</a:t>
            </a:r>
          </a:p>
        </p:txBody>
      </p:sp>
      <p:sp>
        <p:nvSpPr>
          <p:cNvPr id="27" name="Text Placeholder 2">
            <a:extLst>
              <a:ext uri="{FF2B5EF4-FFF2-40B4-BE49-F238E27FC236}">
                <a16:creationId xmlns:a16="http://schemas.microsoft.com/office/drawing/2014/main" id="{E99B8C6B-1064-EEFB-E580-9ECF552E54AE}"/>
              </a:ext>
            </a:extLst>
          </p:cNvPr>
          <p:cNvSpPr txBox="1">
            <a:spLocks/>
          </p:cNvSpPr>
          <p:nvPr/>
        </p:nvSpPr>
        <p:spPr>
          <a:xfrm>
            <a:off x="170123" y="825642"/>
            <a:ext cx="6517753" cy="5362575"/>
          </a:xfrm>
          <a:prstGeom prst="rect">
            <a:avLst/>
          </a:prstGeom>
        </p:spPr>
        <p:txBody>
          <a:bodyPr vert="horz" lIns="91440" tIns="45720" rIns="91440" bIns="45720" rtlCol="0">
            <a:noAutofit/>
          </a:bodyPr>
          <a:lstStyle>
            <a:lvl1pPr marL="0" indent="0" algn="l" defTabSz="685800" rtl="0" eaLnBrk="1" latinLnBrk="0" hangingPunct="1">
              <a:lnSpc>
                <a:spcPct val="90000"/>
              </a:lnSpc>
              <a:spcBef>
                <a:spcPts val="750"/>
              </a:spcBef>
              <a:buFontTx/>
              <a:buNone/>
              <a:defRPr sz="3600" kern="1200">
                <a:solidFill>
                  <a:schemeClr val="tx1"/>
                </a:solidFill>
                <a:latin typeface="+mn-lt"/>
                <a:ea typeface="+mn-ea"/>
                <a:cs typeface="+mn-cs"/>
              </a:defRPr>
            </a:lvl1pPr>
            <a:lvl2pPr marL="342900" indent="0" algn="l" defTabSz="685800" rtl="0" eaLnBrk="1" latinLnBrk="0" hangingPunct="1">
              <a:lnSpc>
                <a:spcPct val="90000"/>
              </a:lnSpc>
              <a:spcBef>
                <a:spcPts val="375"/>
              </a:spcBef>
              <a:buFontTx/>
              <a:buNone/>
              <a:defRPr sz="1800" kern="1200">
                <a:solidFill>
                  <a:schemeClr val="tx1"/>
                </a:solidFill>
                <a:latin typeface="+mn-lt"/>
                <a:ea typeface="+mn-ea"/>
                <a:cs typeface="+mn-cs"/>
              </a:defRPr>
            </a:lvl2pPr>
            <a:lvl3pPr marL="685800" indent="0" algn="l" defTabSz="685800" rtl="0" eaLnBrk="1" latinLnBrk="0" hangingPunct="1">
              <a:lnSpc>
                <a:spcPct val="90000"/>
              </a:lnSpc>
              <a:spcBef>
                <a:spcPts val="375"/>
              </a:spcBef>
              <a:buFontTx/>
              <a:buNone/>
              <a:defRPr sz="1500"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Tx/>
              <a:buNone/>
              <a:defRPr sz="1350"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Tx/>
              <a:buNone/>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marR="0" lvl="0" indent="0" algn="just" defTabSz="685800" rtl="0" eaLnBrk="1" fontAlgn="auto" latinLnBrk="0" hangingPunct="1">
              <a:lnSpc>
                <a:spcPct val="107000"/>
              </a:lnSpc>
              <a:spcBef>
                <a:spcPts val="0"/>
              </a:spcBef>
              <a:spcAft>
                <a:spcPts val="800"/>
              </a:spcAft>
              <a:buClr>
                <a:srgbClr val="27E2CC"/>
              </a:buClr>
              <a:buSzTx/>
              <a:buFont typeface="Arial" panose="020B0604020202020204" pitchFamily="34" charset="0"/>
              <a:buNone/>
              <a:tabLst/>
              <a:defRPr/>
            </a:pPr>
            <a:r>
              <a:rPr kumimoji="0" lang="el-GR" sz="1600" b="0" i="0" u="none" strike="noStrike" kern="100" cap="none" spc="0" normalizeH="0" baseline="0" noProof="0" dirty="0">
                <a:ln>
                  <a:noFill/>
                </a:ln>
                <a:effectLst/>
                <a:uLnTx/>
                <a:uFillTx/>
                <a:ea typeface="Aptos" panose="020B0004020202020204" pitchFamily="34" charset="0"/>
                <a:cs typeface="Times New Roman" panose="02020603050405020304" pitchFamily="18" charset="0"/>
              </a:rPr>
              <a:t>Αυτή η λοταρία θα είναι ένας μηνιαίος κλήρος που θα παίζεται διεθνώς. Χάρη στο κοινό ταμείο, θα μπορούσε να προσφέρει αποκλειστικές ονειρικές κατοικίες κάθε μήνα. Μπορεί να είναι μια βίλα στην Κρήτη στην κλήρωση του Ιανουαρίου, στη συνέχεια μια πολυτελής έπαυλη στη Μύκονο τον Φεβρουάριο, ένα ρετιρέ με θέα την αρχαία Ρώμη ή ένα μπανγκαλόου στη Ρόδο.</a:t>
            </a:r>
          </a:p>
          <a:p>
            <a:pPr marL="0" marR="0" lvl="0" indent="0" algn="just" defTabSz="685800" rtl="0" eaLnBrk="1" fontAlgn="auto" latinLnBrk="0" hangingPunct="1">
              <a:lnSpc>
                <a:spcPct val="107000"/>
              </a:lnSpc>
              <a:spcBef>
                <a:spcPts val="0"/>
              </a:spcBef>
              <a:spcAft>
                <a:spcPts val="800"/>
              </a:spcAft>
              <a:buClr>
                <a:srgbClr val="27E2CC"/>
              </a:buClr>
              <a:buSzTx/>
              <a:buFont typeface="Arial" panose="020B0604020202020204" pitchFamily="34" charset="0"/>
              <a:buNone/>
              <a:tabLst/>
              <a:defRPr/>
            </a:pPr>
            <a:r>
              <a:rPr kumimoji="0" lang="el-GR" sz="1600" b="0" i="0" u="none" strike="noStrike" kern="100" cap="none" spc="0" normalizeH="0" baseline="0" noProof="0" dirty="0">
                <a:ln>
                  <a:noFill/>
                </a:ln>
                <a:effectLst/>
                <a:uLnTx/>
                <a:uFillTx/>
                <a:ea typeface="Aptos" panose="020B0004020202020204" pitchFamily="34" charset="0"/>
                <a:cs typeface="Times New Roman" panose="02020603050405020304" pitchFamily="18" charset="0"/>
              </a:rPr>
              <a:t>Θα υπάρχουν επίσης εκατοντάδες χρηματικά βραβεία των </a:t>
            </a:r>
            <a:br>
              <a:rPr kumimoji="0" lang="en-US" sz="1600" b="0" i="0" u="none" strike="noStrike" kern="100" cap="none" spc="0" normalizeH="0" baseline="0" noProof="0" dirty="0">
                <a:ln>
                  <a:noFill/>
                </a:ln>
                <a:effectLst/>
                <a:uLnTx/>
                <a:uFillTx/>
                <a:ea typeface="Aptos" panose="020B0004020202020204" pitchFamily="34" charset="0"/>
                <a:cs typeface="Times New Roman" panose="02020603050405020304" pitchFamily="18" charset="0"/>
              </a:rPr>
            </a:br>
            <a:r>
              <a:rPr kumimoji="0" lang="el-GR" sz="1600" b="1" i="0" u="none" strike="noStrike" kern="100" cap="none" spc="0" normalizeH="0" baseline="0" noProof="0" dirty="0">
                <a:ln>
                  <a:noFill/>
                </a:ln>
                <a:effectLst/>
                <a:uLnTx/>
                <a:uFillTx/>
                <a:ea typeface="Aptos" panose="020B0004020202020204" pitchFamily="34" charset="0"/>
                <a:cs typeface="Times New Roman" panose="02020603050405020304" pitchFamily="18" charset="0"/>
              </a:rPr>
              <a:t>25</a:t>
            </a:r>
            <a:r>
              <a:rPr kumimoji="0" lang="cs-CZ" sz="1600" b="1" i="0" u="none" strike="noStrike" kern="100" cap="none" spc="0" normalizeH="0" baseline="0" noProof="0" dirty="0">
                <a:ln>
                  <a:noFill/>
                </a:ln>
                <a:effectLst/>
                <a:uLnTx/>
                <a:uFillTx/>
                <a:ea typeface="Aptos" panose="020B0004020202020204" pitchFamily="34" charset="0"/>
                <a:cs typeface="Times New Roman" panose="02020603050405020304" pitchFamily="18" charset="0"/>
              </a:rPr>
              <a:t> </a:t>
            </a:r>
            <a:r>
              <a:rPr kumimoji="0" lang="el-GR" sz="1600" b="1" i="0" u="none" strike="noStrike" kern="100" cap="none" spc="0" normalizeH="0" baseline="0" noProof="0" dirty="0">
                <a:ln>
                  <a:noFill/>
                </a:ln>
                <a:effectLst/>
                <a:uLnTx/>
                <a:uFillTx/>
                <a:ea typeface="Aptos" panose="020B0004020202020204" pitchFamily="34" charset="0"/>
                <a:cs typeface="Times New Roman" panose="02020603050405020304" pitchFamily="18" charset="0"/>
              </a:rPr>
              <a:t>000 ευρώ</a:t>
            </a:r>
            <a:r>
              <a:rPr kumimoji="0" lang="el-GR" sz="1600" b="0" i="0" u="none" strike="noStrike" kern="100" cap="none" spc="0" normalizeH="0" baseline="0" noProof="0" dirty="0">
                <a:ln>
                  <a:noFill/>
                </a:ln>
                <a:effectLst/>
                <a:uLnTx/>
                <a:uFillTx/>
                <a:ea typeface="Aptos" panose="020B0004020202020204" pitchFamily="34" charset="0"/>
                <a:cs typeface="Times New Roman" panose="02020603050405020304" pitchFamily="18" charset="0"/>
              </a:rPr>
              <a:t>.</a:t>
            </a:r>
          </a:p>
          <a:p>
            <a:pPr marL="0" marR="0" lvl="0" indent="0" algn="just" defTabSz="685800" rtl="0" eaLnBrk="1" fontAlgn="auto" latinLnBrk="0" hangingPunct="1">
              <a:lnSpc>
                <a:spcPct val="107000"/>
              </a:lnSpc>
              <a:spcBef>
                <a:spcPts val="0"/>
              </a:spcBef>
              <a:spcAft>
                <a:spcPts val="800"/>
              </a:spcAft>
              <a:buClr>
                <a:srgbClr val="27E2CC"/>
              </a:buClr>
              <a:buSzTx/>
              <a:buFont typeface="Arial" panose="020B0604020202020204" pitchFamily="34" charset="0"/>
              <a:buNone/>
              <a:tabLst/>
              <a:defRPr/>
            </a:pPr>
            <a:r>
              <a:rPr kumimoji="0" lang="el-GR" sz="1600" b="0" i="0" u="none" strike="noStrike" kern="100" cap="none" spc="0" normalizeH="0" baseline="0" noProof="0" dirty="0">
                <a:ln>
                  <a:noFill/>
                </a:ln>
                <a:effectLst/>
                <a:uLnTx/>
                <a:uFillTx/>
                <a:ea typeface="Aptos" panose="020B0004020202020204" pitchFamily="34" charset="0"/>
                <a:cs typeface="Times New Roman" panose="02020603050405020304" pitchFamily="18" charset="0"/>
              </a:rPr>
              <a:t>Για να συμμετάσχετε στο παιχνίδι, δεν χρειάζεται να επιλέξετε αριθμούς. Η αγορά σας δημιουργεί έναν μοναδικό κωδικό που θα καταχωρηθεί σε μια βάση δεδομένων. Αυτό σημαίνει ότι όσο περισσότερες συμμετοχές αγοράζετε, τόσες περισσότερες φορές θα εμφανίζεται ο κωδικός σας στη βάση δεδομένων. Στο τέλος του μήνα, ο νικητής θα κληρώνεται χρησιμοποιώντας μια μηχανή τυχαίας επιλογής.</a:t>
            </a:r>
          </a:p>
          <a:p>
            <a:pPr marL="0" marR="0" lvl="0" indent="0" algn="just" defTabSz="685800" rtl="0" eaLnBrk="1" fontAlgn="auto" latinLnBrk="0" hangingPunct="1">
              <a:lnSpc>
                <a:spcPct val="107000"/>
              </a:lnSpc>
              <a:spcBef>
                <a:spcPts val="0"/>
              </a:spcBef>
              <a:spcAft>
                <a:spcPts val="800"/>
              </a:spcAft>
              <a:buClr>
                <a:srgbClr val="27E2CC"/>
              </a:buClr>
              <a:buSzTx/>
              <a:buFont typeface="Arial" panose="020B0604020202020204" pitchFamily="34" charset="0"/>
              <a:buNone/>
              <a:tabLst/>
              <a:defRPr/>
            </a:pPr>
            <a:r>
              <a:rPr kumimoji="0" lang="el-GR" sz="1600" b="0" i="0" u="none" strike="noStrike" kern="100" cap="none" spc="0" normalizeH="0" baseline="0" noProof="0" dirty="0">
                <a:ln>
                  <a:noFill/>
                </a:ln>
                <a:effectLst/>
                <a:uLnTx/>
                <a:uFillTx/>
                <a:ea typeface="Aptos" panose="020B0004020202020204" pitchFamily="34" charset="0"/>
                <a:cs typeface="Times New Roman" panose="02020603050405020304" pitchFamily="18" charset="0"/>
              </a:rPr>
              <a:t>Η μοναδική επιλογή αγοράς είναι η </a:t>
            </a:r>
            <a:r>
              <a:rPr kumimoji="0" lang="el-GR" sz="1600" b="1" i="0" u="none" strike="noStrike" kern="100" cap="none" spc="0" normalizeH="0" baseline="0" noProof="0" dirty="0">
                <a:ln>
                  <a:noFill/>
                </a:ln>
                <a:effectLst/>
                <a:uLnTx/>
                <a:uFillTx/>
                <a:ea typeface="Aptos" panose="020B0004020202020204" pitchFamily="34" charset="0"/>
                <a:cs typeface="Times New Roman" panose="02020603050405020304" pitchFamily="18" charset="0"/>
              </a:rPr>
              <a:t>διαδικτυακή συνδρομή</a:t>
            </a:r>
            <a:r>
              <a:rPr kumimoji="0" lang="el-GR" sz="1600" b="0" i="0" u="none" strike="noStrike" kern="100" cap="none" spc="0" normalizeH="0" baseline="0" noProof="0" dirty="0">
                <a:ln>
                  <a:noFill/>
                </a:ln>
                <a:effectLst/>
                <a:uLnTx/>
                <a:uFillTx/>
                <a:ea typeface="Aptos" panose="020B0004020202020204" pitchFamily="34" charset="0"/>
                <a:cs typeface="Times New Roman" panose="02020603050405020304" pitchFamily="18" charset="0"/>
              </a:rPr>
              <a:t>.</a:t>
            </a:r>
          </a:p>
          <a:p>
            <a:pPr marL="0" marR="0" lvl="0" indent="0" algn="just" defTabSz="685800" rtl="0" eaLnBrk="1" fontAlgn="auto" latinLnBrk="0" hangingPunct="1">
              <a:lnSpc>
                <a:spcPct val="107000"/>
              </a:lnSpc>
              <a:spcBef>
                <a:spcPts val="0"/>
              </a:spcBef>
              <a:spcAft>
                <a:spcPts val="800"/>
              </a:spcAft>
              <a:buClr>
                <a:srgbClr val="27E2CC"/>
              </a:buClr>
              <a:buSzTx/>
              <a:buFont typeface="Arial" panose="020B0604020202020204" pitchFamily="34" charset="0"/>
              <a:buNone/>
              <a:tabLst/>
              <a:defRPr/>
            </a:pPr>
            <a:r>
              <a:rPr kumimoji="0" lang="el-GR" sz="1600" b="0" i="0" u="none" strike="noStrike" kern="100" cap="none" spc="0" normalizeH="0" baseline="0" noProof="0" dirty="0">
                <a:ln>
                  <a:noFill/>
                </a:ln>
                <a:effectLst/>
                <a:uLnTx/>
                <a:uFillTx/>
                <a:ea typeface="Aptos" panose="020B0004020202020204" pitchFamily="34" charset="0"/>
                <a:cs typeface="Times New Roman" panose="02020603050405020304" pitchFamily="18" charset="0"/>
              </a:rPr>
              <a:t>Μπορείτε να επιλέξετε πόσες φορές θέλετε να καταχωρηθεί ο κωδικός σας στη βάση δεδομένων. Για </a:t>
            </a:r>
            <a:r>
              <a:rPr kumimoji="0" lang="el-GR" sz="1600" b="1" i="0" u="none" strike="noStrike" kern="100" cap="none" spc="0" normalizeH="0" baseline="0" noProof="0" dirty="0">
                <a:ln>
                  <a:noFill/>
                </a:ln>
                <a:effectLst/>
                <a:uLnTx/>
                <a:uFillTx/>
                <a:ea typeface="Aptos" panose="020B0004020202020204" pitchFamily="34" charset="0"/>
                <a:cs typeface="Times New Roman" panose="02020603050405020304" pitchFamily="18" charset="0"/>
              </a:rPr>
              <a:t>10 ευρώ </a:t>
            </a:r>
            <a:r>
              <a:rPr kumimoji="0" lang="el-GR" sz="1600" b="0" i="0" u="none" strike="noStrike" kern="100" cap="none" spc="0" normalizeH="0" baseline="0" noProof="0" dirty="0">
                <a:ln>
                  <a:noFill/>
                </a:ln>
                <a:effectLst/>
                <a:uLnTx/>
                <a:uFillTx/>
                <a:ea typeface="Aptos" panose="020B0004020202020204" pitchFamily="34" charset="0"/>
                <a:cs typeface="Times New Roman" panose="02020603050405020304" pitchFamily="18" charset="0"/>
              </a:rPr>
              <a:t>το μήνα, έχετε 30 συμμετοχές στον μηνιαίο κλήρο. Για </a:t>
            </a:r>
            <a:r>
              <a:rPr kumimoji="0" lang="el-GR" sz="1600" b="1" i="0" u="none" strike="noStrike" kern="100" cap="none" spc="0" normalizeH="0" baseline="0" noProof="0" dirty="0">
                <a:ln>
                  <a:noFill/>
                </a:ln>
                <a:effectLst/>
                <a:uLnTx/>
                <a:uFillTx/>
                <a:ea typeface="Aptos" panose="020B0004020202020204" pitchFamily="34" charset="0"/>
                <a:cs typeface="Times New Roman" panose="02020603050405020304" pitchFamily="18" charset="0"/>
              </a:rPr>
              <a:t>30 ευρώ </a:t>
            </a:r>
            <a:r>
              <a:rPr kumimoji="0" lang="el-GR" sz="1600" b="0" i="0" u="none" strike="noStrike" kern="100" cap="none" spc="0" normalizeH="0" baseline="0" noProof="0" dirty="0">
                <a:ln>
                  <a:noFill/>
                </a:ln>
                <a:effectLst/>
                <a:uLnTx/>
                <a:uFillTx/>
                <a:ea typeface="Aptos" panose="020B0004020202020204" pitchFamily="34" charset="0"/>
                <a:cs typeface="Times New Roman" panose="02020603050405020304" pitchFamily="18" charset="0"/>
              </a:rPr>
              <a:t>το μήνα, έχετε 100 συμμετοχές.</a:t>
            </a:r>
          </a:p>
          <a:p>
            <a:pPr marL="0" marR="0" lvl="0" indent="0" algn="just" defTabSz="685800" rtl="0" eaLnBrk="1" fontAlgn="auto" latinLnBrk="0" hangingPunct="1">
              <a:lnSpc>
                <a:spcPct val="107000"/>
              </a:lnSpc>
              <a:spcBef>
                <a:spcPts val="0"/>
              </a:spcBef>
              <a:spcAft>
                <a:spcPts val="800"/>
              </a:spcAft>
              <a:buClr>
                <a:srgbClr val="27E2CC"/>
              </a:buClr>
              <a:buSzTx/>
              <a:buFont typeface="Arial" panose="020B0604020202020204" pitchFamily="34" charset="0"/>
              <a:buNone/>
              <a:tabLst/>
              <a:defRPr/>
            </a:pPr>
            <a:r>
              <a:rPr kumimoji="0" lang="el-GR" sz="1600" b="0" i="0" u="none" strike="noStrike" kern="100" cap="none" spc="0" normalizeH="0" baseline="0" noProof="0" dirty="0">
                <a:ln>
                  <a:noFill/>
                </a:ln>
                <a:effectLst/>
                <a:uLnTx/>
                <a:uFillTx/>
                <a:ea typeface="Aptos" panose="020B0004020202020204" pitchFamily="34" charset="0"/>
                <a:cs typeface="Times New Roman" panose="02020603050405020304" pitchFamily="18" charset="0"/>
              </a:rPr>
              <a:t>Για εκείνους που συμμετέχουν σε όλες τις 12 κληρώσεις του έτους, θα υπάρχει μια δωρεάν Μεγάλη Κλήρωση την Πρωτοχρονιά με ένα </a:t>
            </a:r>
            <a:r>
              <a:rPr lang="el-GR" sz="1600" dirty="0"/>
              <a:t>βραβείο πολυεκατομμυρίων </a:t>
            </a:r>
            <a:r>
              <a:rPr kumimoji="0" lang="el-GR" sz="1600" b="0" i="0" u="none" strike="noStrike" kern="100" cap="none" spc="0" normalizeH="0" baseline="0" noProof="0" dirty="0">
                <a:ln>
                  <a:noFill/>
                </a:ln>
                <a:effectLst/>
                <a:uLnTx/>
                <a:uFillTx/>
                <a:ea typeface="Aptos" panose="020B0004020202020204" pitchFamily="34" charset="0"/>
                <a:cs typeface="Times New Roman" panose="02020603050405020304" pitchFamily="18" charset="0"/>
              </a:rPr>
              <a:t>πάνω από τα μηνιαία βραβεία.</a:t>
            </a:r>
          </a:p>
          <a:p>
            <a:pPr marL="0" marR="0" lvl="0" indent="0" algn="just" defTabSz="685800" rtl="0" eaLnBrk="1" fontAlgn="auto" latinLnBrk="0" hangingPunct="1">
              <a:lnSpc>
                <a:spcPct val="107000"/>
              </a:lnSpc>
              <a:spcBef>
                <a:spcPts val="0"/>
              </a:spcBef>
              <a:spcAft>
                <a:spcPts val="800"/>
              </a:spcAft>
              <a:buClr>
                <a:srgbClr val="27E2CC"/>
              </a:buClr>
              <a:buSzTx/>
              <a:buFont typeface="Arial" panose="020B0604020202020204" pitchFamily="34" charset="0"/>
              <a:buNone/>
              <a:tabLst/>
              <a:defRPr/>
            </a:pPr>
            <a:r>
              <a:rPr kumimoji="0" lang="el-GR" sz="1600" b="0" i="0" u="none" strike="noStrike" kern="100" cap="none" spc="0" normalizeH="0" baseline="0" noProof="0" dirty="0">
                <a:ln>
                  <a:noFill/>
                </a:ln>
                <a:effectLst/>
                <a:uLnTx/>
                <a:uFillTx/>
                <a:ea typeface="Aptos" panose="020B0004020202020204" pitchFamily="34" charset="0"/>
                <a:cs typeface="Times New Roman" panose="02020603050405020304" pitchFamily="18" charset="0"/>
              </a:rPr>
              <a:t>Η συνδρομή μπορεί να ακυρωθεί οποιαδήποτε στιγμή κατά τη διάρκεια του έτους.</a:t>
            </a:r>
            <a:endParaRPr lang="en-US" sz="1600" dirty="0"/>
          </a:p>
          <a:p>
            <a:pPr marL="0" indent="0" algn="just">
              <a:buNone/>
            </a:pPr>
            <a:endParaRPr lang="cs-CZ" sz="1600" dirty="0"/>
          </a:p>
        </p:txBody>
      </p:sp>
    </p:spTree>
    <p:extLst>
      <p:ext uri="{BB962C8B-B14F-4D97-AF65-F5344CB8AC3E}">
        <p14:creationId xmlns:p14="http://schemas.microsoft.com/office/powerpoint/2010/main" val="10364190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513EAE0-6EA6-C1E7-1D99-C75DFB7EBBF7}"/>
              </a:ext>
            </a:extLst>
          </p:cNvPr>
          <p:cNvPicPr>
            <a:picLocks noChangeAspect="1"/>
          </p:cNvPicPr>
          <p:nvPr/>
        </p:nvPicPr>
        <p:blipFill>
          <a:blip r:embed="rId3"/>
          <a:stretch>
            <a:fillRect/>
          </a:stretch>
        </p:blipFill>
        <p:spPr>
          <a:xfrm>
            <a:off x="302952" y="6098708"/>
            <a:ext cx="6283726" cy="4576361"/>
          </a:xfrm>
          <a:prstGeom prst="rect">
            <a:avLst/>
          </a:prstGeom>
        </p:spPr>
      </p:pic>
      <p:sp>
        <p:nvSpPr>
          <p:cNvPr id="2" name="Rectangle 1">
            <a:extLst>
              <a:ext uri="{FF2B5EF4-FFF2-40B4-BE49-F238E27FC236}">
                <a16:creationId xmlns:a16="http://schemas.microsoft.com/office/drawing/2014/main" id="{091BFA65-F05D-2A89-ED8F-98D5FDE81955}"/>
              </a:ext>
            </a:extLst>
          </p:cNvPr>
          <p:cNvSpPr/>
          <p:nvPr/>
        </p:nvSpPr>
        <p:spPr>
          <a:xfrm>
            <a:off x="0" y="-11915"/>
            <a:ext cx="6858000" cy="869916"/>
          </a:xfrm>
          <a:prstGeom prst="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itle 1">
            <a:extLst>
              <a:ext uri="{FF2B5EF4-FFF2-40B4-BE49-F238E27FC236}">
                <a16:creationId xmlns:a16="http://schemas.microsoft.com/office/drawing/2014/main" id="{89153A0E-BD1C-669D-A9E8-1FD97DABBBC9}"/>
              </a:ext>
            </a:extLst>
          </p:cNvPr>
          <p:cNvSpPr txBox="1">
            <a:spLocks/>
          </p:cNvSpPr>
          <p:nvPr/>
        </p:nvSpPr>
        <p:spPr>
          <a:xfrm>
            <a:off x="302952" y="20639"/>
            <a:ext cx="6384925" cy="869916"/>
          </a:xfrm>
          <a:prstGeom prst="rect">
            <a:avLst/>
          </a:prstGeom>
        </p:spPr>
        <p:txBody>
          <a:bodyPr vert="horz" lIns="91440" tIns="45720" rIns="91440" bIns="45720" rtlCol="0" anchor="ctr">
            <a:normAutofit fontScale="92500" lnSpcReduction="20000"/>
          </a:bodyPr>
          <a:lstStyle>
            <a:lvl1pPr algn="l" defTabSz="685800" rtl="0" eaLnBrk="1" latinLnBrk="0" hangingPunct="1">
              <a:lnSpc>
                <a:spcPct val="90000"/>
              </a:lnSpc>
              <a:spcBef>
                <a:spcPct val="0"/>
              </a:spcBef>
              <a:buNone/>
              <a:defRPr sz="3600" kern="1200">
                <a:solidFill>
                  <a:schemeClr val="tx1"/>
                </a:solidFill>
                <a:latin typeface="+mn-lt"/>
                <a:ea typeface="+mj-ea"/>
                <a:cs typeface="+mj-cs"/>
              </a:defRPr>
            </a:lvl1pPr>
          </a:lstStyle>
          <a:p>
            <a:r>
              <a:rPr lang="cs-CZ" sz="2400" dirty="0" err="1"/>
              <a:t>Progressive</a:t>
            </a:r>
            <a:r>
              <a:rPr lang="cs-CZ" sz="2400" dirty="0"/>
              <a:t> </a:t>
            </a:r>
            <a:r>
              <a:rPr lang="cs-CZ" sz="2400" dirty="0" err="1"/>
              <a:t>annuity</a:t>
            </a:r>
            <a:endParaRPr lang="cs-CZ" sz="2400" b="1" dirty="0"/>
          </a:p>
          <a:p>
            <a:r>
              <a:rPr lang="el-GR" sz="2400" b="1" dirty="0"/>
              <a:t>Φανταστείτε ότι υπάρχει ένα νέο παιχνίδι λοταρίας που πρόκειται να κυκλοφορήσει:</a:t>
            </a:r>
          </a:p>
        </p:txBody>
      </p:sp>
      <p:sp>
        <p:nvSpPr>
          <p:cNvPr id="28" name="Text Placeholder 2">
            <a:extLst>
              <a:ext uri="{FF2B5EF4-FFF2-40B4-BE49-F238E27FC236}">
                <a16:creationId xmlns:a16="http://schemas.microsoft.com/office/drawing/2014/main" id="{DD22262A-7D27-6C48-BD8D-1B4CBFAA5321}"/>
              </a:ext>
            </a:extLst>
          </p:cNvPr>
          <p:cNvSpPr txBox="1">
            <a:spLocks/>
          </p:cNvSpPr>
          <p:nvPr/>
        </p:nvSpPr>
        <p:spPr>
          <a:xfrm>
            <a:off x="217507" y="945418"/>
            <a:ext cx="6470369" cy="5362575"/>
          </a:xfrm>
          <a:prstGeom prst="rect">
            <a:avLst/>
          </a:prstGeom>
        </p:spPr>
        <p:txBody>
          <a:bodyPr vert="horz" lIns="91440" tIns="45720" rIns="91440" bIns="45720" rtlCol="0">
            <a:noAutofit/>
          </a:bodyPr>
          <a:lstStyle>
            <a:lvl1pPr marL="0" indent="0" algn="l" defTabSz="685800" rtl="0" eaLnBrk="1" latinLnBrk="0" hangingPunct="1">
              <a:lnSpc>
                <a:spcPct val="90000"/>
              </a:lnSpc>
              <a:spcBef>
                <a:spcPts val="750"/>
              </a:spcBef>
              <a:buFontTx/>
              <a:buNone/>
              <a:defRPr sz="3600" kern="1200">
                <a:solidFill>
                  <a:schemeClr val="tx1"/>
                </a:solidFill>
                <a:latin typeface="+mn-lt"/>
                <a:ea typeface="+mn-ea"/>
                <a:cs typeface="+mn-cs"/>
              </a:defRPr>
            </a:lvl1pPr>
            <a:lvl2pPr marL="342900" indent="0" algn="l" defTabSz="685800" rtl="0" eaLnBrk="1" latinLnBrk="0" hangingPunct="1">
              <a:lnSpc>
                <a:spcPct val="90000"/>
              </a:lnSpc>
              <a:spcBef>
                <a:spcPts val="375"/>
              </a:spcBef>
              <a:buFontTx/>
              <a:buNone/>
              <a:defRPr sz="1800" kern="1200">
                <a:solidFill>
                  <a:schemeClr val="tx1"/>
                </a:solidFill>
                <a:latin typeface="+mn-lt"/>
                <a:ea typeface="+mn-ea"/>
                <a:cs typeface="+mn-cs"/>
              </a:defRPr>
            </a:lvl2pPr>
            <a:lvl3pPr marL="685800" indent="0" algn="l" defTabSz="685800" rtl="0" eaLnBrk="1" latinLnBrk="0" hangingPunct="1">
              <a:lnSpc>
                <a:spcPct val="90000"/>
              </a:lnSpc>
              <a:spcBef>
                <a:spcPts val="375"/>
              </a:spcBef>
              <a:buFontTx/>
              <a:buNone/>
              <a:defRPr sz="1500"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Tx/>
              <a:buNone/>
              <a:defRPr sz="1350"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Tx/>
              <a:buNone/>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a:buNone/>
            </a:pPr>
            <a:r>
              <a:rPr lang="el-GR" sz="1800" dirty="0"/>
              <a:t>Αυτό το παιχνίδι λοταρίας θα προσφέρεται διεθνώς. Χάρη στο κοινό ταμείο μεταξύ των συμμετεχουσών χωρών, το παιχνίδι μπορεί να προσφέρει ένα σημαντικό κορυφαίο έπαθλο με τη μορφή ετήσιας πληρωμής, ξεκινώντας από ένα ελάχιστο ποσό των </a:t>
            </a:r>
            <a:r>
              <a:rPr lang="el-GR" sz="1800" b="1" dirty="0"/>
              <a:t>200</a:t>
            </a:r>
            <a:r>
              <a:rPr lang="cs-CZ" sz="1800" b="1" dirty="0"/>
              <a:t> </a:t>
            </a:r>
            <a:r>
              <a:rPr lang="el-GR" sz="1800" b="1" dirty="0"/>
              <a:t>000 ευρώ το</a:t>
            </a:r>
            <a:r>
              <a:rPr lang="en-US" sz="1800" b="1" dirty="0"/>
              <a:t> </a:t>
            </a:r>
            <a:r>
              <a:rPr lang="el-GR" sz="1800" b="1" dirty="0"/>
              <a:t>χρόνο</a:t>
            </a:r>
            <a:r>
              <a:rPr lang="en-US" sz="1800" b="1" dirty="0"/>
              <a:t> </a:t>
            </a:r>
            <a:r>
              <a:rPr lang="el-GR" sz="1800" b="1" dirty="0"/>
              <a:t>για</a:t>
            </a:r>
            <a:r>
              <a:rPr lang="en-US" sz="1800" b="1" dirty="0"/>
              <a:t> </a:t>
            </a:r>
            <a:r>
              <a:rPr lang="el-GR" sz="1800" b="1" dirty="0"/>
              <a:t>7 χρόνια</a:t>
            </a:r>
            <a:r>
              <a:rPr lang="el-GR" sz="1800" dirty="0"/>
              <a:t>, και δυνητικά φτάνοντας έως και</a:t>
            </a:r>
            <a:r>
              <a:rPr lang="en-US" sz="1800" dirty="0"/>
              <a:t> </a:t>
            </a:r>
            <a:r>
              <a:rPr lang="el-GR" sz="1800" dirty="0"/>
              <a:t>τα</a:t>
            </a:r>
            <a:r>
              <a:rPr lang="en-US" sz="1800" dirty="0"/>
              <a:t> </a:t>
            </a:r>
            <a:r>
              <a:rPr lang="el-GR" sz="1800" b="1" dirty="0"/>
              <a:t>5 εκατομμύρια ευρώ ετησίως για 7 χρόνια</a:t>
            </a:r>
            <a:r>
              <a:rPr lang="el-GR" sz="1800" dirty="0"/>
              <a:t>.</a:t>
            </a:r>
          </a:p>
          <a:p>
            <a:pPr marL="0" indent="0" algn="just">
              <a:buNone/>
            </a:pPr>
            <a:r>
              <a:rPr lang="el-GR" sz="1800" dirty="0"/>
              <a:t>Αν το κορυφαίο έπαθλο δεν κερδηθεί στον αρχικό γύρο, υπάρχει ανατροπή. Το κορυφαίο έπαθλο τότε αυξάνεται από 200</a:t>
            </a:r>
            <a:r>
              <a:rPr lang="cs-CZ" sz="1800" dirty="0"/>
              <a:t> </a:t>
            </a:r>
            <a:r>
              <a:rPr lang="el-GR" sz="1800" dirty="0"/>
              <a:t>000 ευρώ σε 270</a:t>
            </a:r>
            <a:r>
              <a:rPr lang="cs-CZ" sz="1800" dirty="0"/>
              <a:t> </a:t>
            </a:r>
            <a:r>
              <a:rPr lang="el-GR" sz="1800" dirty="0"/>
              <a:t>.000 ευρώ ετησίως για 7 χρόνια και συνεχίζει να αυξάνεται μετά από κάθε κλήρωση μέχρι να κερδηθεί.</a:t>
            </a:r>
          </a:p>
          <a:p>
            <a:pPr marL="0" indent="0" algn="just">
              <a:buNone/>
            </a:pPr>
            <a:r>
              <a:rPr lang="el-GR" sz="1800" dirty="0"/>
              <a:t>Για να συμμετάσχετε, επιλέγετε 7 αριθμούς από τους </a:t>
            </a:r>
            <a:br>
              <a:rPr lang="en-US" sz="1800" dirty="0"/>
            </a:br>
            <a:r>
              <a:rPr lang="el-GR" sz="1800" dirty="0"/>
              <a:t>45 ή επιλέγετε την επιλογή Quick Pick.</a:t>
            </a:r>
          </a:p>
          <a:p>
            <a:pPr marL="0" indent="0" algn="just">
              <a:buNone/>
            </a:pPr>
            <a:r>
              <a:rPr lang="el-GR" sz="1800" dirty="0"/>
              <a:t>Η τιμή ανά συμμετοχή είναι </a:t>
            </a:r>
            <a:r>
              <a:rPr lang="el-GR" sz="1800" b="1" dirty="0"/>
              <a:t>1,50 ευρώ</a:t>
            </a:r>
            <a:r>
              <a:rPr lang="el-GR" sz="1800" dirty="0"/>
              <a:t>.</a:t>
            </a:r>
          </a:p>
          <a:p>
            <a:pPr marL="0" indent="0" algn="just">
              <a:buNone/>
            </a:pPr>
            <a:r>
              <a:rPr lang="el-GR" sz="1800" dirty="0"/>
              <a:t>Υπάρχουν 2 κληρώσεις του παιχνιδιού την εβδομάδα. Το κορυφαίο έπαθλο θα κερδίζεται (θεωρητικά) μία φορά κάθε 10 εβδομάδες.</a:t>
            </a:r>
          </a:p>
          <a:p>
            <a:pPr marL="0" indent="0" algn="just">
              <a:buNone/>
            </a:pPr>
            <a:r>
              <a:rPr lang="el-GR" sz="1800" dirty="0"/>
              <a:t>Στην Ελλάδα, αυτό το παιχνίδι θα προσφερόταν σε όλα τα σημεία πώλησης όπου μπορεί κανείς να αγοράσει λαχεία ή ξυστά, ή online σεφαρμογές.</a:t>
            </a:r>
            <a:endParaRPr lang="cs-CZ" sz="1800" dirty="0"/>
          </a:p>
          <a:p>
            <a:pPr marL="0" indent="0" algn="just">
              <a:buNone/>
            </a:pPr>
            <a:endParaRPr lang="cs-CZ" sz="1800" dirty="0"/>
          </a:p>
          <a:p>
            <a:pPr algn="just"/>
            <a:endParaRPr lang="cs-CZ" sz="1800" dirty="0"/>
          </a:p>
        </p:txBody>
      </p:sp>
    </p:spTree>
    <p:extLst>
      <p:ext uri="{BB962C8B-B14F-4D97-AF65-F5344CB8AC3E}">
        <p14:creationId xmlns:p14="http://schemas.microsoft.com/office/powerpoint/2010/main" val="23003968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65F9491-1F72-04B6-F8A9-C8E94BE77602}"/>
              </a:ext>
            </a:extLst>
          </p:cNvPr>
          <p:cNvPicPr>
            <a:picLocks noChangeAspect="1"/>
          </p:cNvPicPr>
          <p:nvPr/>
        </p:nvPicPr>
        <p:blipFill>
          <a:blip r:embed="rId3"/>
          <a:stretch>
            <a:fillRect/>
          </a:stretch>
        </p:blipFill>
        <p:spPr>
          <a:xfrm>
            <a:off x="293675" y="6199979"/>
            <a:ext cx="6400798" cy="4415439"/>
          </a:xfrm>
          <a:prstGeom prst="rect">
            <a:avLst/>
          </a:prstGeom>
        </p:spPr>
      </p:pic>
      <p:sp>
        <p:nvSpPr>
          <p:cNvPr id="2" name="Rectangle 1">
            <a:extLst>
              <a:ext uri="{FF2B5EF4-FFF2-40B4-BE49-F238E27FC236}">
                <a16:creationId xmlns:a16="http://schemas.microsoft.com/office/drawing/2014/main" id="{20087118-E784-A1D7-D15B-0CC603DB63B2}"/>
              </a:ext>
            </a:extLst>
          </p:cNvPr>
          <p:cNvSpPr/>
          <p:nvPr/>
        </p:nvSpPr>
        <p:spPr>
          <a:xfrm>
            <a:off x="0" y="-11915"/>
            <a:ext cx="6858000" cy="908028"/>
          </a:xfrm>
          <a:prstGeom prst="rect">
            <a:avLst/>
          </a:prstGeom>
          <a:solidFill>
            <a:srgbClr val="F2A6E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itle 1">
            <a:extLst>
              <a:ext uri="{FF2B5EF4-FFF2-40B4-BE49-F238E27FC236}">
                <a16:creationId xmlns:a16="http://schemas.microsoft.com/office/drawing/2014/main" id="{108C060C-D3A8-7D72-6BB5-F7B8BF99C5CE}"/>
              </a:ext>
            </a:extLst>
          </p:cNvPr>
          <p:cNvSpPr txBox="1">
            <a:spLocks/>
          </p:cNvSpPr>
          <p:nvPr/>
        </p:nvSpPr>
        <p:spPr>
          <a:xfrm>
            <a:off x="302952" y="20639"/>
            <a:ext cx="6384925" cy="802322"/>
          </a:xfrm>
          <a:prstGeom prst="rect">
            <a:avLst/>
          </a:prstGeom>
        </p:spPr>
        <p:txBody>
          <a:bodyPr vert="horz" lIns="91440" tIns="45720" rIns="91440" bIns="45720" rtlCol="0" anchor="ctr">
            <a:normAutofit fontScale="85000" lnSpcReduction="20000"/>
          </a:bodyPr>
          <a:lstStyle>
            <a:lvl1pPr algn="l" defTabSz="685800" rtl="0" eaLnBrk="1" latinLnBrk="0" hangingPunct="1">
              <a:lnSpc>
                <a:spcPct val="90000"/>
              </a:lnSpc>
              <a:spcBef>
                <a:spcPct val="0"/>
              </a:spcBef>
              <a:buNone/>
              <a:defRPr sz="3600" kern="1200">
                <a:solidFill>
                  <a:schemeClr val="tx1"/>
                </a:solidFill>
                <a:latin typeface="+mn-lt"/>
                <a:ea typeface="+mj-ea"/>
                <a:cs typeface="+mj-cs"/>
              </a:defRPr>
            </a:lvl1pPr>
          </a:lstStyle>
          <a:p>
            <a:r>
              <a:rPr lang="cs-CZ" sz="2400" dirty="0" err="1"/>
              <a:t>Daily</a:t>
            </a:r>
            <a:r>
              <a:rPr lang="cs-CZ" sz="2400" dirty="0"/>
              <a:t> </a:t>
            </a:r>
            <a:r>
              <a:rPr lang="cs-CZ" sz="2400" dirty="0" err="1"/>
              <a:t>Millionaire</a:t>
            </a:r>
            <a:endParaRPr lang="cs-CZ" sz="2400" b="1" dirty="0"/>
          </a:p>
          <a:p>
            <a:r>
              <a:rPr lang="el-GR" sz="2400" b="1" dirty="0"/>
              <a:t>Φανταστείτε ότι υπάρχει ένα νέο παιχνίδι λοταρίας που πρόκειται να κυκλοφορήσει:</a:t>
            </a:r>
          </a:p>
        </p:txBody>
      </p:sp>
      <p:sp>
        <p:nvSpPr>
          <p:cNvPr id="20" name="Text Placeholder 2">
            <a:extLst>
              <a:ext uri="{FF2B5EF4-FFF2-40B4-BE49-F238E27FC236}">
                <a16:creationId xmlns:a16="http://schemas.microsoft.com/office/drawing/2014/main" id="{E6B3F803-88CF-E08D-38ED-D79EBE8B47E2}"/>
              </a:ext>
            </a:extLst>
          </p:cNvPr>
          <p:cNvSpPr txBox="1">
            <a:spLocks/>
          </p:cNvSpPr>
          <p:nvPr/>
        </p:nvSpPr>
        <p:spPr>
          <a:xfrm>
            <a:off x="217508" y="985507"/>
            <a:ext cx="6400800" cy="5362575"/>
          </a:xfrm>
          <a:prstGeom prst="rect">
            <a:avLst/>
          </a:prstGeom>
        </p:spPr>
        <p:txBody>
          <a:bodyPr vert="horz" lIns="91440" tIns="45720" rIns="91440" bIns="45720" rtlCol="0">
            <a:normAutofit fontScale="92500" lnSpcReduction="10000"/>
          </a:bodyPr>
          <a:lstStyle>
            <a:lvl1pPr marL="0" indent="0" algn="l" defTabSz="685800" rtl="0" eaLnBrk="1" latinLnBrk="0" hangingPunct="1">
              <a:lnSpc>
                <a:spcPct val="90000"/>
              </a:lnSpc>
              <a:spcBef>
                <a:spcPts val="750"/>
              </a:spcBef>
              <a:buFontTx/>
              <a:buNone/>
              <a:defRPr sz="3600" kern="1200">
                <a:solidFill>
                  <a:schemeClr val="tx1"/>
                </a:solidFill>
                <a:latin typeface="+mn-lt"/>
                <a:ea typeface="+mn-ea"/>
                <a:cs typeface="+mn-cs"/>
              </a:defRPr>
            </a:lvl1pPr>
            <a:lvl2pPr marL="342900" indent="0" algn="l" defTabSz="685800" rtl="0" eaLnBrk="1" latinLnBrk="0" hangingPunct="1">
              <a:lnSpc>
                <a:spcPct val="90000"/>
              </a:lnSpc>
              <a:spcBef>
                <a:spcPts val="375"/>
              </a:spcBef>
              <a:buFontTx/>
              <a:buNone/>
              <a:defRPr sz="1800" kern="1200">
                <a:solidFill>
                  <a:schemeClr val="tx1"/>
                </a:solidFill>
                <a:latin typeface="+mn-lt"/>
                <a:ea typeface="+mn-ea"/>
                <a:cs typeface="+mn-cs"/>
              </a:defRPr>
            </a:lvl2pPr>
            <a:lvl3pPr marL="685800" indent="0" algn="l" defTabSz="685800" rtl="0" eaLnBrk="1" latinLnBrk="0" hangingPunct="1">
              <a:lnSpc>
                <a:spcPct val="90000"/>
              </a:lnSpc>
              <a:spcBef>
                <a:spcPts val="375"/>
              </a:spcBef>
              <a:buFontTx/>
              <a:buNone/>
              <a:defRPr sz="1500"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Tx/>
              <a:buNone/>
              <a:defRPr sz="1350"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Tx/>
              <a:buNone/>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lvl="0" indent="0" algn="just">
              <a:buNone/>
            </a:pPr>
            <a:r>
              <a:rPr lang="el-GR" sz="2400" dirty="0"/>
              <a:t>Αυτή η λοταρία θα προσφέρεται διεθνώς και θα επιτρέπει στους παίκτες να κερδίσουν ένα σταθερό κορυφαίο έπαθλο </a:t>
            </a:r>
            <a:r>
              <a:rPr lang="el-GR" sz="2400" dirty="0">
                <a:solidFill>
                  <a:schemeClr val="tx1"/>
                </a:solidFill>
              </a:rPr>
              <a:t>του</a:t>
            </a:r>
            <a:r>
              <a:rPr lang="el-GR" sz="2400" dirty="0"/>
              <a:t> </a:t>
            </a:r>
            <a:r>
              <a:rPr lang="el-GR" sz="2400" b="1" dirty="0"/>
              <a:t>1 εκατομμυρίου ευρώ σε καθημερινή βάση</a:t>
            </a:r>
            <a:r>
              <a:rPr lang="el-GR" sz="2400" dirty="0"/>
              <a:t>.</a:t>
            </a:r>
          </a:p>
          <a:p>
            <a:pPr marL="0" lvl="0" indent="0" algn="just">
              <a:buNone/>
            </a:pPr>
            <a:r>
              <a:rPr lang="el-GR" sz="2400" dirty="0"/>
              <a:t>Για να συμμετάσχετε, επιλέγετε 6 αριθμούς από τους 40 ή την επιλογή Quick Pick.</a:t>
            </a:r>
          </a:p>
          <a:p>
            <a:pPr marL="0" lvl="0" indent="0" algn="just">
              <a:buNone/>
            </a:pPr>
            <a:r>
              <a:rPr lang="el-GR" sz="2400" dirty="0"/>
              <a:t>Η τιμή ανά συμμετοχή είναι </a:t>
            </a:r>
            <a:r>
              <a:rPr lang="el-GR" sz="2400" b="1" dirty="0"/>
              <a:t>1 ευρώ</a:t>
            </a:r>
            <a:r>
              <a:rPr lang="el-GR" sz="2400" dirty="0"/>
              <a:t>.</a:t>
            </a:r>
          </a:p>
          <a:p>
            <a:pPr marL="0" lvl="0" indent="0" algn="just">
              <a:buNone/>
            </a:pPr>
            <a:r>
              <a:rPr lang="el-GR" sz="2400" dirty="0"/>
              <a:t>Το κορυφαίο έπαθλο θα κερδίζεται (θεωρητικά) μία φορά κάθε 3 κληρώσεις. Οι συνολικές πιθανότητες κέρδους οποιουδήποτε βραβείου είναι αρκετά υψηλές σε αυτό το παιχνίδι – μία στις πέντε γραμμές.</a:t>
            </a:r>
          </a:p>
          <a:p>
            <a:pPr marL="0" lvl="0" indent="0" algn="just">
              <a:buNone/>
            </a:pPr>
            <a:r>
              <a:rPr lang="el-GR" sz="2400" dirty="0"/>
              <a:t>Οι κληρώσεις πραγματοποιούνται κάθε βράδυ στη Φινλανδία.</a:t>
            </a:r>
          </a:p>
          <a:p>
            <a:pPr marL="0" lvl="0" indent="0" algn="just">
              <a:buNone/>
            </a:pPr>
            <a:r>
              <a:rPr lang="el-GR" sz="2400" dirty="0"/>
              <a:t>Στην Ελλάδα, αυτό το παιχνίδι θα προσφερόταν σε όλα τα σημεία πώλησης όπου μπορεί κανείς να αγοράσει λαχεία ή ξυστά, ή online σε αντίστοιχες ιστοσελίδες και εφαρμογές.</a:t>
            </a:r>
            <a:endParaRPr lang="cs-CZ" sz="2200" dirty="0"/>
          </a:p>
        </p:txBody>
      </p:sp>
    </p:spTree>
    <p:extLst>
      <p:ext uri="{BB962C8B-B14F-4D97-AF65-F5344CB8AC3E}">
        <p14:creationId xmlns:p14="http://schemas.microsoft.com/office/powerpoint/2010/main" val="25746416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3F42E60-0957-48FC-33F2-64EB9630B90E}"/>
              </a:ext>
            </a:extLst>
          </p:cNvPr>
          <p:cNvPicPr>
            <a:picLocks noChangeAspect="1"/>
          </p:cNvPicPr>
          <p:nvPr/>
        </p:nvPicPr>
        <p:blipFill>
          <a:blip r:embed="rId3"/>
          <a:stretch>
            <a:fillRect/>
          </a:stretch>
        </p:blipFill>
        <p:spPr>
          <a:xfrm>
            <a:off x="339244" y="6974471"/>
            <a:ext cx="6179509" cy="3664771"/>
          </a:xfrm>
          <a:prstGeom prst="rect">
            <a:avLst/>
          </a:prstGeom>
        </p:spPr>
      </p:pic>
      <p:sp>
        <p:nvSpPr>
          <p:cNvPr id="2" name="Rectangle 1">
            <a:extLst>
              <a:ext uri="{FF2B5EF4-FFF2-40B4-BE49-F238E27FC236}">
                <a16:creationId xmlns:a16="http://schemas.microsoft.com/office/drawing/2014/main" id="{3A0F8D9C-AFA4-EDC3-8CF4-B91D99DD0EAC}"/>
              </a:ext>
            </a:extLst>
          </p:cNvPr>
          <p:cNvSpPr/>
          <p:nvPr/>
        </p:nvSpPr>
        <p:spPr>
          <a:xfrm>
            <a:off x="0" y="-11916"/>
            <a:ext cx="6858000" cy="870015"/>
          </a:xfrm>
          <a:prstGeom prst="rect">
            <a:avLst/>
          </a:prstGeom>
          <a:solidFill>
            <a:srgbClr val="9BF1F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itle 1">
            <a:extLst>
              <a:ext uri="{FF2B5EF4-FFF2-40B4-BE49-F238E27FC236}">
                <a16:creationId xmlns:a16="http://schemas.microsoft.com/office/drawing/2014/main" id="{E6D56636-B781-6C72-9345-D6D0A3D280FB}"/>
              </a:ext>
            </a:extLst>
          </p:cNvPr>
          <p:cNvSpPr txBox="1">
            <a:spLocks/>
          </p:cNvSpPr>
          <p:nvPr/>
        </p:nvSpPr>
        <p:spPr>
          <a:xfrm>
            <a:off x="302952" y="20638"/>
            <a:ext cx="6384925" cy="837461"/>
          </a:xfrm>
          <a:prstGeom prst="rect">
            <a:avLst/>
          </a:prstGeom>
        </p:spPr>
        <p:txBody>
          <a:bodyPr vert="horz" lIns="91440" tIns="45720" rIns="91440" bIns="45720" rtlCol="0" anchor="ctr">
            <a:normAutofit fontScale="92500" lnSpcReduction="20000"/>
          </a:bodyPr>
          <a:lstStyle>
            <a:lvl1pPr algn="l" defTabSz="685800" rtl="0" eaLnBrk="1" latinLnBrk="0" hangingPunct="1">
              <a:lnSpc>
                <a:spcPct val="90000"/>
              </a:lnSpc>
              <a:spcBef>
                <a:spcPct val="0"/>
              </a:spcBef>
              <a:buNone/>
              <a:defRPr sz="3600" kern="1200">
                <a:solidFill>
                  <a:schemeClr val="tx1"/>
                </a:solidFill>
                <a:latin typeface="+mn-lt"/>
                <a:ea typeface="+mj-ea"/>
                <a:cs typeface="+mj-cs"/>
              </a:defRPr>
            </a:lvl1pPr>
          </a:lstStyle>
          <a:p>
            <a:r>
              <a:rPr lang="cs-CZ" sz="2400" dirty="0"/>
              <a:t>New </a:t>
            </a:r>
            <a:r>
              <a:rPr lang="cs-CZ" sz="2400" dirty="0" err="1"/>
              <a:t>Years</a:t>
            </a:r>
            <a:r>
              <a:rPr lang="cs-CZ" sz="2400" dirty="0"/>
              <a:t> </a:t>
            </a:r>
            <a:r>
              <a:rPr lang="cs-CZ" sz="2400" dirty="0" err="1"/>
              <a:t>Eve</a:t>
            </a:r>
            <a:r>
              <a:rPr lang="cs-CZ" sz="2400" dirty="0"/>
              <a:t> 13 </a:t>
            </a:r>
            <a:r>
              <a:rPr lang="cs-CZ" sz="2400" dirty="0" err="1"/>
              <a:t>millionaires</a:t>
            </a:r>
            <a:endParaRPr lang="cs-CZ" sz="2400" b="1" dirty="0"/>
          </a:p>
          <a:p>
            <a:r>
              <a:rPr lang="el-GR" sz="2400" b="1" dirty="0"/>
              <a:t>Φανταστείτε ότι υπάρχει ένα νέο παιχνίδι λοταρίας που πρόκειται να κυκλοφορήσει:</a:t>
            </a:r>
          </a:p>
        </p:txBody>
      </p:sp>
      <p:sp>
        <p:nvSpPr>
          <p:cNvPr id="19" name="Text Placeholder 2">
            <a:extLst>
              <a:ext uri="{FF2B5EF4-FFF2-40B4-BE49-F238E27FC236}">
                <a16:creationId xmlns:a16="http://schemas.microsoft.com/office/drawing/2014/main" id="{E796CE68-27B9-DA80-F742-2B11C151AC19}"/>
              </a:ext>
            </a:extLst>
          </p:cNvPr>
          <p:cNvSpPr txBox="1">
            <a:spLocks/>
          </p:cNvSpPr>
          <p:nvPr/>
        </p:nvSpPr>
        <p:spPr>
          <a:xfrm>
            <a:off x="297718" y="858099"/>
            <a:ext cx="6179510" cy="5362575"/>
          </a:xfrm>
          <a:prstGeom prst="rect">
            <a:avLst/>
          </a:prstGeom>
        </p:spPr>
        <p:txBody>
          <a:bodyPr vert="horz" lIns="91440" tIns="45720" rIns="91440" bIns="45720" rtlCol="0">
            <a:noAutofit/>
          </a:bodyPr>
          <a:lstStyle>
            <a:lvl1pPr marL="0" indent="0" algn="l" defTabSz="685800" rtl="0" eaLnBrk="1" latinLnBrk="0" hangingPunct="1">
              <a:lnSpc>
                <a:spcPct val="90000"/>
              </a:lnSpc>
              <a:spcBef>
                <a:spcPts val="750"/>
              </a:spcBef>
              <a:buFontTx/>
              <a:buNone/>
              <a:defRPr sz="3600" kern="1200">
                <a:solidFill>
                  <a:schemeClr val="tx1"/>
                </a:solidFill>
                <a:latin typeface="+mn-lt"/>
                <a:ea typeface="+mn-ea"/>
                <a:cs typeface="+mn-cs"/>
              </a:defRPr>
            </a:lvl1pPr>
            <a:lvl2pPr marL="342900" indent="0" algn="l" defTabSz="685800" rtl="0" eaLnBrk="1" latinLnBrk="0" hangingPunct="1">
              <a:lnSpc>
                <a:spcPct val="90000"/>
              </a:lnSpc>
              <a:spcBef>
                <a:spcPts val="375"/>
              </a:spcBef>
              <a:buFontTx/>
              <a:buNone/>
              <a:defRPr sz="1800" kern="1200">
                <a:solidFill>
                  <a:schemeClr val="tx1"/>
                </a:solidFill>
                <a:latin typeface="+mn-lt"/>
                <a:ea typeface="+mn-ea"/>
                <a:cs typeface="+mn-cs"/>
              </a:defRPr>
            </a:lvl2pPr>
            <a:lvl3pPr marL="685800" indent="0" algn="l" defTabSz="685800" rtl="0" eaLnBrk="1" latinLnBrk="0" hangingPunct="1">
              <a:lnSpc>
                <a:spcPct val="90000"/>
              </a:lnSpc>
              <a:spcBef>
                <a:spcPts val="375"/>
              </a:spcBef>
              <a:buFontTx/>
              <a:buNone/>
              <a:defRPr sz="1500"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Tx/>
              <a:buNone/>
              <a:defRPr sz="1350"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Tx/>
              <a:buNone/>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a:buNone/>
            </a:pPr>
            <a:r>
              <a:rPr lang="el-GR" sz="1800" dirty="0"/>
              <a:t>Αυτή η λοταρία είναι ένα ετήσιο παιχνίδι που παίζεται μόνο την παραμονή της Πρωτοχρονιάς σε πολλές ευρωπαϊκές χώρες. Θα υπάρχουν 13 κληρώσεις καθ' όλη τη διάρκεια της ημέρας, κάθε ώρα ακριβώς, ξεκινώντας το μεσημέρι και τελειώνοντας τα μεσάνυχτα.</a:t>
            </a:r>
          </a:p>
          <a:p>
            <a:pPr marL="0" indent="0" algn="just">
              <a:buNone/>
            </a:pPr>
            <a:r>
              <a:rPr lang="el-GR" sz="1800" dirty="0"/>
              <a:t>Χάρη στο κοινό ταμείο μεταξύ των συμμετεχουσών χωρών, το παιχνίδι μπορεί να προσφέρει </a:t>
            </a:r>
            <a:r>
              <a:rPr lang="el-GR" sz="1800" b="1" dirty="0"/>
              <a:t>χιλιάδες βραβεία σε κάθε κλήρωση</a:t>
            </a:r>
            <a:r>
              <a:rPr lang="el-GR" sz="1800" dirty="0"/>
              <a:t>. Η 13η κλήρωση, που θα πραγματοποιηθεί τα μεσάνυχτα, θα είναι μια ειδική κλήρωση που θα καθορίσει </a:t>
            </a:r>
            <a:br>
              <a:rPr lang="en-US" sz="1800" dirty="0"/>
            </a:br>
            <a:r>
              <a:rPr lang="el-GR" sz="1800" b="1" dirty="0"/>
              <a:t>13 νικητές του τελικού χρηματικού βραβείου </a:t>
            </a:r>
            <a:r>
              <a:rPr lang="el-GR" sz="1800" b="1" dirty="0">
                <a:solidFill>
                  <a:schemeClr val="tx1"/>
                </a:solidFill>
              </a:rPr>
              <a:t>του</a:t>
            </a:r>
            <a:r>
              <a:rPr lang="el-GR" sz="1800" b="1" dirty="0"/>
              <a:t> </a:t>
            </a:r>
            <a:br>
              <a:rPr lang="en-US" sz="1800" b="1" dirty="0"/>
            </a:br>
            <a:r>
              <a:rPr lang="el-GR" sz="1800" b="1" dirty="0"/>
              <a:t>1 εκατομμυρίου ευρώ ο καθένας</a:t>
            </a:r>
            <a:r>
              <a:rPr lang="el-GR" sz="1800" dirty="0"/>
              <a:t>.</a:t>
            </a:r>
          </a:p>
          <a:p>
            <a:pPr marL="0" indent="0" algn="just">
              <a:buNone/>
            </a:pPr>
            <a:r>
              <a:rPr lang="el-GR" sz="1800" dirty="0"/>
              <a:t>Ένα λαχείο κοστίζει </a:t>
            </a:r>
            <a:r>
              <a:rPr lang="el-GR" sz="1800" b="1" dirty="0"/>
              <a:t>10 ευρώ </a:t>
            </a:r>
            <a:r>
              <a:rPr lang="el-GR" sz="1800" dirty="0"/>
              <a:t>και αυτό το λαχείο δίνει συμμετοχή σε όλες τις 13 κληρώσεις. Κάθε λαχείο μπορεί να διαιρεθεί σε 5 μέρη και να μοιραστεί με την οικογένεια και τους φίλους.</a:t>
            </a:r>
          </a:p>
          <a:p>
            <a:pPr marL="0" indent="0" algn="just">
              <a:buNone/>
            </a:pPr>
            <a:r>
              <a:rPr lang="el-GR" sz="1800" dirty="0"/>
              <a:t>Για να συμμετάσχετε, δεν χρειάζεται να επιλέξετε αριθμούς· το λαχείο περιέχει έναν μοναδικό κωδικό (συνδυασμό αριθμών και γραμμάτων) που χρησιμεύει ως συμμετοχή για κάθε κλήρωση.</a:t>
            </a:r>
          </a:p>
          <a:p>
            <a:pPr marL="0" indent="0" algn="just">
              <a:buNone/>
            </a:pPr>
            <a:r>
              <a:rPr lang="el-GR" sz="1800" dirty="0"/>
              <a:t>Οι πωλήσεις ξεκινούν την 1η Δεκεμβρίου. Στην Ελλάδα, αυτό το παιχνίδι θα προσφερόταν σε όλα τα σημεία πώλησης όπου μπορεί κανείς να αγοράσει λαχεία ή ξυστά, ή online σεφαρμογές.</a:t>
            </a:r>
            <a:endParaRPr lang="cs-CZ" sz="1800" dirty="0"/>
          </a:p>
          <a:p>
            <a:pPr marL="0" indent="0" algn="just">
              <a:buNone/>
            </a:pPr>
            <a:endParaRPr lang="cs-CZ" sz="1800" dirty="0"/>
          </a:p>
        </p:txBody>
      </p:sp>
    </p:spTree>
    <p:extLst>
      <p:ext uri="{BB962C8B-B14F-4D97-AF65-F5344CB8AC3E}">
        <p14:creationId xmlns:p14="http://schemas.microsoft.com/office/powerpoint/2010/main" val="35223805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742C9D4-71D8-792F-4B56-AB81AD8E4E78}"/>
              </a:ext>
            </a:extLst>
          </p:cNvPr>
          <p:cNvPicPr>
            <a:picLocks noChangeAspect="1"/>
          </p:cNvPicPr>
          <p:nvPr/>
        </p:nvPicPr>
        <p:blipFill>
          <a:blip r:embed="rId3"/>
          <a:stretch>
            <a:fillRect/>
          </a:stretch>
        </p:blipFill>
        <p:spPr>
          <a:xfrm>
            <a:off x="217507" y="6663877"/>
            <a:ext cx="6386267" cy="3969628"/>
          </a:xfrm>
          <a:prstGeom prst="rect">
            <a:avLst/>
          </a:prstGeom>
        </p:spPr>
      </p:pic>
      <p:sp>
        <p:nvSpPr>
          <p:cNvPr id="2" name="Rectangle 1">
            <a:extLst>
              <a:ext uri="{FF2B5EF4-FFF2-40B4-BE49-F238E27FC236}">
                <a16:creationId xmlns:a16="http://schemas.microsoft.com/office/drawing/2014/main" id="{8EBF2EED-D78C-503A-DE20-D48FD6A1D296}"/>
              </a:ext>
            </a:extLst>
          </p:cNvPr>
          <p:cNvSpPr/>
          <p:nvPr/>
        </p:nvSpPr>
        <p:spPr>
          <a:xfrm>
            <a:off x="0" y="-11915"/>
            <a:ext cx="6858000" cy="806352"/>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itle 1">
            <a:extLst>
              <a:ext uri="{FF2B5EF4-FFF2-40B4-BE49-F238E27FC236}">
                <a16:creationId xmlns:a16="http://schemas.microsoft.com/office/drawing/2014/main" id="{A2B7A311-281C-FD69-FDB3-75067AFB0BE5}"/>
              </a:ext>
            </a:extLst>
          </p:cNvPr>
          <p:cNvSpPr txBox="1">
            <a:spLocks/>
          </p:cNvSpPr>
          <p:nvPr/>
        </p:nvSpPr>
        <p:spPr>
          <a:xfrm>
            <a:off x="302952" y="-11261"/>
            <a:ext cx="6384925" cy="805697"/>
          </a:xfrm>
          <a:prstGeom prst="rect">
            <a:avLst/>
          </a:prstGeom>
        </p:spPr>
        <p:txBody>
          <a:bodyPr vert="horz" lIns="91440" tIns="45720" rIns="91440" bIns="45720" rtlCol="0" anchor="ctr">
            <a:normAutofit fontScale="85000" lnSpcReduction="20000"/>
          </a:bodyPr>
          <a:lstStyle>
            <a:lvl1pPr algn="l" defTabSz="685800" rtl="0" eaLnBrk="1" latinLnBrk="0" hangingPunct="1">
              <a:lnSpc>
                <a:spcPct val="90000"/>
              </a:lnSpc>
              <a:spcBef>
                <a:spcPct val="0"/>
              </a:spcBef>
              <a:buNone/>
              <a:defRPr sz="3600" kern="1200">
                <a:solidFill>
                  <a:schemeClr val="tx1"/>
                </a:solidFill>
                <a:latin typeface="+mn-lt"/>
                <a:ea typeface="+mj-ea"/>
                <a:cs typeface="+mj-cs"/>
              </a:defRPr>
            </a:lvl1pPr>
          </a:lstStyle>
          <a:p>
            <a:r>
              <a:rPr lang="cs-CZ" sz="2400" dirty="0" err="1"/>
              <a:t>Millionaires</a:t>
            </a:r>
            <a:r>
              <a:rPr lang="cs-CZ" sz="2400" dirty="0"/>
              <a:t> </a:t>
            </a:r>
            <a:r>
              <a:rPr lang="cs-CZ" sz="2400" dirty="0" err="1"/>
              <a:t>Flood</a:t>
            </a:r>
            <a:endParaRPr lang="cs-CZ" sz="2400" b="1" dirty="0"/>
          </a:p>
          <a:p>
            <a:r>
              <a:rPr lang="el-GR" sz="2400" b="1" dirty="0"/>
              <a:t>Φανταστείτε ότι υπάρχει ένα νέο παιχνίδι λοταρίας που πρόκειται να κυκλοφορήσει:</a:t>
            </a:r>
          </a:p>
        </p:txBody>
      </p:sp>
      <p:sp>
        <p:nvSpPr>
          <p:cNvPr id="16" name="Text Placeholder 2">
            <a:extLst>
              <a:ext uri="{FF2B5EF4-FFF2-40B4-BE49-F238E27FC236}">
                <a16:creationId xmlns:a16="http://schemas.microsoft.com/office/drawing/2014/main" id="{0F1E6DEB-9C07-A296-AB56-63246E666292}"/>
              </a:ext>
            </a:extLst>
          </p:cNvPr>
          <p:cNvSpPr txBox="1">
            <a:spLocks/>
          </p:cNvSpPr>
          <p:nvPr/>
        </p:nvSpPr>
        <p:spPr>
          <a:xfrm>
            <a:off x="217507" y="794436"/>
            <a:ext cx="6470369" cy="5362575"/>
          </a:xfrm>
          <a:prstGeom prst="rect">
            <a:avLst/>
          </a:prstGeom>
        </p:spPr>
        <p:txBody>
          <a:bodyPr vert="horz" lIns="91440" tIns="45720" rIns="91440" bIns="45720" rtlCol="0">
            <a:noAutofit/>
          </a:bodyPr>
          <a:lstStyle>
            <a:lvl1pPr marL="0" indent="0" algn="l" defTabSz="685800" rtl="0" eaLnBrk="1" latinLnBrk="0" hangingPunct="1">
              <a:lnSpc>
                <a:spcPct val="90000"/>
              </a:lnSpc>
              <a:spcBef>
                <a:spcPts val="750"/>
              </a:spcBef>
              <a:buFontTx/>
              <a:buNone/>
              <a:defRPr sz="3600" kern="1200">
                <a:solidFill>
                  <a:schemeClr val="tx1"/>
                </a:solidFill>
                <a:latin typeface="+mn-lt"/>
                <a:ea typeface="+mn-ea"/>
                <a:cs typeface="+mn-cs"/>
              </a:defRPr>
            </a:lvl1pPr>
            <a:lvl2pPr marL="342900" indent="0" algn="l" defTabSz="685800" rtl="0" eaLnBrk="1" latinLnBrk="0" hangingPunct="1">
              <a:lnSpc>
                <a:spcPct val="90000"/>
              </a:lnSpc>
              <a:spcBef>
                <a:spcPts val="375"/>
              </a:spcBef>
              <a:buFontTx/>
              <a:buNone/>
              <a:defRPr sz="1800" kern="1200">
                <a:solidFill>
                  <a:schemeClr val="tx1"/>
                </a:solidFill>
                <a:latin typeface="+mn-lt"/>
                <a:ea typeface="+mn-ea"/>
                <a:cs typeface="+mn-cs"/>
              </a:defRPr>
            </a:lvl2pPr>
            <a:lvl3pPr marL="685800" indent="0" algn="l" defTabSz="685800" rtl="0" eaLnBrk="1" latinLnBrk="0" hangingPunct="1">
              <a:lnSpc>
                <a:spcPct val="90000"/>
              </a:lnSpc>
              <a:spcBef>
                <a:spcPts val="375"/>
              </a:spcBef>
              <a:buFontTx/>
              <a:buNone/>
              <a:defRPr sz="1500"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Tx/>
              <a:buNone/>
              <a:defRPr sz="1350"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Tx/>
              <a:buNone/>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a:lnSpc>
                <a:spcPct val="107000"/>
              </a:lnSpc>
              <a:spcBef>
                <a:spcPts val="0"/>
              </a:spcBef>
              <a:spcAft>
                <a:spcPts val="800"/>
              </a:spcAft>
              <a:buNone/>
            </a:pPr>
            <a:r>
              <a:rPr lang="el-GR" sz="1600" kern="100" dirty="0">
                <a:effectLst/>
                <a:ea typeface="Aptos" panose="020B0004020202020204" pitchFamily="34" charset="0"/>
                <a:cs typeface="Times New Roman" panose="02020603050405020304" pitchFamily="18" charset="0"/>
              </a:rPr>
              <a:t>Αυτή η λοταρία είναι ένα καθημερινό παιχνίδι. Θα προσφέρεται διεθνώς και, χάρη στο κοινό ταμείο, θα υπάρχει ένα ειδικό χαρακτηριστικό που ονομάζεται "Πλημμύρα Εκατομμυριούχων" πέρα από τα κανονικά βραβεία. Ένα μέρος των εσόδων θα συλλέγεται στο Ταμείο Πλημμύρας Εκατομμυριούχων, το οποίο μπορεί να φτάσει πάνω από </a:t>
            </a:r>
            <a:r>
              <a:rPr lang="el-GR" sz="1600" b="1" kern="100" dirty="0">
                <a:effectLst/>
                <a:ea typeface="Aptos" panose="020B0004020202020204" pitchFamily="34" charset="0"/>
                <a:cs typeface="Times New Roman" panose="02020603050405020304" pitchFamily="18" charset="0"/>
              </a:rPr>
              <a:t>50 εκατομμύρια ευρώ</a:t>
            </a:r>
            <a:r>
              <a:rPr lang="el-GR" sz="1600" kern="100" dirty="0">
                <a:effectLst/>
                <a:ea typeface="Aptos" panose="020B0004020202020204" pitchFamily="34" charset="0"/>
                <a:cs typeface="Times New Roman" panose="02020603050405020304" pitchFamily="18" charset="0"/>
              </a:rPr>
              <a:t>.</a:t>
            </a:r>
          </a:p>
          <a:p>
            <a:pPr marL="0" indent="0" algn="just">
              <a:lnSpc>
                <a:spcPct val="107000"/>
              </a:lnSpc>
              <a:spcBef>
                <a:spcPts val="0"/>
              </a:spcBef>
              <a:spcAft>
                <a:spcPts val="800"/>
              </a:spcAft>
              <a:buNone/>
            </a:pPr>
            <a:r>
              <a:rPr lang="el-GR" sz="1600" kern="100" dirty="0">
                <a:effectLst/>
                <a:ea typeface="Aptos" panose="020B0004020202020204" pitchFamily="34" charset="0"/>
                <a:cs typeface="Times New Roman" panose="02020603050405020304" pitchFamily="18" charset="0"/>
              </a:rPr>
              <a:t>Για να συμμετάσχετε στο παιχνίδι, επιλέξτε τους 5 αριθμούς σας από τους 17 και παρακολουθήστε την βραδινή κλήρωση για να δείτε αν ταιριάζουν οι αριθμοί σας με τους κερδισμένους αριθμούς, αλλά και για να δείτε αν είναι η ημέρα της "</a:t>
            </a:r>
            <a:r>
              <a:rPr lang="el-GR" sz="1600" b="1" kern="100" dirty="0">
                <a:effectLst/>
                <a:ea typeface="Aptos" panose="020B0004020202020204" pitchFamily="34" charset="0"/>
                <a:cs typeface="Times New Roman" panose="02020603050405020304" pitchFamily="18" charset="0"/>
              </a:rPr>
              <a:t>Πλημμύρας Εκατομμυριούχων</a:t>
            </a:r>
            <a:r>
              <a:rPr lang="el-GR" sz="1600" kern="100" dirty="0">
                <a:effectLst/>
                <a:ea typeface="Aptos" panose="020B0004020202020204" pitchFamily="34" charset="0"/>
                <a:cs typeface="Times New Roman" panose="02020603050405020304" pitchFamily="18" charset="0"/>
              </a:rPr>
              <a:t>". Αυτό συμβαίνει σε κάθε κλήρωση όπου όλοι οι 5 κληρωθέντες αριθμοί είναι ζυγοί. Για παράδειγμα, αν εκείνη την ημέρα υπάρχουν 25,5 εκατομμύρια ευρώ στο Ταμείο, τότε θα επιλεγούν 25 παίκτες βάσει του κωδικού του εισιτηρίου τους. Αυτοί οι παίκτες κερδίζουν από </a:t>
            </a:r>
            <a:r>
              <a:rPr lang="el-GR" sz="1600" b="1" kern="100" dirty="0">
                <a:effectLst/>
                <a:ea typeface="Aptos" panose="020B0004020202020204" pitchFamily="34" charset="0"/>
                <a:cs typeface="Times New Roman" panose="02020603050405020304" pitchFamily="18" charset="0"/>
              </a:rPr>
              <a:t>1 εκατομμύριο ευρώ ο καθένας</a:t>
            </a:r>
            <a:r>
              <a:rPr lang="el-GR" sz="1600" kern="100" dirty="0">
                <a:effectLst/>
                <a:ea typeface="Aptos" panose="020B0004020202020204" pitchFamily="34" charset="0"/>
                <a:cs typeface="Times New Roman" panose="02020603050405020304" pitchFamily="18" charset="0"/>
              </a:rPr>
              <a:t>.</a:t>
            </a:r>
          </a:p>
          <a:p>
            <a:pPr marL="0" indent="0" algn="just">
              <a:lnSpc>
                <a:spcPct val="107000"/>
              </a:lnSpc>
              <a:spcBef>
                <a:spcPts val="0"/>
              </a:spcBef>
              <a:spcAft>
                <a:spcPts val="800"/>
              </a:spcAft>
              <a:buNone/>
            </a:pPr>
            <a:r>
              <a:rPr lang="el-GR" sz="1600" kern="100" dirty="0">
                <a:effectLst/>
                <a:ea typeface="Aptos" panose="020B0004020202020204" pitchFamily="34" charset="0"/>
                <a:cs typeface="Times New Roman" panose="02020603050405020304" pitchFamily="18" charset="0"/>
              </a:rPr>
              <a:t>Η ελάχιστη τιμή για συμμετοχή είναι </a:t>
            </a:r>
            <a:r>
              <a:rPr lang="el-GR" sz="1600" b="1" kern="100" dirty="0">
                <a:effectLst/>
                <a:ea typeface="Aptos" panose="020B0004020202020204" pitchFamily="34" charset="0"/>
                <a:cs typeface="Times New Roman" panose="02020603050405020304" pitchFamily="18" charset="0"/>
              </a:rPr>
              <a:t>1,50 ευρώ</a:t>
            </a:r>
            <a:r>
              <a:rPr lang="el-GR" sz="1600" kern="100" dirty="0">
                <a:effectLst/>
                <a:ea typeface="Aptos" panose="020B0004020202020204" pitchFamily="34" charset="0"/>
                <a:cs typeface="Times New Roman" panose="02020603050405020304" pitchFamily="18" charset="0"/>
              </a:rPr>
              <a:t>, η οποία σας δίνει την ευκαιρία να κερδίσετε σε μία από τις 6 κατηγορίες κέρδους στο καθημερινό παιχνίδι. Επιπλέον, το </a:t>
            </a:r>
            <a:r>
              <a:rPr lang="el-GR" sz="1600" dirty="0">
                <a:solidFill>
                  <a:schemeClr val="tx1"/>
                </a:solidFill>
              </a:rPr>
              <a:t>λαχείο </a:t>
            </a:r>
            <a:r>
              <a:rPr lang="el-GR" sz="1600" kern="100" dirty="0">
                <a:effectLst/>
                <a:ea typeface="Aptos" panose="020B0004020202020204" pitchFamily="34" charset="0"/>
                <a:cs typeface="Times New Roman" panose="02020603050405020304" pitchFamily="18" charset="0"/>
              </a:rPr>
              <a:t>σας δίνει τη δυνατότητα να συμμετάσχετε </a:t>
            </a:r>
            <a:r>
              <a:rPr lang="el-GR" sz="1600" dirty="0">
                <a:solidFill>
                  <a:schemeClr val="tx1"/>
                </a:solidFill>
              </a:rPr>
              <a:t>στην</a:t>
            </a:r>
            <a:r>
              <a:rPr lang="el-GR" sz="1600" kern="100" dirty="0">
                <a:effectLst/>
                <a:ea typeface="Aptos" panose="020B0004020202020204" pitchFamily="34" charset="0"/>
                <a:cs typeface="Times New Roman" panose="02020603050405020304" pitchFamily="18" charset="0"/>
              </a:rPr>
              <a:t> κλήρωση Πλημμύρας Εκατομμυριούχων, αν συμβεί στην συγκεκριμένη κλήρωση.</a:t>
            </a:r>
          </a:p>
          <a:p>
            <a:pPr marL="0" indent="0" algn="just">
              <a:lnSpc>
                <a:spcPct val="107000"/>
              </a:lnSpc>
              <a:spcBef>
                <a:spcPts val="0"/>
              </a:spcBef>
              <a:spcAft>
                <a:spcPts val="800"/>
              </a:spcAft>
              <a:buNone/>
            </a:pPr>
            <a:r>
              <a:rPr lang="el-GR" sz="1600" kern="100" dirty="0">
                <a:effectLst/>
                <a:ea typeface="Aptos" panose="020B0004020202020204" pitchFamily="34" charset="0"/>
                <a:cs typeface="Times New Roman" panose="02020603050405020304" pitchFamily="18" charset="0"/>
              </a:rPr>
              <a:t>Στην Ελλάδα, αυτό το παιχνίδι θα προσφερόταν σε όλα τα σημεία πώλησης όπου μπορεί κανείς να αγοράσει λαχεία ή ξυστά, ή online σεφαρμογές.</a:t>
            </a:r>
            <a:endParaRPr lang="cs-CZ" sz="1600" kern="100" dirty="0">
              <a:effectLst/>
              <a:ea typeface="Aptos" panose="020B0004020202020204" pitchFamily="34" charset="0"/>
              <a:cs typeface="Times New Roman" panose="02020603050405020304" pitchFamily="18" charset="0"/>
            </a:endParaRPr>
          </a:p>
          <a:p>
            <a:pPr marL="0" indent="0" algn="just">
              <a:buNone/>
            </a:pPr>
            <a:endParaRPr lang="cs-CZ" sz="1600" dirty="0"/>
          </a:p>
          <a:p>
            <a:pPr marL="0" indent="0" algn="just">
              <a:lnSpc>
                <a:spcPct val="107000"/>
              </a:lnSpc>
              <a:spcBef>
                <a:spcPts val="0"/>
              </a:spcBef>
              <a:spcAft>
                <a:spcPts val="800"/>
              </a:spcAft>
              <a:buNone/>
            </a:pPr>
            <a:endParaRPr lang="cs-CZ" sz="1600" kern="100" dirty="0">
              <a:effectLst/>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28958194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76B2DA3-98C2-B069-B438-A4E189489652}"/>
              </a:ext>
            </a:extLst>
          </p:cNvPr>
          <p:cNvPicPr>
            <a:picLocks noChangeAspect="1"/>
          </p:cNvPicPr>
          <p:nvPr/>
        </p:nvPicPr>
        <p:blipFill>
          <a:blip r:embed="rId3"/>
          <a:stretch>
            <a:fillRect/>
          </a:stretch>
        </p:blipFill>
        <p:spPr>
          <a:xfrm>
            <a:off x="312938" y="6582123"/>
            <a:ext cx="6232121" cy="3116061"/>
          </a:xfrm>
          <a:prstGeom prst="rect">
            <a:avLst/>
          </a:prstGeom>
        </p:spPr>
      </p:pic>
      <p:sp>
        <p:nvSpPr>
          <p:cNvPr id="2" name="Rectangle 1">
            <a:extLst>
              <a:ext uri="{FF2B5EF4-FFF2-40B4-BE49-F238E27FC236}">
                <a16:creationId xmlns:a16="http://schemas.microsoft.com/office/drawing/2014/main" id="{E9EEE370-35E1-E184-C1C8-23010169E299}"/>
              </a:ext>
            </a:extLst>
          </p:cNvPr>
          <p:cNvSpPr/>
          <p:nvPr/>
        </p:nvSpPr>
        <p:spPr>
          <a:xfrm>
            <a:off x="0" y="-11915"/>
            <a:ext cx="6858000" cy="917172"/>
          </a:xfrm>
          <a:prstGeom prst="rect">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itle 1">
            <a:extLst>
              <a:ext uri="{FF2B5EF4-FFF2-40B4-BE49-F238E27FC236}">
                <a16:creationId xmlns:a16="http://schemas.microsoft.com/office/drawing/2014/main" id="{40E9EF81-5DC9-3A08-A348-823FDD5F16CD}"/>
              </a:ext>
            </a:extLst>
          </p:cNvPr>
          <p:cNvSpPr txBox="1">
            <a:spLocks/>
          </p:cNvSpPr>
          <p:nvPr/>
        </p:nvSpPr>
        <p:spPr>
          <a:xfrm>
            <a:off x="302952" y="20639"/>
            <a:ext cx="6384925" cy="774890"/>
          </a:xfrm>
          <a:prstGeom prst="rect">
            <a:avLst/>
          </a:prstGeom>
        </p:spPr>
        <p:txBody>
          <a:bodyPr vert="horz" lIns="91440" tIns="45720" rIns="91440" bIns="45720" rtlCol="0" anchor="ctr">
            <a:normAutofit fontScale="85000" lnSpcReduction="20000"/>
          </a:bodyPr>
          <a:lstStyle>
            <a:lvl1pPr algn="l" defTabSz="685800" rtl="0" eaLnBrk="1" latinLnBrk="0" hangingPunct="1">
              <a:lnSpc>
                <a:spcPct val="90000"/>
              </a:lnSpc>
              <a:spcBef>
                <a:spcPct val="0"/>
              </a:spcBef>
              <a:buNone/>
              <a:defRPr sz="3600" kern="1200">
                <a:solidFill>
                  <a:schemeClr val="tx1"/>
                </a:solidFill>
                <a:latin typeface="+mn-lt"/>
                <a:ea typeface="+mj-ea"/>
                <a:cs typeface="+mj-cs"/>
              </a:defRPr>
            </a:lvl1pPr>
          </a:lstStyle>
          <a:p>
            <a:r>
              <a:rPr lang="cs-CZ" sz="2400" dirty="0"/>
              <a:t>Real </a:t>
            </a:r>
            <a:r>
              <a:rPr lang="cs-CZ" sz="2400" dirty="0" err="1"/>
              <a:t>estate</a:t>
            </a:r>
            <a:r>
              <a:rPr lang="cs-CZ" sz="2400" dirty="0"/>
              <a:t> </a:t>
            </a:r>
            <a:r>
              <a:rPr lang="cs-CZ" sz="2400" dirty="0" err="1"/>
              <a:t>prizes</a:t>
            </a:r>
            <a:r>
              <a:rPr lang="cs-CZ" sz="2400" dirty="0"/>
              <a:t> </a:t>
            </a:r>
            <a:r>
              <a:rPr lang="cs-CZ" sz="2400" dirty="0" err="1"/>
              <a:t>added</a:t>
            </a:r>
            <a:r>
              <a:rPr lang="cs-CZ" sz="2400" dirty="0"/>
              <a:t> to</a:t>
            </a:r>
            <a:r>
              <a:rPr lang="en-US" sz="2400" dirty="0"/>
              <a:t> existing lottery</a:t>
            </a:r>
            <a:endParaRPr lang="cs-CZ" sz="2400" b="1" dirty="0"/>
          </a:p>
          <a:p>
            <a:r>
              <a:rPr lang="el-GR" sz="2400" b="1" dirty="0"/>
              <a:t>Φανταστείτε ότι υπάρχει ένα νέο πρόσθετο παιχνίδι για τους παίκτες του Eurojackpot</a:t>
            </a:r>
            <a:r>
              <a:rPr lang="en-US" sz="2400" b="1" dirty="0"/>
              <a:t>:</a:t>
            </a:r>
            <a:endParaRPr lang="el-GR" sz="2400" b="1" dirty="0"/>
          </a:p>
        </p:txBody>
      </p:sp>
      <p:sp>
        <p:nvSpPr>
          <p:cNvPr id="24" name="Text Placeholder 2">
            <a:extLst>
              <a:ext uri="{FF2B5EF4-FFF2-40B4-BE49-F238E27FC236}">
                <a16:creationId xmlns:a16="http://schemas.microsoft.com/office/drawing/2014/main" id="{96778904-1DAE-5506-89BD-45A84629C047}"/>
              </a:ext>
            </a:extLst>
          </p:cNvPr>
          <p:cNvSpPr txBox="1">
            <a:spLocks/>
          </p:cNvSpPr>
          <p:nvPr/>
        </p:nvSpPr>
        <p:spPr>
          <a:xfrm>
            <a:off x="297718" y="1040371"/>
            <a:ext cx="6319907" cy="6095778"/>
          </a:xfrm>
          <a:prstGeom prst="rect">
            <a:avLst/>
          </a:prstGeom>
        </p:spPr>
        <p:txBody>
          <a:bodyPr vert="horz" lIns="91440" tIns="45720" rIns="91440" bIns="45720" rtlCol="0">
            <a:noAutofit/>
          </a:bodyPr>
          <a:lstStyle>
            <a:lvl1pPr marL="0" indent="0" algn="l" defTabSz="685800" rtl="0" eaLnBrk="1" latinLnBrk="0" hangingPunct="1">
              <a:lnSpc>
                <a:spcPct val="90000"/>
              </a:lnSpc>
              <a:spcBef>
                <a:spcPts val="750"/>
              </a:spcBef>
              <a:buFontTx/>
              <a:buNone/>
              <a:defRPr sz="3600" kern="1200">
                <a:solidFill>
                  <a:schemeClr val="tx1"/>
                </a:solidFill>
                <a:latin typeface="+mn-lt"/>
                <a:ea typeface="+mn-ea"/>
                <a:cs typeface="+mn-cs"/>
              </a:defRPr>
            </a:lvl1pPr>
            <a:lvl2pPr marL="342900" indent="0" algn="l" defTabSz="685800" rtl="0" eaLnBrk="1" latinLnBrk="0" hangingPunct="1">
              <a:lnSpc>
                <a:spcPct val="90000"/>
              </a:lnSpc>
              <a:spcBef>
                <a:spcPts val="375"/>
              </a:spcBef>
              <a:buFontTx/>
              <a:buNone/>
              <a:defRPr sz="1800" kern="1200">
                <a:solidFill>
                  <a:schemeClr val="tx1"/>
                </a:solidFill>
                <a:latin typeface="+mn-lt"/>
                <a:ea typeface="+mn-ea"/>
                <a:cs typeface="+mn-cs"/>
              </a:defRPr>
            </a:lvl2pPr>
            <a:lvl3pPr marL="685800" indent="0" algn="l" defTabSz="685800" rtl="0" eaLnBrk="1" latinLnBrk="0" hangingPunct="1">
              <a:lnSpc>
                <a:spcPct val="90000"/>
              </a:lnSpc>
              <a:spcBef>
                <a:spcPts val="375"/>
              </a:spcBef>
              <a:buFontTx/>
              <a:buNone/>
              <a:defRPr sz="1500"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Tx/>
              <a:buNone/>
              <a:defRPr sz="1350"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Tx/>
              <a:buNone/>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a:buNone/>
            </a:pPr>
            <a:r>
              <a:rPr lang="el-GR" sz="2000" dirty="0"/>
              <a:t>Αυτό το νέο παιχνίδι θα είναι ένα συμπληρωματικό παιχνίδι στο Eurojackpot. Για επιπλέον </a:t>
            </a:r>
            <a:r>
              <a:rPr lang="el-GR" sz="2000" b="1" dirty="0"/>
              <a:t>1,50 ευρώ </a:t>
            </a:r>
            <a:r>
              <a:rPr lang="el-GR" sz="2000" dirty="0"/>
              <a:t>ανά </a:t>
            </a:r>
            <a:r>
              <a:rPr lang="el-GR" sz="2000" dirty="0">
                <a:solidFill>
                  <a:schemeClr val="tx1"/>
                </a:solidFill>
              </a:rPr>
              <a:t>λαχείο</a:t>
            </a:r>
            <a:r>
              <a:rPr lang="el-GR" sz="2000" dirty="0"/>
              <a:t>, οι παίκτες θα συμμετέχουν επίσης σε μια πρόσθετη κλήρωση όπου </a:t>
            </a:r>
            <a:r>
              <a:rPr lang="el-GR" sz="2000" b="1" dirty="0"/>
              <a:t>θα μπορούσαν να κερδίσουν αποκλειστικά μη χρηματικά βραβεία, όπως βίλες στη Μύκονο, διάσημα ευρωπαϊκά θέρετρα spa, ρετιρέ σε ευρωπαϊκές μητροπόλεις, διαμερίσματα δίπλα στη λίμνη Κόμο κ.λπ. </a:t>
            </a:r>
            <a:r>
              <a:rPr lang="el-GR" sz="2000" dirty="0"/>
              <a:t>Αυτά τα αποκλειστικά βραβεία μπορούν να προσφερθούν χάρη σε ένα διεθνώς κοινό ταμείο.</a:t>
            </a:r>
          </a:p>
          <a:p>
            <a:pPr marL="0" indent="0" algn="just">
              <a:buNone/>
            </a:pPr>
            <a:r>
              <a:rPr lang="el-GR" sz="2000" dirty="0"/>
              <a:t>Για να συμμετάσχουν σε αυτή την πρόσθετη κλήρωση, οι παίκτες δεν χρειάζεται να επιλέξουν αριθμούς. </a:t>
            </a:r>
            <a:br>
              <a:rPr lang="en-US" sz="2000" dirty="0"/>
            </a:br>
            <a:r>
              <a:rPr lang="el-GR" sz="2000" dirty="0"/>
              <a:t>Ο σειριακός αριθμός του </a:t>
            </a:r>
            <a:r>
              <a:rPr lang="el-GR" sz="2000" dirty="0">
                <a:solidFill>
                  <a:schemeClr val="tx1"/>
                </a:solidFill>
              </a:rPr>
              <a:t>λαχείου</a:t>
            </a:r>
            <a:r>
              <a:rPr lang="el-GR" sz="2000" dirty="0"/>
              <a:t> θα εισάγεται αυτόματα στην κλήρωση αν πληρωθεί το επιπλέον ποσό </a:t>
            </a:r>
            <a:r>
              <a:rPr lang="el-GR" sz="2000" dirty="0">
                <a:solidFill>
                  <a:schemeClr val="tx1"/>
                </a:solidFill>
              </a:rPr>
              <a:t>του</a:t>
            </a:r>
            <a:r>
              <a:rPr lang="el-GR" sz="2000" dirty="0"/>
              <a:t> </a:t>
            </a:r>
            <a:br>
              <a:rPr lang="en-US" sz="2000" dirty="0"/>
            </a:br>
            <a:r>
              <a:rPr lang="el-GR" sz="2000" b="1" dirty="0"/>
              <a:t>1,50 ευρώ.</a:t>
            </a:r>
          </a:p>
          <a:p>
            <a:pPr marL="0" indent="0" algn="just">
              <a:buNone/>
            </a:pPr>
            <a:r>
              <a:rPr lang="el-GR" sz="2000" dirty="0"/>
              <a:t>Δεν θα υπάρχουν κατώτερες κατηγορίες βραβείων. </a:t>
            </a:r>
            <a:br>
              <a:rPr lang="en-US" sz="2000" dirty="0"/>
            </a:br>
            <a:r>
              <a:rPr lang="el-GR" sz="2000" dirty="0"/>
              <a:t>Οι κληρώσεις για την πρόσθετη κλήρωση θα συμπίπτουν με τις κληρώσεις του συνοδευτικού παιχνιδιού Eurojackpot.</a:t>
            </a:r>
            <a:endParaRPr lang="en-GB" sz="2000" dirty="0"/>
          </a:p>
          <a:p>
            <a:pPr marL="0" indent="0" algn="just">
              <a:buNone/>
            </a:pPr>
            <a:endParaRPr lang="cs-CZ" sz="2000" dirty="0"/>
          </a:p>
        </p:txBody>
      </p:sp>
    </p:spTree>
    <p:extLst>
      <p:ext uri="{BB962C8B-B14F-4D97-AF65-F5344CB8AC3E}">
        <p14:creationId xmlns:p14="http://schemas.microsoft.com/office/powerpoint/2010/main" val="22704491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C28D325-0AC4-A224-2C7E-8DE5F1131A2C}"/>
              </a:ext>
            </a:extLst>
          </p:cNvPr>
          <p:cNvPicPr>
            <a:picLocks noChangeAspect="1"/>
          </p:cNvPicPr>
          <p:nvPr/>
        </p:nvPicPr>
        <p:blipFill>
          <a:blip r:embed="rId3"/>
          <a:stretch>
            <a:fillRect/>
          </a:stretch>
        </p:blipFill>
        <p:spPr>
          <a:xfrm>
            <a:off x="380478" y="7111485"/>
            <a:ext cx="6097041" cy="3653686"/>
          </a:xfrm>
          <a:prstGeom prst="rect">
            <a:avLst/>
          </a:prstGeom>
        </p:spPr>
      </p:pic>
      <p:sp>
        <p:nvSpPr>
          <p:cNvPr id="2" name="Rectangle 1">
            <a:extLst>
              <a:ext uri="{FF2B5EF4-FFF2-40B4-BE49-F238E27FC236}">
                <a16:creationId xmlns:a16="http://schemas.microsoft.com/office/drawing/2014/main" id="{666F3271-FF8E-3B03-9AB8-9D76C344CA12}"/>
              </a:ext>
            </a:extLst>
          </p:cNvPr>
          <p:cNvSpPr/>
          <p:nvPr/>
        </p:nvSpPr>
        <p:spPr>
          <a:xfrm>
            <a:off x="0" y="-11916"/>
            <a:ext cx="6858000" cy="825733"/>
          </a:xfrm>
          <a:prstGeom prst="rect">
            <a:avLst/>
          </a:prstGeom>
          <a:solidFill>
            <a:srgbClr val="FC30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itle 1">
            <a:extLst>
              <a:ext uri="{FF2B5EF4-FFF2-40B4-BE49-F238E27FC236}">
                <a16:creationId xmlns:a16="http://schemas.microsoft.com/office/drawing/2014/main" id="{3508B767-0564-750A-D90F-F07E9F080224}"/>
              </a:ext>
            </a:extLst>
          </p:cNvPr>
          <p:cNvSpPr txBox="1">
            <a:spLocks/>
          </p:cNvSpPr>
          <p:nvPr/>
        </p:nvSpPr>
        <p:spPr>
          <a:xfrm>
            <a:off x="108754" y="20639"/>
            <a:ext cx="6640493" cy="793178"/>
          </a:xfrm>
          <a:prstGeom prst="rect">
            <a:avLst/>
          </a:prstGeom>
        </p:spPr>
        <p:txBody>
          <a:bodyPr vert="horz" lIns="91440" tIns="45720" rIns="91440" bIns="45720" rtlCol="0" anchor="ctr">
            <a:normAutofit fontScale="85000" lnSpcReduction="20000"/>
          </a:bodyPr>
          <a:lstStyle>
            <a:lvl1pPr algn="l" defTabSz="685800" rtl="0" eaLnBrk="1" latinLnBrk="0" hangingPunct="1">
              <a:lnSpc>
                <a:spcPct val="90000"/>
              </a:lnSpc>
              <a:spcBef>
                <a:spcPct val="0"/>
              </a:spcBef>
              <a:buNone/>
              <a:defRPr sz="3600" kern="1200">
                <a:solidFill>
                  <a:schemeClr val="tx1"/>
                </a:solidFill>
                <a:latin typeface="+mn-lt"/>
                <a:ea typeface="+mj-ea"/>
                <a:cs typeface="+mj-cs"/>
              </a:defRPr>
            </a:lvl1pPr>
          </a:lstStyle>
          <a:p>
            <a:r>
              <a:rPr lang="cs-CZ" sz="2400" dirty="0" err="1"/>
              <a:t>Experiential</a:t>
            </a:r>
            <a:r>
              <a:rPr lang="cs-CZ" sz="2400" dirty="0"/>
              <a:t> </a:t>
            </a:r>
            <a:r>
              <a:rPr lang="cs-CZ" sz="2400" dirty="0" err="1"/>
              <a:t>prizes</a:t>
            </a:r>
            <a:r>
              <a:rPr lang="cs-CZ" sz="2400" dirty="0"/>
              <a:t> </a:t>
            </a:r>
            <a:r>
              <a:rPr lang="cs-CZ" sz="2400" dirty="0" err="1"/>
              <a:t>added</a:t>
            </a:r>
            <a:r>
              <a:rPr lang="cs-CZ" sz="2400" dirty="0"/>
              <a:t> to </a:t>
            </a:r>
            <a:r>
              <a:rPr lang="cs-CZ" sz="2400" dirty="0" err="1"/>
              <a:t>annuity</a:t>
            </a:r>
            <a:r>
              <a:rPr lang="cs-CZ" sz="2400" dirty="0"/>
              <a:t> </a:t>
            </a:r>
            <a:r>
              <a:rPr lang="cs-CZ" sz="2400" dirty="0" err="1"/>
              <a:t>lottery</a:t>
            </a:r>
            <a:r>
              <a:rPr lang="cs-CZ" sz="2400" dirty="0"/>
              <a:t> (SFL)</a:t>
            </a:r>
            <a:endParaRPr lang="cs-CZ" sz="2400" b="1" dirty="0"/>
          </a:p>
          <a:p>
            <a:r>
              <a:rPr lang="el-GR" sz="2400" b="1" dirty="0"/>
              <a:t>Φανταστείτε ότι υπάρχει ένα νέο συμπληρωματικό παιχνίδι που προσφέρεται για τους παίκτες του Λόττο</a:t>
            </a:r>
            <a:r>
              <a:rPr lang="en-US" sz="2400" b="1" dirty="0"/>
              <a:t>:</a:t>
            </a:r>
            <a:endParaRPr lang="el-GR" sz="2400" b="1" dirty="0"/>
          </a:p>
        </p:txBody>
      </p:sp>
      <p:sp>
        <p:nvSpPr>
          <p:cNvPr id="15" name="Text Placeholder 2">
            <a:extLst>
              <a:ext uri="{FF2B5EF4-FFF2-40B4-BE49-F238E27FC236}">
                <a16:creationId xmlns:a16="http://schemas.microsoft.com/office/drawing/2014/main" id="{AF99556A-3E1F-856A-1365-35CB8C67CDE8}"/>
              </a:ext>
            </a:extLst>
          </p:cNvPr>
          <p:cNvSpPr txBox="1">
            <a:spLocks/>
          </p:cNvSpPr>
          <p:nvPr/>
        </p:nvSpPr>
        <p:spPr>
          <a:xfrm>
            <a:off x="108753" y="857342"/>
            <a:ext cx="6640493" cy="5362575"/>
          </a:xfrm>
          <a:prstGeom prst="rect">
            <a:avLst/>
          </a:prstGeom>
        </p:spPr>
        <p:txBody>
          <a:bodyPr vert="horz" lIns="91440" tIns="45720" rIns="91440" bIns="45720" rtlCol="0">
            <a:noAutofit/>
          </a:bodyPr>
          <a:lstStyle>
            <a:lvl1pPr marL="0" indent="0" algn="l" defTabSz="685800" rtl="0" eaLnBrk="1" latinLnBrk="0" hangingPunct="1">
              <a:lnSpc>
                <a:spcPct val="90000"/>
              </a:lnSpc>
              <a:spcBef>
                <a:spcPts val="750"/>
              </a:spcBef>
              <a:buFontTx/>
              <a:buNone/>
              <a:defRPr sz="3600" kern="1200">
                <a:solidFill>
                  <a:schemeClr val="tx1"/>
                </a:solidFill>
                <a:latin typeface="+mn-lt"/>
                <a:ea typeface="+mn-ea"/>
                <a:cs typeface="+mn-cs"/>
              </a:defRPr>
            </a:lvl1pPr>
            <a:lvl2pPr marL="342900" indent="0" algn="l" defTabSz="685800" rtl="0" eaLnBrk="1" latinLnBrk="0" hangingPunct="1">
              <a:lnSpc>
                <a:spcPct val="90000"/>
              </a:lnSpc>
              <a:spcBef>
                <a:spcPts val="375"/>
              </a:spcBef>
              <a:buFontTx/>
              <a:buNone/>
              <a:defRPr sz="1800" kern="1200">
                <a:solidFill>
                  <a:schemeClr val="tx1"/>
                </a:solidFill>
                <a:latin typeface="+mn-lt"/>
                <a:ea typeface="+mn-ea"/>
                <a:cs typeface="+mn-cs"/>
              </a:defRPr>
            </a:lvl2pPr>
            <a:lvl3pPr marL="685800" indent="0" algn="l" defTabSz="685800" rtl="0" eaLnBrk="1" latinLnBrk="0" hangingPunct="1">
              <a:lnSpc>
                <a:spcPct val="90000"/>
              </a:lnSpc>
              <a:spcBef>
                <a:spcPts val="375"/>
              </a:spcBef>
              <a:buFontTx/>
              <a:buNone/>
              <a:defRPr sz="1500"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Tx/>
              <a:buNone/>
              <a:defRPr sz="1350"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Tx/>
              <a:buNone/>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a:buNone/>
            </a:pPr>
            <a:r>
              <a:rPr lang="el-GR" sz="1600" dirty="0"/>
              <a:t>Αυτό το συμπληρωματικό παιχνίδι στο Λόττο θα προσφέρεται διεθνώς. </a:t>
            </a:r>
            <a:br>
              <a:rPr lang="en-US" sz="1600" dirty="0"/>
            </a:br>
            <a:r>
              <a:rPr lang="el-GR" sz="1600" dirty="0"/>
              <a:t>Οι παίκτες θα έχουν την ευκαιρία να κερδίσουν αποκλειστικά εμπειρικά βραβεία που δεν μπορούν να </a:t>
            </a:r>
            <a:r>
              <a:rPr lang="el-GR" sz="1600" b="1" dirty="0"/>
              <a:t>αγοραστούν με χρήματα</a:t>
            </a:r>
            <a:r>
              <a:rPr lang="el-GR" sz="1600" dirty="0"/>
              <a:t>. Παραδείγματα περιλαμβάνουν:</a:t>
            </a:r>
          </a:p>
          <a:p>
            <a:pPr marL="285750" indent="-285750" algn="just">
              <a:buFont typeface="Arial" panose="020B0604020202020204" pitchFamily="34" charset="0"/>
              <a:buChar char="•"/>
            </a:pPr>
            <a:r>
              <a:rPr lang="el-GR" sz="1600" dirty="0"/>
              <a:t>Εισιτήρια για τους Ολυμπιακούς Αγώνες με συνάντηση με αθλητές, ταξίδια σε αγώνες Formula 1 με VIP πακέτο ταξιδιού, εισιτήρια Gold Class για συναυλίες και φεστιβάλ.</a:t>
            </a:r>
          </a:p>
          <a:p>
            <a:pPr marL="285750" indent="-285750" algn="just">
              <a:buFont typeface="Arial" panose="020B0604020202020204" pitchFamily="34" charset="0"/>
              <a:buChar char="•"/>
            </a:pPr>
            <a:r>
              <a:rPr lang="el-GR" sz="1600" dirty="0"/>
              <a:t>Ρόλοι ως κομπάρσοι σε δημοφιλείς τηλεοπτικές εκπομπές ή ταινίες, συμμετοχή ως κριτές σε εκπομπές μαγειρικής/ζαχαροπλαστικής ή δημοφιλή talent shows, συμμετοχή σε reality shows, προπονητική ημέρα με επαγγελματική ποδοσφαιρική ομάδα, εμπειρία οδήγησης σε προσομοιωτή F1.</a:t>
            </a:r>
          </a:p>
          <a:p>
            <a:pPr marL="285750" indent="-285750" algn="just">
              <a:buFont typeface="Arial" panose="020B0604020202020204" pitchFamily="34" charset="0"/>
              <a:buChar char="•"/>
            </a:pPr>
            <a:r>
              <a:rPr lang="el-GR" sz="1600" dirty="0"/>
              <a:t>Εκπαίδευση καταδύσεων με διάσημο εκπαιδευτή, αποκλειστικές πρεμιέρες ταινιών με δείπνο, πολυτελείς κρουαζιέρες με διάσημους </a:t>
            </a:r>
            <a:r>
              <a:rPr lang="el-GR" sz="1600" dirty="0">
                <a:solidFill>
                  <a:schemeClr val="tx1"/>
                </a:solidFill>
              </a:rPr>
              <a:t>ξεναγούς</a:t>
            </a:r>
            <a:r>
              <a:rPr lang="el-GR" sz="1600" dirty="0"/>
              <a:t>, premium πακέτα e-sports, πολιτιστικές και καλλιτεχνικές περιηγήσεις σε όλο τον κόσμο, και ταξίδια στο Broadway ή στο West End.</a:t>
            </a:r>
          </a:p>
          <a:p>
            <a:pPr marL="0" indent="0" algn="just">
              <a:buNone/>
            </a:pPr>
            <a:r>
              <a:rPr lang="el-GR" sz="1600" dirty="0"/>
              <a:t>Οι νικητές θα έχουν τη δυνατότητα να επιλέξουν </a:t>
            </a:r>
            <a:r>
              <a:rPr lang="el-GR" sz="1600" b="1" dirty="0"/>
              <a:t>από μια σειρά εναλλακτικών</a:t>
            </a:r>
            <a:r>
              <a:rPr lang="el-GR" sz="1600" dirty="0"/>
              <a:t>.</a:t>
            </a:r>
          </a:p>
          <a:p>
            <a:pPr marL="0" indent="0" algn="just">
              <a:buNone/>
            </a:pPr>
            <a:r>
              <a:rPr lang="el-GR" sz="1600" dirty="0"/>
              <a:t>Η τιμή ανά συμμετοχή θα είναι </a:t>
            </a:r>
            <a:r>
              <a:rPr lang="el-GR" sz="1600" b="1" dirty="0"/>
              <a:t>0,50 ευρώ ανά γραμμή που παίζεται</a:t>
            </a:r>
            <a:r>
              <a:rPr lang="el-GR" sz="1600" dirty="0"/>
              <a:t>.</a:t>
            </a:r>
          </a:p>
          <a:p>
            <a:pPr marL="0" indent="0" algn="just">
              <a:buNone/>
            </a:pPr>
            <a:r>
              <a:rPr lang="el-GR" sz="1600" dirty="0"/>
              <a:t>Για να συμμετάσχουν σε αυτό το συμπληρωματικό παιχνίδι, οι παίκτες δεν χρειάζεται να επιλέξουν αριθμούς. Κάτω από κάθε γραμμή του Λόττο θα τυπώνεται ένας ειδικός κωδικός. Αυτοί οι κωδικοί θα εισάγονται αυτόματα στην κλήρωση.</a:t>
            </a:r>
          </a:p>
          <a:p>
            <a:pPr marL="0" indent="0" algn="just">
              <a:buNone/>
            </a:pPr>
            <a:r>
              <a:rPr lang="el-GR" sz="1600" dirty="0"/>
              <a:t>Η κλήρωση αυτή θα πραγματοποιείται δύο φορές την εβδομάδα, κάθε Τετάρτη και Σάββατο.</a:t>
            </a:r>
            <a:endParaRPr lang="cs-CZ" sz="1600" dirty="0"/>
          </a:p>
          <a:p>
            <a:pPr marL="0" indent="0" algn="just">
              <a:buNone/>
            </a:pPr>
            <a:endParaRPr lang="cs-CZ" sz="1600" dirty="0"/>
          </a:p>
        </p:txBody>
      </p:sp>
    </p:spTree>
    <p:extLst>
      <p:ext uri="{BB962C8B-B14F-4D97-AF65-F5344CB8AC3E}">
        <p14:creationId xmlns:p14="http://schemas.microsoft.com/office/powerpoint/2010/main" val="25779559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E519212-7937-0921-CF29-B5A9761D8AAA}"/>
              </a:ext>
            </a:extLst>
          </p:cNvPr>
          <p:cNvPicPr>
            <a:picLocks noChangeAspect="1"/>
          </p:cNvPicPr>
          <p:nvPr/>
        </p:nvPicPr>
        <p:blipFill>
          <a:blip r:embed="rId3"/>
          <a:stretch>
            <a:fillRect/>
          </a:stretch>
        </p:blipFill>
        <p:spPr>
          <a:xfrm>
            <a:off x="363603" y="6388376"/>
            <a:ext cx="6130791" cy="4229181"/>
          </a:xfrm>
          <a:prstGeom prst="rect">
            <a:avLst/>
          </a:prstGeom>
        </p:spPr>
      </p:pic>
      <p:sp>
        <p:nvSpPr>
          <p:cNvPr id="2" name="Rectangle 1">
            <a:extLst>
              <a:ext uri="{FF2B5EF4-FFF2-40B4-BE49-F238E27FC236}">
                <a16:creationId xmlns:a16="http://schemas.microsoft.com/office/drawing/2014/main" id="{71F45582-6F58-30DA-074E-D38869DEA470}"/>
              </a:ext>
            </a:extLst>
          </p:cNvPr>
          <p:cNvSpPr/>
          <p:nvPr/>
        </p:nvSpPr>
        <p:spPr>
          <a:xfrm>
            <a:off x="0" y="-11916"/>
            <a:ext cx="6858000" cy="872065"/>
          </a:xfrm>
          <a:prstGeom prst="rect">
            <a:avLst/>
          </a:prstGeom>
          <a:solidFill>
            <a:srgbClr val="A2B0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itle 1">
            <a:extLst>
              <a:ext uri="{FF2B5EF4-FFF2-40B4-BE49-F238E27FC236}">
                <a16:creationId xmlns:a16="http://schemas.microsoft.com/office/drawing/2014/main" id="{23FC829F-190D-FCDB-8BCE-B3C54BCE7E24}"/>
              </a:ext>
            </a:extLst>
          </p:cNvPr>
          <p:cNvSpPr txBox="1">
            <a:spLocks/>
          </p:cNvSpPr>
          <p:nvPr/>
        </p:nvSpPr>
        <p:spPr>
          <a:xfrm>
            <a:off x="302952" y="20638"/>
            <a:ext cx="6384925" cy="839511"/>
          </a:xfrm>
          <a:prstGeom prst="rect">
            <a:avLst/>
          </a:prstGeom>
        </p:spPr>
        <p:txBody>
          <a:bodyPr vert="horz" lIns="91440" tIns="45720" rIns="91440" bIns="45720" rtlCol="0" anchor="ctr">
            <a:normAutofit fontScale="92500" lnSpcReduction="20000"/>
          </a:bodyPr>
          <a:lstStyle>
            <a:lvl1pPr algn="l" defTabSz="685800" rtl="0" eaLnBrk="1" latinLnBrk="0" hangingPunct="1">
              <a:lnSpc>
                <a:spcPct val="90000"/>
              </a:lnSpc>
              <a:spcBef>
                <a:spcPct val="0"/>
              </a:spcBef>
              <a:buNone/>
              <a:defRPr sz="3600" kern="1200">
                <a:solidFill>
                  <a:schemeClr val="tx1"/>
                </a:solidFill>
                <a:latin typeface="+mn-lt"/>
                <a:ea typeface="+mj-ea"/>
                <a:cs typeface="+mj-cs"/>
              </a:defRPr>
            </a:lvl1pPr>
          </a:lstStyle>
          <a:p>
            <a:r>
              <a:rPr lang="cs-CZ" sz="2400" dirty="0" err="1"/>
              <a:t>Euromillions</a:t>
            </a:r>
            <a:r>
              <a:rPr lang="cs-CZ" sz="2400" dirty="0"/>
              <a:t> (benchmark)</a:t>
            </a:r>
            <a:endParaRPr lang="cs-CZ" sz="2400" b="1" dirty="0"/>
          </a:p>
          <a:p>
            <a:r>
              <a:rPr lang="el-GR" sz="2400" b="1" dirty="0"/>
              <a:t>Φανταστείτε ότι πρόκειται να λανσαριστεί ένα νέο παιχνίδι λοταρίας:</a:t>
            </a:r>
          </a:p>
        </p:txBody>
      </p:sp>
      <p:sp>
        <p:nvSpPr>
          <p:cNvPr id="16" name="Text Placeholder 2">
            <a:extLst>
              <a:ext uri="{FF2B5EF4-FFF2-40B4-BE49-F238E27FC236}">
                <a16:creationId xmlns:a16="http://schemas.microsoft.com/office/drawing/2014/main" id="{48FC0FAC-E223-9C0E-666F-EC6A1B18919F}"/>
              </a:ext>
            </a:extLst>
          </p:cNvPr>
          <p:cNvSpPr txBox="1">
            <a:spLocks/>
          </p:cNvSpPr>
          <p:nvPr/>
        </p:nvSpPr>
        <p:spPr>
          <a:xfrm>
            <a:off x="297718" y="1016127"/>
            <a:ext cx="6236951" cy="5362575"/>
          </a:xfrm>
          <a:prstGeom prst="rect">
            <a:avLst/>
          </a:prstGeom>
        </p:spPr>
        <p:txBody>
          <a:bodyPr vert="horz" lIns="91440" tIns="45720" rIns="91440" bIns="45720" rtlCol="0">
            <a:normAutofit fontScale="92500" lnSpcReduction="20000"/>
          </a:bodyPr>
          <a:lstStyle>
            <a:lvl1pPr marL="0" indent="0" algn="l" defTabSz="685800" rtl="0" eaLnBrk="1" latinLnBrk="0" hangingPunct="1">
              <a:lnSpc>
                <a:spcPct val="90000"/>
              </a:lnSpc>
              <a:spcBef>
                <a:spcPts val="750"/>
              </a:spcBef>
              <a:buFontTx/>
              <a:buNone/>
              <a:defRPr sz="3600" kern="1200">
                <a:solidFill>
                  <a:schemeClr val="tx1"/>
                </a:solidFill>
                <a:latin typeface="+mn-lt"/>
                <a:ea typeface="+mn-ea"/>
                <a:cs typeface="+mn-cs"/>
              </a:defRPr>
            </a:lvl1pPr>
            <a:lvl2pPr marL="342900" indent="0" algn="l" defTabSz="685800" rtl="0" eaLnBrk="1" latinLnBrk="0" hangingPunct="1">
              <a:lnSpc>
                <a:spcPct val="90000"/>
              </a:lnSpc>
              <a:spcBef>
                <a:spcPts val="375"/>
              </a:spcBef>
              <a:buFontTx/>
              <a:buNone/>
              <a:defRPr sz="1800" kern="1200">
                <a:solidFill>
                  <a:schemeClr val="tx1"/>
                </a:solidFill>
                <a:latin typeface="+mn-lt"/>
                <a:ea typeface="+mn-ea"/>
                <a:cs typeface="+mn-cs"/>
              </a:defRPr>
            </a:lvl2pPr>
            <a:lvl3pPr marL="685800" indent="0" algn="l" defTabSz="685800" rtl="0" eaLnBrk="1" latinLnBrk="0" hangingPunct="1">
              <a:lnSpc>
                <a:spcPct val="90000"/>
              </a:lnSpc>
              <a:spcBef>
                <a:spcPts val="375"/>
              </a:spcBef>
              <a:buFontTx/>
              <a:buNone/>
              <a:defRPr sz="1500"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Tx/>
              <a:buNone/>
              <a:defRPr sz="1350"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Tx/>
              <a:buNone/>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a:lnSpc>
                <a:spcPct val="107000"/>
              </a:lnSpc>
              <a:spcBef>
                <a:spcPts val="0"/>
              </a:spcBef>
              <a:spcAft>
                <a:spcPts val="800"/>
              </a:spcAft>
              <a:buNone/>
            </a:pPr>
            <a:r>
              <a:rPr lang="el-GR" sz="2400" dirty="0"/>
              <a:t>Αυτό είναι ένα παιχνίδι λοταρίας αριθμών που προσφέρει την ευκαιρία να κερδίσετε προοδευτικά </a:t>
            </a:r>
            <a:r>
              <a:rPr lang="en-US" sz="2400" dirty="0"/>
              <a:t> </a:t>
            </a:r>
            <a:r>
              <a:rPr lang="el-GR" sz="2400" dirty="0"/>
              <a:t>σημαντικά τζακπότ σε τακτική βάση.</a:t>
            </a:r>
            <a:endParaRPr lang="cs-CZ" sz="2400" dirty="0"/>
          </a:p>
          <a:p>
            <a:pPr marL="0" indent="0" algn="just">
              <a:lnSpc>
                <a:spcPct val="107000"/>
              </a:lnSpc>
              <a:spcBef>
                <a:spcPts val="0"/>
              </a:spcBef>
              <a:spcAft>
                <a:spcPts val="800"/>
              </a:spcAft>
              <a:buNone/>
            </a:pPr>
            <a:r>
              <a:rPr lang="el-GR" sz="2400" dirty="0"/>
              <a:t>Για να συμμετάσχετε, επιλέξτε 5 αριθμούς και </a:t>
            </a:r>
            <a:br>
              <a:rPr lang="en-US" sz="2400" dirty="0"/>
            </a:br>
            <a:r>
              <a:rPr lang="el-GR" sz="2400" dirty="0"/>
              <a:t>2 αριθμούς μπόνους για την ευκαιρία να κερδίσετε το απόλυτο τζακπότ που μπορεί να φτάσει έως και </a:t>
            </a:r>
            <a:r>
              <a:rPr lang="el-GR" sz="2400" b="1" dirty="0"/>
              <a:t>120 εκατομμύρια ευρώ</a:t>
            </a:r>
            <a:r>
              <a:rPr lang="el-GR" sz="2400" dirty="0"/>
              <a:t>.</a:t>
            </a:r>
            <a:endParaRPr lang="cs-CZ" sz="2400" dirty="0"/>
          </a:p>
          <a:p>
            <a:pPr marL="0" indent="0" algn="just">
              <a:lnSpc>
                <a:spcPct val="107000"/>
              </a:lnSpc>
              <a:spcBef>
                <a:spcPts val="0"/>
              </a:spcBef>
              <a:spcAft>
                <a:spcPts val="800"/>
              </a:spcAft>
              <a:buNone/>
            </a:pPr>
            <a:r>
              <a:rPr lang="el-GR" sz="2400" dirty="0"/>
              <a:t>Τα </a:t>
            </a:r>
            <a:r>
              <a:rPr lang="el-GR" sz="2400" dirty="0">
                <a:solidFill>
                  <a:schemeClr val="tx1"/>
                </a:solidFill>
              </a:rPr>
              <a:t>λαχεία</a:t>
            </a:r>
            <a:r>
              <a:rPr lang="el-GR" sz="2400" dirty="0"/>
              <a:t> κοστίζουν </a:t>
            </a:r>
            <a:r>
              <a:rPr lang="el-GR" sz="2400" b="1" dirty="0"/>
              <a:t>2,50 ευρώ </a:t>
            </a:r>
            <a:r>
              <a:rPr lang="el-GR" sz="2400" dirty="0"/>
              <a:t>ανά γραμμή.</a:t>
            </a:r>
            <a:endParaRPr lang="cs-CZ" sz="2400" dirty="0"/>
          </a:p>
          <a:p>
            <a:pPr marL="0" indent="0" algn="just">
              <a:lnSpc>
                <a:spcPct val="107000"/>
              </a:lnSpc>
              <a:spcBef>
                <a:spcPts val="0"/>
              </a:spcBef>
              <a:spcAft>
                <a:spcPts val="800"/>
              </a:spcAft>
              <a:buNone/>
            </a:pPr>
            <a:r>
              <a:rPr lang="el-GR" sz="2400" dirty="0"/>
              <a:t>Αυτό το παιχνίδι μπορεί να παιχτεί διαδικτυακά ή σε καταστήματα λιανικής πώλησης. Αν το τζακπότ δεν κερδηθεί, το συνολικό ποσό μεταφέρεται στην επόμενη κλήρωση.</a:t>
            </a:r>
            <a:endParaRPr lang="cs-CZ" sz="2400" dirty="0"/>
          </a:p>
          <a:p>
            <a:pPr marL="0" indent="0" algn="just">
              <a:lnSpc>
                <a:spcPct val="107000"/>
              </a:lnSpc>
              <a:spcBef>
                <a:spcPts val="0"/>
              </a:spcBef>
              <a:spcAft>
                <a:spcPts val="800"/>
              </a:spcAft>
              <a:buNone/>
            </a:pPr>
            <a:r>
              <a:rPr lang="el-GR" sz="2400" dirty="0"/>
              <a:t>Οι κληρώσεις πραγματοποιούνται δύο φορές την εβδομάδα: κάθε Τρίτη και Παρασκευή. </a:t>
            </a:r>
            <a:br>
              <a:rPr lang="en-US" sz="2400" dirty="0"/>
            </a:br>
            <a:r>
              <a:rPr lang="el-GR" sz="2400" dirty="0"/>
              <a:t>Η πιθανότητα να κερδίσετε κάποιο βραβείο σε κάθε κλήρωση είναι 1 </a:t>
            </a:r>
            <a:r>
              <a:rPr lang="el-GR" sz="2400" dirty="0">
                <a:solidFill>
                  <a:schemeClr val="tx1"/>
                </a:solidFill>
              </a:rPr>
              <a:t>στις</a:t>
            </a:r>
            <a:r>
              <a:rPr lang="el-GR" sz="2400" dirty="0"/>
              <a:t> </a:t>
            </a:r>
            <a:r>
              <a:rPr lang="cs-CZ" sz="2400" dirty="0"/>
              <a:t>35</a:t>
            </a:r>
            <a:r>
              <a:rPr lang="el-GR" sz="2400" dirty="0"/>
              <a:t>.</a:t>
            </a:r>
            <a:endParaRPr lang="cs-CZ" sz="2000" kern="100" dirty="0">
              <a:effectLst/>
              <a:latin typeface="+mj-lt"/>
              <a:ea typeface="Aptos" panose="020B0004020202020204" pitchFamily="34" charset="0"/>
              <a:cs typeface="Times New Roman" panose="02020603050405020304" pitchFamily="18" charset="0"/>
            </a:endParaRPr>
          </a:p>
          <a:p>
            <a:pPr marL="0" indent="0" algn="just">
              <a:lnSpc>
                <a:spcPct val="107000"/>
              </a:lnSpc>
              <a:spcBef>
                <a:spcPts val="0"/>
              </a:spcBef>
              <a:spcAft>
                <a:spcPts val="800"/>
              </a:spcAft>
              <a:buNone/>
            </a:pPr>
            <a:endParaRPr lang="cs-CZ" sz="2100" dirty="0"/>
          </a:p>
          <a:p>
            <a:pPr algn="just"/>
            <a:endParaRPr lang="cs-CZ" sz="2100" dirty="0"/>
          </a:p>
        </p:txBody>
      </p:sp>
    </p:spTree>
    <p:extLst>
      <p:ext uri="{BB962C8B-B14F-4D97-AF65-F5344CB8AC3E}">
        <p14:creationId xmlns:p14="http://schemas.microsoft.com/office/powerpoint/2010/main" val="38200802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6682067-699F-B873-8699-A4CCA8F67F7E}"/>
              </a:ext>
            </a:extLst>
          </p:cNvPr>
          <p:cNvPicPr>
            <a:picLocks noChangeAspect="1"/>
          </p:cNvPicPr>
          <p:nvPr/>
        </p:nvPicPr>
        <p:blipFill>
          <a:blip r:embed="rId3"/>
          <a:stretch>
            <a:fillRect/>
          </a:stretch>
        </p:blipFill>
        <p:spPr>
          <a:xfrm>
            <a:off x="522931" y="6769760"/>
            <a:ext cx="5812136" cy="4009364"/>
          </a:xfrm>
          <a:prstGeom prst="rect">
            <a:avLst/>
          </a:prstGeom>
        </p:spPr>
      </p:pic>
      <p:sp>
        <p:nvSpPr>
          <p:cNvPr id="2" name="Rectangle 1">
            <a:extLst>
              <a:ext uri="{FF2B5EF4-FFF2-40B4-BE49-F238E27FC236}">
                <a16:creationId xmlns:a16="http://schemas.microsoft.com/office/drawing/2014/main" id="{EC0016F4-D46D-D2A2-B02B-EC85B268FBDC}"/>
              </a:ext>
            </a:extLst>
          </p:cNvPr>
          <p:cNvSpPr/>
          <p:nvPr/>
        </p:nvSpPr>
        <p:spPr>
          <a:xfrm>
            <a:off x="0" y="-11916"/>
            <a:ext cx="6858000" cy="834877"/>
          </a:xfrm>
          <a:prstGeom prst="rect">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itle 1">
            <a:extLst>
              <a:ext uri="{FF2B5EF4-FFF2-40B4-BE49-F238E27FC236}">
                <a16:creationId xmlns:a16="http://schemas.microsoft.com/office/drawing/2014/main" id="{A30F4D9E-0DAE-5BF5-BBED-A6B72CE567C0}"/>
              </a:ext>
            </a:extLst>
          </p:cNvPr>
          <p:cNvSpPr txBox="1">
            <a:spLocks/>
          </p:cNvSpPr>
          <p:nvPr/>
        </p:nvSpPr>
        <p:spPr>
          <a:xfrm>
            <a:off x="302952" y="20639"/>
            <a:ext cx="6384925" cy="802322"/>
          </a:xfrm>
          <a:prstGeom prst="rect">
            <a:avLst/>
          </a:prstGeom>
        </p:spPr>
        <p:txBody>
          <a:bodyPr vert="horz" lIns="91440" tIns="45720" rIns="91440" bIns="45720" rtlCol="0" anchor="ctr">
            <a:normAutofit fontScale="85000" lnSpcReduction="20000"/>
          </a:bodyPr>
          <a:lstStyle>
            <a:lvl1pPr algn="l" defTabSz="685800" rtl="0" eaLnBrk="1" latinLnBrk="0" hangingPunct="1">
              <a:lnSpc>
                <a:spcPct val="90000"/>
              </a:lnSpc>
              <a:spcBef>
                <a:spcPct val="0"/>
              </a:spcBef>
              <a:buNone/>
              <a:defRPr sz="3600" kern="1200">
                <a:solidFill>
                  <a:schemeClr val="tx1"/>
                </a:solidFill>
                <a:latin typeface="+mn-lt"/>
                <a:ea typeface="+mj-ea"/>
                <a:cs typeface="+mj-cs"/>
              </a:defRPr>
            </a:lvl1pPr>
          </a:lstStyle>
          <a:p>
            <a:r>
              <a:rPr lang="cs-CZ" sz="2400" dirty="0" err="1"/>
              <a:t>EuroDreams</a:t>
            </a:r>
            <a:r>
              <a:rPr lang="en-US" sz="2400"/>
              <a:t> (benchmark)</a:t>
            </a:r>
            <a:endParaRPr lang="cs-CZ" sz="2400" b="1"/>
          </a:p>
          <a:p>
            <a:r>
              <a:rPr lang="el-GR" sz="2400" b="1" dirty="0"/>
              <a:t>Φανταστείτε ότι υπάρχει ένα νέο παιχνίδι λοταρίας που πρόκειται να κυκλοφορήσει:</a:t>
            </a:r>
          </a:p>
        </p:txBody>
      </p:sp>
      <p:sp>
        <p:nvSpPr>
          <p:cNvPr id="19" name="Text Placeholder 2">
            <a:extLst>
              <a:ext uri="{FF2B5EF4-FFF2-40B4-BE49-F238E27FC236}">
                <a16:creationId xmlns:a16="http://schemas.microsoft.com/office/drawing/2014/main" id="{00195CB3-D732-860B-C6E2-5E6D856DD6A5}"/>
              </a:ext>
            </a:extLst>
          </p:cNvPr>
          <p:cNvSpPr txBox="1">
            <a:spLocks/>
          </p:cNvSpPr>
          <p:nvPr/>
        </p:nvSpPr>
        <p:spPr>
          <a:xfrm>
            <a:off x="297718" y="899890"/>
            <a:ext cx="6199594" cy="5362575"/>
          </a:xfrm>
          <a:prstGeom prst="rect">
            <a:avLst/>
          </a:prstGeom>
        </p:spPr>
        <p:txBody>
          <a:bodyPr vert="horz" lIns="91440" tIns="45720" rIns="91440" bIns="45720" rtlCol="0">
            <a:noAutofit/>
          </a:bodyPr>
          <a:lstStyle>
            <a:lvl1pPr marL="0" indent="0" algn="l" defTabSz="685800" rtl="0" eaLnBrk="1" latinLnBrk="0" hangingPunct="1">
              <a:lnSpc>
                <a:spcPct val="90000"/>
              </a:lnSpc>
              <a:spcBef>
                <a:spcPts val="750"/>
              </a:spcBef>
              <a:buFontTx/>
              <a:buNone/>
              <a:defRPr sz="3600" kern="1200">
                <a:solidFill>
                  <a:schemeClr val="tx1"/>
                </a:solidFill>
                <a:latin typeface="+mn-lt"/>
                <a:ea typeface="+mn-ea"/>
                <a:cs typeface="+mn-cs"/>
              </a:defRPr>
            </a:lvl1pPr>
            <a:lvl2pPr marL="342900" indent="0" algn="l" defTabSz="685800" rtl="0" eaLnBrk="1" latinLnBrk="0" hangingPunct="1">
              <a:lnSpc>
                <a:spcPct val="90000"/>
              </a:lnSpc>
              <a:spcBef>
                <a:spcPts val="375"/>
              </a:spcBef>
              <a:buFontTx/>
              <a:buNone/>
              <a:defRPr sz="1800" kern="1200">
                <a:solidFill>
                  <a:schemeClr val="tx1"/>
                </a:solidFill>
                <a:latin typeface="+mn-lt"/>
                <a:ea typeface="+mn-ea"/>
                <a:cs typeface="+mn-cs"/>
              </a:defRPr>
            </a:lvl2pPr>
            <a:lvl3pPr marL="685800" indent="0" algn="l" defTabSz="685800" rtl="0" eaLnBrk="1" latinLnBrk="0" hangingPunct="1">
              <a:lnSpc>
                <a:spcPct val="90000"/>
              </a:lnSpc>
              <a:spcBef>
                <a:spcPts val="375"/>
              </a:spcBef>
              <a:buFontTx/>
              <a:buNone/>
              <a:defRPr sz="1500"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Tx/>
              <a:buNone/>
              <a:defRPr sz="1350"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Tx/>
              <a:buNone/>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a:lnSpc>
                <a:spcPct val="107000"/>
              </a:lnSpc>
              <a:spcBef>
                <a:spcPts val="0"/>
              </a:spcBef>
              <a:spcAft>
                <a:spcPts val="800"/>
              </a:spcAft>
              <a:buNone/>
            </a:pPr>
            <a:r>
              <a:rPr lang="el-GR" sz="1900" dirty="0"/>
              <a:t>Αυτή είναι μια διεθνής λοταρία αριθμών στην οποία οι παίκτες από συμμετέχουσες χώρες παίζουν για να κερδίσουν ένα ονειρεμένο κορυφαίο βραβείο των </a:t>
            </a:r>
            <a:r>
              <a:rPr lang="el-GR" sz="1900" b="1" dirty="0"/>
              <a:t>20</a:t>
            </a:r>
            <a:r>
              <a:rPr lang="cs-CZ" sz="1900" b="1" dirty="0"/>
              <a:t> </a:t>
            </a:r>
            <a:r>
              <a:rPr lang="el-GR" sz="1900" b="1" dirty="0"/>
              <a:t>000 Ευρώ ανά μήνα, το οποίο καταβάλλεται σε τακτικές δόσεις σε περίοδο 30 ετών. </a:t>
            </a:r>
            <a:endParaRPr lang="cs-CZ" sz="1900" b="1" dirty="0"/>
          </a:p>
          <a:p>
            <a:pPr marL="0" indent="0" algn="just">
              <a:lnSpc>
                <a:spcPct val="107000"/>
              </a:lnSpc>
              <a:spcBef>
                <a:spcPts val="0"/>
              </a:spcBef>
              <a:spcAft>
                <a:spcPts val="800"/>
              </a:spcAft>
              <a:buNone/>
            </a:pPr>
            <a:r>
              <a:rPr lang="el-GR" sz="1900" dirty="0"/>
              <a:t>Για να συμμετάσχετε, επιλέξτε 6 αριθμούς από το 1 έως το 40 και 1 αριθμό μπόνους από το 1 έως το 5. Αν ταιριάξετε και τους 7 αριθμούς, κερδίζετε το κορυφαίο βραβείο. </a:t>
            </a:r>
            <a:endParaRPr lang="cs-CZ" sz="1900" dirty="0"/>
          </a:p>
          <a:p>
            <a:pPr marL="0" indent="0" algn="just">
              <a:lnSpc>
                <a:spcPct val="107000"/>
              </a:lnSpc>
              <a:spcBef>
                <a:spcPts val="0"/>
              </a:spcBef>
              <a:spcAft>
                <a:spcPts val="800"/>
              </a:spcAft>
              <a:buNone/>
            </a:pPr>
            <a:r>
              <a:rPr lang="el-GR" sz="1900" dirty="0"/>
              <a:t>Αυτό το βραβείο είναι σταθερό. Υπάρχει επίσης ένα ετήσιο βραβείο στη 2η κατηγορία: 2</a:t>
            </a:r>
            <a:r>
              <a:rPr lang="cs-CZ" sz="1900" dirty="0"/>
              <a:t> </a:t>
            </a:r>
            <a:r>
              <a:rPr lang="el-GR" sz="1900" dirty="0"/>
              <a:t>000 Ευρώ ανά μήνα για </a:t>
            </a:r>
            <a:br>
              <a:rPr lang="en-US" sz="1900" dirty="0"/>
            </a:br>
            <a:r>
              <a:rPr lang="el-GR" sz="1900" dirty="0"/>
              <a:t>5 χρόνια. </a:t>
            </a:r>
            <a:endParaRPr lang="cs-CZ" sz="1900" dirty="0"/>
          </a:p>
          <a:p>
            <a:pPr marL="0" indent="0" algn="just">
              <a:lnSpc>
                <a:spcPct val="107000"/>
              </a:lnSpc>
              <a:spcBef>
                <a:spcPts val="0"/>
              </a:spcBef>
              <a:spcAft>
                <a:spcPts val="800"/>
              </a:spcAft>
              <a:buNone/>
            </a:pPr>
            <a:r>
              <a:rPr lang="el-GR" sz="1900" dirty="0"/>
              <a:t>Μια γραμμή κοστίζει </a:t>
            </a:r>
            <a:r>
              <a:rPr lang="el-GR" sz="1900" b="1" dirty="0"/>
              <a:t>2,50 Ευρώ</a:t>
            </a:r>
            <a:r>
              <a:rPr lang="el-GR" sz="1900" dirty="0"/>
              <a:t>. </a:t>
            </a:r>
            <a:endParaRPr lang="cs-CZ" sz="1900" dirty="0"/>
          </a:p>
          <a:p>
            <a:pPr marL="0" indent="0" algn="just">
              <a:lnSpc>
                <a:spcPct val="107000"/>
              </a:lnSpc>
              <a:spcBef>
                <a:spcPts val="0"/>
              </a:spcBef>
              <a:spcAft>
                <a:spcPts val="800"/>
              </a:spcAft>
              <a:buNone/>
            </a:pPr>
            <a:r>
              <a:rPr lang="el-GR" sz="1900" dirty="0"/>
              <a:t>Υπάρχουν δύο κληρώσεις την εβδομάδα: τη Δευτέρα και την Πέμπτη. </a:t>
            </a:r>
            <a:endParaRPr lang="cs-CZ" sz="1900" dirty="0"/>
          </a:p>
          <a:p>
            <a:pPr marL="0" indent="0" algn="just">
              <a:lnSpc>
                <a:spcPct val="107000"/>
              </a:lnSpc>
              <a:spcBef>
                <a:spcPts val="0"/>
              </a:spcBef>
              <a:spcAft>
                <a:spcPts val="800"/>
              </a:spcAft>
              <a:buNone/>
            </a:pPr>
            <a:r>
              <a:rPr lang="el-GR" sz="1900" dirty="0"/>
              <a:t>Στην Ελλάδα, αυτό το παιχνίδι θα προσφερόταν σε όλα τα σημεία πώλησης όπου μπορεί κανείς να αγοράσει λαχεία ή ξυστά, ή online σε αντίστοιχες ιστοσελίδες και εφαρμογές.</a:t>
            </a:r>
            <a:endParaRPr lang="cs-CZ" sz="1900" dirty="0"/>
          </a:p>
          <a:p>
            <a:pPr algn="just">
              <a:lnSpc>
                <a:spcPct val="107000"/>
              </a:lnSpc>
              <a:spcBef>
                <a:spcPts val="0"/>
              </a:spcBef>
              <a:spcAft>
                <a:spcPts val="800"/>
              </a:spcAft>
            </a:pPr>
            <a:endParaRPr lang="cs-CZ" sz="1900" b="0" i="0" dirty="0">
              <a:solidFill>
                <a:srgbClr val="333333"/>
              </a:solidFill>
              <a:effectLst/>
            </a:endParaRPr>
          </a:p>
          <a:p>
            <a:pPr algn="just"/>
            <a:endParaRPr lang="cs-CZ" sz="1900" dirty="0"/>
          </a:p>
        </p:txBody>
      </p:sp>
    </p:spTree>
    <p:extLst>
      <p:ext uri="{BB962C8B-B14F-4D97-AF65-F5344CB8AC3E}">
        <p14:creationId xmlns:p14="http://schemas.microsoft.com/office/powerpoint/2010/main" val="17757306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EXCLUDEHIDDENSLIDES" val="False"/>
  <p:tag name="NUMBEROFPAGES" val="11"/>
</p:tagLst>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3741da7a-79c1-417c-b408-16c0bfe99fca}" enabled="1" method="Standard" siteId="{1e355c04-e0a4-42ed-8e2d-7351591f0ef1}" removed="0"/>
</clbl:labelList>
</file>

<file path=docProps/app.xml><?xml version="1.0" encoding="utf-8"?>
<Properties xmlns="http://schemas.openxmlformats.org/officeDocument/2006/extended-properties" xmlns:vt="http://schemas.openxmlformats.org/officeDocument/2006/docPropsVTypes">
  <Template>Office Theme</Template>
  <TotalTime>1695</TotalTime>
  <Words>2253</Words>
  <Application>Microsoft Office PowerPoint</Application>
  <PresentationFormat>Custom</PresentationFormat>
  <Paragraphs>103</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Aptos</vt:lpstr>
      <vt:lpstr>Arial</vt:lpstr>
      <vt:lpstr>Calibri</vt:lpstr>
      <vt:lpstr>Office Theme</vt:lpstr>
      <vt:lpstr>Powerball Φανταστείτε ότι υπάρχει ένα νέο παιχνίδι λοταρίας που πρόκειται να κυκλοφορήσει:</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Rajsnerová, Jana (KTPRG)</dc:creator>
  <cp:lastModifiedBy>Peter Javornický</cp:lastModifiedBy>
  <cp:revision>65</cp:revision>
  <dcterms:created xsi:type="dcterms:W3CDTF">2022-11-09T07:36:23Z</dcterms:created>
  <dcterms:modified xsi:type="dcterms:W3CDTF">2025-12-16T08:23:44Z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3741da7a-79c1-417c-b408-16c0bfe99fca_Enabled">
    <vt:lpwstr>true</vt:lpwstr>
  </property>
  <property fmtid="{D5CDD505-2E9C-101B-9397-08002B2CF9AE}" pid="3" name="MSIP_Label_3741da7a-79c1-417c-b408-16c0bfe99fca_SetDate">
    <vt:lpwstr>2023-03-30T08:52:17Z</vt:lpwstr>
  </property>
  <property fmtid="{D5CDD505-2E9C-101B-9397-08002B2CF9AE}" pid="4" name="MSIP_Label_3741da7a-79c1-417c-b408-16c0bfe99fca_Method">
    <vt:lpwstr>Standard</vt:lpwstr>
  </property>
  <property fmtid="{D5CDD505-2E9C-101B-9397-08002B2CF9AE}" pid="5" name="MSIP_Label_3741da7a-79c1-417c-b408-16c0bfe99fca_Name">
    <vt:lpwstr>Internal Only - Amber</vt:lpwstr>
  </property>
  <property fmtid="{D5CDD505-2E9C-101B-9397-08002B2CF9AE}" pid="6" name="MSIP_Label_3741da7a-79c1-417c-b408-16c0bfe99fca_SiteId">
    <vt:lpwstr>1e355c04-e0a4-42ed-8e2d-7351591f0ef1</vt:lpwstr>
  </property>
  <property fmtid="{D5CDD505-2E9C-101B-9397-08002B2CF9AE}" pid="7" name="MSIP_Label_3741da7a-79c1-417c-b408-16c0bfe99fca_ActionId">
    <vt:lpwstr>5b4cd54c-153d-4cdd-b8e7-de533e844d37</vt:lpwstr>
  </property>
  <property fmtid="{D5CDD505-2E9C-101B-9397-08002B2CF9AE}" pid="8" name="MSIP_Label_3741da7a-79c1-417c-b408-16c0bfe99fca_ContentBits">
    <vt:lpwstr>0</vt:lpwstr>
  </property>
</Properties>
</file>