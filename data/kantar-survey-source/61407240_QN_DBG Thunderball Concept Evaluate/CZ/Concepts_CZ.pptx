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9" r:id="rId3"/>
    <p:sldId id="270" r:id="rId4"/>
  </p:sldIdLst>
  <p:sldSz cx="6858000" cy="10799763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1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5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B84566-E030-482C-9E1F-B0FB5D4B22E6}" v="2" dt="2025-12-16T14:14:59.6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řední styl 2 – zvýraznění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48" y="72"/>
      </p:cViewPr>
      <p:guideLst>
        <p:guide orient="horz" pos="3401"/>
        <p:guide pos="2160"/>
        <p:guide orient="horz" pos="45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88A10E76-C547-4713-B92A-3B48010D5CF0}"/>
    <pc:docChg chg="modSld">
      <pc:chgData name="Peter Javornický" userId="3b98f8e0-d449-4f6e-b57d-5f9bfb7a5c2c" providerId="ADAL" clId="{88A10E76-C547-4713-B92A-3B48010D5CF0}" dt="2025-12-16T14:15:03.975" v="15" actId="404"/>
      <pc:docMkLst>
        <pc:docMk/>
      </pc:docMkLst>
      <pc:sldChg chg="modSp mod">
        <pc:chgData name="Peter Javornický" userId="3b98f8e0-d449-4f6e-b57d-5f9bfb7a5c2c" providerId="ADAL" clId="{88A10E76-C547-4713-B92A-3B48010D5CF0}" dt="2025-12-16T14:14:48.029" v="10" actId="404"/>
        <pc:sldMkLst>
          <pc:docMk/>
          <pc:sldMk cId="46857855" sldId="268"/>
        </pc:sldMkLst>
        <pc:spChg chg="mod">
          <ac:chgData name="Peter Javornický" userId="3b98f8e0-d449-4f6e-b57d-5f9bfb7a5c2c" providerId="ADAL" clId="{88A10E76-C547-4713-B92A-3B48010D5CF0}" dt="2025-12-16T14:14:48.029" v="10" actId="404"/>
          <ac:spMkLst>
            <pc:docMk/>
            <pc:sldMk cId="46857855" sldId="268"/>
            <ac:spMk id="3" creationId="{FF7F3D8E-FF11-1FC3-E262-8AB6EA3796E7}"/>
          </ac:spMkLst>
        </pc:spChg>
      </pc:sldChg>
      <pc:sldChg chg="modSp mod">
        <pc:chgData name="Peter Javornický" userId="3b98f8e0-d449-4f6e-b57d-5f9bfb7a5c2c" providerId="ADAL" clId="{88A10E76-C547-4713-B92A-3B48010D5CF0}" dt="2025-12-16T14:14:26.187" v="5" actId="404"/>
        <pc:sldMkLst>
          <pc:docMk/>
          <pc:sldMk cId="3168554335" sldId="269"/>
        </pc:sldMkLst>
        <pc:spChg chg="mod">
          <ac:chgData name="Peter Javornický" userId="3b98f8e0-d449-4f6e-b57d-5f9bfb7a5c2c" providerId="ADAL" clId="{88A10E76-C547-4713-B92A-3B48010D5CF0}" dt="2025-12-16T14:14:26.187" v="5" actId="404"/>
          <ac:spMkLst>
            <pc:docMk/>
            <pc:sldMk cId="3168554335" sldId="269"/>
            <ac:spMk id="3" creationId="{C97CA788-BEE6-AF28-CB3A-877D4596AE92}"/>
          </ac:spMkLst>
        </pc:spChg>
      </pc:sldChg>
      <pc:sldChg chg="modSp mod">
        <pc:chgData name="Peter Javornický" userId="3b98f8e0-d449-4f6e-b57d-5f9bfb7a5c2c" providerId="ADAL" clId="{88A10E76-C547-4713-B92A-3B48010D5CF0}" dt="2025-12-16T14:15:03.975" v="15" actId="404"/>
        <pc:sldMkLst>
          <pc:docMk/>
          <pc:sldMk cId="4223236571" sldId="270"/>
        </pc:sldMkLst>
        <pc:spChg chg="mod">
          <ac:chgData name="Peter Javornický" userId="3b98f8e0-d449-4f6e-b57d-5f9bfb7a5c2c" providerId="ADAL" clId="{88A10E76-C547-4713-B92A-3B48010D5CF0}" dt="2025-12-16T14:15:03.975" v="15" actId="404"/>
          <ac:spMkLst>
            <pc:docMk/>
            <pc:sldMk cId="4223236571" sldId="270"/>
            <ac:spMk id="3" creationId="{26699080-4BAE-95BD-A23C-5B5A7463717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F3D8E-FF11-1FC3-E262-8AB6EA3796E7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0"/>
            <a:ext cx="6720843" cy="740936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/>
              <a:t>Daily Millionaire - </a:t>
            </a:r>
            <a:r>
              <a:rPr lang="cs-CZ" sz="2400" b="1" noProof="0" dirty="0"/>
              <a:t>Nová loterijní hra</a:t>
            </a:r>
          </a:p>
          <a:p>
            <a:pPr>
              <a:spcBef>
                <a:spcPts val="600"/>
              </a:spcBef>
            </a:pPr>
            <a:r>
              <a:rPr lang="cs-CZ" sz="2100" noProof="0" dirty="0"/>
              <a:t>Jedná se o mezinárodní loterii a díky tomu nabízí hráčům šanci denně vyhrát hlavní výhru ve výši 25 milionů Kč, pokud správně trefí 6 čísel z 52. </a:t>
            </a:r>
          </a:p>
          <a:p>
            <a:pPr>
              <a:spcBef>
                <a:spcPts val="600"/>
              </a:spcBef>
            </a:pPr>
            <a:r>
              <a:rPr lang="cs-CZ" sz="2100" noProof="0" dirty="0"/>
              <a:t>A to není jediná šance, jak se stát euromilionářem. </a:t>
            </a:r>
            <a:br>
              <a:rPr lang="cs-CZ" sz="2100" noProof="0" dirty="0"/>
            </a:br>
            <a:r>
              <a:rPr lang="cs-CZ" sz="2100" noProof="0" dirty="0"/>
              <a:t>Součástí této nové loterie je také speciální prémie, </a:t>
            </a:r>
            <a:br>
              <a:rPr lang="cs-CZ" sz="2100" noProof="0" dirty="0"/>
            </a:br>
            <a:r>
              <a:rPr lang="cs-CZ" sz="2100" noProof="0" dirty="0"/>
              <a:t>tzv. Záplava euromilionářů. Část vkladů z každého losování se shromažďuje ve „Fondu euromilionářů“.  Peníze z tohoto Fondu se rozdělí mezi šťastné sázející v den, kdy budou všechna vylosovaná čísla sudá, nebo všechna lichá. </a:t>
            </a:r>
            <a:br>
              <a:rPr lang="cs-CZ" sz="2100" noProof="0" dirty="0"/>
            </a:br>
            <a:r>
              <a:rPr lang="cs-CZ" sz="2100" noProof="0" dirty="0"/>
              <a:t>Tato událost teoreticky nastane každých 6 týdnů.  </a:t>
            </a:r>
            <a:br>
              <a:rPr lang="cs-CZ" sz="2100" noProof="0" dirty="0"/>
            </a:br>
            <a:r>
              <a:rPr lang="cs-CZ" sz="2100" noProof="0" dirty="0"/>
              <a:t>Například, pokud je v ten den ve „Fondu euromilionářů“ nashromážděno 15,5 milionu EUR, bude vybráno 15 hráčů na základě sériového čísla jejich sázenky. </a:t>
            </a:r>
            <a:br>
              <a:rPr lang="cs-CZ" sz="2100" noProof="0" dirty="0"/>
            </a:br>
            <a:r>
              <a:rPr lang="cs-CZ" sz="2100" noProof="0" dirty="0"/>
              <a:t>Každý z těchto 15 sázejících vyhraje 1 milion EUR, tedy přibližně 25 milionů korun.</a:t>
            </a:r>
          </a:p>
          <a:p>
            <a:pPr>
              <a:spcBef>
                <a:spcPts val="600"/>
              </a:spcBef>
            </a:pPr>
            <a:r>
              <a:rPr lang="cs-CZ" sz="2100" noProof="0" dirty="0"/>
              <a:t>Cena 1 sloupce je 40 Kč.</a:t>
            </a:r>
          </a:p>
          <a:p>
            <a:pPr>
              <a:spcBef>
                <a:spcPts val="600"/>
              </a:spcBef>
            </a:pPr>
            <a:r>
              <a:rPr lang="cs-CZ" sz="2100" noProof="0" dirty="0"/>
              <a:t>Tuto loterii bude možné předplatit na týden, měsíc i delší období, aby si sázející mohli být jistí, že nepromeškají losování, ve kterém dojde k „Záplavě euromilionářů“. </a:t>
            </a:r>
            <a:br>
              <a:rPr lang="cs-CZ" sz="2100" noProof="0" dirty="0"/>
            </a:br>
            <a:r>
              <a:rPr lang="cs-CZ" sz="2100" noProof="0" dirty="0"/>
              <a:t>Bude možné zakoupit také podíl na dlouhodobé sázce, </a:t>
            </a:r>
            <a:br>
              <a:rPr lang="cs-CZ" sz="2100" noProof="0" dirty="0"/>
            </a:br>
            <a:r>
              <a:rPr lang="cs-CZ" sz="2100" noProof="0" dirty="0"/>
              <a:t>např. desetinu měsíční sázenky za 120 korun a pod. </a:t>
            </a:r>
          </a:p>
          <a:p>
            <a:pPr>
              <a:spcBef>
                <a:spcPts val="600"/>
              </a:spcBef>
            </a:pPr>
            <a:r>
              <a:rPr lang="cs-CZ" sz="2100" noProof="0" dirty="0"/>
              <a:t>Losování by probíhalo každý večer v Rakousku.</a:t>
            </a:r>
            <a:endParaRPr lang="cs-CZ" sz="2100" i="1" noProof="0" dirty="0"/>
          </a:p>
          <a:p>
            <a:endParaRPr lang="cs-CZ" sz="2000" i="1" noProof="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endParaRPr lang="cs-CZ" sz="2000" noProof="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endParaRPr lang="cs-CZ" sz="20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cs-CZ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262134-F2D2-ED00-4E39-3A200596028D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188BF-728D-0C5C-E1E3-50B8629E8636}"/>
              </a:ext>
            </a:extLst>
          </p:cNvPr>
          <p:cNvSpPr txBox="1"/>
          <p:nvPr/>
        </p:nvSpPr>
        <p:spPr>
          <a:xfrm>
            <a:off x="45719" y="10204063"/>
            <a:ext cx="68122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i="1" noProof="0" dirty="0"/>
              <a:t>V České republice by bylo možné tuto loterii koupit na všech prodejních místech Sazky, online na webových stránkách nebo v herní aplikaci Sazky.</a:t>
            </a: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14014F02-BB34-584F-A2E2-ABB21F12B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062952"/>
              </p:ext>
            </p:extLst>
          </p:nvPr>
        </p:nvGraphicFramePr>
        <p:xfrm>
          <a:off x="147583" y="7409366"/>
          <a:ext cx="6608550" cy="269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9949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3428601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298846">
                <a:tc>
                  <a:txBody>
                    <a:bodyPr/>
                    <a:lstStyle/>
                    <a:p>
                      <a:r>
                        <a:rPr lang="cs-CZ" sz="1800" b="0" noProof="0" dirty="0"/>
                        <a:t>Cena sloupce</a:t>
                      </a:r>
                      <a:endParaRPr lang="cs-CZ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noProof="0" dirty="0"/>
                        <a:t>40 Kč</a:t>
                      </a:r>
                      <a:endParaRPr lang="cs-CZ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</a:rPr>
                        <a:t>Hlavní výhra – každý den</a:t>
                      </a:r>
                      <a:endParaRPr lang="cs-CZ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</a:rPr>
                        <a:t>25 milionů Kč</a:t>
                      </a:r>
                      <a:endParaRPr lang="cs-CZ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535561"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</a:rPr>
                        <a:t>Výhra při Záplavě</a:t>
                      </a:r>
                      <a:endParaRPr lang="cs-CZ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</a:rPr>
                        <a:t>25 milionů Kč pro 13 výherců (teoreticky) </a:t>
                      </a:r>
                      <a:endParaRPr lang="cs-CZ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1234508754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</a:rPr>
                        <a:t>Nejnižší výhra</a:t>
                      </a:r>
                      <a:endParaRPr lang="cs-CZ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</a:rPr>
                        <a:t>40 Kč</a:t>
                      </a:r>
                      <a:endParaRPr lang="cs-CZ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75254203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</a:rPr>
                        <a:t>Frekvence hlavní výhry</a:t>
                      </a:r>
                      <a:endParaRPr lang="cs-CZ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</a:rPr>
                        <a:t>1-krát za 3 týdny (teoreticky)</a:t>
                      </a:r>
                      <a:endParaRPr lang="cs-CZ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</a:rPr>
                        <a:t>Frekvence Záplavy</a:t>
                      </a:r>
                      <a:endParaRPr lang="cs-CZ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</a:rPr>
                        <a:t>1-krát za 6 týdnů (teoreticky)</a:t>
                      </a:r>
                      <a:endParaRPr lang="cs-CZ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109885055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</a:rPr>
                        <a:t>Celková pravděpodobnost výhry</a:t>
                      </a:r>
                      <a:endParaRPr lang="cs-CZ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noProof="0" dirty="0">
                          <a:solidFill>
                            <a:schemeClr val="tx1"/>
                          </a:solidFill>
                        </a:rPr>
                        <a:t> 1:7</a:t>
                      </a:r>
                      <a:endParaRPr lang="cs-CZ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861532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5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2EB7F-603F-AA1A-141F-E0A3E41C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CA788-BEE6-AF28-CB3A-877D4596AE92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1"/>
            <a:ext cx="6720843" cy="744076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2400" b="1" noProof="0" dirty="0" err="1"/>
              <a:t>Thunderball</a:t>
            </a:r>
            <a:r>
              <a:rPr lang="cs-CZ" sz="2400" b="1" noProof="0" dirty="0"/>
              <a:t> </a:t>
            </a:r>
            <a:r>
              <a:rPr lang="cs-CZ" sz="2400" b="1" noProof="0" dirty="0" err="1"/>
              <a:t>inspired</a:t>
            </a:r>
            <a:r>
              <a:rPr lang="en-GB" sz="2400" b="1" noProof="0" dirty="0"/>
              <a:t> - </a:t>
            </a:r>
            <a:r>
              <a:rPr lang="cs-CZ" sz="2400" b="1" noProof="0" dirty="0"/>
              <a:t>Nová loterijní hra</a:t>
            </a:r>
          </a:p>
          <a:p>
            <a:pPr>
              <a:spcBef>
                <a:spcPts val="600"/>
              </a:spcBef>
            </a:pPr>
            <a:r>
              <a:rPr lang="cs-CZ" sz="2100" noProof="0" dirty="0"/>
              <a:t>Jedná se o mezinárodní loterii a díky tomu nabízí hráčům šanci denně vyhrát hlavní výhru ve výši 25 milionů Kč, </a:t>
            </a:r>
            <a:br>
              <a:rPr lang="cs-CZ" sz="2100" noProof="0" dirty="0"/>
            </a:br>
            <a:r>
              <a:rPr lang="cs-CZ" sz="2100" noProof="0" dirty="0"/>
              <a:t>pokud správně trefí 5 čísel z 39 a 1 číslo ze 14. </a:t>
            </a:r>
          </a:p>
          <a:p>
            <a:pPr>
              <a:spcBef>
                <a:spcPts val="600"/>
              </a:spcBef>
            </a:pPr>
            <a:r>
              <a:rPr lang="cs-CZ" sz="2100" noProof="0" dirty="0"/>
              <a:t>A to není jediná šance, jak se stát euromilionářem. </a:t>
            </a:r>
            <a:br>
              <a:rPr lang="cs-CZ" sz="2100" noProof="0" dirty="0"/>
            </a:br>
            <a:r>
              <a:rPr lang="cs-CZ" sz="2100" noProof="0" dirty="0"/>
              <a:t>Součástí této nové loterie je také speciální prémie, </a:t>
            </a:r>
            <a:br>
              <a:rPr lang="cs-CZ" sz="2100" noProof="0" dirty="0"/>
            </a:br>
            <a:r>
              <a:rPr lang="cs-CZ" sz="2100" noProof="0" dirty="0"/>
              <a:t>tzv. Záplava euromilionářů. Část vkladů z každého losování se shromažďuje ve „Fondu euromilionářů“.  Peníze z tohoto Fondu se rozdělí mezi šťastné sázející v den, kdy bude </a:t>
            </a:r>
            <a:br>
              <a:rPr lang="cs-CZ" sz="2100" noProof="0" dirty="0"/>
            </a:br>
            <a:r>
              <a:rPr lang="cs-CZ" sz="2100" noProof="0" dirty="0"/>
              <a:t>všech 5 vylosovaných čísel sudých nebo všech 5 lichých. </a:t>
            </a:r>
            <a:br>
              <a:rPr lang="cs-CZ" sz="2100" noProof="0" dirty="0"/>
            </a:br>
            <a:r>
              <a:rPr lang="cs-CZ" sz="2100" noProof="0" dirty="0"/>
              <a:t>Tato událost teoreticky nastane každých 8 týdnů.  </a:t>
            </a:r>
            <a:br>
              <a:rPr lang="cs-CZ" sz="2100" noProof="0" dirty="0"/>
            </a:br>
            <a:r>
              <a:rPr lang="cs-CZ" sz="2100" noProof="0" dirty="0"/>
              <a:t>Například, pokud je v ten den ve „Fondu euromilionářů“ nashromážděno 10,5 milionu EUR, bude vybráno 10 hráčů na základě sériového čísla jejich sázenky. </a:t>
            </a:r>
            <a:br>
              <a:rPr lang="cs-CZ" sz="2100" noProof="0" dirty="0"/>
            </a:br>
            <a:r>
              <a:rPr lang="cs-CZ" sz="2100" noProof="0" dirty="0"/>
              <a:t>Každý z těchto 10 sázejících vyhraje 1 milion EUR, tedy přibližně 25 milionů korun.</a:t>
            </a:r>
          </a:p>
          <a:p>
            <a:pPr>
              <a:spcBef>
                <a:spcPts val="600"/>
              </a:spcBef>
            </a:pPr>
            <a:r>
              <a:rPr lang="cs-CZ" sz="2100" noProof="0" dirty="0"/>
              <a:t>Cena 1 sloupce je 40 Kč.</a:t>
            </a:r>
          </a:p>
          <a:p>
            <a:pPr>
              <a:spcBef>
                <a:spcPts val="600"/>
              </a:spcBef>
            </a:pPr>
            <a:r>
              <a:rPr lang="cs-CZ" sz="2100" noProof="0" dirty="0"/>
              <a:t>Tuto loterii bude možné předplatit na týden, měsíc i delší období, aby si sázející mohli být jistí, že nepromeškají losování, ve kterém dojde k „Záplavě euromilionářů“. </a:t>
            </a:r>
            <a:br>
              <a:rPr lang="cs-CZ" sz="2100" noProof="0" dirty="0"/>
            </a:br>
            <a:r>
              <a:rPr lang="cs-CZ" sz="2100" noProof="0" dirty="0"/>
              <a:t>Bude možné zakoupit také podíl na dlouhodobé sázce, </a:t>
            </a:r>
            <a:br>
              <a:rPr lang="cs-CZ" sz="2100" noProof="0" dirty="0"/>
            </a:br>
            <a:r>
              <a:rPr lang="cs-CZ" sz="2100" noProof="0" dirty="0"/>
              <a:t>např. desetinu měsíční sázenky za 120 korun a pod. </a:t>
            </a:r>
          </a:p>
          <a:p>
            <a:pPr>
              <a:spcBef>
                <a:spcPts val="600"/>
              </a:spcBef>
            </a:pPr>
            <a:r>
              <a:rPr lang="cs-CZ" sz="2100" noProof="0" dirty="0"/>
              <a:t>Losování by probíhalo každý večer v Rakousku.</a:t>
            </a:r>
          </a:p>
          <a:p>
            <a:endParaRPr lang="cs-CZ" sz="2200" i="1" noProof="0" dirty="0"/>
          </a:p>
          <a:p>
            <a:endParaRPr lang="cs-CZ" sz="2200" i="1" noProof="0" dirty="0"/>
          </a:p>
          <a:p>
            <a:endParaRPr lang="cs-CZ" sz="2200" i="1" noProof="0" dirty="0"/>
          </a:p>
          <a:p>
            <a:endParaRPr lang="cs-CZ" sz="2200" i="1" noProof="0" dirty="0"/>
          </a:p>
          <a:p>
            <a:endParaRPr lang="cs-CZ" sz="2200" i="1" noProof="0" dirty="0"/>
          </a:p>
          <a:p>
            <a:endParaRPr lang="cs-CZ" sz="1800" i="1" noProof="0" dirty="0"/>
          </a:p>
          <a:p>
            <a:endParaRPr lang="cs-CZ" sz="1800" i="1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cs-CZ" sz="24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cs-CZ" sz="24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cs-CZ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FB7D47-2C35-85AD-D569-03507707F41C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4C45FFF-9E17-46C6-C750-413037AD7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286687"/>
              </p:ext>
            </p:extLst>
          </p:nvPr>
        </p:nvGraphicFramePr>
        <p:xfrm>
          <a:off x="147583" y="7361240"/>
          <a:ext cx="6608550" cy="2698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79949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3428601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298846">
                <a:tc>
                  <a:txBody>
                    <a:bodyPr/>
                    <a:lstStyle/>
                    <a:p>
                      <a:r>
                        <a:rPr lang="cs-CZ" sz="1800" b="0" noProof="0" dirty="0"/>
                        <a:t>Cena sloupce</a:t>
                      </a:r>
                      <a:endParaRPr lang="cs-CZ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noProof="0" dirty="0"/>
                        <a:t>40 Kč</a:t>
                      </a:r>
                      <a:endParaRPr lang="cs-CZ" sz="1800" b="0" i="0" u="none" strike="noStrike" noProof="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Hlavní výhra – každý den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milionů Kč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535561"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Výhra při Záplavě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milionů Kč pro 10 výherců (teoreticky)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1234508754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Nejnižší výhra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 Kč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75254203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Frekvence hlavní výhry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1-krát za 2 týdny (teoreticky)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Frekvence Záplavy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1-krát za 8 týdnů (teoreticky)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109885055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Celková pravděpodobnost výhry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noProof="0" dirty="0">
                          <a:solidFill>
                            <a:schemeClr val="tx1"/>
                          </a:solidFill>
                        </a:rPr>
                        <a:t> 1:6</a:t>
                      </a:r>
                      <a:endParaRPr lang="cs-CZ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8615325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7EB3688-F623-AAAE-C5F5-703DCF007439}"/>
              </a:ext>
            </a:extLst>
          </p:cNvPr>
          <p:cNvSpPr txBox="1"/>
          <p:nvPr/>
        </p:nvSpPr>
        <p:spPr>
          <a:xfrm>
            <a:off x="45719" y="10204063"/>
            <a:ext cx="68122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i="1" noProof="0" dirty="0"/>
              <a:t>V České republice by bylo možné tuto loterii koupit na všech prodejních místech Sazky, online na webových stránkách nebo v herní aplikaci Sazky.</a:t>
            </a:r>
          </a:p>
        </p:txBody>
      </p:sp>
    </p:spTree>
    <p:extLst>
      <p:ext uri="{BB962C8B-B14F-4D97-AF65-F5344CB8AC3E}">
        <p14:creationId xmlns:p14="http://schemas.microsoft.com/office/powerpoint/2010/main" val="3168554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EDF2-6DE2-D1A4-BD25-532057215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9080-4BAE-95BD-A23C-5B5A74637175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91437" y="0"/>
            <a:ext cx="6720843" cy="752165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400" b="1" dirty="0"/>
              <a:t>Daily Millionaire Plus - </a:t>
            </a:r>
            <a:r>
              <a:rPr lang="cs-CZ" sz="2400" b="1" noProof="0" dirty="0"/>
              <a:t>Nová loterijní hra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cs-CZ" sz="2100" noProof="0" dirty="0"/>
              <a:t>Jedná se o mezinárodní loterii a díky tomu nabízí hráčům šanci denně vyhrát hlavní výhru ve  výši 25 milionů Kč, pokud správně trefí 6 čísel z 52. 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cs-CZ" sz="2100" noProof="0" dirty="0"/>
              <a:t>A to není jediná šance, jak se stát euromilionářem. Součástí této nové loterie je také speciální prémie, tzv. Záplava euromilionářů. Část vkladů z každého losování se shromažďuje ve „Fondu euromilionářů“.  Peníze z tohoto Fondu se rozdělí mezi šťastné sázející v den, kdy budou všechna vylosovaná čísla sudá, nebo všechna lichá. </a:t>
            </a:r>
            <a:br>
              <a:rPr lang="cs-CZ" sz="2100" noProof="0" dirty="0"/>
            </a:br>
            <a:r>
              <a:rPr lang="cs-CZ" sz="2100" noProof="0" dirty="0"/>
              <a:t>Tato událost teoreticky nastane každých 6 týdnů.  </a:t>
            </a:r>
            <a:br>
              <a:rPr lang="cs-CZ" sz="2100" noProof="0" dirty="0"/>
            </a:br>
            <a:r>
              <a:rPr lang="cs-CZ" sz="2100" noProof="0" dirty="0"/>
              <a:t>Například, pokud je v ten den ve „Fondu euromilionářů“ nashromážděno 15,5 milionu EUR, bude vybráno 15 hráčů na základě sériového čísla jejich sázenky. </a:t>
            </a:r>
            <a:br>
              <a:rPr lang="cs-CZ" sz="2100" noProof="0" dirty="0"/>
            </a:br>
            <a:r>
              <a:rPr lang="cs-CZ" sz="2100" noProof="0" dirty="0"/>
              <a:t>Každý z těchto 15 sázejících vyhraje 1 milion EUR, </a:t>
            </a:r>
            <a:br>
              <a:rPr lang="cs-CZ" sz="2100" noProof="0" dirty="0"/>
            </a:br>
            <a:r>
              <a:rPr lang="cs-CZ" sz="2100" noProof="0" dirty="0"/>
              <a:t>tedy přibližně 25 milionů korun.</a:t>
            </a:r>
          </a:p>
          <a:p>
            <a:pPr>
              <a:spcBef>
                <a:spcPts val="600"/>
              </a:spcBef>
            </a:pPr>
            <a:r>
              <a:rPr lang="cs-CZ" sz="2100" noProof="0" dirty="0"/>
              <a:t>Cena 1 sloupce je 50 Kč. V této ceně je automaticky zahrnuto také losování „Druhé šance“, díky níž je celková pravděpodobnost jakékoli výhry mimořádně vysoká – </a:t>
            </a:r>
            <a:br>
              <a:rPr lang="cs-CZ" sz="2100" noProof="0" dirty="0"/>
            </a:br>
            <a:r>
              <a:rPr lang="cs-CZ" sz="2100" noProof="0" dirty="0"/>
              <a:t>v průměru vyhrává každý čtvrtý sloupeček.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cs-CZ" sz="2100" noProof="0" dirty="0"/>
              <a:t>Tuto loterii bude možné předplatit na týden, měsíc i delší období, aby si sázející mohli být jistí, že nepromeškají losování, ve kterém dojde k „Záplavě euromilionářů“. </a:t>
            </a:r>
            <a:br>
              <a:rPr lang="cs-CZ" sz="2100" noProof="0" dirty="0"/>
            </a:br>
            <a:r>
              <a:rPr lang="cs-CZ" sz="2100" noProof="0" dirty="0"/>
              <a:t>Bude možné zakoupit také podíl na dlouhodobé sázce, </a:t>
            </a:r>
            <a:br>
              <a:rPr lang="cs-CZ" sz="2100" noProof="0" dirty="0"/>
            </a:br>
            <a:r>
              <a:rPr lang="cs-CZ" sz="2100" noProof="0" dirty="0"/>
              <a:t>např. desetinu měsíční sázenky za 150 korun a pod. 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cs-CZ" sz="2100" noProof="0" dirty="0"/>
              <a:t>Losování by probíhalo každý večer v Rakousku.</a:t>
            </a:r>
          </a:p>
          <a:p>
            <a:pPr>
              <a:lnSpc>
                <a:spcPct val="80000"/>
              </a:lnSpc>
            </a:pPr>
            <a:endParaRPr lang="cs-CZ" sz="2000" i="1" noProof="0" dirty="0"/>
          </a:p>
          <a:p>
            <a:pPr>
              <a:lnSpc>
                <a:spcPct val="80000"/>
              </a:lnSpc>
            </a:pPr>
            <a:endParaRPr lang="cs-CZ" sz="2000" i="1" noProof="0" dirty="0"/>
          </a:p>
          <a:p>
            <a:pPr>
              <a:lnSpc>
                <a:spcPct val="80000"/>
              </a:lnSpc>
            </a:pPr>
            <a:endParaRPr lang="cs-CZ" sz="2000" i="1" noProof="0" dirty="0"/>
          </a:p>
          <a:p>
            <a:pPr>
              <a:lnSpc>
                <a:spcPct val="80000"/>
              </a:lnSpc>
            </a:pPr>
            <a:endParaRPr lang="cs-CZ" sz="2000" i="1" noProof="0" dirty="0"/>
          </a:p>
          <a:p>
            <a:pPr>
              <a:lnSpc>
                <a:spcPct val="80000"/>
              </a:lnSpc>
            </a:pPr>
            <a:endParaRPr lang="cs-CZ" sz="2000" i="1" noProof="0" dirty="0"/>
          </a:p>
          <a:p>
            <a:pPr>
              <a:lnSpc>
                <a:spcPct val="80000"/>
              </a:lnSpc>
            </a:pPr>
            <a:endParaRPr lang="cs-CZ" sz="2000" i="1" noProof="0" dirty="0"/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300"/>
              </a:spcAft>
            </a:pPr>
            <a:endParaRPr lang="cs-CZ" sz="2000" noProof="0" dirty="0"/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300"/>
              </a:spcAft>
            </a:pPr>
            <a:endParaRPr lang="cs-CZ" sz="2000" noProof="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cs-CZ" sz="24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F7963E-57A1-B06A-8E4F-DE51AA4F3049}"/>
              </a:ext>
            </a:extLst>
          </p:cNvPr>
          <p:cNvSpPr/>
          <p:nvPr/>
        </p:nvSpPr>
        <p:spPr>
          <a:xfrm>
            <a:off x="0" y="0"/>
            <a:ext cx="45719" cy="107997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22D6DC1-7E34-8469-0DF7-9A40D6BCB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518494"/>
              </p:ext>
            </p:extLst>
          </p:nvPr>
        </p:nvGraphicFramePr>
        <p:xfrm>
          <a:off x="147583" y="7521660"/>
          <a:ext cx="6608550" cy="2698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79949">
                  <a:extLst>
                    <a:ext uri="{9D8B030D-6E8A-4147-A177-3AD203B41FA5}">
                      <a16:colId xmlns:a16="http://schemas.microsoft.com/office/drawing/2014/main" val="2285407711"/>
                    </a:ext>
                  </a:extLst>
                </a:gridCol>
                <a:gridCol w="3428601">
                  <a:extLst>
                    <a:ext uri="{9D8B030D-6E8A-4147-A177-3AD203B41FA5}">
                      <a16:colId xmlns:a16="http://schemas.microsoft.com/office/drawing/2014/main" val="1271847178"/>
                    </a:ext>
                  </a:extLst>
                </a:gridCol>
              </a:tblGrid>
              <a:tr h="298846">
                <a:tc>
                  <a:txBody>
                    <a:bodyPr/>
                    <a:lstStyle/>
                    <a:p>
                      <a:r>
                        <a:rPr lang="cs-CZ" sz="1800" b="0" noProof="0" dirty="0">
                          <a:solidFill>
                            <a:schemeClr val="tx1"/>
                          </a:solidFill>
                        </a:rPr>
                        <a:t>Cena sloupce</a:t>
                      </a:r>
                      <a:endParaRPr lang="cs-CZ" sz="1800" b="0" i="0" u="none" strike="noStrike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noProof="0" dirty="0">
                          <a:solidFill>
                            <a:schemeClr val="tx1"/>
                          </a:solidFill>
                        </a:rPr>
                        <a:t>50 Kč</a:t>
                      </a:r>
                      <a:endParaRPr lang="cs-CZ" sz="1800" b="0" i="0" u="none" strike="noStrike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45255240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Hlavní výhra – každý den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milionů Kč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729213333"/>
                  </a:ext>
                </a:extLst>
              </a:tr>
              <a:tr h="535561"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Výhra při Záplavě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milionů Kč pro 13 výherců (teoreticky) 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1234508754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Nejnižší výhra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 Kč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3752542039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Frekvence hlavní výhry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1-krát za 3 týdny (teoreticky)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540976133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Frekvence Záplavy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1-krát za 6 týdnů (teoreticky)</a:t>
                      </a: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109885055"/>
                  </a:ext>
                </a:extLst>
              </a:tr>
              <a:tr h="298846">
                <a:tc>
                  <a:txBody>
                    <a:bodyPr/>
                    <a:lstStyle/>
                    <a:p>
                      <a:r>
                        <a:rPr lang="cs-CZ" sz="18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Celková pravděpodobnost výhry</a:t>
                      </a:r>
                    </a:p>
                  </a:txBody>
                  <a:tcPr marL="45720" marR="45720" marT="36000" marB="36000"/>
                </a:tc>
                <a:tc>
                  <a:txBody>
                    <a:bodyPr/>
                    <a:lstStyle/>
                    <a:p>
                      <a:r>
                        <a:rPr lang="cs-CZ" sz="1800" b="0" noProof="0" dirty="0">
                          <a:solidFill>
                            <a:schemeClr val="tx1"/>
                          </a:solidFill>
                        </a:rPr>
                        <a:t> 1:4</a:t>
                      </a:r>
                      <a:endParaRPr lang="cs-CZ" sz="18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marT="36000" marB="36000"/>
                </a:tc>
                <a:extLst>
                  <a:ext uri="{0D108BD9-81ED-4DB2-BD59-A6C34878D82A}">
                    <a16:rowId xmlns:a16="http://schemas.microsoft.com/office/drawing/2014/main" val="2861532557"/>
                  </a:ext>
                </a:extLst>
              </a:tr>
            </a:tbl>
          </a:graphicData>
        </a:graphic>
      </p:graphicFrame>
      <p:sp>
        <p:nvSpPr>
          <p:cNvPr id="7" name="TextBox 12">
            <a:extLst>
              <a:ext uri="{FF2B5EF4-FFF2-40B4-BE49-F238E27FC236}">
                <a16:creationId xmlns:a16="http://schemas.microsoft.com/office/drawing/2014/main" id="{49394F51-2741-0FA9-4E0E-05A03E62986F}"/>
              </a:ext>
            </a:extLst>
          </p:cNvPr>
          <p:cNvSpPr txBox="1"/>
          <p:nvPr/>
        </p:nvSpPr>
        <p:spPr>
          <a:xfrm>
            <a:off x="45719" y="10204063"/>
            <a:ext cx="68122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600" i="1" noProof="0" dirty="0"/>
              <a:t>V České republice by bylo možné tuto loterii koupit na všech prodejních místech Sazky, online na webových stránkách nebo v herní aplikaci Sazky.</a:t>
            </a:r>
          </a:p>
        </p:txBody>
      </p:sp>
    </p:spTree>
    <p:extLst>
      <p:ext uri="{BB962C8B-B14F-4D97-AF65-F5344CB8AC3E}">
        <p14:creationId xmlns:p14="http://schemas.microsoft.com/office/powerpoint/2010/main" val="42232365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3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582</TotalTime>
  <Words>932</Words>
  <Application>Microsoft Office PowerPoint</Application>
  <PresentationFormat>Custom</PresentationFormat>
  <Paragraphs>80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29</cp:revision>
  <dcterms:created xsi:type="dcterms:W3CDTF">2022-11-09T07:36:23Z</dcterms:created>
  <dcterms:modified xsi:type="dcterms:W3CDTF">2025-12-16T14:15:06Z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