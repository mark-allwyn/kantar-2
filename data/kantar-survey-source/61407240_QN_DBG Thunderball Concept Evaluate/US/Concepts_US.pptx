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</p:sldIdLst>
  <p:sldSz cx="6858000" cy="10799763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D3446-EF00-4622-9209-A091DA299781}" v="2" dt="2025-12-16T14:21:58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modSld">
      <pc:chgData name="Peter Javornický" userId="3b98f8e0-d449-4f6e-b57d-5f9bfb7a5c2c" providerId="ADAL" clId="{88A10E76-C547-4713-B92A-3B48010D5CF0}" dt="2025-12-16T14:22:03.941" v="9" actId="404"/>
      <pc:docMkLst>
        <pc:docMk/>
      </pc:docMkLst>
      <pc:sldChg chg="modSp mod">
        <pc:chgData name="Peter Javornický" userId="3b98f8e0-d449-4f6e-b57d-5f9bfb7a5c2c" providerId="ADAL" clId="{88A10E76-C547-4713-B92A-3B48010D5CF0}" dt="2025-12-16T14:22:03.941" v="9" actId="404"/>
        <pc:sldMkLst>
          <pc:docMk/>
          <pc:sldMk cId="46857855" sldId="268"/>
        </pc:sldMkLst>
        <pc:spChg chg="mod">
          <ac:chgData name="Peter Javornický" userId="3b98f8e0-d449-4f6e-b57d-5f9bfb7a5c2c" providerId="ADAL" clId="{88A10E76-C547-4713-B92A-3B48010D5CF0}" dt="2025-12-16T14:22:03.941" v="9" actId="404"/>
          <ac:spMkLst>
            <pc:docMk/>
            <pc:sldMk cId="46857855" sldId="268"/>
            <ac:spMk id="3" creationId="{FF7F3D8E-FF11-1FC3-E262-8AB6EA3796E7}"/>
          </ac:spMkLst>
        </pc:spChg>
      </pc:sldChg>
      <pc:sldChg chg="modSp mod">
        <pc:chgData name="Peter Javornický" userId="3b98f8e0-d449-4f6e-b57d-5f9bfb7a5c2c" providerId="ADAL" clId="{88A10E76-C547-4713-B92A-3B48010D5CF0}" dt="2025-12-16T14:21:44.548" v="4" actId="404"/>
        <pc:sldMkLst>
          <pc:docMk/>
          <pc:sldMk cId="3168554335" sldId="269"/>
        </pc:sldMkLst>
        <pc:spChg chg="mod">
          <ac:chgData name="Peter Javornický" userId="3b98f8e0-d449-4f6e-b57d-5f9bfb7a5c2c" providerId="ADAL" clId="{88A10E76-C547-4713-B92A-3B48010D5CF0}" dt="2025-12-16T14:21:44.548" v="4" actId="404"/>
          <ac:spMkLst>
            <pc:docMk/>
            <pc:sldMk cId="3168554335" sldId="269"/>
            <ac:spMk id="3" creationId="{C97CA788-BEE6-AF28-CB3A-877D4596AE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4825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Daily Millionaire - </a:t>
            </a:r>
            <a:r>
              <a:rPr lang="en-US" sz="2400" b="1" noProof="0" dirty="0"/>
              <a:t>A new lottery game</a:t>
            </a:r>
          </a:p>
          <a:p>
            <a:r>
              <a:rPr lang="en-US" sz="2200" noProof="0" dirty="0"/>
              <a:t>This is an international lottery that offers players the chance to win a grand prize of $1million every day </a:t>
            </a:r>
            <a:br>
              <a:rPr lang="en-US" sz="2200" noProof="0" dirty="0"/>
            </a:br>
            <a:r>
              <a:rPr lang="en-US" sz="2200" noProof="0" dirty="0"/>
              <a:t>by correctly selecting 6 numbers out of 52.</a:t>
            </a:r>
          </a:p>
          <a:p>
            <a:r>
              <a:rPr lang="en-US" sz="2200" noProof="0" dirty="0"/>
              <a:t>And that’s not the only way to become a millionaire. </a:t>
            </a:r>
            <a:br>
              <a:rPr lang="en-US" sz="2200" noProof="0" dirty="0"/>
            </a:br>
            <a:r>
              <a:rPr lang="en-US" sz="2200" noProof="0" dirty="0"/>
              <a:t>This new lottery also includes a special bonus called the “Millionaire Flood.” A portion of the stakes from each draw is collected into the “Millionaire Fund.” </a:t>
            </a:r>
            <a:br>
              <a:rPr lang="en-US" sz="2200" noProof="0" dirty="0"/>
            </a:br>
            <a:r>
              <a:rPr lang="en-US" sz="2200" noProof="0" dirty="0"/>
              <a:t>The money from this fund is distributed to lucky players on the day when all the drawn numbers are either even or odd. Statistically, this event occurs approximately every 6 weeks. For example, if there are $15.5 million in the “Millionaire Fund” on that day, 15 players will be randomly selected based on the serial number of their tickets. Each of these 15 players will win $1 million.</a:t>
            </a:r>
          </a:p>
          <a:p>
            <a:r>
              <a:rPr lang="en-US" sz="2200" noProof="0" dirty="0"/>
              <a:t>The price for one entry is $2.</a:t>
            </a:r>
          </a:p>
          <a:p>
            <a:r>
              <a:rPr lang="en-US" sz="2200" noProof="0" dirty="0"/>
              <a:t>It will be possible to subscribe to this lottery for a week, </a:t>
            </a:r>
            <a:br>
              <a:rPr lang="en-US" sz="2200" noProof="0" dirty="0"/>
            </a:br>
            <a:r>
              <a:rPr lang="en-US" sz="2200" noProof="0" dirty="0"/>
              <a:t>a month, or longer, ensuring that players won’t miss the draw during the “Millionaire Flood.” It will also be possible to purchase a share of a long-term bet, such as one-tenth of a monthly ticket for $4.50, and so on.</a:t>
            </a:r>
          </a:p>
          <a:p>
            <a:r>
              <a:rPr lang="en-US" sz="2200" noProof="0" dirty="0"/>
              <a:t>Drawings will take place every evening in Europe.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62134-F2D2-ED00-4E39-3A200596028D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8E2E8E-49AD-C4A1-0FDE-4FAC8EEAE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73969"/>
              </p:ext>
            </p:extLst>
          </p:nvPr>
        </p:nvGraphicFramePr>
        <p:xfrm>
          <a:off x="156809" y="7648750"/>
          <a:ext cx="6608550" cy="235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454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236096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Price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latin typeface="+mn-lt"/>
                        </a:rPr>
                        <a:t>$2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Top prize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273050" marR="0" lvl="0" indent="-2730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$1 million (possibly every day)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Prize in the Flood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baseline="0" noProof="0" dirty="0">
                          <a:solidFill>
                            <a:schemeClr val="tx1"/>
                          </a:solidFill>
                          <a:latin typeface="+mn-lt"/>
                        </a:rPr>
                        <a:t>$1 million for (theoretically) </a:t>
                      </a:r>
                      <a:br>
                        <a:rPr lang="en-US" sz="1800" b="0" i="0" u="none" strike="noStrike" baseline="0" noProof="0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US" sz="1800" b="0" i="0" u="none" strike="noStrike" baseline="0" noProof="0" dirty="0">
                          <a:solidFill>
                            <a:schemeClr val="tx1"/>
                          </a:solidFill>
                          <a:latin typeface="+mn-lt"/>
                        </a:rPr>
                        <a:t>13 winners 8 times a year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Lowest win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$2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Winners of top prize: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Once in 3 weeks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Overall odds of winning any prize: 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1:7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9188BF-728D-0C5C-E1E3-50B8629E8636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noProof="0" dirty="0"/>
              <a:t>In Illinois, tickets for this lottery will be available at usual retail outlets, online on the State lottery website, or via the gaming app.</a:t>
            </a:r>
          </a:p>
        </p:txBody>
      </p:sp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EB7F-603F-AA1A-141F-E0A3E41C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CA788-BEE6-AF28-CB3A-877D4596AE92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44076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Thunderball inspired - </a:t>
            </a:r>
            <a:r>
              <a:rPr lang="en-US" sz="2400" b="1" noProof="0" dirty="0"/>
              <a:t>A new lottery game</a:t>
            </a:r>
          </a:p>
          <a:p>
            <a:pPr>
              <a:lnSpc>
                <a:spcPct val="88000"/>
              </a:lnSpc>
              <a:spcBef>
                <a:spcPts val="600"/>
              </a:spcBef>
            </a:pPr>
            <a:r>
              <a:rPr lang="en-US" sz="2200" noProof="0" dirty="0"/>
              <a:t>This is an international lottery that offers players the chance to win a grand prize of  $1 million every day </a:t>
            </a:r>
            <a:br>
              <a:rPr lang="en-US" sz="2200" noProof="0" dirty="0"/>
            </a:br>
            <a:r>
              <a:rPr lang="en-US" sz="2200" noProof="0" dirty="0"/>
              <a:t>by correctly guessing 5 numbers out of 39 and </a:t>
            </a:r>
            <a:br>
              <a:rPr lang="en-US" sz="2200" noProof="0" dirty="0"/>
            </a:br>
            <a:r>
              <a:rPr lang="en-US" sz="2200" noProof="0" dirty="0"/>
              <a:t>1 number out of 14.</a:t>
            </a:r>
          </a:p>
          <a:p>
            <a:pPr>
              <a:lnSpc>
                <a:spcPct val="88000"/>
              </a:lnSpc>
              <a:spcBef>
                <a:spcPts val="600"/>
              </a:spcBef>
            </a:pPr>
            <a:r>
              <a:rPr lang="en-US" sz="2200" noProof="0" dirty="0"/>
              <a:t>And that's not the only way to become a millionaire. </a:t>
            </a:r>
            <a:br>
              <a:rPr lang="en-US" sz="2200" noProof="0" dirty="0"/>
            </a:br>
            <a:r>
              <a:rPr lang="en-US" sz="2200" noProof="0" dirty="0"/>
              <a:t>This new lottery also includes a special bonus called the “Flood of Millionaires.” A portion of the stakes from each draw is collected in the “Millionaire Fund.” </a:t>
            </a:r>
            <a:br>
              <a:rPr lang="cs-CZ" sz="2200" noProof="0" dirty="0"/>
            </a:br>
            <a:r>
              <a:rPr lang="en-US" sz="2200" noProof="0" dirty="0"/>
              <a:t>The money from this Fund is distributed among lucky players on the day when all 5 drawn numbers are either even or all odd. This event is theoretically expected to happen every 8 weeks. For example, if on that day the “Millionaire Fund” has accumulated  $ 10.5 million, 10 players will be selected based on the serial number of their ticket. Each of these 10 players will win $1 million.</a:t>
            </a:r>
          </a:p>
          <a:p>
            <a:pPr>
              <a:lnSpc>
                <a:spcPct val="88000"/>
              </a:lnSpc>
              <a:spcBef>
                <a:spcPts val="600"/>
              </a:spcBef>
            </a:pPr>
            <a:r>
              <a:rPr lang="en-US" sz="2200" noProof="0" dirty="0"/>
              <a:t>The price of one line is $2.</a:t>
            </a:r>
          </a:p>
          <a:p>
            <a:pPr>
              <a:lnSpc>
                <a:spcPct val="88000"/>
              </a:lnSpc>
              <a:spcBef>
                <a:spcPts val="600"/>
              </a:spcBef>
            </a:pPr>
            <a:r>
              <a:rPr lang="en-US" sz="2200" noProof="0" dirty="0"/>
              <a:t>It will be possible to subscribe to this lottery for a week, </a:t>
            </a:r>
            <a:br>
              <a:rPr lang="cs-CZ" sz="2200" noProof="0" dirty="0"/>
            </a:br>
            <a:r>
              <a:rPr lang="en-US" sz="2200" noProof="0" dirty="0"/>
              <a:t>a month, or longer, so players can be sure not to miss </a:t>
            </a:r>
            <a:br>
              <a:rPr lang="cs-CZ" sz="2200" noProof="0" dirty="0"/>
            </a:br>
            <a:r>
              <a:rPr lang="en-US" sz="2200" noProof="0" dirty="0"/>
              <a:t>a draw when the “Flood of Millionaires“ occurs. </a:t>
            </a:r>
            <a:br>
              <a:rPr lang="cs-CZ" sz="2200" noProof="0" dirty="0"/>
            </a:br>
            <a:r>
              <a:rPr lang="en-US" sz="2200" noProof="0" dirty="0"/>
              <a:t>It will also be possible to buy a share in a long-term bet, e.g., one-tenth of a monthly ticket for $6, etc.</a:t>
            </a:r>
          </a:p>
          <a:p>
            <a:pPr>
              <a:lnSpc>
                <a:spcPct val="88000"/>
              </a:lnSpc>
              <a:spcBef>
                <a:spcPts val="600"/>
              </a:spcBef>
            </a:pPr>
            <a:r>
              <a:rPr lang="en-US" sz="2200" noProof="0" dirty="0"/>
              <a:t>The draws would take place every evening in Austria. </a:t>
            </a:r>
            <a:endParaRPr lang="en-US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B7D47-2C35-85AD-D569-03507707F41C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EB3688-F623-AAAE-C5F5-703DCF007439}"/>
              </a:ext>
            </a:extLst>
          </p:cNvPr>
          <p:cNvSpPr txBox="1"/>
          <p:nvPr/>
        </p:nvSpPr>
        <p:spPr>
          <a:xfrm>
            <a:off x="45719" y="10199251"/>
            <a:ext cx="68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noProof="0" dirty="0"/>
              <a:t>In Illinois, this lottery would be available at all usual sales points of the State Lottery, online on the website, or in the lottery app.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45FFF-9E17-46C6-C750-413037AD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597246"/>
              </p:ext>
            </p:extLst>
          </p:nvPr>
        </p:nvGraphicFramePr>
        <p:xfrm>
          <a:off x="156809" y="7553877"/>
          <a:ext cx="6608550" cy="2626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17512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291038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315423">
                <a:tc>
                  <a:txBody>
                    <a:bodyPr/>
                    <a:lstStyle/>
                    <a:p>
                      <a:r>
                        <a:rPr lang="en-US" sz="1800" b="0" noProof="0" dirty="0"/>
                        <a:t>Price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noProof="0" dirty="0"/>
                        <a:t>$2 </a:t>
                      </a:r>
                      <a:endParaRPr lang="en-US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565269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Top prize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-2730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baseline="0" noProof="0" dirty="0">
                          <a:solidFill>
                            <a:schemeClr val="tx1"/>
                          </a:solidFill>
                        </a:rPr>
                        <a:t>Cash value $1 million (possibly every day)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65269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Prize in the Flood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baseline="0" noProof="0" dirty="0">
                          <a:solidFill>
                            <a:schemeClr val="tx1"/>
                          </a:solidFill>
                        </a:rPr>
                        <a:t> $1 million for (theoretically) </a:t>
                      </a:r>
                      <a:br>
                        <a:rPr lang="cs-CZ" sz="1800" b="0" u="none" strike="noStrike" baseline="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u="none" strike="noStrike" baseline="0" noProof="0" dirty="0">
                          <a:solidFill>
                            <a:schemeClr val="tx1"/>
                          </a:solidFill>
                        </a:rPr>
                        <a:t>10 winners 6 times a year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315423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Lowest win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 $2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315423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Winners of top prize: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Once in 2 weeks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315423">
                <a:tc>
                  <a:txBody>
                    <a:bodyPr/>
                    <a:lstStyle/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Overall odds of winning any prize: 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</a:rPr>
                        <a:t>1:6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554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555</TotalTime>
  <Words>661</Words>
  <Application>Microsoft Office PowerPoint</Application>
  <PresentationFormat>Custom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28</cp:revision>
  <dcterms:created xsi:type="dcterms:W3CDTF">2022-11-09T07:36:23Z</dcterms:created>
  <dcterms:modified xsi:type="dcterms:W3CDTF">2025-12-16T14:22:05Z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