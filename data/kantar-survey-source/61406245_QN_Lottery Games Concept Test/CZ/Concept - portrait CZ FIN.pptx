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</p:sldIdLst>
  <p:sldSz cx="6858000" cy="1079976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A30328-13EB-40D3-9C21-ACEB70A1BF73}" v="10" dt="2025-12-16T08:23:29.7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334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Javornický" userId="3b98f8e0-d449-4f6e-b57d-5f9bfb7a5c2c" providerId="ADAL" clId="{88A10E76-C547-4713-B92A-3B48010D5CF0}"/>
    <pc:docChg chg="undo custSel modSld">
      <pc:chgData name="Peter Javornický" userId="3b98f8e0-d449-4f6e-b57d-5f9bfb7a5c2c" providerId="ADAL" clId="{88A10E76-C547-4713-B92A-3B48010D5CF0}" dt="2025-12-16T08:23:29.705" v="28"/>
      <pc:docMkLst>
        <pc:docMk/>
      </pc:docMkLst>
      <pc:sldChg chg="modSp mod">
        <pc:chgData name="Peter Javornický" userId="3b98f8e0-d449-4f6e-b57d-5f9bfb7a5c2c" providerId="ADAL" clId="{88A10E76-C547-4713-B92A-3B48010D5CF0}" dt="2025-12-16T08:15:39.903" v="6"/>
        <pc:sldMkLst>
          <pc:docMk/>
          <pc:sldMk cId="3669162915" sldId="272"/>
        </pc:sldMkLst>
        <pc:spChg chg="mod">
          <ac:chgData name="Peter Javornický" userId="3b98f8e0-d449-4f6e-b57d-5f9bfb7a5c2c" providerId="ADAL" clId="{88A10E76-C547-4713-B92A-3B48010D5CF0}" dt="2025-12-16T08:15:39.903" v="6"/>
          <ac:spMkLst>
            <pc:docMk/>
            <pc:sldMk cId="3669162915" sldId="272"/>
            <ac:spMk id="2" creationId="{44502129-00D9-C538-5C9D-8BE935563DC8}"/>
          </ac:spMkLst>
        </pc:spChg>
      </pc:sldChg>
      <pc:sldChg chg="modSp mod">
        <pc:chgData name="Peter Javornický" userId="3b98f8e0-d449-4f6e-b57d-5f9bfb7a5c2c" providerId="ADAL" clId="{88A10E76-C547-4713-B92A-3B48010D5CF0}" dt="2025-12-16T08:16:45.577" v="8"/>
        <pc:sldMkLst>
          <pc:docMk/>
          <pc:sldMk cId="3385882476" sldId="273"/>
        </pc:sldMkLst>
        <pc:spChg chg="mod">
          <ac:chgData name="Peter Javornický" userId="3b98f8e0-d449-4f6e-b57d-5f9bfb7a5c2c" providerId="ADAL" clId="{88A10E76-C547-4713-B92A-3B48010D5CF0}" dt="2025-12-16T08:16:45.577" v="8"/>
          <ac:spMkLst>
            <pc:docMk/>
            <pc:sldMk cId="3385882476" sldId="273"/>
            <ac:spMk id="21" creationId="{A669874F-89FA-6E78-114B-B92FDA79AFA0}"/>
          </ac:spMkLst>
        </pc:spChg>
      </pc:sldChg>
      <pc:sldChg chg="modSp mod">
        <pc:chgData name="Peter Javornický" userId="3b98f8e0-d449-4f6e-b57d-5f9bfb7a5c2c" providerId="ADAL" clId="{88A10E76-C547-4713-B92A-3B48010D5CF0}" dt="2025-12-16T08:17:28.955" v="10"/>
        <pc:sldMkLst>
          <pc:docMk/>
          <pc:sldMk cId="1036419051" sldId="274"/>
        </pc:sldMkLst>
        <pc:spChg chg="mod">
          <ac:chgData name="Peter Javornický" userId="3b98f8e0-d449-4f6e-b57d-5f9bfb7a5c2c" providerId="ADAL" clId="{88A10E76-C547-4713-B92A-3B48010D5CF0}" dt="2025-12-16T08:17:28.955" v="10"/>
          <ac:spMkLst>
            <pc:docMk/>
            <pc:sldMk cId="1036419051" sldId="274"/>
            <ac:spMk id="26" creationId="{E429CABF-1FF3-A85E-0EB7-30C550D607D9}"/>
          </ac:spMkLst>
        </pc:spChg>
      </pc:sldChg>
      <pc:sldChg chg="modSp mod">
        <pc:chgData name="Peter Javornický" userId="3b98f8e0-d449-4f6e-b57d-5f9bfb7a5c2c" providerId="ADAL" clId="{88A10E76-C547-4713-B92A-3B48010D5CF0}" dt="2025-12-16T08:18:28.035" v="12"/>
        <pc:sldMkLst>
          <pc:docMk/>
          <pc:sldMk cId="2300396861" sldId="275"/>
        </pc:sldMkLst>
        <pc:spChg chg="mod">
          <ac:chgData name="Peter Javornický" userId="3b98f8e0-d449-4f6e-b57d-5f9bfb7a5c2c" providerId="ADAL" clId="{88A10E76-C547-4713-B92A-3B48010D5CF0}" dt="2025-12-16T08:18:28.035" v="12"/>
          <ac:spMkLst>
            <pc:docMk/>
            <pc:sldMk cId="2300396861" sldId="275"/>
            <ac:spMk id="27" creationId="{89153A0E-BD1C-669D-A9E8-1FD97DABBBC9}"/>
          </ac:spMkLst>
        </pc:spChg>
      </pc:sldChg>
      <pc:sldChg chg="modSp mod">
        <pc:chgData name="Peter Javornický" userId="3b98f8e0-d449-4f6e-b57d-5f9bfb7a5c2c" providerId="ADAL" clId="{88A10E76-C547-4713-B92A-3B48010D5CF0}" dt="2025-12-16T08:18:52.271" v="14"/>
        <pc:sldMkLst>
          <pc:docMk/>
          <pc:sldMk cId="2574641618" sldId="276"/>
        </pc:sldMkLst>
        <pc:spChg chg="mod">
          <ac:chgData name="Peter Javornický" userId="3b98f8e0-d449-4f6e-b57d-5f9bfb7a5c2c" providerId="ADAL" clId="{88A10E76-C547-4713-B92A-3B48010D5CF0}" dt="2025-12-16T08:18:52.271" v="14"/>
          <ac:spMkLst>
            <pc:docMk/>
            <pc:sldMk cId="2574641618" sldId="276"/>
            <ac:spMk id="19" creationId="{108C060C-D3A8-7D72-6BB5-F7B8BF99C5CE}"/>
          </ac:spMkLst>
        </pc:spChg>
      </pc:sldChg>
      <pc:sldChg chg="modSp mod">
        <pc:chgData name="Peter Javornický" userId="3b98f8e0-d449-4f6e-b57d-5f9bfb7a5c2c" providerId="ADAL" clId="{88A10E76-C547-4713-B92A-3B48010D5CF0}" dt="2025-12-16T08:19:52.311" v="16"/>
        <pc:sldMkLst>
          <pc:docMk/>
          <pc:sldMk cId="3522380568" sldId="277"/>
        </pc:sldMkLst>
        <pc:spChg chg="mod">
          <ac:chgData name="Peter Javornický" userId="3b98f8e0-d449-4f6e-b57d-5f9bfb7a5c2c" providerId="ADAL" clId="{88A10E76-C547-4713-B92A-3B48010D5CF0}" dt="2025-12-16T08:19:52.311" v="16"/>
          <ac:spMkLst>
            <pc:docMk/>
            <pc:sldMk cId="3522380568" sldId="277"/>
            <ac:spMk id="17" creationId="{E6D56636-B781-6C72-9345-D6D0A3D280FB}"/>
          </ac:spMkLst>
        </pc:spChg>
      </pc:sldChg>
      <pc:sldChg chg="modSp mod">
        <pc:chgData name="Peter Javornický" userId="3b98f8e0-d449-4f6e-b57d-5f9bfb7a5c2c" providerId="ADAL" clId="{88A10E76-C547-4713-B92A-3B48010D5CF0}" dt="2025-12-16T08:20:21.940" v="18"/>
        <pc:sldMkLst>
          <pc:docMk/>
          <pc:sldMk cId="2895819414" sldId="278"/>
        </pc:sldMkLst>
        <pc:spChg chg="mod">
          <ac:chgData name="Peter Javornický" userId="3b98f8e0-d449-4f6e-b57d-5f9bfb7a5c2c" providerId="ADAL" clId="{88A10E76-C547-4713-B92A-3B48010D5CF0}" dt="2025-12-16T08:20:21.940" v="18"/>
          <ac:spMkLst>
            <pc:docMk/>
            <pc:sldMk cId="2895819414" sldId="278"/>
            <ac:spMk id="15" creationId="{A2B7A311-281C-FD69-FDB3-75067AFB0BE5}"/>
          </ac:spMkLst>
        </pc:spChg>
      </pc:sldChg>
      <pc:sldChg chg="modSp mod">
        <pc:chgData name="Peter Javornický" userId="3b98f8e0-d449-4f6e-b57d-5f9bfb7a5c2c" providerId="ADAL" clId="{88A10E76-C547-4713-B92A-3B48010D5CF0}" dt="2025-12-16T08:21:25.156" v="21"/>
        <pc:sldMkLst>
          <pc:docMk/>
          <pc:sldMk cId="2270449164" sldId="279"/>
        </pc:sldMkLst>
        <pc:spChg chg="mod">
          <ac:chgData name="Peter Javornický" userId="3b98f8e0-d449-4f6e-b57d-5f9bfb7a5c2c" providerId="ADAL" clId="{88A10E76-C547-4713-B92A-3B48010D5CF0}" dt="2025-12-16T08:21:25.156" v="21"/>
          <ac:spMkLst>
            <pc:docMk/>
            <pc:sldMk cId="2270449164" sldId="279"/>
            <ac:spMk id="23" creationId="{40E9EF81-5DC9-3A08-A348-823FDD5F16CD}"/>
          </ac:spMkLst>
        </pc:spChg>
      </pc:sldChg>
      <pc:sldChg chg="modSp mod">
        <pc:chgData name="Peter Javornický" userId="3b98f8e0-d449-4f6e-b57d-5f9bfb7a5c2c" providerId="ADAL" clId="{88A10E76-C547-4713-B92A-3B48010D5CF0}" dt="2025-12-16T08:21:51.546" v="24"/>
        <pc:sldMkLst>
          <pc:docMk/>
          <pc:sldMk cId="2577955923" sldId="280"/>
        </pc:sldMkLst>
        <pc:spChg chg="mod">
          <ac:chgData name="Peter Javornický" userId="3b98f8e0-d449-4f6e-b57d-5f9bfb7a5c2c" providerId="ADAL" clId="{88A10E76-C547-4713-B92A-3B48010D5CF0}" dt="2025-12-16T08:21:51.546" v="24"/>
          <ac:spMkLst>
            <pc:docMk/>
            <pc:sldMk cId="2577955923" sldId="280"/>
            <ac:spMk id="14" creationId="{3508B767-0564-750A-D90F-F07E9F080224}"/>
          </ac:spMkLst>
        </pc:spChg>
      </pc:sldChg>
      <pc:sldChg chg="modSp mod">
        <pc:chgData name="Peter Javornický" userId="3b98f8e0-d449-4f6e-b57d-5f9bfb7a5c2c" providerId="ADAL" clId="{88A10E76-C547-4713-B92A-3B48010D5CF0}" dt="2025-12-16T08:22:58.600" v="26"/>
        <pc:sldMkLst>
          <pc:docMk/>
          <pc:sldMk cId="3820080283" sldId="281"/>
        </pc:sldMkLst>
        <pc:spChg chg="mod">
          <ac:chgData name="Peter Javornický" userId="3b98f8e0-d449-4f6e-b57d-5f9bfb7a5c2c" providerId="ADAL" clId="{88A10E76-C547-4713-B92A-3B48010D5CF0}" dt="2025-12-16T08:22:58.600" v="26"/>
          <ac:spMkLst>
            <pc:docMk/>
            <pc:sldMk cId="3820080283" sldId="281"/>
            <ac:spMk id="15" creationId="{23FC829F-190D-FCDB-8BCE-B3C54BCE7E24}"/>
          </ac:spMkLst>
        </pc:spChg>
      </pc:sldChg>
      <pc:sldChg chg="modSp mod">
        <pc:chgData name="Peter Javornický" userId="3b98f8e0-d449-4f6e-b57d-5f9bfb7a5c2c" providerId="ADAL" clId="{88A10E76-C547-4713-B92A-3B48010D5CF0}" dt="2025-12-16T08:23:29.705" v="28"/>
        <pc:sldMkLst>
          <pc:docMk/>
          <pc:sldMk cId="177573063" sldId="282"/>
        </pc:sldMkLst>
        <pc:spChg chg="mod">
          <ac:chgData name="Peter Javornický" userId="3b98f8e0-d449-4f6e-b57d-5f9bfb7a5c2c" providerId="ADAL" clId="{88A10E76-C547-4713-B92A-3B48010D5CF0}" dt="2025-12-16T08:23:29.705" v="28"/>
          <ac:spMkLst>
            <pc:docMk/>
            <pc:sldMk cId="177573063" sldId="282"/>
            <ac:spMk id="18" creationId="{A30F4D9E-0DAE-5BF5-BBED-A6B72CE567C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428576-1518-49B0-AA00-14C05CA9820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49513" y="1143000"/>
            <a:ext cx="1958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E046B-D405-48ED-9E04-8643E3702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93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1 - Powerball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062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2 - MegaMillions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091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3 – Omaze-inspired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1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4 – Progresivní anuita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39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5 – Daily Millionaire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612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6 – Silvestr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809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7 – Záplava </a:t>
            </a:r>
            <a:r>
              <a:rPr lang="cs-CZ" sz="1200" dirty="0" err="1"/>
              <a:t>euromilionářů</a:t>
            </a:r>
            <a:endParaRPr lang="cs-CZ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314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200" dirty="0"/>
              <a:t>Concept 8 – EJ </a:t>
            </a:r>
            <a:r>
              <a:rPr lang="cs-CZ" sz="1200" dirty="0" err="1"/>
              <a:t>add</a:t>
            </a:r>
            <a:r>
              <a:rPr lang="cs-CZ" sz="1200" dirty="0"/>
              <a:t>-on nemovitosti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78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9 – ER </a:t>
            </a:r>
            <a:r>
              <a:rPr lang="cs-CZ" sz="1200" dirty="0" err="1"/>
              <a:t>add</a:t>
            </a:r>
            <a:r>
              <a:rPr lang="cs-CZ" sz="1200" dirty="0"/>
              <a:t>-on zážitky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266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200" dirty="0"/>
              <a:t>Concept 10 – Eurojackpot (benchmark)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8752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11 – EuroDreams</a:t>
            </a:r>
            <a:r>
              <a:rPr lang="en-US" sz="1200" dirty="0"/>
              <a:t> </a:t>
            </a:r>
            <a:r>
              <a:rPr lang="cs-CZ" sz="1200" dirty="0"/>
              <a:t>(benchmark)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797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- Šir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8" y="357050"/>
            <a:ext cx="6361042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288" y="1279525"/>
            <a:ext cx="6361042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5438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Už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336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09"/>
            <a:ext cx="6626087" cy="10177669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/>
            </a:lvl1pPr>
            <a:lvl2pPr>
              <a:defRPr sz="40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777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57050"/>
            <a:ext cx="5915025" cy="922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444488"/>
            <a:ext cx="5915025" cy="8998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637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6F824DE-CD4A-C189-6C32-210158F6D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66" y="6460726"/>
            <a:ext cx="6180837" cy="420235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00DC80D-DD76-DE82-3A87-03CE773AAFCD}"/>
              </a:ext>
            </a:extLst>
          </p:cNvPr>
          <p:cNvSpPr/>
          <p:nvPr/>
        </p:nvSpPr>
        <p:spPr>
          <a:xfrm>
            <a:off x="0" y="-11916"/>
            <a:ext cx="6858000" cy="9224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02129-00D9-C538-5C9D-8BE935563DC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2952" y="20638"/>
            <a:ext cx="6384925" cy="922337"/>
          </a:xfrm>
        </p:spPr>
        <p:txBody>
          <a:bodyPr>
            <a:normAutofit/>
          </a:bodyPr>
          <a:lstStyle/>
          <a:p>
            <a:r>
              <a:rPr lang="cs-CZ" sz="2400" b="1" dirty="0" err="1"/>
              <a:t>Powerball</a:t>
            </a:r>
            <a:br>
              <a:rPr lang="cs-CZ" sz="2400" b="1" dirty="0"/>
            </a:br>
            <a:r>
              <a:rPr lang="cs-CZ" sz="2400" b="1" dirty="0"/>
              <a:t>Představte si, že se spouští nová loterijní hra: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3771B-3D19-3D93-187F-DF1BE6DA3B6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33550" y="942975"/>
            <a:ext cx="6400800" cy="536257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cs-CZ" sz="2300" dirty="0"/>
              <a:t>Jedná se o mezinárodní loterii. Díky spojení vkladů </a:t>
            </a:r>
            <a:br>
              <a:rPr lang="cs-CZ" sz="2300" dirty="0"/>
            </a:br>
            <a:r>
              <a:rPr lang="cs-CZ" sz="2300" dirty="0"/>
              <a:t>z mnoha zemí je to </a:t>
            </a:r>
            <a:r>
              <a:rPr lang="cs-CZ" sz="2300" b="1" dirty="0"/>
              <a:t>největší loterie na světě</a:t>
            </a:r>
            <a:r>
              <a:rPr lang="cs-CZ" sz="2300" dirty="0"/>
              <a:t>. </a:t>
            </a:r>
            <a:br>
              <a:rPr lang="cs-CZ" sz="2300" dirty="0"/>
            </a:br>
            <a:r>
              <a:rPr lang="cs-CZ" sz="2300" dirty="0"/>
              <a:t>Její jackpot může přesáhnout </a:t>
            </a:r>
            <a:r>
              <a:rPr lang="cs-CZ" sz="2300" b="1" dirty="0"/>
              <a:t>12 miliard Kč</a:t>
            </a:r>
            <a:r>
              <a:rPr lang="cs-CZ" sz="2300" dirty="0"/>
              <a:t>. Průměrný jackpot se pohybuje okolo 6 miliard Kč. Nejnižší jackpot je </a:t>
            </a:r>
            <a:r>
              <a:rPr lang="cs-CZ" sz="2300" b="1" dirty="0"/>
              <a:t>půl miliardy Kč</a:t>
            </a:r>
            <a:r>
              <a:rPr lang="cs-CZ" sz="2300" dirty="0"/>
              <a:t>.</a:t>
            </a:r>
          </a:p>
          <a:p>
            <a:pPr marL="0" indent="0" algn="just">
              <a:buNone/>
            </a:pPr>
            <a:r>
              <a:rPr lang="cs-CZ" sz="2300" dirty="0"/>
              <a:t>Stačí vsadit 5 čísel z 69 a 1 číslo z 26 nebo jednoduše zvolit náhodný tip. Minimální cena za sázku je </a:t>
            </a:r>
            <a:r>
              <a:rPr lang="cs-CZ" sz="2300" b="1" dirty="0"/>
              <a:t>100 Kč</a:t>
            </a:r>
            <a:r>
              <a:rPr lang="cs-CZ" sz="2300" dirty="0"/>
              <a:t>. Za tuto cenu získáte </a:t>
            </a:r>
            <a:r>
              <a:rPr lang="cs-CZ" sz="2300" b="1" dirty="0"/>
              <a:t>2 sloupce</a:t>
            </a:r>
            <a:r>
              <a:rPr lang="cs-CZ" sz="2300" dirty="0"/>
              <a:t>, jinými slovy dvě šance na výhru.</a:t>
            </a:r>
          </a:p>
          <a:p>
            <a:pPr marL="0" indent="0" algn="just">
              <a:buNone/>
            </a:pPr>
            <a:r>
              <a:rPr lang="cs-CZ" sz="2300" dirty="0"/>
              <a:t>Losuje se třikrát týdně. Hlavní výhra by měla padnout teoreticky  4–5krát ročně.</a:t>
            </a:r>
          </a:p>
          <a:p>
            <a:pPr marL="0" indent="0" algn="just">
              <a:buNone/>
            </a:pPr>
            <a:r>
              <a:rPr lang="cs-CZ" sz="2300" dirty="0"/>
              <a:t>V České republice by bylo možné tuto loterii koupit na všech prodejních místech, kde lze vsadit loterii nebo koupit los, dále online na webových stránkách nebo v herní aplikaci loterijní společnosti.</a:t>
            </a:r>
          </a:p>
          <a:p>
            <a:pPr algn="just"/>
            <a:endParaRPr lang="cs-CZ" sz="2300" dirty="0"/>
          </a:p>
        </p:txBody>
      </p:sp>
    </p:spTree>
    <p:extLst>
      <p:ext uri="{BB962C8B-B14F-4D97-AF65-F5344CB8AC3E}">
        <p14:creationId xmlns:p14="http://schemas.microsoft.com/office/powerpoint/2010/main" val="366916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A12BAD-35A9-E729-613B-FA6161F1D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26" y="6374836"/>
            <a:ext cx="6322312" cy="43534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B339CBE-812B-A743-467F-C8735E2B85DA}"/>
              </a:ext>
            </a:extLst>
          </p:cNvPr>
          <p:cNvSpPr/>
          <p:nvPr/>
        </p:nvSpPr>
        <p:spPr>
          <a:xfrm>
            <a:off x="0" y="-11915"/>
            <a:ext cx="6858000" cy="63370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669874F-89FA-6E78-114B-B92FDA79AFA0}"/>
              </a:ext>
            </a:extLst>
          </p:cNvPr>
          <p:cNvSpPr txBox="1">
            <a:spLocks/>
          </p:cNvSpPr>
          <p:nvPr/>
        </p:nvSpPr>
        <p:spPr>
          <a:xfrm>
            <a:off x="228523" y="-155867"/>
            <a:ext cx="6384925" cy="9223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cs-CZ" sz="2400" dirty="0" err="1"/>
              <a:t>MegaMillions</a:t>
            </a:r>
            <a:endParaRPr lang="cs-CZ" sz="2400" b="1" dirty="0"/>
          </a:p>
          <a:p>
            <a:r>
              <a:rPr lang="cs-CZ" sz="2400" b="1" dirty="0"/>
              <a:t>Představte si, že se spouští nová loterijní hra: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0F53A738-C1F6-0569-FD56-07C8D922BCF6}"/>
              </a:ext>
            </a:extLst>
          </p:cNvPr>
          <p:cNvSpPr txBox="1">
            <a:spLocks/>
          </p:cNvSpPr>
          <p:nvPr/>
        </p:nvSpPr>
        <p:spPr>
          <a:xfrm>
            <a:off x="223287" y="698421"/>
            <a:ext cx="6402569" cy="53625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cs-CZ" sz="1800" dirty="0"/>
              <a:t>Jedná se o mezinárodní loterii. Díky tomu může její jackpot dosáhnout až </a:t>
            </a:r>
            <a:r>
              <a:rPr lang="cs-CZ" sz="1800" b="1" dirty="0"/>
              <a:t>25</a:t>
            </a:r>
            <a:r>
              <a:rPr lang="cs-CZ" sz="1800" dirty="0"/>
              <a:t> </a:t>
            </a:r>
            <a:r>
              <a:rPr lang="cs-CZ" sz="1800" b="1" dirty="0"/>
              <a:t>miliard korun</a:t>
            </a:r>
            <a:r>
              <a:rPr lang="cs-CZ" sz="1800" dirty="0"/>
              <a:t>. Průměrný jackpot je okolo </a:t>
            </a:r>
            <a:br>
              <a:rPr lang="cs-CZ" sz="1800" dirty="0"/>
            </a:br>
            <a:r>
              <a:rPr lang="cs-CZ" sz="1800" dirty="0"/>
              <a:t>6 miliard Kč. Nejnižší úroveň jackpotu je 1 miliarda korun.</a:t>
            </a:r>
            <a:r>
              <a:rPr lang="cs-CZ" sz="1800" b="1" dirty="0"/>
              <a:t> </a:t>
            </a:r>
            <a:br>
              <a:rPr lang="cs-CZ" sz="1800" b="1" dirty="0"/>
            </a:br>
            <a:r>
              <a:rPr lang="cs-CZ" sz="1800" b="1" dirty="0"/>
              <a:t>Jackpot je vyplácen v ročních splátkách po dobu 30 let.</a:t>
            </a:r>
            <a:r>
              <a:rPr lang="cs-CZ" sz="1800" dirty="0"/>
              <a:t> </a:t>
            </a:r>
            <a:br>
              <a:rPr lang="cs-CZ" sz="1800" dirty="0"/>
            </a:br>
            <a:r>
              <a:rPr lang="cs-CZ" sz="1800" dirty="0"/>
              <a:t>Roční výplaty výhry se mohou dědit.</a:t>
            </a:r>
          </a:p>
          <a:p>
            <a:pPr marL="0" indent="0" algn="just">
              <a:buNone/>
            </a:pPr>
            <a:r>
              <a:rPr lang="cs-CZ" sz="1800" dirty="0"/>
              <a:t>Stačí vybrat 5 čísel ze 70 a 1 číslo z 25 v každém vsazeném sloupci nebo jednoduše zvolit náhodný tip. </a:t>
            </a:r>
          </a:p>
          <a:p>
            <a:pPr marL="0" indent="0" algn="just">
              <a:buNone/>
            </a:pPr>
            <a:r>
              <a:rPr lang="cs-CZ" sz="1800" dirty="0"/>
              <a:t>Spolu s hlavní hrou je zde také doplňková hra, tzv m</a:t>
            </a:r>
            <a:r>
              <a:rPr lang="en-US" sz="1800" dirty="0"/>
              <a:t>u</a:t>
            </a:r>
            <a:r>
              <a:rPr lang="cs-CZ" sz="1800" dirty="0"/>
              <a:t>litplikátor, který násobí všechny výhry (s výjimkou jackpotu) 2x, 3x, 4x nebo 5x. Číslo multiplikátoru (2,3,4 nebo 5) se losuje těšně </a:t>
            </a:r>
            <a:br>
              <a:rPr lang="cs-CZ" sz="1800" dirty="0"/>
            </a:br>
            <a:r>
              <a:rPr lang="cs-CZ" sz="1800" dirty="0"/>
              <a:t>před losováním hlavní loterie. Díky multiplikátoru např. hráči, </a:t>
            </a:r>
            <a:br>
              <a:rPr lang="cs-CZ" sz="1800" dirty="0"/>
            </a:br>
            <a:r>
              <a:rPr lang="cs-CZ" sz="1800" dirty="0"/>
              <a:t>kteří trefí druhé pořadí, tak mohou základní výhru 25 milionů Kč znásobit na 50, 75, 100 nebo 125 milionů Kč.</a:t>
            </a:r>
          </a:p>
          <a:p>
            <a:pPr marL="0" indent="0" algn="just">
              <a:buNone/>
            </a:pPr>
            <a:r>
              <a:rPr lang="cs-CZ" sz="1800" dirty="0"/>
              <a:t>Cena vkladu je 120 Kč. Za tuto cenu získáte </a:t>
            </a:r>
            <a:r>
              <a:rPr lang="cs-CZ" sz="1800" b="1" dirty="0"/>
              <a:t>1 sloupec hlavní loterie a také doplňkový multiplikátor</a:t>
            </a:r>
            <a:r>
              <a:rPr lang="cs-CZ" sz="1800" dirty="0"/>
              <a:t>.</a:t>
            </a:r>
          </a:p>
          <a:p>
            <a:pPr marL="0" indent="0" algn="just">
              <a:buNone/>
            </a:pPr>
            <a:r>
              <a:rPr lang="cs-CZ" sz="1800" dirty="0"/>
              <a:t>Losuje se dvakrát týdně. Hlavní výhra padne teoreticky 4–5krát ročně.</a:t>
            </a:r>
          </a:p>
          <a:p>
            <a:pPr marL="0" indent="0" algn="just">
              <a:buNone/>
            </a:pPr>
            <a:r>
              <a:rPr lang="cs-CZ" sz="1800" dirty="0"/>
              <a:t>V České republice by bylo možné tuto loterii koupit na všech prodejních místech, kde lze vsadit loterii nebo koupit los, dále online na webových stránkách nebo v herní aplikaci loterijní společnosti.</a:t>
            </a:r>
          </a:p>
        </p:txBody>
      </p:sp>
    </p:spTree>
    <p:extLst>
      <p:ext uri="{BB962C8B-B14F-4D97-AF65-F5344CB8AC3E}">
        <p14:creationId xmlns:p14="http://schemas.microsoft.com/office/powerpoint/2010/main" val="3385882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26A635-023A-1674-3FEA-A17287689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212" y="7469463"/>
            <a:ext cx="6256836" cy="310512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A99CFA8-AEA0-F10E-833C-C0B90507D140}"/>
              </a:ext>
            </a:extLst>
          </p:cNvPr>
          <p:cNvSpPr/>
          <p:nvPr/>
        </p:nvSpPr>
        <p:spPr>
          <a:xfrm>
            <a:off x="0" y="-11915"/>
            <a:ext cx="6858000" cy="7983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429CABF-1FF3-A85E-0EB7-30C550D607D9}"/>
              </a:ext>
            </a:extLst>
          </p:cNvPr>
          <p:cNvSpPr txBox="1">
            <a:spLocks/>
          </p:cNvSpPr>
          <p:nvPr/>
        </p:nvSpPr>
        <p:spPr>
          <a:xfrm>
            <a:off x="302952" y="-79946"/>
            <a:ext cx="6384925" cy="9223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cs-CZ" sz="2400" dirty="0" err="1"/>
              <a:t>Omaze-inspired</a:t>
            </a:r>
            <a:endParaRPr lang="cs-CZ" sz="2400" b="1" dirty="0"/>
          </a:p>
          <a:p>
            <a:r>
              <a:rPr lang="cs-CZ" sz="2400" b="1" dirty="0"/>
              <a:t>Představte si, že se spouští nová loterijní hra: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E99B8C6B-1064-EEFB-E580-9ECF552E54AE}"/>
              </a:ext>
            </a:extLst>
          </p:cNvPr>
          <p:cNvSpPr txBox="1">
            <a:spLocks/>
          </p:cNvSpPr>
          <p:nvPr/>
        </p:nvSpPr>
        <p:spPr>
          <a:xfrm>
            <a:off x="265818" y="889810"/>
            <a:ext cx="6289939" cy="53625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cs-CZ" sz="2000" dirty="0"/>
              <a:t>Jedná se o měsíční slosování mezinárodní tomboly. Díky sdílenému fondu nabízí </a:t>
            </a:r>
            <a:r>
              <a:rPr lang="cs-CZ" sz="2000" b="1" dirty="0"/>
              <a:t>každý měsíc exkluzivní nemovitosti snů. </a:t>
            </a:r>
            <a:r>
              <a:rPr lang="cs-CZ" sz="2000" dirty="0"/>
              <a:t>Např. v lednovém losování to může být vila ve Španělsku, v únoru luxusní apartmán v Alpách, pe</a:t>
            </a:r>
            <a:r>
              <a:rPr lang="en-US" sz="2000" dirty="0"/>
              <a:t>n</a:t>
            </a:r>
            <a:r>
              <a:rPr lang="cs-CZ" sz="2000" dirty="0"/>
              <a:t>thouse s výhledem na starověký Řím nebo bungalov </a:t>
            </a:r>
            <a:br>
              <a:rPr lang="cs-CZ" sz="2000" dirty="0"/>
            </a:br>
            <a:r>
              <a:rPr lang="cs-CZ" sz="2000" dirty="0"/>
              <a:t>na karibském ostrově.</a:t>
            </a:r>
          </a:p>
          <a:p>
            <a:pPr marL="0" indent="0" algn="just">
              <a:buNone/>
            </a:pPr>
            <a:r>
              <a:rPr lang="cs-CZ" sz="2000" dirty="0"/>
              <a:t>Hraje se také o stovky peněžních výher ve výši </a:t>
            </a:r>
            <a:r>
              <a:rPr lang="cs-CZ" sz="2000" b="1" dirty="0"/>
              <a:t>500 000 Kč</a:t>
            </a:r>
            <a:r>
              <a:rPr lang="cs-CZ" sz="2000" dirty="0"/>
              <a:t>.</a:t>
            </a:r>
          </a:p>
          <a:p>
            <a:pPr marL="0" indent="0" algn="just">
              <a:buNone/>
            </a:pPr>
            <a:r>
              <a:rPr lang="cs-CZ" sz="2000" dirty="0"/>
              <a:t>Pro účast ve hře nemusíte vybírat žádná čísla. Váš nákup generuje unikátní kód, který vložíme do databáze. To znamená, že čím více účastí zakoupíte, tím vícekrát se váš kód objeví v databázi. Na konci měsíce pak vítěze vybereme pomocí certifikovaného generátoru náhodných čísel.</a:t>
            </a:r>
          </a:p>
          <a:p>
            <a:pPr marL="0" indent="0" algn="just">
              <a:buNone/>
            </a:pPr>
            <a:r>
              <a:rPr lang="cs-CZ" sz="2000" dirty="0"/>
              <a:t>Jedinou možností nákupu je </a:t>
            </a:r>
            <a:r>
              <a:rPr lang="cs-CZ" sz="2000" b="1" dirty="0"/>
              <a:t>online předplatné</a:t>
            </a:r>
            <a:r>
              <a:rPr lang="cs-CZ" sz="2000" dirty="0"/>
              <a:t>.</a:t>
            </a:r>
          </a:p>
          <a:p>
            <a:pPr marL="0" indent="0" algn="just">
              <a:buNone/>
            </a:pPr>
            <a:r>
              <a:rPr lang="cs-CZ" sz="2000" dirty="0"/>
              <a:t>Můžete si vybrat, kolikrát chcete, aby váš kód byl vložen </a:t>
            </a:r>
            <a:br>
              <a:rPr lang="cs-CZ" sz="2000" dirty="0"/>
            </a:br>
            <a:r>
              <a:rPr lang="cs-CZ" sz="2000" dirty="0"/>
              <a:t>do databáze. Za </a:t>
            </a:r>
            <a:r>
              <a:rPr lang="cs-CZ" sz="2000" b="1" dirty="0"/>
              <a:t>250 Kč měsíčně získáte 30 účastí v měsíčním slosování. Za 750 Kč měsíčně získáte 100 účastí.</a:t>
            </a:r>
          </a:p>
          <a:p>
            <a:pPr marL="0" indent="0" algn="just">
              <a:buNone/>
            </a:pPr>
            <a:r>
              <a:rPr lang="cs-CZ" sz="2000" dirty="0"/>
              <a:t>Pokud se zúčastníte všech 12 měsíčních losování během roku, budete zařazeni do speciálního novoročního losování o mega</a:t>
            </a:r>
            <a:r>
              <a:rPr lang="en-US" sz="2000" dirty="0"/>
              <a:t>v</a:t>
            </a:r>
            <a:r>
              <a:rPr lang="cs-CZ" sz="2000" dirty="0"/>
              <a:t>ýhry. </a:t>
            </a:r>
          </a:p>
          <a:p>
            <a:pPr marL="0" indent="0" algn="just">
              <a:buNone/>
            </a:pPr>
            <a:r>
              <a:rPr lang="cs-CZ" sz="2000" dirty="0"/>
              <a:t>Předplatné můžete kdykoliv během roku zrušit.</a:t>
            </a:r>
            <a:endParaRPr lang="cs-CZ" sz="1800" dirty="0"/>
          </a:p>
        </p:txBody>
      </p:sp>
    </p:spTree>
    <p:extLst>
      <p:ext uri="{BB962C8B-B14F-4D97-AF65-F5344CB8AC3E}">
        <p14:creationId xmlns:p14="http://schemas.microsoft.com/office/powerpoint/2010/main" val="1036419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60EE58-90F1-E1CF-0FAA-1C841FCAD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78" y="6300608"/>
            <a:ext cx="6162459" cy="44115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E3F5D6-ED95-7981-4AE7-59A45DD24ED5}"/>
              </a:ext>
            </a:extLst>
          </p:cNvPr>
          <p:cNvSpPr/>
          <p:nvPr/>
        </p:nvSpPr>
        <p:spPr>
          <a:xfrm>
            <a:off x="0" y="-27958"/>
            <a:ext cx="6858000" cy="7901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9153A0E-BD1C-669D-A9E8-1FD97DABBBC9}"/>
              </a:ext>
            </a:extLst>
          </p:cNvPr>
          <p:cNvSpPr txBox="1">
            <a:spLocks/>
          </p:cNvSpPr>
          <p:nvPr/>
        </p:nvSpPr>
        <p:spPr>
          <a:xfrm>
            <a:off x="302952" y="-89090"/>
            <a:ext cx="6384925" cy="9223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cs-CZ" sz="2400" dirty="0" err="1"/>
              <a:t>Progressive</a:t>
            </a:r>
            <a:r>
              <a:rPr lang="cs-CZ" sz="2400" dirty="0"/>
              <a:t> </a:t>
            </a:r>
            <a:r>
              <a:rPr lang="cs-CZ" sz="2400" dirty="0" err="1"/>
              <a:t>annuity</a:t>
            </a:r>
            <a:endParaRPr lang="cs-CZ" sz="2400" b="1" dirty="0"/>
          </a:p>
          <a:p>
            <a:r>
              <a:rPr lang="cs-CZ" sz="2400" b="1" dirty="0"/>
              <a:t>Představte si, že se spouští nová loterijní hra: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DD22262A-7D27-6C48-BD8D-1B4CBFAA5321}"/>
              </a:ext>
            </a:extLst>
          </p:cNvPr>
          <p:cNvSpPr txBox="1">
            <a:spLocks/>
          </p:cNvSpPr>
          <p:nvPr/>
        </p:nvSpPr>
        <p:spPr>
          <a:xfrm>
            <a:off x="217508" y="762218"/>
            <a:ext cx="6400800" cy="53625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cs-CZ" sz="1900" dirty="0"/>
              <a:t>Jedná se o mezinárodní loterii. Díky sdílenému fondu mezi zúčastněnými zeměmi může nabídnout obří hlavní výhru, a to ve formě roční platby po dobu 7 let. Hlavní výhra začíná </a:t>
            </a:r>
            <a:br>
              <a:rPr lang="cs-CZ" sz="1900" dirty="0"/>
            </a:br>
            <a:r>
              <a:rPr lang="cs-CZ" sz="1900" dirty="0"/>
              <a:t>na výplatě </a:t>
            </a:r>
            <a:r>
              <a:rPr lang="cs-CZ" sz="1900" b="1" dirty="0"/>
              <a:t>5 milionů Kč ročně po dobu 7 let a může přesáhnout 150 milionů Kč ročně vyplácených po dobu 7 let</a:t>
            </a:r>
            <a:r>
              <a:rPr lang="cs-CZ" sz="1900" dirty="0"/>
              <a:t>.</a:t>
            </a:r>
          </a:p>
          <a:p>
            <a:pPr marL="0" indent="0" algn="just">
              <a:buNone/>
            </a:pPr>
            <a:r>
              <a:rPr lang="cs-CZ" sz="1900" dirty="0"/>
              <a:t>Hlavní výhra se zvyšuje po každém losování. Začíná </a:t>
            </a:r>
            <a:br>
              <a:rPr lang="cs-CZ" sz="1900" dirty="0"/>
            </a:br>
            <a:r>
              <a:rPr lang="cs-CZ" sz="1900" dirty="0"/>
              <a:t>na 5 milionech ročně, v dalších losování už se hraje o přibližně 8 milionů ročně a takto roste po k</a:t>
            </a:r>
            <a:r>
              <a:rPr lang="en-US" sz="1900" dirty="0"/>
              <a:t>a</a:t>
            </a:r>
            <a:r>
              <a:rPr lang="cs-CZ" sz="1900" dirty="0"/>
              <a:t>ždém losování až do chvíle, kdy šťastný sázející trefí všechna čísla a získá tak hlavní výhru. </a:t>
            </a:r>
            <a:br>
              <a:rPr lang="cs-CZ" sz="1900" dirty="0"/>
            </a:br>
            <a:r>
              <a:rPr lang="cs-CZ" sz="1900" dirty="0"/>
              <a:t>V dalším losování se pak začíná opět na 5 milionech ročně </a:t>
            </a:r>
            <a:br>
              <a:rPr lang="cs-CZ" sz="1900" dirty="0"/>
            </a:br>
            <a:r>
              <a:rPr lang="cs-CZ" sz="1900" dirty="0"/>
              <a:t>s výplatou po dobu 7 let. </a:t>
            </a:r>
          </a:p>
          <a:p>
            <a:pPr marL="0" indent="0" algn="just">
              <a:buNone/>
            </a:pPr>
            <a:r>
              <a:rPr lang="cs-CZ" sz="1900" dirty="0"/>
              <a:t>Pro účast si vyberete 7 čísel ze 45 nebo zvolíte náhodný tip.</a:t>
            </a:r>
          </a:p>
          <a:p>
            <a:pPr marL="0" indent="0" algn="just">
              <a:buNone/>
            </a:pPr>
            <a:r>
              <a:rPr lang="cs-CZ" sz="1900" dirty="0"/>
              <a:t>Cena sloupku je </a:t>
            </a:r>
            <a:r>
              <a:rPr lang="cs-CZ" sz="1900" b="1" dirty="0"/>
              <a:t>40 Kč</a:t>
            </a:r>
            <a:r>
              <a:rPr lang="cs-CZ" sz="1900" dirty="0"/>
              <a:t>.</a:t>
            </a:r>
          </a:p>
          <a:p>
            <a:pPr marL="0" indent="0" algn="just">
              <a:buNone/>
            </a:pPr>
            <a:r>
              <a:rPr lang="cs-CZ" sz="1900" dirty="0"/>
              <a:t>Losování probíhají dvakrát týdně. Hlavní výhra padne teoreticky jednou za 10 týdnů.</a:t>
            </a:r>
          </a:p>
          <a:p>
            <a:pPr marL="0" indent="0" algn="just">
              <a:buNone/>
            </a:pPr>
            <a:r>
              <a:rPr lang="cs-CZ" sz="1900" dirty="0"/>
              <a:t>V České republice by bylo možné tuto loterii koupit na všech prodejních místech, kde lze vsadit loterii nebo koupit los, dále online na webových stránkách nebo v herní aplikaci loterijní společnosti.</a:t>
            </a:r>
          </a:p>
          <a:p>
            <a:pPr algn="just"/>
            <a:endParaRPr lang="cs-CZ" sz="1900" dirty="0"/>
          </a:p>
        </p:txBody>
      </p:sp>
    </p:spTree>
    <p:extLst>
      <p:ext uri="{BB962C8B-B14F-4D97-AF65-F5344CB8AC3E}">
        <p14:creationId xmlns:p14="http://schemas.microsoft.com/office/powerpoint/2010/main" val="2300396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8DAFC6AC-1B50-B707-8A42-6831AC7C6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56" y="6318746"/>
            <a:ext cx="6032088" cy="411618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9D28F19-9A02-7564-5843-F360AE918913}"/>
              </a:ext>
            </a:extLst>
          </p:cNvPr>
          <p:cNvSpPr/>
          <p:nvPr/>
        </p:nvSpPr>
        <p:spPr>
          <a:xfrm>
            <a:off x="0" y="-11915"/>
            <a:ext cx="6858000" cy="816588"/>
          </a:xfrm>
          <a:prstGeom prst="rect">
            <a:avLst/>
          </a:prstGeom>
          <a:solidFill>
            <a:srgbClr val="F2A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08C060C-D3A8-7D72-6BB5-F7B8BF99C5CE}"/>
              </a:ext>
            </a:extLst>
          </p:cNvPr>
          <p:cNvSpPr txBox="1">
            <a:spLocks/>
          </p:cNvSpPr>
          <p:nvPr/>
        </p:nvSpPr>
        <p:spPr>
          <a:xfrm>
            <a:off x="302952" y="-89090"/>
            <a:ext cx="6384925" cy="9223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cs-CZ" sz="2400" dirty="0" err="1"/>
              <a:t>Daily</a:t>
            </a:r>
            <a:r>
              <a:rPr lang="cs-CZ" sz="2400" dirty="0"/>
              <a:t> </a:t>
            </a:r>
            <a:r>
              <a:rPr lang="cs-CZ" sz="2400" dirty="0" err="1"/>
              <a:t>Millionaire</a:t>
            </a:r>
            <a:endParaRPr lang="cs-CZ" sz="2400" b="1" dirty="0"/>
          </a:p>
          <a:p>
            <a:r>
              <a:rPr lang="cs-CZ" sz="2400" b="1" dirty="0"/>
              <a:t>Představte si, že se spouští nová loterijní hra: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6B3F803-88CF-E08D-38ED-D79EBE8B47E2}"/>
              </a:ext>
            </a:extLst>
          </p:cNvPr>
          <p:cNvSpPr txBox="1">
            <a:spLocks/>
          </p:cNvSpPr>
          <p:nvPr/>
        </p:nvSpPr>
        <p:spPr>
          <a:xfrm>
            <a:off x="217508" y="985507"/>
            <a:ext cx="6400800" cy="5362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cs-CZ" sz="2200" dirty="0"/>
              <a:t>Jedná se o mezinárodní loterii a díky tomu nabízí hráčům šanci </a:t>
            </a:r>
            <a:r>
              <a:rPr lang="cs-CZ" sz="2200" b="1" dirty="0"/>
              <a:t>denně vyhrát hlavní výhru ve výši </a:t>
            </a:r>
            <a:br>
              <a:rPr lang="cs-CZ" sz="2200" b="1" dirty="0"/>
            </a:br>
            <a:r>
              <a:rPr lang="cs-CZ" sz="2200" b="1" dirty="0"/>
              <a:t>25 milionů Kč </a:t>
            </a:r>
            <a:r>
              <a:rPr lang="cs-CZ" sz="2200" dirty="0"/>
              <a:t>a stát se euromili</a:t>
            </a:r>
            <a:r>
              <a:rPr lang="en-US" sz="2200" dirty="0"/>
              <a:t>o</a:t>
            </a:r>
            <a:r>
              <a:rPr lang="cs-CZ" sz="2200" dirty="0"/>
              <a:t>nářem.</a:t>
            </a:r>
          </a:p>
          <a:p>
            <a:pPr marL="0" indent="0" algn="just">
              <a:buNone/>
            </a:pPr>
            <a:r>
              <a:rPr lang="cs-CZ" sz="2200" dirty="0"/>
              <a:t>Pro účast si vyberete 6 čísel ze 40 nebo zvolíte náhodný tip.</a:t>
            </a:r>
          </a:p>
          <a:p>
            <a:pPr marL="0" indent="0" algn="just">
              <a:buNone/>
            </a:pPr>
            <a:r>
              <a:rPr lang="cs-CZ" sz="2200" dirty="0"/>
              <a:t>Cena 1 sloupce je </a:t>
            </a:r>
            <a:r>
              <a:rPr lang="cs-CZ" sz="2200" b="1" dirty="0"/>
              <a:t>25 Kč</a:t>
            </a:r>
            <a:r>
              <a:rPr lang="cs-CZ" sz="2200" dirty="0"/>
              <a:t>.</a:t>
            </a:r>
          </a:p>
          <a:p>
            <a:pPr marL="0" indent="0" algn="just">
              <a:buNone/>
            </a:pPr>
            <a:r>
              <a:rPr lang="cs-CZ" sz="2200" dirty="0"/>
              <a:t>Vedle hlavní výhry – milionu eur - nabízí tato hra také tisíce menších výher. Celkové šance na jakoukoli výhru jsou vyšší než u většiny loterií – vyhrává v průměru každý pátý sloupek.</a:t>
            </a:r>
          </a:p>
          <a:p>
            <a:pPr marL="0" indent="0" algn="just">
              <a:buNone/>
            </a:pPr>
            <a:r>
              <a:rPr lang="cs-CZ" sz="2200" dirty="0"/>
              <a:t>Losování by probíhalo každý večer ve Finsku. V České republice by bylo možné tuto loterii koupit na všech prodejních místech, kde lze vsadit loterii nebo koupit los, dále online na webových stránkách nebo v herní aplikaci loterijní společnosti.</a:t>
            </a:r>
          </a:p>
        </p:txBody>
      </p:sp>
    </p:spTree>
    <p:extLst>
      <p:ext uri="{BB962C8B-B14F-4D97-AF65-F5344CB8AC3E}">
        <p14:creationId xmlns:p14="http://schemas.microsoft.com/office/powerpoint/2010/main" val="2574641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00B790-41C5-D353-865B-98E94A7CF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74" y="6959296"/>
            <a:ext cx="6096452" cy="357013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7F9172-3BAF-1BEE-CED9-84D18322E035}"/>
              </a:ext>
            </a:extLst>
          </p:cNvPr>
          <p:cNvSpPr/>
          <p:nvPr/>
        </p:nvSpPr>
        <p:spPr>
          <a:xfrm>
            <a:off x="0" y="-11915"/>
            <a:ext cx="6858000" cy="734292"/>
          </a:xfrm>
          <a:prstGeom prst="rect">
            <a:avLst/>
          </a:prstGeom>
          <a:solidFill>
            <a:srgbClr val="9BF1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6D56636-B781-6C72-9345-D6D0A3D280FB}"/>
              </a:ext>
            </a:extLst>
          </p:cNvPr>
          <p:cNvSpPr txBox="1">
            <a:spLocks/>
          </p:cNvSpPr>
          <p:nvPr/>
        </p:nvSpPr>
        <p:spPr>
          <a:xfrm>
            <a:off x="302952" y="-107378"/>
            <a:ext cx="6384925" cy="9223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cs-CZ" sz="2400" dirty="0"/>
              <a:t>New </a:t>
            </a:r>
            <a:r>
              <a:rPr lang="cs-CZ" sz="2400" dirty="0" err="1"/>
              <a:t>Years</a:t>
            </a:r>
            <a:r>
              <a:rPr lang="cs-CZ" sz="2400" dirty="0"/>
              <a:t> </a:t>
            </a:r>
            <a:r>
              <a:rPr lang="cs-CZ" sz="2400" dirty="0" err="1"/>
              <a:t>Eve</a:t>
            </a:r>
            <a:r>
              <a:rPr lang="cs-CZ" sz="2400" dirty="0"/>
              <a:t> 13 </a:t>
            </a:r>
            <a:r>
              <a:rPr lang="cs-CZ" sz="2400" dirty="0" err="1"/>
              <a:t>millionaires</a:t>
            </a:r>
            <a:endParaRPr lang="cs-CZ" sz="2400" b="1" dirty="0"/>
          </a:p>
          <a:p>
            <a:r>
              <a:rPr lang="cs-CZ" sz="2400" b="1" dirty="0"/>
              <a:t>Představte si, že se spouští nová loterijní hra: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796CE68-27B9-DA80-F742-2B11C151AC19}"/>
              </a:ext>
            </a:extLst>
          </p:cNvPr>
          <p:cNvSpPr txBox="1">
            <a:spLocks/>
          </p:cNvSpPr>
          <p:nvPr/>
        </p:nvSpPr>
        <p:spPr>
          <a:xfrm>
            <a:off x="297718" y="826015"/>
            <a:ext cx="6179510" cy="53625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cs-CZ" sz="2100" dirty="0"/>
              <a:t>Jedná se o jednorázovou mezinárodní loterii, která se hraje pouze na Silvestra. Během dne 31.12. proběhne 13 losování, každou hodinu od 12h (poledne) až </a:t>
            </a:r>
            <a:br>
              <a:rPr lang="cs-CZ" sz="2100" dirty="0"/>
            </a:br>
            <a:r>
              <a:rPr lang="cs-CZ" sz="2100" dirty="0"/>
              <a:t>do silvestrovské půlnoci.</a:t>
            </a:r>
          </a:p>
          <a:p>
            <a:pPr marL="0" indent="0" algn="just">
              <a:buNone/>
            </a:pPr>
            <a:r>
              <a:rPr lang="cs-CZ" sz="2100" dirty="0"/>
              <a:t>Díky sdílenému fondu mezi zúčastněnými zeměmi se hraje </a:t>
            </a:r>
            <a:r>
              <a:rPr lang="cs-CZ" sz="2100" b="1" dirty="0"/>
              <a:t>v každém losování o tisíce cen</a:t>
            </a:r>
            <a:r>
              <a:rPr lang="cs-CZ" sz="2100" dirty="0"/>
              <a:t>. Třinácté losování, které proběhne o půlnoci, bude to hlavní a určí </a:t>
            </a:r>
            <a:br>
              <a:rPr lang="cs-CZ" sz="2100" dirty="0"/>
            </a:br>
            <a:r>
              <a:rPr lang="cs-CZ" sz="2100" b="1" dirty="0"/>
              <a:t>13 výherců nejvyšších výher ve výši 25 milionů Kč </a:t>
            </a:r>
            <a:br>
              <a:rPr lang="cs-CZ" sz="2100" b="1" dirty="0"/>
            </a:br>
            <a:r>
              <a:rPr lang="cs-CZ" sz="2100" b="1" dirty="0"/>
              <a:t>pro každého</a:t>
            </a:r>
            <a:r>
              <a:rPr lang="cs-CZ" sz="2100" dirty="0"/>
              <a:t>.</a:t>
            </a:r>
          </a:p>
          <a:p>
            <a:pPr marL="0" indent="0" algn="just">
              <a:buNone/>
            </a:pPr>
            <a:r>
              <a:rPr lang="cs-CZ" sz="2100" dirty="0"/>
              <a:t>Jeden tiket stojí </a:t>
            </a:r>
            <a:r>
              <a:rPr lang="cs-CZ" sz="2100" b="1" dirty="0"/>
              <a:t>250 Kč </a:t>
            </a:r>
            <a:r>
              <a:rPr lang="cs-CZ" sz="2100" dirty="0"/>
              <a:t>a zaručuje účast ve všech </a:t>
            </a:r>
            <a:br>
              <a:rPr lang="cs-CZ" sz="2100" dirty="0"/>
            </a:br>
            <a:r>
              <a:rPr lang="cs-CZ" sz="2100" dirty="0"/>
              <a:t>13 losováních. Každý tiket lze rozdělit na 5 částí</a:t>
            </a:r>
            <a:br>
              <a:rPr lang="en-US" sz="2100" dirty="0"/>
            </a:br>
            <a:r>
              <a:rPr lang="cs-CZ" sz="2100" dirty="0"/>
              <a:t>a podělit se s rodinou a přáteli.</a:t>
            </a:r>
          </a:p>
          <a:p>
            <a:pPr marL="0" indent="0" algn="just">
              <a:buNone/>
            </a:pPr>
            <a:r>
              <a:rPr lang="cs-CZ" sz="2100" dirty="0"/>
              <a:t>Pro účast nemusíte vybírat žádná čísla; lístek obsahuje unikátní kód (kombinaci čísel a písmen), který slouží jako vstupenka do každého losování. </a:t>
            </a:r>
          </a:p>
          <a:p>
            <a:pPr marL="0" indent="0" algn="just">
              <a:buNone/>
            </a:pPr>
            <a:r>
              <a:rPr lang="cs-CZ" sz="2100" dirty="0"/>
              <a:t>Prodej by začínal 1. prosince na všech prodejních místech, kde lze vsadit loterii nebo koupit los, dále online na webových stránkách nebo v herní aplikaci loterijní společnosti.</a:t>
            </a:r>
          </a:p>
        </p:txBody>
      </p:sp>
    </p:spTree>
    <p:extLst>
      <p:ext uri="{BB962C8B-B14F-4D97-AF65-F5344CB8AC3E}">
        <p14:creationId xmlns:p14="http://schemas.microsoft.com/office/powerpoint/2010/main" val="3522380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FA6103-6B7C-9C9F-F372-7C9FA42C3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65" y="6849229"/>
            <a:ext cx="6172108" cy="38901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474FC7-9600-BFE1-0082-1559FAB81486}"/>
              </a:ext>
            </a:extLst>
          </p:cNvPr>
          <p:cNvSpPr/>
          <p:nvPr/>
        </p:nvSpPr>
        <p:spPr>
          <a:xfrm>
            <a:off x="0" y="-11915"/>
            <a:ext cx="6858000" cy="667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2B7A311-281C-FD69-FDB3-75067AFB0BE5}"/>
              </a:ext>
            </a:extLst>
          </p:cNvPr>
          <p:cNvSpPr txBox="1">
            <a:spLocks/>
          </p:cNvSpPr>
          <p:nvPr/>
        </p:nvSpPr>
        <p:spPr>
          <a:xfrm>
            <a:off x="302952" y="-139277"/>
            <a:ext cx="6384925" cy="9223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cs-CZ" sz="2400" dirty="0" err="1"/>
              <a:t>Millionaires</a:t>
            </a:r>
            <a:r>
              <a:rPr lang="cs-CZ" sz="2400" dirty="0"/>
              <a:t> </a:t>
            </a:r>
            <a:r>
              <a:rPr lang="cs-CZ" sz="2400" dirty="0" err="1"/>
              <a:t>Flood</a:t>
            </a:r>
            <a:endParaRPr lang="cs-CZ" sz="2400" b="1" dirty="0"/>
          </a:p>
          <a:p>
            <a:r>
              <a:rPr lang="cs-CZ" sz="2400" b="1" dirty="0"/>
              <a:t>Představte si, že se spouští nová loterijní hra: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F1E6DEB-9C07-A296-AB56-63246E666292}"/>
              </a:ext>
            </a:extLst>
          </p:cNvPr>
          <p:cNvSpPr txBox="1">
            <a:spLocks/>
          </p:cNvSpPr>
          <p:nvPr/>
        </p:nvSpPr>
        <p:spPr>
          <a:xfrm>
            <a:off x="217508" y="655886"/>
            <a:ext cx="6400800" cy="53625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cs-CZ" sz="2000" dirty="0"/>
              <a:t>Jedná se o mezinárodní loterii, která se losuje každý den. Díky sdílenému fondu mezi zúčastněnými zeměmi může nabídnout speciální prémii nazvanou „</a:t>
            </a:r>
            <a:r>
              <a:rPr lang="cs-CZ" sz="2000" b="1" dirty="0"/>
              <a:t>Záplava </a:t>
            </a:r>
            <a:r>
              <a:rPr lang="en-US" sz="2000" b="1" dirty="0"/>
              <a:t>e</a:t>
            </a:r>
            <a:r>
              <a:rPr lang="cs-CZ" sz="2000" b="1" dirty="0"/>
              <a:t>uromilionářů</a:t>
            </a:r>
            <a:r>
              <a:rPr lang="cs-CZ" sz="2000" dirty="0"/>
              <a:t>“.</a:t>
            </a:r>
          </a:p>
          <a:p>
            <a:pPr marL="0" indent="0" algn="just">
              <a:buNone/>
            </a:pPr>
            <a:r>
              <a:rPr lang="cs-CZ" sz="2000" dirty="0"/>
              <a:t>Část vkladů z každého losování se shromažďuje ve „Fondu </a:t>
            </a:r>
            <a:r>
              <a:rPr lang="en-US" sz="2000" dirty="0"/>
              <a:t>e</a:t>
            </a:r>
            <a:r>
              <a:rPr lang="cs-CZ" sz="2000" dirty="0"/>
              <a:t>uromilionářů“.  Peníze z tohoto Fondu se rozdělí mezi šťastné sázející v den, kdy budou vylosována jen všechna sudá čísla. </a:t>
            </a:r>
          </a:p>
          <a:p>
            <a:pPr marL="0" indent="0" algn="just">
              <a:buNone/>
            </a:pPr>
            <a:r>
              <a:rPr lang="cs-CZ" sz="2000" dirty="0"/>
              <a:t>Pro účast ve hře si vyberete 5 čísel ze 17 a můžete sledovat večerní losování, abyste zjistili, zda nastal den </a:t>
            </a:r>
            <a:r>
              <a:rPr lang="cs-CZ" sz="2000" b="1" dirty="0"/>
              <a:t>"</a:t>
            </a:r>
            <a:r>
              <a:rPr lang="cs-CZ" sz="2000" dirty="0"/>
              <a:t>Záplavy </a:t>
            </a:r>
            <a:r>
              <a:rPr lang="en-US" sz="2000" dirty="0"/>
              <a:t>e</a:t>
            </a:r>
            <a:r>
              <a:rPr lang="cs-CZ" sz="2000" dirty="0"/>
              <a:t>uromilionářů". Tato událost nastane při každém losování, kdy </a:t>
            </a:r>
            <a:r>
              <a:rPr lang="cs-CZ" sz="2000" b="1" dirty="0"/>
              <a:t>všech 5 tažených čísel bude sudých. </a:t>
            </a:r>
            <a:r>
              <a:rPr lang="cs-CZ" sz="2000" dirty="0"/>
              <a:t>Například, pokud je v ten den ve „Fondu </a:t>
            </a:r>
            <a:r>
              <a:rPr lang="en-US" sz="2000" dirty="0"/>
              <a:t>e</a:t>
            </a:r>
            <a:r>
              <a:rPr lang="cs-CZ" sz="2000" dirty="0"/>
              <a:t>uromilionářů“ nashromážděno </a:t>
            </a:r>
            <a:br>
              <a:rPr lang="cs-CZ" sz="2000" dirty="0"/>
            </a:br>
            <a:r>
              <a:rPr lang="cs-CZ" sz="2000" dirty="0"/>
              <a:t>32,5 milionů eur, bude vybráno 32 hráčů na základě jejich kódu na tiketu. Každý z těchto 32 sázejících vyhraje </a:t>
            </a:r>
            <a:br>
              <a:rPr lang="cs-CZ" sz="2000" dirty="0"/>
            </a:br>
            <a:r>
              <a:rPr lang="cs-CZ" sz="2000" dirty="0"/>
              <a:t>1 milion eur.</a:t>
            </a:r>
          </a:p>
          <a:p>
            <a:pPr marL="0" indent="0" algn="just">
              <a:buNone/>
            </a:pPr>
            <a:r>
              <a:rPr lang="cs-CZ" sz="2000" dirty="0"/>
              <a:t>Cena za 1 sloupek je </a:t>
            </a:r>
            <a:r>
              <a:rPr lang="cs-CZ" sz="2000" b="1" dirty="0"/>
              <a:t>40 Kč. </a:t>
            </a:r>
          </a:p>
          <a:p>
            <a:pPr marL="0" indent="0" algn="just">
              <a:buNone/>
            </a:pPr>
            <a:r>
              <a:rPr lang="cs-CZ" sz="2000" dirty="0"/>
              <a:t>V České republice by bylo možné tuto loterii koupit na všech prodejních místech, kde lze vsadit loterii nebo koupit los, dále online na webových stránkách nebo v herní aplikaci loterijní společnosti.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cs-CZ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819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FD3157-9B04-92F1-BFBB-5926CCF07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65" y="7274984"/>
            <a:ext cx="6144510" cy="30341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5D41B14-58F5-D402-B9C4-2D90FBD0DD7B}"/>
              </a:ext>
            </a:extLst>
          </p:cNvPr>
          <p:cNvSpPr/>
          <p:nvPr/>
        </p:nvSpPr>
        <p:spPr>
          <a:xfrm>
            <a:off x="0" y="-11916"/>
            <a:ext cx="6858000" cy="92247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40E9EF81-5DC9-3A08-A348-823FDD5F16CD}"/>
              </a:ext>
            </a:extLst>
          </p:cNvPr>
          <p:cNvSpPr txBox="1">
            <a:spLocks/>
          </p:cNvSpPr>
          <p:nvPr/>
        </p:nvSpPr>
        <p:spPr>
          <a:xfrm>
            <a:off x="302952" y="20638"/>
            <a:ext cx="6384925" cy="9223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cs-CZ" sz="2400" dirty="0"/>
              <a:t>Real </a:t>
            </a:r>
            <a:r>
              <a:rPr lang="cs-CZ" sz="2400" dirty="0" err="1"/>
              <a:t>estate</a:t>
            </a:r>
            <a:r>
              <a:rPr lang="cs-CZ" sz="2400" dirty="0"/>
              <a:t> </a:t>
            </a:r>
            <a:r>
              <a:rPr lang="cs-CZ" sz="2400" dirty="0" err="1"/>
              <a:t>prizes</a:t>
            </a:r>
            <a:r>
              <a:rPr lang="cs-CZ" sz="2400" dirty="0"/>
              <a:t> </a:t>
            </a:r>
            <a:r>
              <a:rPr lang="cs-CZ" sz="2400" dirty="0" err="1"/>
              <a:t>added</a:t>
            </a:r>
            <a:r>
              <a:rPr lang="cs-CZ" sz="2400" dirty="0"/>
              <a:t> to</a:t>
            </a:r>
            <a:r>
              <a:rPr lang="en-US" sz="2400" dirty="0"/>
              <a:t> existing lottery</a:t>
            </a:r>
            <a:endParaRPr lang="cs-CZ" sz="2400" b="1" dirty="0"/>
          </a:p>
          <a:p>
            <a:r>
              <a:rPr lang="cs-CZ" sz="2400" b="1" dirty="0"/>
              <a:t>Představte si, že se spouští nová doplňková hra pro hráče Eurojackpotu</a:t>
            </a:r>
            <a:r>
              <a:rPr lang="en-US" sz="2400" b="1" dirty="0"/>
              <a:t>:</a:t>
            </a:r>
            <a:endParaRPr lang="cs-CZ" sz="2400" b="1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6778904-1DAE-5506-89BD-45A84629C047}"/>
              </a:ext>
            </a:extLst>
          </p:cNvPr>
          <p:cNvSpPr txBox="1">
            <a:spLocks/>
          </p:cNvSpPr>
          <p:nvPr/>
        </p:nvSpPr>
        <p:spPr>
          <a:xfrm>
            <a:off x="297718" y="985507"/>
            <a:ext cx="6319907" cy="60957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cs-CZ" sz="2200" dirty="0"/>
              <a:t>Tato mezinárodní hra je doplňkem k Eurojackpotu. </a:t>
            </a:r>
            <a:br>
              <a:rPr lang="cs-CZ" sz="2200" dirty="0"/>
            </a:br>
            <a:r>
              <a:rPr lang="cs-CZ" sz="2200" dirty="0"/>
              <a:t>Za příplatek </a:t>
            </a:r>
            <a:r>
              <a:rPr lang="cs-CZ" sz="2200" b="1" dirty="0"/>
              <a:t>50 Kč </a:t>
            </a:r>
            <a:r>
              <a:rPr lang="cs-CZ" sz="2200" dirty="0"/>
              <a:t>za tiket se hráči zároveň zúčastní dodatečného slosování, kde mohou vyhrát </a:t>
            </a:r>
            <a:r>
              <a:rPr lang="cs-CZ" sz="2200" b="1" dirty="0"/>
              <a:t>exkluzivní nepeněžní prémie jako jsou vily ve Středomoří, luxusní apartmány v Alpách nebo v atraktivních evropských metropolích</a:t>
            </a:r>
            <a:r>
              <a:rPr lang="cs-CZ" sz="2200" dirty="0"/>
              <a:t>, </a:t>
            </a:r>
            <a:r>
              <a:rPr lang="cs-CZ" sz="2200" b="1" dirty="0"/>
              <a:t>nemovitosti ve známých lázeňských nebo golfových destinacích</a:t>
            </a:r>
            <a:r>
              <a:rPr lang="cs-CZ" sz="2200" dirty="0"/>
              <a:t>.</a:t>
            </a:r>
          </a:p>
          <a:p>
            <a:pPr marL="0" indent="0" algn="just">
              <a:buNone/>
            </a:pPr>
            <a:r>
              <a:rPr lang="cs-CZ" sz="2200" dirty="0"/>
              <a:t>Pro účast v tomto doplňkovém slosování nemusíte vybírat žádná čísla. Sériové číslo tiketu bude automaticky zařazeno do slosování o luxusní nemovitosti, pokud se zúčastníte doplňkové hry </a:t>
            </a:r>
            <a:br>
              <a:rPr lang="cs-CZ" sz="2200" dirty="0"/>
            </a:br>
            <a:r>
              <a:rPr lang="cs-CZ" sz="2200" dirty="0"/>
              <a:t>v ceně </a:t>
            </a:r>
            <a:r>
              <a:rPr lang="cs-CZ" sz="2200" b="1" dirty="0"/>
              <a:t>50 Kč</a:t>
            </a:r>
            <a:r>
              <a:rPr lang="cs-CZ" sz="2200" dirty="0"/>
              <a:t>.</a:t>
            </a:r>
          </a:p>
          <a:p>
            <a:pPr marL="0" indent="0" algn="just">
              <a:buNone/>
            </a:pPr>
            <a:r>
              <a:rPr lang="cs-CZ" sz="2200" dirty="0"/>
              <a:t>Slosování o věcné prémie bude probíhat současně </a:t>
            </a:r>
            <a:br>
              <a:rPr lang="cs-CZ" sz="2200" dirty="0"/>
            </a:br>
            <a:r>
              <a:rPr lang="cs-CZ" sz="2200" dirty="0"/>
              <a:t>s losováním hry Eurojackpot.</a:t>
            </a:r>
          </a:p>
          <a:p>
            <a:pPr marL="0" indent="0" algn="just">
              <a:buNone/>
            </a:pPr>
            <a:r>
              <a:rPr lang="cs-CZ" sz="2200" dirty="0"/>
              <a:t>V České republice by bylo možné tuto loterii koupit </a:t>
            </a:r>
            <a:br>
              <a:rPr lang="cs-CZ" sz="2200" dirty="0"/>
            </a:br>
            <a:r>
              <a:rPr lang="cs-CZ" sz="2200" dirty="0"/>
              <a:t>na všech prodejních místech, kde lze vsadit loterii nebo koupit los, dále online na webových stránkách nebo v herní aplikaci loterijní společnosti.</a:t>
            </a:r>
          </a:p>
        </p:txBody>
      </p:sp>
    </p:spTree>
    <p:extLst>
      <p:ext uri="{BB962C8B-B14F-4D97-AF65-F5344CB8AC3E}">
        <p14:creationId xmlns:p14="http://schemas.microsoft.com/office/powerpoint/2010/main" val="2270449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F3A4D3-9DB9-1FF6-C0C9-CB2414347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70" y="6862656"/>
            <a:ext cx="6292956" cy="377108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43DA7B-D04A-8369-88C5-F0D1C9A9D352}"/>
              </a:ext>
            </a:extLst>
          </p:cNvPr>
          <p:cNvSpPr/>
          <p:nvPr/>
        </p:nvSpPr>
        <p:spPr>
          <a:xfrm>
            <a:off x="0" y="-11916"/>
            <a:ext cx="6858000" cy="922475"/>
          </a:xfrm>
          <a:prstGeom prst="rect">
            <a:avLst/>
          </a:prstGeom>
          <a:solidFill>
            <a:srgbClr val="FC30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508B767-0564-750A-D90F-F07E9F080224}"/>
              </a:ext>
            </a:extLst>
          </p:cNvPr>
          <p:cNvSpPr txBox="1">
            <a:spLocks/>
          </p:cNvSpPr>
          <p:nvPr/>
        </p:nvSpPr>
        <p:spPr>
          <a:xfrm>
            <a:off x="302952" y="20638"/>
            <a:ext cx="6384925" cy="9223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cs-CZ" sz="2400" dirty="0" err="1"/>
              <a:t>Experiential</a:t>
            </a:r>
            <a:r>
              <a:rPr lang="cs-CZ" sz="2400" dirty="0"/>
              <a:t> </a:t>
            </a:r>
            <a:r>
              <a:rPr lang="cs-CZ" sz="2400" dirty="0" err="1"/>
              <a:t>prizes</a:t>
            </a:r>
            <a:r>
              <a:rPr lang="cs-CZ" sz="2400" dirty="0"/>
              <a:t> </a:t>
            </a:r>
            <a:r>
              <a:rPr lang="cs-CZ" sz="2400" dirty="0" err="1"/>
              <a:t>added</a:t>
            </a:r>
            <a:r>
              <a:rPr lang="cs-CZ" sz="2400" dirty="0"/>
              <a:t> to </a:t>
            </a:r>
            <a:r>
              <a:rPr lang="cs-CZ" sz="2400" dirty="0" err="1"/>
              <a:t>annuity</a:t>
            </a:r>
            <a:r>
              <a:rPr lang="cs-CZ" sz="2400" dirty="0"/>
              <a:t> </a:t>
            </a:r>
            <a:r>
              <a:rPr lang="cs-CZ" sz="2400" dirty="0" err="1"/>
              <a:t>lottery</a:t>
            </a:r>
            <a:r>
              <a:rPr lang="cs-CZ" sz="2400" dirty="0"/>
              <a:t> (SFL)</a:t>
            </a:r>
            <a:endParaRPr lang="cs-CZ" sz="2400" b="1" dirty="0"/>
          </a:p>
          <a:p>
            <a:r>
              <a:rPr lang="cs-CZ" sz="2400" b="1" dirty="0"/>
              <a:t>Představte si, že se spouští nová doplňková hra pro sázející Extra Renty</a:t>
            </a:r>
            <a:r>
              <a:rPr lang="en-US" sz="2400" b="1" dirty="0"/>
              <a:t>:</a:t>
            </a:r>
            <a:endParaRPr lang="cs-CZ" sz="2400" b="1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F99556A-3E1F-856A-1365-35CB8C67CDE8}"/>
              </a:ext>
            </a:extLst>
          </p:cNvPr>
          <p:cNvSpPr txBox="1">
            <a:spLocks/>
          </p:cNvSpPr>
          <p:nvPr/>
        </p:nvSpPr>
        <p:spPr>
          <a:xfrm>
            <a:off x="217507" y="884774"/>
            <a:ext cx="6464589" cy="53625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cs-CZ" sz="1750" dirty="0"/>
              <a:t>Jedná se o mezinárodní doplňkovou hru, kterou by v České republice mohli hrát sázející loterie Extra Renta . Hráči budou mít šanci vyhrát </a:t>
            </a:r>
            <a:r>
              <a:rPr lang="cs-CZ" sz="1750" b="1" dirty="0"/>
              <a:t>exkluzivní zážitkové ceny, které si za peníze nelze koupit</a:t>
            </a:r>
            <a:r>
              <a:rPr lang="cs-CZ" sz="1750" dirty="0"/>
              <a:t>. Příklady těchto cen mohou být např: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cs-CZ" sz="1750" dirty="0"/>
              <a:t>Lístky na olympijské hry včetně setkání s atlety, výlety na závody Formule 1 s VIP cestovním balíčkem, vstupenky do Gold Clas</a:t>
            </a:r>
            <a:r>
              <a:rPr lang="en-US" sz="1750" dirty="0"/>
              <a:t>s</a:t>
            </a:r>
            <a:r>
              <a:rPr lang="cs-CZ" sz="1750" dirty="0"/>
              <a:t> </a:t>
            </a:r>
            <a:br>
              <a:rPr lang="cs-CZ" sz="1750" dirty="0"/>
            </a:br>
            <a:r>
              <a:rPr lang="cs-CZ" sz="1750" dirty="0"/>
              <a:t>na koncerty a festivaly.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cs-CZ" sz="1750" dirty="0"/>
              <a:t>Malé role v populárních seriálech nebo filmech,  šance být porotcem v kuchařských nebo talentových soutěžích, obsazení </a:t>
            </a:r>
            <a:br>
              <a:rPr lang="cs-CZ" sz="1750" dirty="0"/>
            </a:br>
            <a:r>
              <a:rPr lang="cs-CZ" sz="1750" dirty="0"/>
              <a:t>v reality show, možnost strávit den s profesionálním fotbalovým týmem, zážitek v jízdním simulátoru F1.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cs-CZ" sz="1750" dirty="0"/>
              <a:t>Kurz potápění se slavným instruktorem, exkluzivní filmové premiéry s večeří, luxusní plavby s celebritními průvodci, prémiové balíčky pro e-sporty a VIP kulturní a umělecké zájezdy po celém světě.</a:t>
            </a:r>
          </a:p>
          <a:p>
            <a:pPr marL="0" indent="0" algn="just">
              <a:buNone/>
            </a:pPr>
            <a:r>
              <a:rPr lang="cs-CZ" sz="1750" dirty="0"/>
              <a:t>Výherci si budou moci </a:t>
            </a:r>
            <a:r>
              <a:rPr lang="cs-CZ" sz="1750" b="1" dirty="0"/>
              <a:t>vybrat z více alternativ</a:t>
            </a:r>
            <a:r>
              <a:rPr lang="cs-CZ" sz="1750" dirty="0"/>
              <a:t>.</a:t>
            </a:r>
          </a:p>
          <a:p>
            <a:pPr marL="0" indent="0" algn="just">
              <a:buNone/>
            </a:pPr>
            <a:r>
              <a:rPr lang="cs-CZ" sz="1750" dirty="0"/>
              <a:t>Cena za účast v doplňkové hře o zážitky je </a:t>
            </a:r>
            <a:r>
              <a:rPr lang="cs-CZ" sz="1750" b="1" dirty="0"/>
              <a:t>15 Kč ke každému vsazenému sloupci Extra Renty. </a:t>
            </a:r>
            <a:r>
              <a:rPr lang="cs-CZ" sz="1750" dirty="0"/>
              <a:t>Pro účast v této doplňkové hře nemusí hráči vybírat žádná čísla. U každého sloupku Extra Renty bude vytištěn speciální kód. Tyto kódy budou automaticky zařazeny do slosování.</a:t>
            </a:r>
          </a:p>
          <a:p>
            <a:pPr marL="0" indent="0" algn="just">
              <a:buNone/>
            </a:pPr>
            <a:r>
              <a:rPr lang="cs-CZ" sz="1750" dirty="0"/>
              <a:t>Slosování proběhne dvakrát týdně, každé pondělí a čtvrtek.</a:t>
            </a:r>
          </a:p>
        </p:txBody>
      </p:sp>
    </p:spTree>
    <p:extLst>
      <p:ext uri="{BB962C8B-B14F-4D97-AF65-F5344CB8AC3E}">
        <p14:creationId xmlns:p14="http://schemas.microsoft.com/office/powerpoint/2010/main" val="2577955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E59129-5AB7-F68F-BCC2-49D33F949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142" y="5851598"/>
            <a:ext cx="6065716" cy="418429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A4E1D22-C620-C86D-8E94-B454EF9FB4B4}"/>
              </a:ext>
            </a:extLst>
          </p:cNvPr>
          <p:cNvSpPr/>
          <p:nvPr/>
        </p:nvSpPr>
        <p:spPr>
          <a:xfrm>
            <a:off x="0" y="-11916"/>
            <a:ext cx="6858000" cy="922475"/>
          </a:xfrm>
          <a:prstGeom prst="rect">
            <a:avLst/>
          </a:prstGeom>
          <a:solidFill>
            <a:srgbClr val="A2B0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3FC829F-190D-FCDB-8BCE-B3C54BCE7E24}"/>
              </a:ext>
            </a:extLst>
          </p:cNvPr>
          <p:cNvSpPr txBox="1">
            <a:spLocks/>
          </p:cNvSpPr>
          <p:nvPr/>
        </p:nvSpPr>
        <p:spPr>
          <a:xfrm>
            <a:off x="302952" y="20638"/>
            <a:ext cx="6384925" cy="9223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cs-CZ" sz="2400" dirty="0" err="1"/>
              <a:t>Euromillions</a:t>
            </a:r>
            <a:r>
              <a:rPr lang="cs-CZ" sz="2400" dirty="0"/>
              <a:t> (benchmark)</a:t>
            </a:r>
            <a:endParaRPr lang="cs-CZ" sz="2400" b="1" dirty="0"/>
          </a:p>
          <a:p>
            <a:r>
              <a:rPr lang="cs-CZ" sz="2400" b="1" dirty="0"/>
              <a:t>Představte si, že se spouští nová loterijní hra: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8FC0FAC-E223-9C0E-666F-EC6A1B18919F}"/>
              </a:ext>
            </a:extLst>
          </p:cNvPr>
          <p:cNvSpPr txBox="1">
            <a:spLocks/>
          </p:cNvSpPr>
          <p:nvPr/>
        </p:nvSpPr>
        <p:spPr>
          <a:xfrm>
            <a:off x="297718" y="942975"/>
            <a:ext cx="6236951" cy="5362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cs-CZ" sz="21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Jedná se o mezinárodní loterii, ve které je možné vyhrát obří jackpot až do výše téměř </a:t>
            </a:r>
            <a:r>
              <a:rPr lang="cs-CZ" sz="21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3 miliard korun</a:t>
            </a:r>
            <a:r>
              <a:rPr lang="cs-CZ" sz="21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Nejmenší možný jackpot je 250 milionů korun.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cs-CZ" sz="21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 účast stačí vybrat 5 čísel z 50 a 2 čísla z 12</a:t>
            </a:r>
            <a:r>
              <a:rPr lang="en-US" sz="21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cs-CZ" sz="21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 každém vsazeném sloupci, nebo zvolit náhodný tip.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cs-CZ" sz="21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Tiket stojí </a:t>
            </a:r>
            <a:r>
              <a:rPr lang="cs-CZ" sz="21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60 Kč </a:t>
            </a:r>
            <a:r>
              <a:rPr lang="cs-CZ" sz="21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za jeden sloupek. 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cs-CZ" sz="21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Losování probíhá dvakrát týdně: každé úterý a pátek.</a:t>
            </a:r>
          </a:p>
          <a:p>
            <a:pPr marL="0" indent="0" algn="just">
              <a:buNone/>
            </a:pPr>
            <a:r>
              <a:rPr lang="cs-CZ" sz="2100" dirty="0"/>
              <a:t>V České republice by bylo možné tuto loterii koupit </a:t>
            </a:r>
            <a:br>
              <a:rPr lang="cs-CZ" sz="2100" dirty="0"/>
            </a:br>
            <a:r>
              <a:rPr lang="cs-CZ" sz="2100" dirty="0"/>
              <a:t>na všech prodejních místech, kde lze vsadit loterii nebo koupit los, dále online na webových stránkách nebo v herní aplikaci loterijní společnosti.</a:t>
            </a:r>
          </a:p>
          <a:p>
            <a:pPr algn="just"/>
            <a:endParaRPr lang="cs-CZ" sz="2100" dirty="0"/>
          </a:p>
        </p:txBody>
      </p:sp>
    </p:spTree>
    <p:extLst>
      <p:ext uri="{BB962C8B-B14F-4D97-AF65-F5344CB8AC3E}">
        <p14:creationId xmlns:p14="http://schemas.microsoft.com/office/powerpoint/2010/main" val="3820080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67F794-F183-0A81-2A7A-F92B020EE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88" y="6429913"/>
            <a:ext cx="6123424" cy="42240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3A88EE2-C5DE-6FD2-1DD1-465A43778E3F}"/>
              </a:ext>
            </a:extLst>
          </p:cNvPr>
          <p:cNvSpPr/>
          <p:nvPr/>
        </p:nvSpPr>
        <p:spPr>
          <a:xfrm>
            <a:off x="0" y="-11916"/>
            <a:ext cx="6858000" cy="92247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30F4D9E-0DAE-5BF5-BBED-A6B72CE567C0}"/>
              </a:ext>
            </a:extLst>
          </p:cNvPr>
          <p:cNvSpPr txBox="1">
            <a:spLocks/>
          </p:cNvSpPr>
          <p:nvPr/>
        </p:nvSpPr>
        <p:spPr>
          <a:xfrm>
            <a:off x="302952" y="20638"/>
            <a:ext cx="6384925" cy="9223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cs-CZ" sz="2400" dirty="0" err="1"/>
              <a:t>EuroDreams</a:t>
            </a:r>
            <a:r>
              <a:rPr lang="en-US" sz="2400"/>
              <a:t> (benchmark)</a:t>
            </a:r>
            <a:endParaRPr lang="cs-CZ" sz="2400" b="1"/>
          </a:p>
          <a:p>
            <a:r>
              <a:rPr lang="cs-CZ" sz="2400" b="1" dirty="0"/>
              <a:t>Představte si, že se spouští nová loterijní hra: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0195CB3-D732-860B-C6E2-5E6D856DD6A5}"/>
              </a:ext>
            </a:extLst>
          </p:cNvPr>
          <p:cNvSpPr txBox="1">
            <a:spLocks/>
          </p:cNvSpPr>
          <p:nvPr/>
        </p:nvSpPr>
        <p:spPr>
          <a:xfrm>
            <a:off x="297718" y="996142"/>
            <a:ext cx="6199594" cy="53625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cs-CZ" sz="2100" dirty="0">
                <a:solidFill>
                  <a:srgbClr val="333333"/>
                </a:solidFill>
              </a:rPr>
              <a:t>Jedná se o mezinárodní loterii. Díky spojení vkladů </a:t>
            </a:r>
            <a:br>
              <a:rPr lang="cs-CZ" sz="2100" dirty="0">
                <a:solidFill>
                  <a:srgbClr val="333333"/>
                </a:solidFill>
              </a:rPr>
            </a:br>
            <a:r>
              <a:rPr lang="cs-CZ" sz="2100" dirty="0">
                <a:solidFill>
                  <a:srgbClr val="333333"/>
                </a:solidFill>
              </a:rPr>
              <a:t>z mnoha zemí nabízí vysokou hlavní výhru: </a:t>
            </a:r>
            <a:r>
              <a:rPr lang="cs-CZ" sz="2100" b="1" dirty="0">
                <a:solidFill>
                  <a:srgbClr val="333333"/>
                </a:solidFill>
              </a:rPr>
              <a:t>500.000 Kč měsíčně na dobu 30 let. </a:t>
            </a:r>
            <a:r>
              <a:rPr lang="cs-CZ" sz="2100" dirty="0">
                <a:solidFill>
                  <a:srgbClr val="333333"/>
                </a:solidFill>
              </a:rPr>
              <a:t>Tato výhra je fixní. Pokud jsou 2 výherci hlavní výhry v 1 losování, oba získávají 500.000 Kč měsíčně vyplácených po dobu 30 let. Nárok na výplatu hlavní výhry je možné dědit.</a:t>
            </a:r>
            <a:endParaRPr lang="cs-CZ" sz="2100" i="0" dirty="0">
              <a:solidFill>
                <a:srgbClr val="333333"/>
              </a:solidFill>
              <a:effectLst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cs-CZ" sz="2100" dirty="0">
                <a:solidFill>
                  <a:srgbClr val="333333"/>
                </a:solidFill>
              </a:rPr>
              <a:t>Také ve 2. pořadí je šance vyhrát atraktivní postupně vyplácenou výhru: 50.000 Kč měsíčně po dobu 5 let.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cs-CZ" sz="2100" dirty="0">
                <a:solidFill>
                  <a:srgbClr val="333333"/>
                </a:solidFill>
              </a:rPr>
              <a:t>Cena 1 sloupce je </a:t>
            </a:r>
            <a:r>
              <a:rPr lang="cs-CZ" sz="2100" b="1" dirty="0">
                <a:solidFill>
                  <a:srgbClr val="333333"/>
                </a:solidFill>
              </a:rPr>
              <a:t>70 Kč</a:t>
            </a:r>
            <a:r>
              <a:rPr lang="cs-CZ" sz="2100" dirty="0">
                <a:solidFill>
                  <a:srgbClr val="333333"/>
                </a:solidFill>
              </a:rPr>
              <a:t>.  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cs-CZ" sz="2100" b="0" i="0" dirty="0">
                <a:solidFill>
                  <a:srgbClr val="333333"/>
                </a:solidFill>
                <a:effectLst/>
              </a:rPr>
              <a:t>Losuje se 2-krát týdně, v pondělí a čtvrtek.</a:t>
            </a:r>
            <a:endParaRPr lang="cs-CZ" sz="2100" dirty="0">
              <a:solidFill>
                <a:srgbClr val="333333"/>
              </a:solidFill>
            </a:endParaRPr>
          </a:p>
          <a:p>
            <a:pPr marL="0" indent="0" algn="just">
              <a:buNone/>
            </a:pPr>
            <a:r>
              <a:rPr lang="cs-CZ" sz="2100" dirty="0"/>
              <a:t>V České republice by bylo možné tuto loterii koupit </a:t>
            </a:r>
            <a:br>
              <a:rPr lang="cs-CZ" sz="2100" dirty="0"/>
            </a:br>
            <a:r>
              <a:rPr lang="cs-CZ" sz="2100" dirty="0"/>
              <a:t>na všech prodejních místech, kde lze vsadit loterii nebo koupit los, dále online na webových stránkách nebo v herní aplikaci loterijní společnosti.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cs-CZ" sz="2100" b="0" i="0" dirty="0">
              <a:solidFill>
                <a:srgbClr val="333333"/>
              </a:solidFill>
              <a:effectLst/>
            </a:endParaRPr>
          </a:p>
          <a:p>
            <a:pPr algn="just"/>
            <a:endParaRPr lang="cs-CZ" sz="2100" dirty="0"/>
          </a:p>
        </p:txBody>
      </p:sp>
    </p:spTree>
    <p:extLst>
      <p:ext uri="{BB962C8B-B14F-4D97-AF65-F5344CB8AC3E}">
        <p14:creationId xmlns:p14="http://schemas.microsoft.com/office/powerpoint/2010/main" val="1775730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1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1631</TotalTime>
  <Words>2007</Words>
  <Application>Microsoft Office PowerPoint</Application>
  <PresentationFormat>Custom</PresentationFormat>
  <Paragraphs>102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Powerball Představte si, že se spouští nová loterijní hra: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Rajsnerová, Jana (KTPRG)</dc:creator>
  <cp:lastModifiedBy>Peter Javornický</cp:lastModifiedBy>
  <cp:revision>50</cp:revision>
  <dcterms:created xsi:type="dcterms:W3CDTF">2022-11-09T07:36:23Z</dcterms:created>
  <dcterms:modified xsi:type="dcterms:W3CDTF">2025-12-16T08:23:33Z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41da7a-79c1-417c-b408-16c0bfe99fca_Enabled">
    <vt:lpwstr>true</vt:lpwstr>
  </property>
  <property fmtid="{D5CDD505-2E9C-101B-9397-08002B2CF9AE}" pid="3" name="MSIP_Label_3741da7a-79c1-417c-b408-16c0bfe99fca_SetDate">
    <vt:lpwstr>2023-03-30T08:52:17Z</vt:lpwstr>
  </property>
  <property fmtid="{D5CDD505-2E9C-101B-9397-08002B2CF9AE}" pid="4" name="MSIP_Label_3741da7a-79c1-417c-b408-16c0bfe99fca_Method">
    <vt:lpwstr>Standard</vt:lpwstr>
  </property>
  <property fmtid="{D5CDD505-2E9C-101B-9397-08002B2CF9AE}" pid="5" name="MSIP_Label_3741da7a-79c1-417c-b408-16c0bfe99fca_Name">
    <vt:lpwstr>Internal Only - Amber</vt:lpwstr>
  </property>
  <property fmtid="{D5CDD505-2E9C-101B-9397-08002B2CF9AE}" pid="6" name="MSIP_Label_3741da7a-79c1-417c-b408-16c0bfe99fca_SiteId">
    <vt:lpwstr>1e355c04-e0a4-42ed-8e2d-7351591f0ef1</vt:lpwstr>
  </property>
  <property fmtid="{D5CDD505-2E9C-101B-9397-08002B2CF9AE}" pid="7" name="MSIP_Label_3741da7a-79c1-417c-b408-16c0bfe99fca_ActionId">
    <vt:lpwstr>5b4cd54c-153d-4cdd-b8e7-de533e844d37</vt:lpwstr>
  </property>
  <property fmtid="{D5CDD505-2E9C-101B-9397-08002B2CF9AE}" pid="8" name="MSIP_Label_3741da7a-79c1-417c-b408-16c0bfe99fca_ContentBits">
    <vt:lpwstr>0</vt:lpwstr>
  </property>
</Properties>
</file>