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74" r:id="rId2"/>
    <p:sldId id="270" r:id="rId3"/>
    <p:sldId id="276" r:id="rId4"/>
    <p:sldId id="277" r:id="rId5"/>
    <p:sldId id="278" r:id="rId6"/>
  </p:sldIdLst>
  <p:sldSz cx="6858000" cy="10799763"/>
  <p:notesSz cx="6858000" cy="9144000"/>
  <p:custDataLst>
    <p:tags r:id="rId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4" autoAdjust="0"/>
    <p:restoredTop sz="94660"/>
  </p:normalViewPr>
  <p:slideViewPr>
    <p:cSldViewPr snapToGrid="0">
      <p:cViewPr varScale="1">
        <p:scale>
          <a:sx n="65" d="100"/>
          <a:sy n="65" d="100"/>
        </p:scale>
        <p:origin x="3348" y="60"/>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er Javornický" userId="3b98f8e0-d449-4f6e-b57d-5f9bfb7a5c2c" providerId="ADAL" clId="{88A10E76-C547-4713-B92A-3B48010D5CF0}"/>
    <pc:docChg chg="custSel modSld">
      <pc:chgData name="Peter Javornický" userId="3b98f8e0-d449-4f6e-b57d-5f9bfb7a5c2c" providerId="ADAL" clId="{88A10E76-C547-4713-B92A-3B48010D5CF0}" dt="2025-12-16T08:53:43.142" v="7" actId="20577"/>
      <pc:docMkLst>
        <pc:docMk/>
      </pc:docMkLst>
      <pc:sldChg chg="delSp mod">
        <pc:chgData name="Peter Javornický" userId="3b98f8e0-d449-4f6e-b57d-5f9bfb7a5c2c" providerId="ADAL" clId="{88A10E76-C547-4713-B92A-3B48010D5CF0}" dt="2025-12-16T08:50:14.432" v="0" actId="478"/>
        <pc:sldMkLst>
          <pc:docMk/>
          <pc:sldMk cId="115229832" sldId="270"/>
        </pc:sldMkLst>
        <pc:spChg chg="del">
          <ac:chgData name="Peter Javornický" userId="3b98f8e0-d449-4f6e-b57d-5f9bfb7a5c2c" providerId="ADAL" clId="{88A10E76-C547-4713-B92A-3B48010D5CF0}" dt="2025-12-16T08:50:14.432" v="0" actId="478"/>
          <ac:spMkLst>
            <pc:docMk/>
            <pc:sldMk cId="115229832" sldId="270"/>
            <ac:spMk id="4" creationId="{2108CEC9-F1AF-DEEF-5606-2C6E597A64D0}"/>
          </ac:spMkLst>
        </pc:spChg>
      </pc:sldChg>
      <pc:sldChg chg="delSp modSp mod">
        <pc:chgData name="Peter Javornický" userId="3b98f8e0-d449-4f6e-b57d-5f9bfb7a5c2c" providerId="ADAL" clId="{88A10E76-C547-4713-B92A-3B48010D5CF0}" dt="2025-12-16T08:53:03.206" v="5" actId="20577"/>
        <pc:sldMkLst>
          <pc:docMk/>
          <pc:sldMk cId="2915784189" sldId="277"/>
        </pc:sldMkLst>
        <pc:spChg chg="mod">
          <ac:chgData name="Peter Javornický" userId="3b98f8e0-d449-4f6e-b57d-5f9bfb7a5c2c" providerId="ADAL" clId="{88A10E76-C547-4713-B92A-3B48010D5CF0}" dt="2025-12-16T08:53:03.206" v="5" actId="20577"/>
          <ac:spMkLst>
            <pc:docMk/>
            <pc:sldMk cId="2915784189" sldId="277"/>
            <ac:spMk id="3" creationId="{88FD7F67-0976-25AE-2FDE-6565521DF73F}"/>
          </ac:spMkLst>
        </pc:spChg>
        <pc:spChg chg="del">
          <ac:chgData name="Peter Javornický" userId="3b98f8e0-d449-4f6e-b57d-5f9bfb7a5c2c" providerId="ADAL" clId="{88A10E76-C547-4713-B92A-3B48010D5CF0}" dt="2025-12-16T08:50:18.403" v="1" actId="478"/>
          <ac:spMkLst>
            <pc:docMk/>
            <pc:sldMk cId="2915784189" sldId="277"/>
            <ac:spMk id="4" creationId="{F877FB92-7ADA-FF0A-0689-6CAF599E87FE}"/>
          </ac:spMkLst>
        </pc:spChg>
        <pc:spChg chg="del">
          <ac:chgData name="Peter Javornický" userId="3b98f8e0-d449-4f6e-b57d-5f9bfb7a5c2c" providerId="ADAL" clId="{88A10E76-C547-4713-B92A-3B48010D5CF0}" dt="2025-12-16T08:50:19.826" v="2" actId="478"/>
          <ac:spMkLst>
            <pc:docMk/>
            <pc:sldMk cId="2915784189" sldId="277"/>
            <ac:spMk id="5" creationId="{D01932B8-D5F4-EC48-2FB3-207AA7A8AEBE}"/>
          </ac:spMkLst>
        </pc:spChg>
      </pc:sldChg>
      <pc:sldChg chg="delSp modSp mod">
        <pc:chgData name="Peter Javornický" userId="3b98f8e0-d449-4f6e-b57d-5f9bfb7a5c2c" providerId="ADAL" clId="{88A10E76-C547-4713-B92A-3B48010D5CF0}" dt="2025-12-16T08:53:43.142" v="7" actId="20577"/>
        <pc:sldMkLst>
          <pc:docMk/>
          <pc:sldMk cId="2849205481" sldId="278"/>
        </pc:sldMkLst>
        <pc:spChg chg="del">
          <ac:chgData name="Peter Javornický" userId="3b98f8e0-d449-4f6e-b57d-5f9bfb7a5c2c" providerId="ADAL" clId="{88A10E76-C547-4713-B92A-3B48010D5CF0}" dt="2025-12-16T08:50:22.940" v="3" actId="478"/>
          <ac:spMkLst>
            <pc:docMk/>
            <pc:sldMk cId="2849205481" sldId="278"/>
            <ac:spMk id="4" creationId="{94C182E7-F829-9F32-557B-1CE6185E0236}"/>
          </ac:spMkLst>
        </pc:spChg>
        <pc:spChg chg="mod">
          <ac:chgData name="Peter Javornický" userId="3b98f8e0-d449-4f6e-b57d-5f9bfb7a5c2c" providerId="ADAL" clId="{88A10E76-C547-4713-B92A-3B48010D5CF0}" dt="2025-12-16T08:53:43.142" v="7" actId="20577"/>
          <ac:spMkLst>
            <pc:docMk/>
            <pc:sldMk cId="2849205481" sldId="278"/>
            <ac:spMk id="7" creationId="{8B41C139-16F4-2530-164B-599DFDA2EBE8}"/>
          </ac:spMkLst>
        </pc:spChg>
      </pc:sldChg>
    </pc:docChg>
  </pc:docChgLst>
  <pc:docChgLst>
    <pc:chgData name="GASCON Yuri" userId="42c78e76-73a5-4db4-b26e-dd7da87b6af9" providerId="ADAL" clId="{6503BC53-EF70-4504-9F85-15FEE7838F3E}"/>
    <pc:docChg chg="undo custSel addSld delSld modSld">
      <pc:chgData name="GASCON Yuri" userId="42c78e76-73a5-4db4-b26e-dd7da87b6af9" providerId="ADAL" clId="{6503BC53-EF70-4504-9F85-15FEE7838F3E}" dt="2025-06-18T10:55:04.672" v="93" actId="255"/>
      <pc:docMkLst>
        <pc:docMk/>
      </pc:docMkLst>
      <pc:sldChg chg="modSp mod">
        <pc:chgData name="GASCON Yuri" userId="42c78e76-73a5-4db4-b26e-dd7da87b6af9" providerId="ADAL" clId="{6503BC53-EF70-4504-9F85-15FEE7838F3E}" dt="2025-06-18T09:57:12.164" v="6" actId="113"/>
        <pc:sldMkLst>
          <pc:docMk/>
          <pc:sldMk cId="3696099194" sldId="269"/>
        </pc:sldMkLst>
      </pc:sldChg>
      <pc:sldChg chg="add">
        <pc:chgData name="GASCON Yuri" userId="42c78e76-73a5-4db4-b26e-dd7da87b6af9" providerId="ADAL" clId="{6503BC53-EF70-4504-9F85-15FEE7838F3E}" dt="2025-06-18T10:06:48.755" v="38"/>
        <pc:sldMkLst>
          <pc:docMk/>
          <pc:sldMk cId="115229832" sldId="270"/>
        </pc:sldMkLst>
      </pc:sldChg>
      <pc:sldChg chg="addSp modSp del mod">
        <pc:chgData name="GASCON Yuri" userId="42c78e76-73a5-4db4-b26e-dd7da87b6af9" providerId="ADAL" clId="{6503BC53-EF70-4504-9F85-15FEE7838F3E}" dt="2025-06-18T10:06:35.752" v="37" actId="2696"/>
        <pc:sldMkLst>
          <pc:docMk/>
          <pc:sldMk cId="3087067291" sldId="270"/>
        </pc:sldMkLst>
      </pc:sldChg>
      <pc:sldChg chg="addSp delSp modSp mod">
        <pc:chgData name="GASCON Yuri" userId="42c78e76-73a5-4db4-b26e-dd7da87b6af9" providerId="ADAL" clId="{6503BC53-EF70-4504-9F85-15FEE7838F3E}" dt="2025-06-18T10:10:01.703" v="46" actId="478"/>
        <pc:sldMkLst>
          <pc:docMk/>
          <pc:sldMk cId="2952469334" sldId="271"/>
        </pc:sldMkLst>
      </pc:sldChg>
      <pc:sldChg chg="modSp mod">
        <pc:chgData name="GASCON Yuri" userId="42c78e76-73a5-4db4-b26e-dd7da87b6af9" providerId="ADAL" clId="{6503BC53-EF70-4504-9F85-15FEE7838F3E}" dt="2025-06-18T10:49:05.291" v="81" actId="113"/>
        <pc:sldMkLst>
          <pc:docMk/>
          <pc:sldMk cId="530287419" sldId="272"/>
        </pc:sldMkLst>
      </pc:sldChg>
      <pc:sldChg chg="modSp mod">
        <pc:chgData name="GASCON Yuri" userId="42c78e76-73a5-4db4-b26e-dd7da87b6af9" providerId="ADAL" clId="{6503BC53-EF70-4504-9F85-15FEE7838F3E}" dt="2025-06-18T09:57:32.743" v="9" actId="255"/>
        <pc:sldMkLst>
          <pc:docMk/>
          <pc:sldMk cId="2748606363" sldId="274"/>
        </pc:sldMkLst>
      </pc:sldChg>
      <pc:sldChg chg="del">
        <pc:chgData name="GASCON Yuri" userId="42c78e76-73a5-4db4-b26e-dd7da87b6af9" providerId="ADAL" clId="{6503BC53-EF70-4504-9F85-15FEE7838F3E}" dt="2025-06-18T10:06:51.373" v="39" actId="47"/>
        <pc:sldMkLst>
          <pc:docMk/>
          <pc:sldMk cId="3311698293" sldId="275"/>
        </pc:sldMkLst>
      </pc:sldChg>
      <pc:sldChg chg="modSp mod">
        <pc:chgData name="GASCON Yuri" userId="42c78e76-73a5-4db4-b26e-dd7da87b6af9" providerId="ADAL" clId="{6503BC53-EF70-4504-9F85-15FEE7838F3E}" dt="2025-06-18T10:17:21.169" v="67" actId="1035"/>
        <pc:sldMkLst>
          <pc:docMk/>
          <pc:sldMk cId="3627271997" sldId="276"/>
        </pc:sldMkLst>
      </pc:sldChg>
      <pc:sldChg chg="modSp mod">
        <pc:chgData name="GASCON Yuri" userId="42c78e76-73a5-4db4-b26e-dd7da87b6af9" providerId="ADAL" clId="{6503BC53-EF70-4504-9F85-15FEE7838F3E}" dt="2025-06-18T10:49:38.515" v="87" actId="255"/>
        <pc:sldMkLst>
          <pc:docMk/>
          <pc:sldMk cId="2915784189" sldId="277"/>
        </pc:sldMkLst>
      </pc:sldChg>
      <pc:sldChg chg="modSp mod">
        <pc:chgData name="GASCON Yuri" userId="42c78e76-73a5-4db4-b26e-dd7da87b6af9" providerId="ADAL" clId="{6503BC53-EF70-4504-9F85-15FEE7838F3E}" dt="2025-06-18T10:55:04.672" v="93" actId="255"/>
        <pc:sldMkLst>
          <pc:docMk/>
          <pc:sldMk cId="2849205481" sldId="278"/>
        </pc:sldMkLst>
      </pc:sldChg>
      <pc:sldChg chg="add">
        <pc:chgData name="GASCON Yuri" userId="42c78e76-73a5-4db4-b26e-dd7da87b6af9" providerId="ADAL" clId="{6503BC53-EF70-4504-9F85-15FEE7838F3E}" dt="2025-06-18T10:07:24.865" v="40"/>
        <pc:sldMkLst>
          <pc:docMk/>
          <pc:sldMk cId="3087067291" sldId="27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4663D0-3A20-42FE-B1FD-540301BC9CA9}" type="datetimeFigureOut">
              <a:rPr lang="en-US" smtClean="0"/>
              <a:t>12/16/2025</a:t>
            </a:fld>
            <a:endParaRPr lang="en-US"/>
          </a:p>
        </p:txBody>
      </p:sp>
      <p:sp>
        <p:nvSpPr>
          <p:cNvPr id="4" name="Slide Image Placeholder 3"/>
          <p:cNvSpPr>
            <a:spLocks noGrp="1" noRot="1" noChangeAspect="1"/>
          </p:cNvSpPr>
          <p:nvPr>
            <p:ph type="sldImg" idx="2"/>
          </p:nvPr>
        </p:nvSpPr>
        <p:spPr>
          <a:xfrm>
            <a:off x="2449513" y="1143000"/>
            <a:ext cx="19589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AA247D-2C5A-4479-9F22-8DA14766BEBD}" type="slidenum">
              <a:rPr lang="en-US" smtClean="0"/>
              <a:t>‹#›</a:t>
            </a:fld>
            <a:endParaRPr lang="en-US"/>
          </a:p>
        </p:txBody>
      </p:sp>
    </p:spTree>
    <p:extLst>
      <p:ext uri="{BB962C8B-B14F-4D97-AF65-F5344CB8AC3E}">
        <p14:creationId xmlns:p14="http://schemas.microsoft.com/office/powerpoint/2010/main" val="1156071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AA247D-2C5A-4479-9F22-8DA14766BEBD}" type="slidenum">
              <a:rPr lang="en-US" smtClean="0"/>
              <a:t>3</a:t>
            </a:fld>
            <a:endParaRPr lang="en-US"/>
          </a:p>
        </p:txBody>
      </p:sp>
    </p:spTree>
    <p:extLst>
      <p:ext uri="{BB962C8B-B14F-4D97-AF65-F5344CB8AC3E}">
        <p14:creationId xmlns:p14="http://schemas.microsoft.com/office/powerpoint/2010/main" val="3888330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Koncept - Širší">
    <p:spTree>
      <p:nvGrpSpPr>
        <p:cNvPr id="1" name=""/>
        <p:cNvGrpSpPr/>
        <p:nvPr/>
      </p:nvGrpSpPr>
      <p:grpSpPr>
        <a:xfrm>
          <a:off x="0" y="0"/>
          <a:ext cx="0" cy="0"/>
          <a:chOff x="0" y="0"/>
          <a:chExt cx="0" cy="0"/>
        </a:xfrm>
      </p:grpSpPr>
      <p:sp>
        <p:nvSpPr>
          <p:cNvPr id="2" name="Title 1"/>
          <p:cNvSpPr>
            <a:spLocks noGrp="1"/>
          </p:cNvSpPr>
          <p:nvPr>
            <p:ph type="title"/>
          </p:nvPr>
        </p:nvSpPr>
        <p:spPr>
          <a:xfrm>
            <a:off x="225288" y="357050"/>
            <a:ext cx="6361042" cy="922506"/>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3371AA04-A0F8-87B9-B272-01F3327D49CB}"/>
              </a:ext>
            </a:extLst>
          </p:cNvPr>
          <p:cNvSpPr>
            <a:spLocks noGrp="1"/>
          </p:cNvSpPr>
          <p:nvPr>
            <p:ph type="body" sz="quarter" idx="10"/>
          </p:nvPr>
        </p:nvSpPr>
        <p:spPr>
          <a:xfrm>
            <a:off x="225288" y="1279525"/>
            <a:ext cx="6361042" cy="9255953"/>
          </a:xfrm>
        </p:spPr>
        <p:txBody>
          <a:bodyPr>
            <a:normAutofit/>
          </a:bodyPr>
          <a:lstStyle>
            <a:lvl1pPr>
              <a:defRPr sz="3600"/>
            </a:lvl1pPr>
            <a:lvl2pPr>
              <a:defRPr sz="3600"/>
            </a:lvl2pPr>
            <a:lvl3pPr>
              <a:defRPr sz="3600"/>
            </a:lvl3pPr>
            <a:lvl4pPr>
              <a:defRPr sz="3600"/>
            </a:lvl4pPr>
            <a:lvl5pPr>
              <a:defRPr sz="36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954387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Koncept Užší">
    <p:spTree>
      <p:nvGrpSpPr>
        <p:cNvPr id="1" name=""/>
        <p:cNvGrpSpPr/>
        <p:nvPr/>
      </p:nvGrpSpPr>
      <p:grpSpPr>
        <a:xfrm>
          <a:off x="0" y="0"/>
          <a:ext cx="0" cy="0"/>
          <a:chOff x="0" y="0"/>
          <a:chExt cx="0" cy="0"/>
        </a:xfrm>
      </p:grpSpPr>
      <p:sp>
        <p:nvSpPr>
          <p:cNvPr id="2" name="Title 1"/>
          <p:cNvSpPr>
            <a:spLocks noGrp="1"/>
          </p:cNvSpPr>
          <p:nvPr>
            <p:ph type="title"/>
          </p:nvPr>
        </p:nvSpPr>
        <p:spPr>
          <a:xfrm>
            <a:off x="384312" y="357050"/>
            <a:ext cx="6069497" cy="922506"/>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3371AA04-A0F8-87B9-B272-01F3327D49CB}"/>
              </a:ext>
            </a:extLst>
          </p:cNvPr>
          <p:cNvSpPr>
            <a:spLocks noGrp="1"/>
          </p:cNvSpPr>
          <p:nvPr>
            <p:ph type="body" sz="quarter" idx="10"/>
          </p:nvPr>
        </p:nvSpPr>
        <p:spPr>
          <a:xfrm>
            <a:off x="384312" y="1279525"/>
            <a:ext cx="6069497" cy="9255953"/>
          </a:xfrm>
        </p:spPr>
        <p:txBody>
          <a:bodyPr>
            <a:normAutofit/>
          </a:bodyPr>
          <a:lstStyle>
            <a:lvl1pPr>
              <a:defRPr sz="3600"/>
            </a:lvl1pPr>
            <a:lvl2pPr>
              <a:defRPr sz="3600"/>
            </a:lvl2pPr>
            <a:lvl3pPr>
              <a:defRPr sz="3600"/>
            </a:lvl3pPr>
            <a:lvl4pPr>
              <a:defRPr sz="3600"/>
            </a:lvl4pPr>
            <a:lvl5pPr>
              <a:defRPr sz="36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3673364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dea">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371AA04-A0F8-87B9-B272-01F3327D49CB}"/>
              </a:ext>
            </a:extLst>
          </p:cNvPr>
          <p:cNvSpPr>
            <a:spLocks noGrp="1"/>
          </p:cNvSpPr>
          <p:nvPr>
            <p:ph type="body" sz="quarter" idx="10"/>
          </p:nvPr>
        </p:nvSpPr>
        <p:spPr>
          <a:xfrm>
            <a:off x="119270" y="357809"/>
            <a:ext cx="6626087" cy="10177669"/>
          </a:xfrm>
        </p:spPr>
        <p:txBody>
          <a:bodyPr anchor="ctr">
            <a:normAutofit/>
          </a:bodyPr>
          <a:lstStyle>
            <a:lvl1pPr algn="ctr">
              <a:lnSpc>
                <a:spcPct val="100000"/>
              </a:lnSpc>
              <a:spcBef>
                <a:spcPts val="0"/>
              </a:spcBef>
              <a:defRPr sz="6600"/>
            </a:lvl1pPr>
            <a:lvl2pPr>
              <a:defRPr sz="4000"/>
            </a:lvl2pPr>
            <a:lvl3pPr>
              <a:defRPr sz="3600"/>
            </a:lvl3pPr>
            <a:lvl4pPr>
              <a:defRPr sz="3600"/>
            </a:lvl4pPr>
            <a:lvl5pPr>
              <a:defRPr sz="3600"/>
            </a:lvl5pPr>
          </a:lstStyle>
          <a:p>
            <a:pPr lvl="0"/>
            <a:r>
              <a:rPr lang="en-US" dirty="0"/>
              <a:t>Click to edit Master text styles</a:t>
            </a:r>
          </a:p>
        </p:txBody>
      </p:sp>
    </p:spTree>
    <p:extLst>
      <p:ext uri="{BB962C8B-B14F-4D97-AF65-F5344CB8AC3E}">
        <p14:creationId xmlns:p14="http://schemas.microsoft.com/office/powerpoint/2010/main" val="9577700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357050"/>
            <a:ext cx="5915025" cy="92250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71488" y="1444488"/>
            <a:ext cx="5915025" cy="8998226"/>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373637109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Lst>
  <p:txStyles>
    <p:titleStyle>
      <a:lvl1pPr algn="l" defTabSz="685800" rtl="0" eaLnBrk="1" latinLnBrk="0" hangingPunct="1">
        <a:lnSpc>
          <a:spcPct val="90000"/>
        </a:lnSpc>
        <a:spcBef>
          <a:spcPct val="0"/>
        </a:spcBef>
        <a:buNone/>
        <a:defRPr sz="3600" kern="1200">
          <a:solidFill>
            <a:schemeClr val="tx1"/>
          </a:solidFill>
          <a:latin typeface="+mn-lt"/>
          <a:ea typeface="+mj-ea"/>
          <a:cs typeface="+mj-cs"/>
        </a:defRPr>
      </a:lvl1pPr>
    </p:titleStyle>
    <p:body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D195F-AFDD-6119-9E9E-8C4D6B8FFBB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C052FEF-F306-F0B8-8A22-A89214979011}"/>
              </a:ext>
            </a:extLst>
          </p:cNvPr>
          <p:cNvSpPr/>
          <p:nvPr/>
        </p:nvSpPr>
        <p:spPr>
          <a:xfrm>
            <a:off x="0" y="0"/>
            <a:ext cx="6858000" cy="753979"/>
          </a:xfrm>
          <a:prstGeom prst="rect">
            <a:avLst/>
          </a:prstGeom>
          <a:solidFill>
            <a:srgbClr val="BAFF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DDC5AC78-0D85-FA52-CA7D-D7F2BAE3AC85}"/>
              </a:ext>
            </a:extLst>
          </p:cNvPr>
          <p:cNvSpPr>
            <a:spLocks noGrp="1" noChangeAspect="1"/>
          </p:cNvSpPr>
          <p:nvPr>
            <p:ph type="body" sz="quarter" idx="10"/>
          </p:nvPr>
        </p:nvSpPr>
        <p:spPr>
          <a:xfrm>
            <a:off x="112295" y="753979"/>
            <a:ext cx="6625389" cy="10045784"/>
          </a:xfrm>
        </p:spPr>
        <p:txBody>
          <a:bodyPr>
            <a:noAutofit/>
          </a:bodyPr>
          <a:lstStyle/>
          <a:p>
            <a:r>
              <a:rPr lang="el-GR" sz="2800" dirty="0"/>
              <a:t>Για όσους λαχταρούν το επόμενο.</a:t>
            </a:r>
          </a:p>
          <a:p>
            <a:r>
              <a:rPr lang="el-GR" sz="2300" b="1" dirty="0"/>
              <a:t>Παίξε για τις Εμπειρίες που Ευχόσουν να Είχες</a:t>
            </a:r>
            <a:endParaRPr lang="el-GR" sz="2300" dirty="0"/>
          </a:p>
          <a:p>
            <a:r>
              <a:rPr lang="el-GR" sz="2300" dirty="0"/>
              <a:t>Φαντάσου ένα παιχνίδι όπου κάθε μέρα, δεν παίζεις απλώς για πόντους—παίζεις για την ευκαιρία να κερδίσεις μοναδικές, ανεπανάληπτες εμπειρίες.</a:t>
            </a:r>
          </a:p>
          <a:p>
            <a:r>
              <a:rPr lang="el-GR" sz="2300" dirty="0"/>
              <a:t>Αυτό δεν είναι ένα συνηθισμένο παιχνίδι. Κάθε εβδομάδα, επιλέγουμε μια συλλογή από αποκλειστικές εμπειρίες που μπορείς να κερδίσεις—η καθεμία σχεδιασμένη να ενεργοποιήσει τα πάθη σου, να προκαλέσει την περιέργειά σου και να δημιουργήσει αξέχαστες αναμνήσεις.</a:t>
            </a:r>
            <a:endParaRPr lang="cs-CZ" sz="2300" dirty="0"/>
          </a:p>
          <a:p>
            <a:r>
              <a:rPr lang="el-GR" sz="2300" dirty="0"/>
              <a:t>Από την πρώτη σειρά σε μια sold-out συναυλία</a:t>
            </a:r>
            <a:br>
              <a:rPr lang="el-GR" sz="2300" dirty="0"/>
            </a:br>
            <a:r>
              <a:rPr lang="el-GR" sz="2300" dirty="0"/>
              <a:t>μέχρι την έκρηξη αδρεναλίνης από ένα πάσο στα πιτ της F1,</a:t>
            </a:r>
            <a:r>
              <a:rPr lang="cs-CZ" sz="2300" dirty="0"/>
              <a:t> </a:t>
            </a:r>
            <a:r>
              <a:rPr lang="el-GR" sz="2300" dirty="0"/>
              <a:t>από μαθήματα δεξιοτήτων με ειδικούς</a:t>
            </a:r>
            <a:br>
              <a:rPr lang="el-GR" sz="2300" dirty="0"/>
            </a:br>
            <a:r>
              <a:rPr lang="el-GR" sz="2300" dirty="0"/>
              <a:t>μέχρι εμπειρίες περιπέτειας όπως πτήσεις με ελικόπτερο—</a:t>
            </a:r>
            <a:br>
              <a:rPr lang="el-GR" sz="2300" dirty="0"/>
            </a:br>
            <a:r>
              <a:rPr lang="el-GR" sz="2300" dirty="0"/>
              <a:t>οι δυνατότητες αλλάζουν κάθε εβδομάδα, οπότε υπάρχει πάντα κάτι νέο να ανακαλύψεις.</a:t>
            </a:r>
          </a:p>
          <a:p>
            <a:r>
              <a:rPr lang="el-GR" sz="2300" dirty="0"/>
              <a:t>Τα έπαθλα αλλάζουν κάθε εβδομάδα—οπότε αν χάσεις μία ευκαιρία, πάντα θα υπάρχει μια καινούργια.</a:t>
            </a:r>
            <a:br>
              <a:rPr lang="el-GR" sz="2300" dirty="0"/>
            </a:br>
            <a:r>
              <a:rPr lang="el-GR" sz="2300" dirty="0"/>
              <a:t>Δεν πήρες εκείνα τα εισιτήρια για τη συναυλία; Δοκίμασε ξανά την επόμενη εβδομάδα για μια εντελώς διαφορετική εμπειρία.</a:t>
            </a:r>
            <a:br>
              <a:rPr lang="el-GR" sz="2300" dirty="0"/>
            </a:br>
            <a:r>
              <a:rPr lang="el-GR" sz="2300" dirty="0"/>
              <a:t>Αυτό το παιχνίδι δεν είναι απλώς για να παίζεις· είναι για να παίζεις για τη ζωή που θέλεις να ζήσεις.</a:t>
            </a:r>
          </a:p>
          <a:p>
            <a:r>
              <a:rPr lang="el-GR" sz="2300" b="1" dirty="0"/>
              <a:t>Είσαι έτοιμος να παίξεις για τις εμπειρίες που πάντα ονειρευόσουν;</a:t>
            </a:r>
            <a:endParaRPr lang="el-GR" sz="2300" dirty="0"/>
          </a:p>
          <a:p>
            <a:pPr>
              <a:lnSpc>
                <a:spcPct val="100000"/>
              </a:lnSpc>
              <a:spcBef>
                <a:spcPts val="1200"/>
              </a:spcBef>
            </a:pPr>
            <a:endParaRPr lang="cs-CZ" sz="2300" b="1" dirty="0"/>
          </a:p>
        </p:txBody>
      </p:sp>
      <p:sp>
        <p:nvSpPr>
          <p:cNvPr id="12" name="Text Placeholder 2">
            <a:extLst>
              <a:ext uri="{FF2B5EF4-FFF2-40B4-BE49-F238E27FC236}">
                <a16:creationId xmlns:a16="http://schemas.microsoft.com/office/drawing/2014/main" id="{C58351D9-1102-CA77-587F-B935AD46D264}"/>
              </a:ext>
            </a:extLst>
          </p:cNvPr>
          <p:cNvSpPr txBox="1">
            <a:spLocks noChangeAspect="1"/>
          </p:cNvSpPr>
          <p:nvPr/>
        </p:nvSpPr>
        <p:spPr>
          <a:xfrm>
            <a:off x="112295" y="16044"/>
            <a:ext cx="6745706" cy="625642"/>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Bef>
                <a:spcPts val="600"/>
              </a:spcBef>
              <a:spcAft>
                <a:spcPts val="300"/>
              </a:spcAft>
            </a:pPr>
            <a:r>
              <a:rPr lang="cs-CZ" sz="4000" b="1" dirty="0"/>
              <a:t>Pulse Play</a:t>
            </a:r>
          </a:p>
        </p:txBody>
      </p:sp>
    </p:spTree>
    <p:extLst>
      <p:ext uri="{BB962C8B-B14F-4D97-AF65-F5344CB8AC3E}">
        <p14:creationId xmlns:p14="http://schemas.microsoft.com/office/powerpoint/2010/main" val="2748606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29EBD-FDA5-45C0-383A-D2825CC8C78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4492810-B00E-610D-7740-25EAD574CC37}"/>
              </a:ext>
            </a:extLst>
          </p:cNvPr>
          <p:cNvSpPr/>
          <p:nvPr/>
        </p:nvSpPr>
        <p:spPr>
          <a:xfrm>
            <a:off x="0" y="0"/>
            <a:ext cx="6858000" cy="584791"/>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4">
                  <a:lumMod val="20000"/>
                  <a:lumOff val="80000"/>
                </a:schemeClr>
              </a:solidFill>
            </a:endParaRPr>
          </a:p>
        </p:txBody>
      </p:sp>
      <p:sp>
        <p:nvSpPr>
          <p:cNvPr id="3" name="Text Placeholder 2">
            <a:extLst>
              <a:ext uri="{FF2B5EF4-FFF2-40B4-BE49-F238E27FC236}">
                <a16:creationId xmlns:a16="http://schemas.microsoft.com/office/drawing/2014/main" id="{53C49691-B6BA-2D79-81AF-0047EADF5C8E}"/>
              </a:ext>
            </a:extLst>
          </p:cNvPr>
          <p:cNvSpPr>
            <a:spLocks noGrp="1" noChangeAspect="1"/>
          </p:cNvSpPr>
          <p:nvPr>
            <p:ph type="body" sz="quarter" idx="10"/>
          </p:nvPr>
        </p:nvSpPr>
        <p:spPr>
          <a:xfrm>
            <a:off x="112295" y="1"/>
            <a:ext cx="6745705" cy="661185"/>
          </a:xfrm>
        </p:spPr>
        <p:txBody>
          <a:bodyPr>
            <a:noAutofit/>
          </a:bodyPr>
          <a:lstStyle/>
          <a:p>
            <a:pPr>
              <a:lnSpc>
                <a:spcPct val="100000"/>
              </a:lnSpc>
              <a:spcBef>
                <a:spcPts val="600"/>
              </a:spcBef>
              <a:spcAft>
                <a:spcPts val="300"/>
              </a:spcAft>
            </a:pPr>
            <a:r>
              <a:rPr lang="en-US" b="1" dirty="0"/>
              <a:t>Standard or VIP Mode</a:t>
            </a:r>
            <a:endParaRPr lang="cs-CZ" b="1" dirty="0"/>
          </a:p>
          <a:p>
            <a:pPr>
              <a:lnSpc>
                <a:spcPct val="100000"/>
              </a:lnSpc>
              <a:spcBef>
                <a:spcPts val="0"/>
              </a:spcBef>
            </a:pPr>
            <a:r>
              <a:rPr lang="el-GR" sz="2800" dirty="0"/>
              <a:t>Παίξε Με Τον Δικό Σου Τρόπο</a:t>
            </a:r>
            <a:endParaRPr lang="cs-CZ" sz="2800" dirty="0"/>
          </a:p>
        </p:txBody>
      </p:sp>
      <p:sp>
        <p:nvSpPr>
          <p:cNvPr id="2" name="Text Placeholder 2">
            <a:extLst>
              <a:ext uri="{FF2B5EF4-FFF2-40B4-BE49-F238E27FC236}">
                <a16:creationId xmlns:a16="http://schemas.microsoft.com/office/drawing/2014/main" id="{FB89C0E0-C00C-5946-1E3A-8EA5BC745587}"/>
              </a:ext>
            </a:extLst>
          </p:cNvPr>
          <p:cNvSpPr txBox="1">
            <a:spLocks noChangeAspect="1"/>
          </p:cNvSpPr>
          <p:nvPr/>
        </p:nvSpPr>
        <p:spPr>
          <a:xfrm>
            <a:off x="112295" y="1155031"/>
            <a:ext cx="6745705" cy="9644731"/>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l-GR" sz="2000" dirty="0"/>
              <a:t>Στον κόσμο του gaming, οι παίκτες επιζητούν όχι μόνο διασκέδαση, αλλά και κύρος, ανταμοιβές και πρόοδο.</a:t>
            </a:r>
          </a:p>
          <a:p>
            <a:r>
              <a:rPr lang="el-GR" sz="2000" dirty="0"/>
              <a:t>Το Standard / VIP Mode είναι σχεδιασμένο να ανταποκρίνεται στις επιθυμίες σου, προσφέροντας δύο ξεχωριστές εμπειρίες παιχνιδιού μέσα στο ίδιο παιχνίδι, ανάλογα με τη διάθεσή σου, τους στόχους σου και την όρεξή σου για ρίσκο.</a:t>
            </a:r>
          </a:p>
          <a:p>
            <a:r>
              <a:rPr lang="el-GR" sz="2000" dirty="0"/>
              <a:t>Το VIP Mode είναι για όσους θέλουν περισσότερα:</a:t>
            </a:r>
          </a:p>
          <a:p>
            <a:pPr marL="342900" indent="-342900">
              <a:buFont typeface="Arial" panose="020B0604020202020204" pitchFamily="34" charset="0"/>
              <a:buChar char="•"/>
            </a:pPr>
            <a:r>
              <a:rPr lang="el-GR" sz="2000" dirty="0"/>
              <a:t>Μια πλουσιότερη, πιο καθηλωτική εμπειρία παιχνιδιού.</a:t>
            </a:r>
          </a:p>
          <a:p>
            <a:pPr marL="342900" indent="-342900">
              <a:buFont typeface="Arial" panose="020B0604020202020204" pitchFamily="34" charset="0"/>
              <a:buChar char="•"/>
            </a:pPr>
            <a:r>
              <a:rPr lang="el-GR" sz="2000" dirty="0"/>
              <a:t>Υψηλότερες ανταμοιβές, αυξημένα πολλαπλασιαστικά κέρδη και πρόσβαση σε μια επιπλέον βαθμίδα τζάκποτ—</a:t>
            </a:r>
            <a:br>
              <a:rPr lang="cs-CZ" sz="2000" dirty="0"/>
            </a:br>
            <a:r>
              <a:rPr lang="el-GR" sz="2000" dirty="0"/>
              <a:t>το VIP Jackpot.</a:t>
            </a:r>
          </a:p>
          <a:p>
            <a:pPr marL="342900" indent="-342900">
              <a:buFont typeface="Arial" panose="020B0604020202020204" pitchFamily="34" charset="0"/>
              <a:buChar char="•"/>
            </a:pPr>
            <a:r>
              <a:rPr lang="el-GR" sz="2000" dirty="0"/>
              <a:t>Μοναδικές προκλήσεις, ταχύτερη πρόοδος και προτεραιότητα στην υποστήριξη.</a:t>
            </a:r>
          </a:p>
          <a:p>
            <a:r>
              <a:rPr lang="el-GR" sz="2000" dirty="0"/>
              <a:t>Γιατί να πας VIP;</a:t>
            </a:r>
          </a:p>
          <a:p>
            <a:r>
              <a:rPr lang="el-GR" sz="2000" dirty="0"/>
              <a:t>Επιλογή &amp; Έλεγχος: Εσύ αποφασίζεις πότε θα αλλάξεις λειτουργία, ανάλογα με τις προτιμήσεις σου, το ρίσκο που θέλεις να πάρεις και το υπόλοιπό σου.</a:t>
            </a:r>
          </a:p>
          <a:p>
            <a:pPr marL="342900" indent="-342900">
              <a:buFont typeface="Arial" panose="020B0604020202020204" pitchFamily="34" charset="0"/>
              <a:buChar char="•"/>
            </a:pPr>
            <a:r>
              <a:rPr lang="el-GR" sz="2000" dirty="0"/>
              <a:t>Πρόοδος &amp; Κύρος: Το VIP Mode είναι σύμβολο status—ένα παράσημο επίτευξης και αφοσίωσης.</a:t>
            </a:r>
          </a:p>
          <a:p>
            <a:pPr marL="342900" indent="-342900">
              <a:buFont typeface="Arial" panose="020B0604020202020204" pitchFamily="34" charset="0"/>
              <a:buChar char="•"/>
            </a:pPr>
            <a:r>
              <a:rPr lang="el-GR" sz="2000" dirty="0"/>
              <a:t>Αυξημένες Ανταμοιβές: Απόλαυσε υψηλότερες αποδόσεις, μεγαλύτερα jackpots και πιο εντυπωσιακά γραφικά.</a:t>
            </a:r>
          </a:p>
          <a:p>
            <a:pPr marL="342900" indent="-342900">
              <a:buFont typeface="Arial" panose="020B0604020202020204" pitchFamily="34" charset="0"/>
              <a:buChar char="•"/>
            </a:pPr>
            <a:r>
              <a:rPr lang="el-GR" sz="2000" dirty="0"/>
              <a:t>Εμπλοκή της Κοινότητας: Το πρόγραμμα επιβράβευσης προωθεί την κοινοποίηση, τις αξιολογήσεις και τη διάδοση από στόμα σε στόμα, ενισχύοντας την οργανική ανάπτυξη.</a:t>
            </a:r>
          </a:p>
          <a:p>
            <a:r>
              <a:rPr lang="el-GR" sz="2000" dirty="0"/>
              <a:t>Είτε είσαι casual παίκτης που απολαμβάνει το Standard Mode είτε high-roller που κυνηγάει τις μεγάλες νίκες στο VIP Mode, το παιχνίδι προσαρμόζεται σε εσένα.</a:t>
            </a:r>
          </a:p>
          <a:p>
            <a:r>
              <a:rPr lang="el-GR" sz="2000" b="1" dirty="0"/>
              <a:t>Η διάθεσή σου, το στυλ σου, οι ανταμοιβές σου. Άλλαξε λειτουργία όποτε θέλεις—γιατί το παιχνίδι πρέπει να προσαρμόζεται στο δικό σου στυλ, όχι το αντίστροφο.</a:t>
            </a:r>
            <a:endParaRPr lang="el-GR" sz="2000" dirty="0"/>
          </a:p>
        </p:txBody>
      </p:sp>
    </p:spTree>
    <p:extLst>
      <p:ext uri="{BB962C8B-B14F-4D97-AF65-F5344CB8AC3E}">
        <p14:creationId xmlns:p14="http://schemas.microsoft.com/office/powerpoint/2010/main" val="115229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78CCB-5197-A2D5-A673-BB5554F770E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F2DCAC2-0B19-494F-79EA-140B6FCC4799}"/>
              </a:ext>
            </a:extLst>
          </p:cNvPr>
          <p:cNvSpPr/>
          <p:nvPr/>
        </p:nvSpPr>
        <p:spPr>
          <a:xfrm>
            <a:off x="0" y="0"/>
            <a:ext cx="6858000" cy="69971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66EE8EF2-ED8C-C86B-2002-725E0222609F}"/>
              </a:ext>
            </a:extLst>
          </p:cNvPr>
          <p:cNvSpPr>
            <a:spLocks noGrp="1" noChangeAspect="1"/>
          </p:cNvSpPr>
          <p:nvPr>
            <p:ph type="body" sz="quarter" idx="10"/>
          </p:nvPr>
        </p:nvSpPr>
        <p:spPr>
          <a:xfrm>
            <a:off x="112295" y="-6015"/>
            <a:ext cx="6745705" cy="647050"/>
          </a:xfrm>
        </p:spPr>
        <p:txBody>
          <a:bodyPr>
            <a:noAutofit/>
          </a:bodyPr>
          <a:lstStyle/>
          <a:p>
            <a:pPr>
              <a:lnSpc>
                <a:spcPct val="100000"/>
              </a:lnSpc>
              <a:spcBef>
                <a:spcPts val="0"/>
              </a:spcBef>
            </a:pPr>
            <a:r>
              <a:rPr lang="en-US" sz="4000" b="1" dirty="0"/>
              <a:t>Happy Hour</a:t>
            </a:r>
            <a:br>
              <a:rPr lang="cs-CZ" sz="2200" b="1" dirty="0"/>
            </a:br>
            <a:r>
              <a:rPr lang="el-GR" sz="2600" dirty="0"/>
              <a:t>Η Καλύτερη Σου Στιγμή για Παιχνίδι Είναι Τώρα</a:t>
            </a:r>
            <a:endParaRPr lang="cs-CZ" sz="2600" dirty="0"/>
          </a:p>
        </p:txBody>
      </p:sp>
      <p:sp>
        <p:nvSpPr>
          <p:cNvPr id="2" name="Text Placeholder 2">
            <a:extLst>
              <a:ext uri="{FF2B5EF4-FFF2-40B4-BE49-F238E27FC236}">
                <a16:creationId xmlns:a16="http://schemas.microsoft.com/office/drawing/2014/main" id="{8A2BCDCE-507B-6461-2DDB-CFFE60A73DFB}"/>
              </a:ext>
            </a:extLst>
          </p:cNvPr>
          <p:cNvSpPr txBox="1">
            <a:spLocks noChangeAspect="1"/>
          </p:cNvSpPr>
          <p:nvPr/>
        </p:nvSpPr>
        <p:spPr>
          <a:xfrm>
            <a:off x="112295" y="1042737"/>
            <a:ext cx="6745705" cy="9757026"/>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300"/>
              </a:spcBef>
            </a:pPr>
            <a:r>
              <a:rPr lang="el-GR" sz="2100" dirty="0"/>
              <a:t>Είτε πρόκειται για ένα παγκόσμιο event είτε για μια ειδική ανταμοιβή αποκλειστικά για εσένα, το Happy Hour μετατρέπει το «πότε» σε «γιατί όχι τώρα».</a:t>
            </a:r>
            <a:br>
              <a:rPr lang="el-GR" sz="2100" dirty="0"/>
            </a:br>
            <a:r>
              <a:rPr lang="el-GR" sz="2100" dirty="0"/>
              <a:t>Είναι η έξαψη του να ξέρεις ότι τώρα είναι η καλύτερή σου ευκαιρία να κερδίσεις, και η προσμονή ότι το επόμενο μεγάλο boost μπορεί να έρθει οποιαδήποτε στιγμή—μόνο για εσένα.</a:t>
            </a:r>
            <a:endParaRPr lang="en-GB" sz="2100" dirty="0"/>
          </a:p>
          <a:p>
            <a:pPr>
              <a:spcBef>
                <a:spcPts val="300"/>
              </a:spcBef>
            </a:pPr>
            <a:r>
              <a:rPr lang="el-GR" sz="2100" dirty="0"/>
              <a:t>Το Happy Hour γίνεται Δυναμική Εμπειρία, προσαρμοσμένη στις συνήθειές σου:</a:t>
            </a:r>
          </a:p>
          <a:p>
            <a:pPr marL="273050" indent="-273050">
              <a:spcBef>
                <a:spcPts val="300"/>
              </a:spcBef>
              <a:buFont typeface="Arial" panose="020B0604020202020204" pitchFamily="34" charset="0"/>
              <a:buChar char="•"/>
            </a:pPr>
            <a:r>
              <a:rPr lang="el-GR" sz="2100" dirty="0"/>
              <a:t>Προτιμώμενες Ώρες Παιχνιδιού: Αν, για παράδειγμα, παίζεις συχνά Τρίτες βράδυ, μπορεί να λάβεις ένα Happy Hour την Τρίτη 19:00–21:00—ειδικά για εσένα.</a:t>
            </a:r>
          </a:p>
          <a:p>
            <a:pPr marL="273050" indent="-273050">
              <a:spcBef>
                <a:spcPts val="300"/>
              </a:spcBef>
              <a:buFont typeface="Arial" panose="020B0604020202020204" pitchFamily="34" charset="0"/>
              <a:buChar char="•"/>
            </a:pPr>
            <a:r>
              <a:rPr lang="el-GR" sz="2100" dirty="0"/>
              <a:t>Συνεχής Ψυχαγωγία: Αν παίζεις συχνά, το παιχνίδι δημιουργεί mini Happy Hours τις ώρες αιχμής σου.</a:t>
            </a:r>
          </a:p>
          <a:p>
            <a:pPr marL="273050" indent="-273050">
              <a:spcBef>
                <a:spcPts val="300"/>
              </a:spcBef>
              <a:buFont typeface="Arial" panose="020B0604020202020204" pitchFamily="34" charset="0"/>
              <a:buChar char="•"/>
            </a:pPr>
            <a:r>
              <a:rPr lang="el-GR" sz="2100" dirty="0"/>
              <a:t>Welcome Back: Αν δεν παίζεις συχνά, το παιχνίδι ενεργοποιεί ένα “Μας Έλειψες” Happy Hour τις ώρες που συνήθιζες να παίζεις, σαν προσωπική πρόσκληση για επιστροφή.</a:t>
            </a:r>
          </a:p>
          <a:p>
            <a:pPr>
              <a:spcBef>
                <a:spcPts val="300"/>
              </a:spcBef>
            </a:pPr>
            <a:r>
              <a:rPr lang="el-GR" sz="2100" dirty="0"/>
              <a:t>Happy Hours: Τι Κερδίζεις</a:t>
            </a:r>
          </a:p>
          <a:p>
            <a:pPr marL="273050" indent="-273050">
              <a:spcBef>
                <a:spcPts val="300"/>
              </a:spcBef>
              <a:buFont typeface="Arial" panose="020B0604020202020204" pitchFamily="34" charset="0"/>
              <a:buChar char="•"/>
            </a:pPr>
            <a:r>
              <a:rPr lang="el-GR" sz="2100" dirty="0"/>
              <a:t>Δωρεάν Περιστροφές σε Προτεινόμενα Παιχνίδια</a:t>
            </a:r>
          </a:p>
          <a:p>
            <a:pPr marL="273050" indent="-273050">
              <a:spcBef>
                <a:spcPts val="300"/>
              </a:spcBef>
              <a:buFont typeface="Arial" panose="020B0604020202020204" pitchFamily="34" charset="0"/>
              <a:buChar char="•"/>
            </a:pPr>
            <a:r>
              <a:rPr lang="el-GR" sz="2100" dirty="0"/>
              <a:t>Αποκλειστικοί Γύροι Bonus</a:t>
            </a:r>
          </a:p>
          <a:p>
            <a:pPr marL="273050" indent="-273050">
              <a:spcBef>
                <a:spcPts val="300"/>
              </a:spcBef>
              <a:buFont typeface="Arial" panose="020B0604020202020204" pitchFamily="34" charset="0"/>
              <a:buChar char="•"/>
            </a:pPr>
            <a:r>
              <a:rPr lang="el-GR" sz="2100" dirty="0"/>
              <a:t>Ενισχυμένοι Πολλαπλασιαστές Πληρωμών</a:t>
            </a:r>
          </a:p>
          <a:p>
            <a:pPr marL="273050" indent="-273050">
              <a:spcBef>
                <a:spcPts val="300"/>
              </a:spcBef>
              <a:buFont typeface="Arial" panose="020B0604020202020204" pitchFamily="34" charset="0"/>
              <a:buChar char="•"/>
            </a:pPr>
            <a:r>
              <a:rPr lang="el-GR" sz="2100" dirty="0"/>
              <a:t>Διπλοί/Τριπλοί Πόντοι Πιστότητας</a:t>
            </a:r>
          </a:p>
          <a:p>
            <a:pPr marL="273050" indent="-273050">
              <a:spcBef>
                <a:spcPts val="300"/>
              </a:spcBef>
              <a:buFont typeface="Arial" panose="020B0604020202020204" pitchFamily="34" charset="0"/>
              <a:buChar char="•"/>
            </a:pPr>
            <a:r>
              <a:rPr lang="el-GR" sz="2100" dirty="0"/>
              <a:t>Πρόσβαση σε Λειτουργίες Περιορισμένου Χρόνου </a:t>
            </a:r>
            <a:br>
              <a:rPr lang="cs-CZ" sz="2100" dirty="0"/>
            </a:br>
            <a:r>
              <a:rPr lang="el-GR" sz="2100" dirty="0"/>
              <a:t>(π.χ. Happy Hour Jackpot)</a:t>
            </a:r>
          </a:p>
          <a:p>
            <a:pPr>
              <a:spcBef>
                <a:spcPts val="300"/>
              </a:spcBef>
            </a:pPr>
            <a:r>
              <a:rPr lang="el-GR" sz="2100" dirty="0"/>
              <a:t>Το Happy Hour μετατρέπει τις συνηθισμένες στιγμές σε συναρπαστικές ευκαιρίες, προσφέροντάς σου ανταμοιβές περιορισμένου χρόνου που ταιριάζουν με τον τρόπο που παίζεις.</a:t>
            </a:r>
            <a:br>
              <a:rPr lang="el-GR" sz="2100" dirty="0"/>
            </a:br>
            <a:r>
              <a:rPr lang="el-GR" sz="2100" b="1" dirty="0"/>
              <a:t>Δεν έχει σημασία μόνο το «πότε» παίζεις—αλλά το να κάνει κάθε στιγμή να μοιάζει με την καλύτερη σου στιγμή για να κερδίσεις</a:t>
            </a:r>
            <a:r>
              <a:rPr lang="el-GR" sz="2100" dirty="0"/>
              <a:t>.</a:t>
            </a:r>
            <a:endParaRPr lang="en-US" sz="2100" dirty="0">
              <a:ea typeface="Times New Roman" panose="02020603050405020304" pitchFamily="18" charset="0"/>
            </a:endParaRPr>
          </a:p>
        </p:txBody>
      </p:sp>
    </p:spTree>
    <p:extLst>
      <p:ext uri="{BB962C8B-B14F-4D97-AF65-F5344CB8AC3E}">
        <p14:creationId xmlns:p14="http://schemas.microsoft.com/office/powerpoint/2010/main" val="3627271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C9D83-AF0F-288B-8734-7B251A3BBFC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4BC7005-DCF8-F6A6-8514-C85FF5A30F06}"/>
              </a:ext>
            </a:extLst>
          </p:cNvPr>
          <p:cNvSpPr/>
          <p:nvPr/>
        </p:nvSpPr>
        <p:spPr>
          <a:xfrm>
            <a:off x="0" y="1"/>
            <a:ext cx="6978316" cy="1095152"/>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88FD7F67-0976-25AE-2FDE-6565521DF73F}"/>
              </a:ext>
            </a:extLst>
          </p:cNvPr>
          <p:cNvSpPr>
            <a:spLocks noGrp="1" noChangeAspect="1"/>
          </p:cNvSpPr>
          <p:nvPr>
            <p:ph type="body" sz="quarter" idx="10"/>
          </p:nvPr>
        </p:nvSpPr>
        <p:spPr>
          <a:xfrm>
            <a:off x="112294" y="48128"/>
            <a:ext cx="6745706" cy="1780672"/>
          </a:xfrm>
        </p:spPr>
        <p:txBody>
          <a:bodyPr>
            <a:noAutofit/>
          </a:bodyPr>
          <a:lstStyle/>
          <a:p>
            <a:pPr>
              <a:lnSpc>
                <a:spcPct val="100000"/>
              </a:lnSpc>
              <a:spcBef>
                <a:spcPts val="0"/>
              </a:spcBef>
            </a:pPr>
            <a:r>
              <a:rPr lang="en-US" sz="3200" b="1" dirty="0"/>
              <a:t>1 Bet-Volume Must-Win Jackpots</a:t>
            </a:r>
            <a:endParaRPr lang="cs-CZ" sz="3200" b="1" dirty="0"/>
          </a:p>
          <a:p>
            <a:pPr>
              <a:lnSpc>
                <a:spcPct val="100000"/>
              </a:lnSpc>
              <a:spcBef>
                <a:spcPts val="0"/>
              </a:spcBef>
            </a:pPr>
            <a:r>
              <a:rPr lang="en-US" sz="3200" b="1" dirty="0"/>
              <a:t> </a:t>
            </a:r>
            <a:endParaRPr lang="cs-CZ" sz="3200" b="1" dirty="0"/>
          </a:p>
          <a:p>
            <a:pPr>
              <a:lnSpc>
                <a:spcPct val="100000"/>
              </a:lnSpc>
              <a:spcBef>
                <a:spcPts val="0"/>
              </a:spcBef>
            </a:pPr>
            <a:r>
              <a:rPr lang="el-GR" sz="2400" dirty="0"/>
              <a:t>Το Παιχνίδι των Χρονισμένων Συγκινήσεων και των Εγγυημένων Νικών</a:t>
            </a:r>
            <a:endParaRPr lang="cs-CZ" sz="2400" dirty="0"/>
          </a:p>
        </p:txBody>
      </p:sp>
      <p:sp>
        <p:nvSpPr>
          <p:cNvPr id="2" name="Text Placeholder 2">
            <a:extLst>
              <a:ext uri="{FF2B5EF4-FFF2-40B4-BE49-F238E27FC236}">
                <a16:creationId xmlns:a16="http://schemas.microsoft.com/office/drawing/2014/main" id="{1086070E-ACDC-9002-4184-53721A4E4475}"/>
              </a:ext>
            </a:extLst>
          </p:cNvPr>
          <p:cNvSpPr txBox="1">
            <a:spLocks noChangeAspect="1"/>
          </p:cNvSpPr>
          <p:nvPr/>
        </p:nvSpPr>
        <p:spPr>
          <a:xfrm>
            <a:off x="112295" y="1828799"/>
            <a:ext cx="6745705" cy="8970963"/>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l-GR" sz="2100" dirty="0"/>
              <a:t>Στον κόσμο του online gaming, τίποτα δεν είναι πιο συναρπαστικό από το να ξέρεις ότι ένα jackpot πρέπει να πέσει—σήμερα, ή ακόμα και αυτή την ώρα.</a:t>
            </a:r>
          </a:p>
          <a:p>
            <a:r>
              <a:rPr lang="el-GR" sz="2100" dirty="0"/>
              <a:t>Αυτό είναι το εκρηκτικό concept των Must-Win Jackpots: μια δυναμική εμπειρία jackpot όπου το κέρδος δεν είναι απλώς πιθανό—είναι εγγυημένο.</a:t>
            </a:r>
            <a:br>
              <a:rPr lang="el-GR" sz="2100" dirty="0"/>
            </a:br>
            <a:r>
              <a:rPr lang="el-GR" sz="2100" dirty="0"/>
              <a:t>Το μόνο ερώτημα είναι: ποιος θα το κερδίσει, και πότε;</a:t>
            </a:r>
          </a:p>
          <a:p>
            <a:r>
              <a:rPr lang="el-GR" sz="2100" dirty="0"/>
              <a:t>Πώς να Κερδίσεις Μεγάλα Ποσά</a:t>
            </a:r>
          </a:p>
          <a:p>
            <a:r>
              <a:rPr lang="el-GR" sz="2100" dirty="0"/>
              <a:t>Jackpots Βασισμένα σε Όγκο Πονταρίσματος</a:t>
            </a:r>
          </a:p>
          <a:p>
            <a:pPr marL="342900" indent="-342900">
              <a:spcBef>
                <a:spcPts val="600"/>
              </a:spcBef>
              <a:buFont typeface="Arial" panose="020B0604020202020204" pitchFamily="34" charset="0"/>
              <a:buChar char="•"/>
            </a:pPr>
            <a:r>
              <a:rPr lang="el-GR" sz="2100" dirty="0"/>
              <a:t>Η Ένταση της Προόδου: Τα πονταρίσματα όλων των παικτών γεμίζουν μια ορατή μπάρα jackpot. Όταν γεμίσει, το jackpot πρέπει να πέσει.</a:t>
            </a:r>
          </a:p>
          <a:p>
            <a:pPr marL="342900" indent="-342900">
              <a:spcBef>
                <a:spcPts val="600"/>
              </a:spcBef>
              <a:buFont typeface="Arial" panose="020B0604020202020204" pitchFamily="34" charset="0"/>
              <a:buChar char="•"/>
            </a:pPr>
            <a:r>
              <a:rPr lang="el-GR" sz="2100" dirty="0"/>
              <a:t>Μοιρασμένη Αγωνία: Όλοι βλέπουν τη μπάρα να ανεβαίνει—κάθε ποντάρισμα φέρνει τη στιγμή πιο κοντά, δημιουργώντας συλλογική ένταση.</a:t>
            </a:r>
          </a:p>
          <a:p>
            <a:pPr marL="342900" indent="-342900">
              <a:spcBef>
                <a:spcPts val="600"/>
              </a:spcBef>
              <a:buFont typeface="Arial" panose="020B0604020202020204" pitchFamily="34" charset="0"/>
              <a:buChar char="•"/>
            </a:pPr>
            <a:r>
              <a:rPr lang="el-GR" sz="2100" dirty="0"/>
              <a:t>Η Τελική Ευθεία: Όσο πλησιάζει το όριο, η δραστηριότητα εκτοξεύεται—όλοι θέλουν να προλάβουν το μεγάλο ξέσπασμα.</a:t>
            </a:r>
          </a:p>
          <a:p>
            <a:pPr marL="342900" indent="-342900">
              <a:spcBef>
                <a:spcPts val="600"/>
              </a:spcBef>
              <a:buFont typeface="Arial" panose="020B0604020202020204" pitchFamily="34" charset="0"/>
              <a:buChar char="•"/>
            </a:pPr>
            <a:r>
              <a:rPr lang="el-GR" sz="2100" dirty="0"/>
              <a:t>Πολλαπλά Επίπεδα Jackpot: Διαφορετικές βαθμίδες Must-Win Jackpots (π.χ. ωριαία, ημερήσια, εβδομαδιαία), για να υπάρχει πάντα ένα jackpot έτοιμο να εκραγεί.</a:t>
            </a:r>
          </a:p>
          <a:p>
            <a:r>
              <a:rPr lang="el-GR" sz="2100" dirty="0"/>
              <a:t>Με Must-Win Jackpots σε διαφορετικά χρονικά διαστήματα, υπάρχει πάντα ένα jackpot που περιμένει να σκάσει.</a:t>
            </a:r>
            <a:br>
              <a:rPr lang="el-GR" sz="2100" dirty="0"/>
            </a:br>
            <a:r>
              <a:rPr lang="el-GR" sz="2100" dirty="0"/>
              <a:t>Δεν είναι απλώς παιχνίδι—είναι ένας αγώνας με τον χρόνο, μια ένταση που κορυφώνεται σε κάθε περιστροφή.</a:t>
            </a:r>
          </a:p>
          <a:p>
            <a:r>
              <a:rPr lang="el-GR" sz="2100" b="1" dirty="0"/>
              <a:t>Η αντίστροφη μέτρηση ξεκίνησε. Το jackpot ανεβαίνει.</a:t>
            </a:r>
            <a:br>
              <a:rPr lang="el-GR" sz="2100" b="1" dirty="0"/>
            </a:br>
            <a:r>
              <a:rPr lang="el-GR" sz="2100" b="1" dirty="0"/>
              <a:t>Η ερώτηση είναι—θα είσαι εσύ ο νικητής;</a:t>
            </a:r>
            <a:endParaRPr lang="el-GR" sz="2100" dirty="0"/>
          </a:p>
        </p:txBody>
      </p:sp>
    </p:spTree>
    <p:extLst>
      <p:ext uri="{BB962C8B-B14F-4D97-AF65-F5344CB8AC3E}">
        <p14:creationId xmlns:p14="http://schemas.microsoft.com/office/powerpoint/2010/main" val="2915784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B5D31-DACA-67AB-56FA-2B090537A02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5215B41-7D02-F159-BBB5-32A42D712476}"/>
              </a:ext>
            </a:extLst>
          </p:cNvPr>
          <p:cNvSpPr/>
          <p:nvPr/>
        </p:nvSpPr>
        <p:spPr>
          <a:xfrm>
            <a:off x="0" y="1"/>
            <a:ext cx="6858000" cy="1031357"/>
          </a:xfrm>
          <a:prstGeom prst="rect">
            <a:avLst/>
          </a:prstGeom>
          <a:solidFill>
            <a:srgbClr val="F6D4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 Placeholder 2">
            <a:extLst>
              <a:ext uri="{FF2B5EF4-FFF2-40B4-BE49-F238E27FC236}">
                <a16:creationId xmlns:a16="http://schemas.microsoft.com/office/drawing/2014/main" id="{7DCFC224-B5FE-A3CB-0F53-056DADCA4A3A}"/>
              </a:ext>
            </a:extLst>
          </p:cNvPr>
          <p:cNvSpPr txBox="1">
            <a:spLocks noChangeAspect="1"/>
          </p:cNvSpPr>
          <p:nvPr/>
        </p:nvSpPr>
        <p:spPr>
          <a:xfrm>
            <a:off x="112295" y="1812759"/>
            <a:ext cx="6745705" cy="8906794"/>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600"/>
              </a:spcBef>
            </a:pPr>
            <a:r>
              <a:rPr lang="el-GR" sz="2300" dirty="0"/>
              <a:t>Στον κόσμο του online gaming, τίποτα δεν είναι πιο συναρπαστικό από το να ξέρεις ότι ένα jackpot πρέπει να πέσει—σήμερα ή ακόμα και μέσα στην επόμενη ώρα.</a:t>
            </a:r>
          </a:p>
          <a:p>
            <a:pPr>
              <a:spcBef>
                <a:spcPts val="600"/>
              </a:spcBef>
            </a:pPr>
            <a:r>
              <a:rPr lang="el-GR" sz="2300" dirty="0"/>
              <a:t>Αυτή είναι η εκρηκτική ιδέα πίσω από τα Must-Win Jackpots: μια δυναμική εμπειρία jackpot όπου το κέρδος δεν είναι απλώς πιθανό—είναι εγγυημένο.</a:t>
            </a:r>
            <a:br>
              <a:rPr lang="el-GR" sz="2300" dirty="0"/>
            </a:br>
            <a:r>
              <a:rPr lang="el-GR" sz="2300" dirty="0"/>
              <a:t>Το μόνο ερώτημα είναι: ποιος θα το κερδίσει και πότε;</a:t>
            </a:r>
          </a:p>
          <a:p>
            <a:pPr>
              <a:spcBef>
                <a:spcPts val="600"/>
              </a:spcBef>
            </a:pPr>
            <a:r>
              <a:rPr lang="en-US" sz="2300" dirty="0"/>
              <a:t>J</a:t>
            </a:r>
            <a:r>
              <a:rPr lang="el-GR" sz="2300" dirty="0"/>
              <a:t>Πώς να Κερδίσεις Μεγάλα Ποσά</a:t>
            </a:r>
          </a:p>
          <a:p>
            <a:pPr>
              <a:spcBef>
                <a:spcPts val="600"/>
              </a:spcBef>
            </a:pPr>
            <a:r>
              <a:rPr lang="el-GR" sz="2300" dirty="0"/>
              <a:t>Jackpots με Χρονικό Κλείδωμα</a:t>
            </a:r>
          </a:p>
          <a:p>
            <a:pPr marL="273050" indent="-273050">
              <a:spcBef>
                <a:spcPts val="0"/>
              </a:spcBef>
              <a:buFont typeface="Arial" panose="020B0604020202020204" pitchFamily="34" charset="0"/>
              <a:buChar char="•"/>
            </a:pPr>
            <a:r>
              <a:rPr lang="el-GR" sz="2300" dirty="0"/>
              <a:t>Συναρπαστικό Τέλος Προθεσμίας: Το jackpot είναι εγγυημένο να πέσει μέχρι μια συγκεκριμένη ώρα—είτε είναι σήμερα τα μεσάνυχτα, αυτή την Παρασκευή στις 20:00, ή ακόμη και κάθε ώρα στην ώρα.</a:t>
            </a:r>
          </a:p>
          <a:p>
            <a:pPr marL="273050" indent="-273050">
              <a:spcBef>
                <a:spcPts val="0"/>
              </a:spcBef>
              <a:buFont typeface="Arial" panose="020B0604020202020204" pitchFamily="34" charset="0"/>
              <a:buChar char="•"/>
            </a:pPr>
            <a:r>
              <a:rPr lang="el-GR" sz="2300" dirty="0"/>
              <a:t>Χρονόμετρα Αντίστροφης Μέτρησης: Ένα live timer μετρά αντίστροφα μέσα στο παιχνίδι, αυξάνοντας την ένταση όσο πλησιάζει η στιγμή.</a:t>
            </a:r>
          </a:p>
          <a:p>
            <a:pPr marL="273050" indent="-273050">
              <a:spcBef>
                <a:spcPts val="0"/>
              </a:spcBef>
              <a:buFont typeface="Arial" panose="020B0604020202020204" pitchFamily="34" charset="0"/>
              <a:buChar char="•"/>
            </a:pPr>
            <a:r>
              <a:rPr lang="el-GR" sz="2300" dirty="0"/>
              <a:t>«Τρέλα της Τελευταίας Στιγμής»: Όσο πλησιάζει το μηδέν, οι παίκτες συρρέουν, κυνηγώντας την τελευταία περιστροφή για τη νίκη.</a:t>
            </a:r>
          </a:p>
          <a:p>
            <a:pPr>
              <a:spcBef>
                <a:spcPts val="600"/>
              </a:spcBef>
            </a:pPr>
            <a:r>
              <a:rPr lang="el-GR" sz="2300" dirty="0"/>
              <a:t>Δεν είναι απλώς παιχνίδι—είναι ένας αγώνας με τον χρόνο, μια καρδιοχτύπηση όπου κάθε spin μετράει, και η έξαψη του να ξέρεις ότι το jackpot πρέπει να πέσει σύντομα σε κάνει να επιστρέφεις.</a:t>
            </a:r>
          </a:p>
          <a:p>
            <a:pPr>
              <a:spcBef>
                <a:spcPts val="600"/>
              </a:spcBef>
            </a:pPr>
            <a:r>
              <a:rPr lang="el-GR" sz="2300" b="1" dirty="0"/>
              <a:t>Η αντίστροφη μέτρηση ξεκίνησε. Το jackpot ανεβαίνει.</a:t>
            </a:r>
            <a:r>
              <a:rPr lang="cs-CZ" sz="2300" b="1" dirty="0"/>
              <a:t> </a:t>
            </a:r>
            <a:r>
              <a:rPr lang="el-GR" sz="2300" b="1" dirty="0"/>
              <a:t>Η ερώτηση είναι—θα είσαι εσύ ο νικητής;</a:t>
            </a:r>
            <a:endParaRPr lang="el-GR" sz="2300" dirty="0"/>
          </a:p>
        </p:txBody>
      </p:sp>
      <p:sp>
        <p:nvSpPr>
          <p:cNvPr id="7" name="Text Placeholder 2">
            <a:extLst>
              <a:ext uri="{FF2B5EF4-FFF2-40B4-BE49-F238E27FC236}">
                <a16:creationId xmlns:a16="http://schemas.microsoft.com/office/drawing/2014/main" id="{8B41C139-16F4-2530-164B-599DFDA2EBE8}"/>
              </a:ext>
            </a:extLst>
          </p:cNvPr>
          <p:cNvSpPr txBox="1">
            <a:spLocks noChangeAspect="1"/>
          </p:cNvSpPr>
          <p:nvPr/>
        </p:nvSpPr>
        <p:spPr>
          <a:xfrm>
            <a:off x="112294" y="2"/>
            <a:ext cx="6745706" cy="1780672"/>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Bef>
                <a:spcPts val="0"/>
              </a:spcBef>
            </a:pPr>
            <a:r>
              <a:rPr lang="en-US" sz="3200" b="1" dirty="0"/>
              <a:t>Time-Locked Must-Win Jackpots</a:t>
            </a:r>
            <a:endParaRPr lang="cs-CZ" sz="3200" b="1"/>
          </a:p>
          <a:p>
            <a:pPr>
              <a:lnSpc>
                <a:spcPct val="100000"/>
              </a:lnSpc>
              <a:spcBef>
                <a:spcPts val="0"/>
              </a:spcBef>
            </a:pPr>
            <a:endParaRPr lang="cs-CZ" sz="3200" b="1" dirty="0"/>
          </a:p>
          <a:p>
            <a:pPr>
              <a:lnSpc>
                <a:spcPct val="100000"/>
              </a:lnSpc>
              <a:spcBef>
                <a:spcPts val="0"/>
              </a:spcBef>
            </a:pPr>
            <a:r>
              <a:rPr lang="el-GR" sz="2400" dirty="0"/>
              <a:t>Το Παιχνίδι των Χρονισμένων Συγκινήσεων και των Εγγυημένων Νικών</a:t>
            </a:r>
            <a:endParaRPr lang="cs-CZ" sz="2400" dirty="0"/>
          </a:p>
        </p:txBody>
      </p:sp>
    </p:spTree>
    <p:extLst>
      <p:ext uri="{BB962C8B-B14F-4D97-AF65-F5344CB8AC3E}">
        <p14:creationId xmlns:p14="http://schemas.microsoft.com/office/powerpoint/2010/main" val="28492054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XCLUDEHIDDENSLIDES" val="False"/>
  <p:tag name="NUMBEROFPAGES" val="5"/>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741da7a-79c1-417c-b408-16c0bfe99fca}" enabled="1" method="Standard" siteId="{1e355c04-e0a4-42ed-8e2d-7351591f0ef1}" contentBits="0" removed="0"/>
</clbl:labelList>
</file>

<file path=docProps/app.xml><?xml version="1.0" encoding="utf-8"?>
<Properties xmlns="http://schemas.openxmlformats.org/officeDocument/2006/extended-properties" xmlns:vt="http://schemas.openxmlformats.org/officeDocument/2006/docPropsVTypes">
  <Template>Office Theme</Template>
  <TotalTime>542</TotalTime>
  <Words>1195</Words>
  <Application>Microsoft Office PowerPoint</Application>
  <PresentationFormat>Custom</PresentationFormat>
  <Paragraphs>62</Paragraphs>
  <Slides>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Rajsnerová, Jana (KTPRG)</dc:creator>
  <cp:lastModifiedBy>Peter Javornický</cp:lastModifiedBy>
  <cp:revision>24</cp:revision>
  <dcterms:created xsi:type="dcterms:W3CDTF">2022-11-09T07:36:23Z</dcterms:created>
  <dcterms:modified xsi:type="dcterms:W3CDTF">2025-12-16T08:53:51Z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741da7a-79c1-417c-b408-16c0bfe99fca_Enabled">
    <vt:lpwstr>true</vt:lpwstr>
  </property>
  <property fmtid="{D5CDD505-2E9C-101B-9397-08002B2CF9AE}" pid="3" name="MSIP_Label_3741da7a-79c1-417c-b408-16c0bfe99fca_SetDate">
    <vt:lpwstr>2023-03-30T08:52:17Z</vt:lpwstr>
  </property>
  <property fmtid="{D5CDD505-2E9C-101B-9397-08002B2CF9AE}" pid="4" name="MSIP_Label_3741da7a-79c1-417c-b408-16c0bfe99fca_Method">
    <vt:lpwstr>Standard</vt:lpwstr>
  </property>
  <property fmtid="{D5CDD505-2E9C-101B-9397-08002B2CF9AE}" pid="5" name="MSIP_Label_3741da7a-79c1-417c-b408-16c0bfe99fca_Name">
    <vt:lpwstr>Internal Only - Amber</vt:lpwstr>
  </property>
  <property fmtid="{D5CDD505-2E9C-101B-9397-08002B2CF9AE}" pid="6" name="MSIP_Label_3741da7a-79c1-417c-b408-16c0bfe99fca_SiteId">
    <vt:lpwstr>1e355c04-e0a4-42ed-8e2d-7351591f0ef1</vt:lpwstr>
  </property>
  <property fmtid="{D5CDD505-2E9C-101B-9397-08002B2CF9AE}" pid="7" name="MSIP_Label_3741da7a-79c1-417c-b408-16c0bfe99fca_ActionId">
    <vt:lpwstr>5b4cd54c-153d-4cdd-b8e7-de533e844d37</vt:lpwstr>
  </property>
  <property fmtid="{D5CDD505-2E9C-101B-9397-08002B2CF9AE}" pid="8" name="MSIP_Label_3741da7a-79c1-417c-b408-16c0bfe99fca_ContentBits">
    <vt:lpwstr>0</vt:lpwstr>
  </property>
</Properties>
</file>