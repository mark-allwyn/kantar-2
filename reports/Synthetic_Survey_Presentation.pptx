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Synthetic Survey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Reducing Dependency on External Market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08080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System generates synthetic survey respondents using LLMs + Semantic Similarity Rating</a:t>
            </a:r>
          </a:p>
          <a:p>
            <a:pPr>
              <a:spcAft>
                <a:spcPts val="1200"/>
              </a:spcAft>
              <a:defRPr sz="2000"/>
            </a:pPr>
            <a:r>
              <a:t>• Validated against 7 Kantar study/market combinations (US, UK)</a:t>
            </a:r>
          </a:p>
          <a:p>
            <a:pPr>
              <a:spcAft>
                <a:spcPts val="1200"/>
              </a:spcAft>
              <a:defRPr sz="2000"/>
            </a:pPr>
            <a:r>
              <a:t>• Core questions (Purchase Intent, Excitement) achieve 81-97% similarity</a:t>
            </a:r>
          </a:p>
          <a:p>
            <a:pPr>
              <a:spcAft>
                <a:spcPts val="1200"/>
              </a:spcAft>
              <a:defRPr sz="2000"/>
            </a:pPr>
            <a:r>
              <a:t>• Overall KS similarity ranges from 76-98% depending on study complexity</a:t>
            </a:r>
          </a:p>
          <a:p>
            <a:pPr>
              <a:spcAft>
                <a:spcPts val="1200"/>
              </a:spcAft>
              <a:defRPr sz="2000"/>
            </a:pPr>
            <a:r>
              <a:t>• Cost: ~$2-5 per 50 respondents vs. $500+ for Kantar fielding</a:t>
            </a:r>
          </a:p>
          <a:p>
            <a:pPr>
              <a:spcAft>
                <a:spcPts val="1200"/>
              </a:spcAft>
              <a:defRPr sz="2000"/>
            </a:pPr>
            <a:r>
              <a:t>• Speed: Same-day concept iteration vs. weeks for re-fielding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Achieved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KS Similarity (Overall)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&gt;85%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76-98%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KS Similarity (Core Questions)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81-97%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Strong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KL Divergence (Mean)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&lt;0.20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0.02-3.70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KL Divergence (Median)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0.03-1.29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Closer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Question Coverage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Meets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Cost per 50 respondents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 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~$2-5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Exceeds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How It Works: SSR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Semantic Similarity Rating converts free-text to scale ratings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Based on academic paper: 'LLMs Reproduce Human Purchase Intent via Semantic Similarity' (arXiv:2510.08338)</a:t>
            </a:r>
          </a:p>
          <a:p>
            <a:pPr>
              <a:spcAft>
                <a:spcPts val="1200"/>
              </a:spcAft>
              <a:defRPr sz="2000"/>
            </a:pPr>
            <a:r>
              <a:t>• LLM generates natural language response to survey question</a:t>
            </a:r>
          </a:p>
          <a:p>
            <a:pPr>
              <a:spcAft>
                <a:spcPts val="1200"/>
              </a:spcAft>
              <a:defRPr sz="2000"/>
            </a:pPr>
            <a:r>
              <a:t>• Response embedded using text-embedding-3-small</a:t>
            </a:r>
          </a:p>
          <a:p>
            <a:pPr>
              <a:spcAft>
                <a:spcPts val="1200"/>
              </a:spcAft>
              <a:defRPr sz="2000"/>
            </a:pPr>
            <a:r>
              <a:t>• Cosine similarity computed against anchor texts for each scale level</a:t>
            </a:r>
          </a:p>
          <a:p>
            <a:pPr>
              <a:spcAft>
                <a:spcPts val="1200"/>
              </a:spcAft>
              <a:defRPr sz="2000"/>
            </a:pPr>
            <a:r>
              <a:t>• 6 reference sets averaged for robustness</a:t>
            </a:r>
          </a:p>
          <a:p>
            <a:pPr>
              <a:spcAft>
                <a:spcPts val="1200"/>
              </a:spcAft>
              <a:defRPr sz="2000"/>
            </a:pPr>
            <a:r>
              <a:t>• Final rating selected via sampling (preserves variance)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Generation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1. Load ground truth data, extract concepts from PPTX</a:t>
            </a:r>
          </a:p>
          <a:p>
            <a:pPr>
              <a:spcAft>
                <a:spcPts val="1200"/>
              </a:spcAft>
              <a:defRPr sz="2000"/>
            </a:pPr>
            <a:r>
              <a:t>• 2. Sample demographics from ground truth distributions</a:t>
            </a:r>
          </a:p>
          <a:p>
            <a:pPr>
              <a:spcAft>
                <a:spcPts val="1200"/>
              </a:spcAft>
              <a:defRPr sz="2000"/>
            </a:pPr>
            <a:r>
              <a:t>• 3. Assign 3 concepts per respondent (matching Kantar method)</a:t>
            </a:r>
          </a:p>
          <a:p>
            <a:pPr>
              <a:spcAft>
                <a:spcPts val="1200"/>
              </a:spcAft>
              <a:defRPr sz="2000"/>
            </a:pPr>
            <a:r>
              <a:t>• 4. Generate free-text responses using GPT-4o-mini with persona context</a:t>
            </a:r>
          </a:p>
          <a:p>
            <a:pPr>
              <a:spcAft>
                <a:spcPts val="1200"/>
              </a:spcAft>
              <a:defRPr sz="2000"/>
            </a:pPr>
            <a:r>
              <a:t>• 5. Apply SSR to convert text to scale ratings</a:t>
            </a:r>
          </a:p>
          <a:p>
            <a:pPr>
              <a:spcAft>
                <a:spcPts val="1200"/>
              </a:spcAft>
              <a:defRPr sz="2000"/>
            </a:pPr>
            <a:r>
              <a:t>• 6. Format output to match Kantar Excel template</a:t>
            </a:r>
          </a:p>
          <a:p>
            <a:pPr>
              <a:spcAft>
                <a:spcPts val="1200"/>
              </a:spcAft>
              <a:defRPr sz="2000"/>
            </a:pPr>
            <a:r>
              <a:t>• 7. Validate against ground truth using KL divergence and KS statistics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Validation Results by Study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Market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KS Similarity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Mean KL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Ideas Screening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97.7%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Ideas Screening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Tech ScratchCards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81.5%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3.65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Innovation Concepts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iGaming Concept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78.6%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2.67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iGaming 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Thunderball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77.3%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3.70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Metrics exclude: demographics (sampled from GT), screening questions, and open-ended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Performance by Question Type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KS Similarity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KL Divergence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Purchase Intent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81-92%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0.03-0.19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Excitement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62-97%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0.005-1.95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Strong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Uniqueness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60-97%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0.04-2.06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Likeability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74-94%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0.05-2.08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Good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Believability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57-84%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0.13-0.68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Needs 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29-86%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0.07-9.71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Challenging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Open Text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40-56%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17.3-18.5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Note: Demographics, screening questions (CATBUYER, CATNREJ, BRDBUY), and open-ended questions (LIKES_STD) are excluded from validation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Findings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Works vs. What Needs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8000"/>
                </a:solidFill>
              </a:defRPr>
            </a:pPr>
            <a:r>
              <a:t>Works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Purchase Intent (KS 81-92%, KL 0.03-0.19)</a:t>
            </a:r>
          </a:p>
          <a:p>
            <a:pPr>
              <a:spcAft>
                <a:spcPts val="800"/>
              </a:spcAft>
              <a:defRPr sz="1600"/>
            </a:pPr>
            <a:r>
              <a:t>• Excitement (KS 62-97%, KL 0.005-1.95)</a:t>
            </a:r>
          </a:p>
          <a:p>
            <a:pPr>
              <a:spcAft>
                <a:spcPts val="800"/>
              </a:spcAft>
              <a:defRPr sz="1600"/>
            </a:pPr>
            <a:r>
              <a:t>• Uniqueness (KS 60-97%, KL 0.04-2.06)</a:t>
            </a:r>
          </a:p>
          <a:p>
            <a:pPr>
              <a:spcAft>
                <a:spcPts val="800"/>
              </a:spcAft>
              <a:defRPr sz="1600"/>
            </a:pPr>
            <a:r>
              <a:t>• Simple studies (97.7% KS, 0.02 KL)</a:t>
            </a:r>
          </a:p>
          <a:p>
            <a:pPr>
              <a:spcAft>
                <a:spcPts val="800"/>
              </a:spcAft>
              <a:defRPr sz="1600"/>
            </a:pPr>
            <a:r>
              <a:t>• Cross-market consistency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0000"/>
                </a:solidFill>
              </a:defRPr>
            </a:pPr>
            <a:r>
              <a:t>Needs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Relevance (KS 29-86%, KL up to 9.71)</a:t>
            </a:r>
          </a:p>
          <a:p>
            <a:pPr>
              <a:spcAft>
                <a:spcPts val="800"/>
              </a:spcAft>
              <a:defRPr sz="1600"/>
            </a:pPr>
            <a:r>
              <a:t>• Believability (KS 57-84%)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• Complex multi-concept studies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8000"/>
                </a:solidFill>
              </a:defRPr>
            </a:pPr>
            <a:r>
              <a:t>Ready Now (High Confidence)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Concept screening for early-stage winnowing</a:t>
            </a:r>
          </a:p>
          <a:p>
            <a:pPr>
              <a:spcAft>
                <a:spcPts val="800"/>
              </a:spcAft>
              <a:defRPr sz="1600"/>
            </a:pPr>
            <a:r>
              <a:t>• A/B concept comparison (relative rankings)</a:t>
            </a:r>
          </a:p>
          <a:p>
            <a:pPr>
              <a:spcAft>
                <a:spcPts val="800"/>
              </a:spcAft>
              <a:defRPr sz="1600"/>
            </a:pPr>
            <a:r>
              <a:t>• Rapid iteration testing</a:t>
            </a:r>
          </a:p>
          <a:p>
            <a:pPr>
              <a:spcAft>
                <a:spcPts val="800"/>
              </a:spcAft>
              <a:defRPr sz="1600"/>
            </a:pPr>
            <a:r>
              <a:t>• Internal prototyping before fielding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0000"/>
                </a:solidFill>
              </a:defRPr>
            </a:pPr>
            <a:r>
              <a:t>Use With Caution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Final go/no-go decisions</a:t>
            </a:r>
          </a:p>
          <a:p>
            <a:pPr>
              <a:spcAft>
                <a:spcPts val="800"/>
              </a:spcAft>
              <a:defRPr sz="1600"/>
            </a:pPr>
            <a:r>
              <a:t>• Relevance-heavy studies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• Studies requiring exact percentages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Recommended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Balance speed and cost with appropriate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Hybrid Model: Use synthetic for screening, validate finalists with real respondents</a:t>
            </a:r>
          </a:p>
          <a:p>
            <a:pPr>
              <a:spcAft>
                <a:spcPts val="1200"/>
              </a:spcAft>
              <a:defRPr sz="2000"/>
            </a:pPr>
            <a:r>
              <a:t>• Cost savings: Screen 10 concepts synthetically ($20), field top 3 with Kantar</a:t>
            </a:r>
          </a:p>
          <a:p>
            <a:pPr>
              <a:spcAft>
                <a:spcPts val="1200"/>
              </a:spcAft>
              <a:defRPr sz="2000"/>
            </a:pPr>
            <a:r>
              <a:t>• Speed advantage: Same-day iteration on concept modifications</a:t>
            </a:r>
          </a:p>
          <a:p>
            <a:pPr>
              <a:spcAft>
                <a:spcPts val="1200"/>
              </a:spcAft>
              <a:defRPr sz="2000"/>
            </a:pPr>
            <a:r>
              <a:t>• Validation cadence: Re-validate quarterly against new ground truth</a:t>
            </a:r>
          </a:p>
          <a:p>
            <a:pPr>
              <a:spcAft>
                <a:spcPts val="1200"/>
              </a:spcAft>
              <a:defRPr sz="2000"/>
            </a:pPr>
            <a:r>
              <a:t>• Clear communication: Stakeholders must understand this is directional, not definitive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Risks &amp; Limitations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Risks to Consider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LLM Bias: Models may reflect training data biases, not authentic consumer opinions</a:t>
            </a:r>
          </a:p>
          <a:p>
            <a:pPr>
              <a:spcAft>
                <a:spcPts val="1200"/>
              </a:spcAft>
              <a:defRPr sz="2000"/>
            </a:pPr>
            <a:r>
              <a:t>• Distribution Collapse: LLMs produce more moderate responses, missing extremes</a:t>
            </a:r>
          </a:p>
          <a:p>
            <a:pPr>
              <a:spcAft>
                <a:spcPts val="1200"/>
              </a:spcAft>
              <a:defRPr sz="2000"/>
            </a:pPr>
            <a:r>
              <a:t>• Concept Misinterpretation: Visual elements described textually may lose context</a:t>
            </a:r>
          </a:p>
          <a:p>
            <a:pPr>
              <a:spcAft>
                <a:spcPts val="1200"/>
              </a:spcAft>
              <a:defRPr sz="2000"/>
            </a:pPr>
            <a:r>
              <a:t>• Overfitting: Tuning to one study may not generalize to others</a:t>
            </a:r>
          </a:p>
          <a:p>
            <a:pPr>
              <a:spcAft>
                <a:spcPts val="1200"/>
              </a:spcAft>
              <a:defRPr sz="2000"/>
            </a:pPr>
            <a:r>
              <a:t>• API Dependency: Relies on OpenAI availability and model stability</a:t>
            </a:r>
          </a:p>
          <a:p>
            <a:pPr>
              <a:spcAft>
                <a:spcPts val="1200"/>
              </a:spcAft>
              <a:defRPr sz="2000"/>
            </a:pPr>
            <a:r>
              <a:t>• Over-Reliance: Risk of treating synthetic as equivalent to real research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Mitigation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Always validate against ground truth when available</a:t>
            </a:r>
          </a:p>
          <a:p>
            <a:pPr>
              <a:spcAft>
                <a:spcPts val="1200"/>
              </a:spcAft>
              <a:defRPr sz="2000"/>
            </a:pPr>
            <a:r>
              <a:t>• Use synthetic for directional insights, not final decisions</a:t>
            </a:r>
          </a:p>
          <a:p>
            <a:pPr>
              <a:spcAft>
                <a:spcPts val="1200"/>
              </a:spcAft>
              <a:defRPr sz="2000"/>
            </a:pPr>
            <a:r>
              <a:t>• Maintain validation cadence (quarterly against new GT data)</a:t>
            </a:r>
          </a:p>
          <a:p>
            <a:pPr>
              <a:spcAft>
                <a:spcPts val="1200"/>
              </a:spcAft>
              <a:defRPr sz="2000"/>
            </a:pPr>
            <a:r>
              <a:t>• Document and version-control all prompts and anchor texts</a:t>
            </a:r>
          </a:p>
          <a:p>
            <a:pPr>
              <a:spcAft>
                <a:spcPts val="1200"/>
              </a:spcAft>
              <a:defRPr sz="2000"/>
            </a:pPr>
            <a:r>
              <a:t>• Monitor LLM model versions; re-validate after updates</a:t>
            </a:r>
          </a:p>
          <a:p>
            <a:pPr>
              <a:spcAft>
                <a:spcPts val="1200"/>
              </a:spcAft>
              <a:defRPr sz="2000"/>
            </a:pPr>
            <a:r>
              <a:t>• Train stakeholders on appropriate use cases and limitations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Cost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Synthetic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Kantar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 respondents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~$2-5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$500+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 respondents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~$4-10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$1,000+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Turnaround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1.5 hours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1-2 weeks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Iteration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~$2-5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$500+ each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 concept screen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~$20-50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$5,000+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1. Pilot program: Run 2-3 upcoming concept screens in parallel (synthetic + Kantar)</a:t>
            </a:r>
          </a:p>
          <a:p>
            <a:pPr>
              <a:spcAft>
                <a:spcPts val="1200"/>
              </a:spcAft>
              <a:defRPr sz="2000"/>
            </a:pPr>
            <a:r>
              <a:t>• 2. Refine weak areas: Improve relevance and believability anchor texts</a:t>
            </a:r>
          </a:p>
          <a:p>
            <a:pPr>
              <a:spcAft>
                <a:spcPts val="1200"/>
              </a:spcAft>
              <a:defRPr sz="2000"/>
            </a:pPr>
            <a:r>
              <a:t>• 3. Expand validation: Test on additional study types beyond concept evaluation</a:t>
            </a:r>
          </a:p>
          <a:p>
            <a:pPr>
              <a:spcAft>
                <a:spcPts val="1200"/>
              </a:spcAft>
              <a:defRPr sz="2000"/>
            </a:pPr>
            <a:r>
              <a:t>• 4. Stakeholder training: Create guidelines for appropriate use</a:t>
            </a:r>
          </a:p>
          <a:p>
            <a:pPr>
              <a:spcAft>
                <a:spcPts val="1200"/>
              </a:spcAft>
              <a:defRPr sz="2000"/>
            </a:pPr>
            <a:r>
              <a:t>• 5. Monitoring: Set up validation tracking to detect drift over time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Synthetic Survey Generation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08080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