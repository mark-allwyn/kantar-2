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3"/>
  </p:notesMasterIdLst>
  <p:sldIdLst>
    <p:sldId id="272" r:id="rId2"/>
    <p:sldId id="273" r:id="rId3"/>
    <p:sldId id="274" r:id="rId4"/>
    <p:sldId id="275" r:id="rId5"/>
    <p:sldId id="276" r:id="rId6"/>
    <p:sldId id="277" r:id="rId7"/>
    <p:sldId id="278" r:id="rId8"/>
    <p:sldId id="279" r:id="rId9"/>
    <p:sldId id="280" r:id="rId10"/>
    <p:sldId id="282" r:id="rId11"/>
    <p:sldId id="281" r:id="rId12"/>
  </p:sldIdLst>
  <p:sldSz cx="6858000" cy="10799763"/>
  <p:notesSz cx="6858000" cy="9144000"/>
  <p:custDataLst>
    <p:tags r:id="rId14"/>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0EA3C20-750C-465F-8952-F128E0C91400}" v="10" dt="2025-12-16T08:23:20.07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94" autoAdjust="0"/>
    <p:restoredTop sz="94660"/>
  </p:normalViewPr>
  <p:slideViewPr>
    <p:cSldViewPr snapToGrid="0">
      <p:cViewPr varScale="1">
        <p:scale>
          <a:sx n="65" d="100"/>
          <a:sy n="65" d="100"/>
        </p:scale>
        <p:origin x="3348"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gs" Target="tags/tag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eter Javornický" userId="3b98f8e0-d449-4f6e-b57d-5f9bfb7a5c2c" providerId="ADAL" clId="{88A10E76-C547-4713-B92A-3B48010D5CF0}"/>
    <pc:docChg chg="undo redo custSel modSld">
      <pc:chgData name="Peter Javornický" userId="3b98f8e0-d449-4f6e-b57d-5f9bfb7a5c2c" providerId="ADAL" clId="{88A10E76-C547-4713-B92A-3B48010D5CF0}" dt="2025-12-16T08:23:20.072" v="49"/>
      <pc:docMkLst>
        <pc:docMk/>
      </pc:docMkLst>
      <pc:sldChg chg="modSp mod">
        <pc:chgData name="Peter Javornický" userId="3b98f8e0-d449-4f6e-b57d-5f9bfb7a5c2c" providerId="ADAL" clId="{88A10E76-C547-4713-B92A-3B48010D5CF0}" dt="2025-12-16T08:15:30.201" v="19"/>
        <pc:sldMkLst>
          <pc:docMk/>
          <pc:sldMk cId="3669162915" sldId="272"/>
        </pc:sldMkLst>
        <pc:spChg chg="mod">
          <ac:chgData name="Peter Javornický" userId="3b98f8e0-d449-4f6e-b57d-5f9bfb7a5c2c" providerId="ADAL" clId="{88A10E76-C547-4713-B92A-3B48010D5CF0}" dt="2025-12-16T08:15:30.201" v="19"/>
          <ac:spMkLst>
            <pc:docMk/>
            <pc:sldMk cId="3669162915" sldId="272"/>
            <ac:spMk id="2" creationId="{44502129-00D9-C538-5C9D-8BE935563DC8}"/>
          </ac:spMkLst>
        </pc:spChg>
      </pc:sldChg>
      <pc:sldChg chg="modSp mod">
        <pc:chgData name="Peter Javornický" userId="3b98f8e0-d449-4f6e-b57d-5f9bfb7a5c2c" providerId="ADAL" clId="{88A10E76-C547-4713-B92A-3B48010D5CF0}" dt="2025-12-16T08:17:12.146" v="22"/>
        <pc:sldMkLst>
          <pc:docMk/>
          <pc:sldMk cId="3385882476" sldId="273"/>
        </pc:sldMkLst>
        <pc:spChg chg="mod">
          <ac:chgData name="Peter Javornický" userId="3b98f8e0-d449-4f6e-b57d-5f9bfb7a5c2c" providerId="ADAL" clId="{88A10E76-C547-4713-B92A-3B48010D5CF0}" dt="2025-12-16T08:17:12.146" v="22"/>
          <ac:spMkLst>
            <pc:docMk/>
            <pc:sldMk cId="3385882476" sldId="273"/>
            <ac:spMk id="21" creationId="{A669874F-89FA-6E78-114B-B92FDA79AFA0}"/>
          </ac:spMkLst>
        </pc:spChg>
      </pc:sldChg>
      <pc:sldChg chg="modSp mod">
        <pc:chgData name="Peter Javornický" userId="3b98f8e0-d449-4f6e-b57d-5f9bfb7a5c2c" providerId="ADAL" clId="{88A10E76-C547-4713-B92A-3B48010D5CF0}" dt="2025-12-16T08:17:21.804" v="25"/>
        <pc:sldMkLst>
          <pc:docMk/>
          <pc:sldMk cId="1036419051" sldId="274"/>
        </pc:sldMkLst>
        <pc:spChg chg="mod">
          <ac:chgData name="Peter Javornický" userId="3b98f8e0-d449-4f6e-b57d-5f9bfb7a5c2c" providerId="ADAL" clId="{88A10E76-C547-4713-B92A-3B48010D5CF0}" dt="2025-12-16T08:17:21.804" v="25"/>
          <ac:spMkLst>
            <pc:docMk/>
            <pc:sldMk cId="1036419051" sldId="274"/>
            <ac:spMk id="26" creationId="{E429CABF-1FF3-A85E-0EB7-30C550D607D9}"/>
          </ac:spMkLst>
        </pc:spChg>
      </pc:sldChg>
      <pc:sldChg chg="modSp mod">
        <pc:chgData name="Peter Javornický" userId="3b98f8e0-d449-4f6e-b57d-5f9bfb7a5c2c" providerId="ADAL" clId="{88A10E76-C547-4713-B92A-3B48010D5CF0}" dt="2025-12-16T08:18:35.593" v="28"/>
        <pc:sldMkLst>
          <pc:docMk/>
          <pc:sldMk cId="2300396861" sldId="275"/>
        </pc:sldMkLst>
        <pc:spChg chg="mod">
          <ac:chgData name="Peter Javornický" userId="3b98f8e0-d449-4f6e-b57d-5f9bfb7a5c2c" providerId="ADAL" clId="{88A10E76-C547-4713-B92A-3B48010D5CF0}" dt="2025-12-16T08:18:35.593" v="28"/>
          <ac:spMkLst>
            <pc:docMk/>
            <pc:sldMk cId="2300396861" sldId="275"/>
            <ac:spMk id="27" creationId="{89153A0E-BD1C-669D-A9E8-1FD97DABBBC9}"/>
          </ac:spMkLst>
        </pc:spChg>
      </pc:sldChg>
      <pc:sldChg chg="modSp mod">
        <pc:chgData name="Peter Javornický" userId="3b98f8e0-d449-4f6e-b57d-5f9bfb7a5c2c" providerId="ADAL" clId="{88A10E76-C547-4713-B92A-3B48010D5CF0}" dt="2025-12-16T08:18:45.666" v="31"/>
        <pc:sldMkLst>
          <pc:docMk/>
          <pc:sldMk cId="2574641618" sldId="276"/>
        </pc:sldMkLst>
        <pc:spChg chg="mod">
          <ac:chgData name="Peter Javornický" userId="3b98f8e0-d449-4f6e-b57d-5f9bfb7a5c2c" providerId="ADAL" clId="{88A10E76-C547-4713-B92A-3B48010D5CF0}" dt="2025-12-16T08:18:45.666" v="31"/>
          <ac:spMkLst>
            <pc:docMk/>
            <pc:sldMk cId="2574641618" sldId="276"/>
            <ac:spMk id="19" creationId="{108C060C-D3A8-7D72-6BB5-F7B8BF99C5CE}"/>
          </ac:spMkLst>
        </pc:spChg>
      </pc:sldChg>
      <pc:sldChg chg="modSp mod">
        <pc:chgData name="Peter Javornický" userId="3b98f8e0-d449-4f6e-b57d-5f9bfb7a5c2c" providerId="ADAL" clId="{88A10E76-C547-4713-B92A-3B48010D5CF0}" dt="2025-12-16T08:20:00.200" v="34"/>
        <pc:sldMkLst>
          <pc:docMk/>
          <pc:sldMk cId="3522380568" sldId="277"/>
        </pc:sldMkLst>
        <pc:spChg chg="mod">
          <ac:chgData name="Peter Javornický" userId="3b98f8e0-d449-4f6e-b57d-5f9bfb7a5c2c" providerId="ADAL" clId="{88A10E76-C547-4713-B92A-3B48010D5CF0}" dt="2025-12-16T08:20:00.200" v="34"/>
          <ac:spMkLst>
            <pc:docMk/>
            <pc:sldMk cId="3522380568" sldId="277"/>
            <ac:spMk id="17" creationId="{E6D56636-B781-6C72-9345-D6D0A3D280FB}"/>
          </ac:spMkLst>
        </pc:spChg>
      </pc:sldChg>
      <pc:sldChg chg="modSp mod">
        <pc:chgData name="Peter Javornický" userId="3b98f8e0-d449-4f6e-b57d-5f9bfb7a5c2c" providerId="ADAL" clId="{88A10E76-C547-4713-B92A-3B48010D5CF0}" dt="2025-12-16T08:20:14.444" v="37"/>
        <pc:sldMkLst>
          <pc:docMk/>
          <pc:sldMk cId="2895819414" sldId="278"/>
        </pc:sldMkLst>
        <pc:spChg chg="mod">
          <ac:chgData name="Peter Javornický" userId="3b98f8e0-d449-4f6e-b57d-5f9bfb7a5c2c" providerId="ADAL" clId="{88A10E76-C547-4713-B92A-3B48010D5CF0}" dt="2025-12-16T08:20:14.444" v="37"/>
          <ac:spMkLst>
            <pc:docMk/>
            <pc:sldMk cId="2895819414" sldId="278"/>
            <ac:spMk id="15" creationId="{A2B7A311-281C-FD69-FDB3-75067AFB0BE5}"/>
          </ac:spMkLst>
        </pc:spChg>
      </pc:sldChg>
      <pc:sldChg chg="modSp mod">
        <pc:chgData name="Peter Javornický" userId="3b98f8e0-d449-4f6e-b57d-5f9bfb7a5c2c" providerId="ADAL" clId="{88A10E76-C547-4713-B92A-3B48010D5CF0}" dt="2025-12-16T08:21:32.530" v="40"/>
        <pc:sldMkLst>
          <pc:docMk/>
          <pc:sldMk cId="2270449164" sldId="279"/>
        </pc:sldMkLst>
        <pc:spChg chg="mod">
          <ac:chgData name="Peter Javornický" userId="3b98f8e0-d449-4f6e-b57d-5f9bfb7a5c2c" providerId="ADAL" clId="{88A10E76-C547-4713-B92A-3B48010D5CF0}" dt="2025-12-16T08:21:32.530" v="40"/>
          <ac:spMkLst>
            <pc:docMk/>
            <pc:sldMk cId="2270449164" sldId="279"/>
            <ac:spMk id="23" creationId="{40E9EF81-5DC9-3A08-A348-823FDD5F16CD}"/>
          </ac:spMkLst>
        </pc:spChg>
      </pc:sldChg>
      <pc:sldChg chg="modSp mod">
        <pc:chgData name="Peter Javornický" userId="3b98f8e0-d449-4f6e-b57d-5f9bfb7a5c2c" providerId="ADAL" clId="{88A10E76-C547-4713-B92A-3B48010D5CF0}" dt="2025-12-16T08:21:44.707" v="43"/>
        <pc:sldMkLst>
          <pc:docMk/>
          <pc:sldMk cId="2577955923" sldId="280"/>
        </pc:sldMkLst>
        <pc:spChg chg="mod">
          <ac:chgData name="Peter Javornický" userId="3b98f8e0-d449-4f6e-b57d-5f9bfb7a5c2c" providerId="ADAL" clId="{88A10E76-C547-4713-B92A-3B48010D5CF0}" dt="2025-12-16T08:21:44.707" v="43"/>
          <ac:spMkLst>
            <pc:docMk/>
            <pc:sldMk cId="2577955923" sldId="280"/>
            <ac:spMk id="14" creationId="{3508B767-0564-750A-D90F-F07E9F080224}"/>
          </ac:spMkLst>
        </pc:spChg>
      </pc:sldChg>
      <pc:sldChg chg="modSp mod">
        <pc:chgData name="Peter Javornický" userId="3b98f8e0-d449-4f6e-b57d-5f9bfb7a5c2c" providerId="ADAL" clId="{88A10E76-C547-4713-B92A-3B48010D5CF0}" dt="2025-12-16T08:23:20.072" v="49"/>
        <pc:sldMkLst>
          <pc:docMk/>
          <pc:sldMk cId="3820080283" sldId="281"/>
        </pc:sldMkLst>
        <pc:spChg chg="mod">
          <ac:chgData name="Peter Javornický" userId="3b98f8e0-d449-4f6e-b57d-5f9bfb7a5c2c" providerId="ADAL" clId="{88A10E76-C547-4713-B92A-3B48010D5CF0}" dt="2025-12-16T08:23:20.072" v="49"/>
          <ac:spMkLst>
            <pc:docMk/>
            <pc:sldMk cId="3820080283" sldId="281"/>
            <ac:spMk id="15" creationId="{23FC829F-190D-FCDB-8BCE-B3C54BCE7E24}"/>
          </ac:spMkLst>
        </pc:spChg>
      </pc:sldChg>
      <pc:sldChg chg="modSp mod">
        <pc:chgData name="Peter Javornický" userId="3b98f8e0-d449-4f6e-b57d-5f9bfb7a5c2c" providerId="ADAL" clId="{88A10E76-C547-4713-B92A-3B48010D5CF0}" dt="2025-12-16T08:23:05.896" v="46"/>
        <pc:sldMkLst>
          <pc:docMk/>
          <pc:sldMk cId="177573063" sldId="282"/>
        </pc:sldMkLst>
        <pc:spChg chg="mod">
          <ac:chgData name="Peter Javornický" userId="3b98f8e0-d449-4f6e-b57d-5f9bfb7a5c2c" providerId="ADAL" clId="{88A10E76-C547-4713-B92A-3B48010D5CF0}" dt="2025-12-16T08:23:05.896" v="46"/>
          <ac:spMkLst>
            <pc:docMk/>
            <pc:sldMk cId="177573063" sldId="282"/>
            <ac:spMk id="18" creationId="{A30F4D9E-0DAE-5BF5-BBED-A6B72CE567C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8428576-1518-49B0-AA00-14C05CA98206}" type="datetimeFigureOut">
              <a:rPr lang="en-US" smtClean="0"/>
              <a:t>12/16/2025</a:t>
            </a:fld>
            <a:endParaRPr lang="en-US"/>
          </a:p>
        </p:txBody>
      </p:sp>
      <p:sp>
        <p:nvSpPr>
          <p:cNvPr id="4" name="Slide Image Placeholder 3"/>
          <p:cNvSpPr>
            <a:spLocks noGrp="1" noRot="1" noChangeAspect="1"/>
          </p:cNvSpPr>
          <p:nvPr>
            <p:ph type="sldImg" idx="2"/>
          </p:nvPr>
        </p:nvSpPr>
        <p:spPr>
          <a:xfrm>
            <a:off x="2449513" y="1143000"/>
            <a:ext cx="19589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22E046B-D405-48ED-9E04-8643E3702DCC}" type="slidenum">
              <a:rPr lang="en-US" smtClean="0"/>
              <a:t>‹#›</a:t>
            </a:fld>
            <a:endParaRPr lang="en-US"/>
          </a:p>
        </p:txBody>
      </p:sp>
    </p:spTree>
    <p:extLst>
      <p:ext uri="{BB962C8B-B14F-4D97-AF65-F5344CB8AC3E}">
        <p14:creationId xmlns:p14="http://schemas.microsoft.com/office/powerpoint/2010/main" val="8579931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cs-CZ" sz="1200" dirty="0"/>
              <a:t>Concept 1 - Powerball</a:t>
            </a:r>
          </a:p>
        </p:txBody>
      </p:sp>
      <p:sp>
        <p:nvSpPr>
          <p:cNvPr id="4" name="Slide Number Placeholder 3"/>
          <p:cNvSpPr>
            <a:spLocks noGrp="1"/>
          </p:cNvSpPr>
          <p:nvPr>
            <p:ph type="sldNum" sz="quarter" idx="5"/>
          </p:nvPr>
        </p:nvSpPr>
        <p:spPr/>
        <p:txBody>
          <a:bodyPr/>
          <a:lstStyle/>
          <a:p>
            <a:fld id="{F22E046B-D405-48ED-9E04-8643E3702DCC}" type="slidenum">
              <a:rPr lang="en-US" smtClean="0"/>
              <a:t>1</a:t>
            </a:fld>
            <a:endParaRPr lang="en-US"/>
          </a:p>
        </p:txBody>
      </p:sp>
    </p:spTree>
    <p:extLst>
      <p:ext uri="{BB962C8B-B14F-4D97-AF65-F5344CB8AC3E}">
        <p14:creationId xmlns:p14="http://schemas.microsoft.com/office/powerpoint/2010/main" val="25320620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cs-CZ" sz="1200" dirty="0"/>
              <a:t>Concept 2 - MegaMillions</a:t>
            </a:r>
          </a:p>
        </p:txBody>
      </p:sp>
      <p:sp>
        <p:nvSpPr>
          <p:cNvPr id="4" name="Slide Number Placeholder 3"/>
          <p:cNvSpPr>
            <a:spLocks noGrp="1"/>
          </p:cNvSpPr>
          <p:nvPr>
            <p:ph type="sldNum" sz="quarter" idx="5"/>
          </p:nvPr>
        </p:nvSpPr>
        <p:spPr/>
        <p:txBody>
          <a:bodyPr/>
          <a:lstStyle/>
          <a:p>
            <a:fld id="{F22E046B-D405-48ED-9E04-8643E3702DCC}" type="slidenum">
              <a:rPr lang="en-US" smtClean="0"/>
              <a:t>2</a:t>
            </a:fld>
            <a:endParaRPr lang="en-US"/>
          </a:p>
        </p:txBody>
      </p:sp>
    </p:spTree>
    <p:extLst>
      <p:ext uri="{BB962C8B-B14F-4D97-AF65-F5344CB8AC3E}">
        <p14:creationId xmlns:p14="http://schemas.microsoft.com/office/powerpoint/2010/main" val="40110916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cs-CZ" sz="1200" dirty="0"/>
              <a:t>Concept 3 – Omaze-inspired</a:t>
            </a:r>
          </a:p>
        </p:txBody>
      </p:sp>
      <p:sp>
        <p:nvSpPr>
          <p:cNvPr id="4" name="Slide Number Placeholder 3"/>
          <p:cNvSpPr>
            <a:spLocks noGrp="1"/>
          </p:cNvSpPr>
          <p:nvPr>
            <p:ph type="sldNum" sz="quarter" idx="5"/>
          </p:nvPr>
        </p:nvSpPr>
        <p:spPr/>
        <p:txBody>
          <a:bodyPr/>
          <a:lstStyle/>
          <a:p>
            <a:fld id="{F22E046B-D405-48ED-9E04-8643E3702DCC}" type="slidenum">
              <a:rPr lang="en-US" smtClean="0"/>
              <a:t>3</a:t>
            </a:fld>
            <a:endParaRPr lang="en-US"/>
          </a:p>
        </p:txBody>
      </p:sp>
    </p:spTree>
    <p:extLst>
      <p:ext uri="{BB962C8B-B14F-4D97-AF65-F5344CB8AC3E}">
        <p14:creationId xmlns:p14="http://schemas.microsoft.com/office/powerpoint/2010/main" val="3675616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cs-CZ" sz="1200" dirty="0"/>
              <a:t>Concept 4 – Progressive annuity</a:t>
            </a:r>
          </a:p>
        </p:txBody>
      </p:sp>
      <p:sp>
        <p:nvSpPr>
          <p:cNvPr id="4" name="Slide Number Placeholder 3"/>
          <p:cNvSpPr>
            <a:spLocks noGrp="1"/>
          </p:cNvSpPr>
          <p:nvPr>
            <p:ph type="sldNum" sz="quarter" idx="5"/>
          </p:nvPr>
        </p:nvSpPr>
        <p:spPr/>
        <p:txBody>
          <a:bodyPr/>
          <a:lstStyle/>
          <a:p>
            <a:fld id="{F22E046B-D405-48ED-9E04-8643E3702DCC}" type="slidenum">
              <a:rPr lang="en-US" smtClean="0"/>
              <a:t>4</a:t>
            </a:fld>
            <a:endParaRPr lang="en-US"/>
          </a:p>
        </p:txBody>
      </p:sp>
    </p:spTree>
    <p:extLst>
      <p:ext uri="{BB962C8B-B14F-4D97-AF65-F5344CB8AC3E}">
        <p14:creationId xmlns:p14="http://schemas.microsoft.com/office/powerpoint/2010/main" val="30371395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cs-CZ" sz="1200" dirty="0"/>
              <a:t>Concept 5 – Daily Millionaire</a:t>
            </a:r>
          </a:p>
        </p:txBody>
      </p:sp>
      <p:sp>
        <p:nvSpPr>
          <p:cNvPr id="4" name="Slide Number Placeholder 3"/>
          <p:cNvSpPr>
            <a:spLocks noGrp="1"/>
          </p:cNvSpPr>
          <p:nvPr>
            <p:ph type="sldNum" sz="quarter" idx="5"/>
          </p:nvPr>
        </p:nvSpPr>
        <p:spPr/>
        <p:txBody>
          <a:bodyPr/>
          <a:lstStyle/>
          <a:p>
            <a:fld id="{F22E046B-D405-48ED-9E04-8643E3702DCC}" type="slidenum">
              <a:rPr lang="en-US" smtClean="0"/>
              <a:t>5</a:t>
            </a:fld>
            <a:endParaRPr lang="en-US"/>
          </a:p>
        </p:txBody>
      </p:sp>
    </p:spTree>
    <p:extLst>
      <p:ext uri="{BB962C8B-B14F-4D97-AF65-F5344CB8AC3E}">
        <p14:creationId xmlns:p14="http://schemas.microsoft.com/office/powerpoint/2010/main" val="24166121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cs-CZ" sz="1200" dirty="0"/>
              <a:t>Concept 6 – New Years Eve 13 millionaires</a:t>
            </a:r>
          </a:p>
        </p:txBody>
      </p:sp>
      <p:sp>
        <p:nvSpPr>
          <p:cNvPr id="4" name="Slide Number Placeholder 3"/>
          <p:cNvSpPr>
            <a:spLocks noGrp="1"/>
          </p:cNvSpPr>
          <p:nvPr>
            <p:ph type="sldNum" sz="quarter" idx="5"/>
          </p:nvPr>
        </p:nvSpPr>
        <p:spPr/>
        <p:txBody>
          <a:bodyPr/>
          <a:lstStyle/>
          <a:p>
            <a:fld id="{F22E046B-D405-48ED-9E04-8643E3702DCC}" type="slidenum">
              <a:rPr lang="en-US" smtClean="0"/>
              <a:t>6</a:t>
            </a:fld>
            <a:endParaRPr lang="en-US"/>
          </a:p>
        </p:txBody>
      </p:sp>
    </p:spTree>
    <p:extLst>
      <p:ext uri="{BB962C8B-B14F-4D97-AF65-F5344CB8AC3E}">
        <p14:creationId xmlns:p14="http://schemas.microsoft.com/office/powerpoint/2010/main" val="37958093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cs-CZ" sz="1200" dirty="0"/>
              <a:t>Concept 7 – Millionaires Flood</a:t>
            </a:r>
          </a:p>
        </p:txBody>
      </p:sp>
      <p:sp>
        <p:nvSpPr>
          <p:cNvPr id="4" name="Slide Number Placeholder 3"/>
          <p:cNvSpPr>
            <a:spLocks noGrp="1"/>
          </p:cNvSpPr>
          <p:nvPr>
            <p:ph type="sldNum" sz="quarter" idx="5"/>
          </p:nvPr>
        </p:nvSpPr>
        <p:spPr/>
        <p:txBody>
          <a:bodyPr/>
          <a:lstStyle/>
          <a:p>
            <a:fld id="{F22E046B-D405-48ED-9E04-8643E3702DCC}" type="slidenum">
              <a:rPr lang="en-US" smtClean="0"/>
              <a:t>7</a:t>
            </a:fld>
            <a:endParaRPr lang="en-US"/>
          </a:p>
        </p:txBody>
      </p:sp>
    </p:spTree>
    <p:extLst>
      <p:ext uri="{BB962C8B-B14F-4D97-AF65-F5344CB8AC3E}">
        <p14:creationId xmlns:p14="http://schemas.microsoft.com/office/powerpoint/2010/main" val="6473314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cs-CZ" sz="1200" dirty="0"/>
              <a:t>Concept 8 – Real estate prizes added to Euromillions</a:t>
            </a:r>
          </a:p>
        </p:txBody>
      </p:sp>
      <p:sp>
        <p:nvSpPr>
          <p:cNvPr id="4" name="Slide Number Placeholder 3"/>
          <p:cNvSpPr>
            <a:spLocks noGrp="1"/>
          </p:cNvSpPr>
          <p:nvPr>
            <p:ph type="sldNum" sz="quarter" idx="5"/>
          </p:nvPr>
        </p:nvSpPr>
        <p:spPr/>
        <p:txBody>
          <a:bodyPr/>
          <a:lstStyle/>
          <a:p>
            <a:fld id="{F22E046B-D405-48ED-9E04-8643E3702DCC}" type="slidenum">
              <a:rPr lang="en-US" smtClean="0"/>
              <a:t>8</a:t>
            </a:fld>
            <a:endParaRPr lang="en-US"/>
          </a:p>
        </p:txBody>
      </p:sp>
    </p:spTree>
    <p:extLst>
      <p:ext uri="{BB962C8B-B14F-4D97-AF65-F5344CB8AC3E}">
        <p14:creationId xmlns:p14="http://schemas.microsoft.com/office/powerpoint/2010/main" val="18940784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cs-CZ" sz="1200" dirty="0"/>
              <a:t>Concept 9 – Experiential prizes added to annuity lottery (SFL)</a:t>
            </a:r>
          </a:p>
        </p:txBody>
      </p:sp>
      <p:sp>
        <p:nvSpPr>
          <p:cNvPr id="4" name="Slide Number Placeholder 3"/>
          <p:cNvSpPr>
            <a:spLocks noGrp="1"/>
          </p:cNvSpPr>
          <p:nvPr>
            <p:ph type="sldNum" sz="quarter" idx="5"/>
          </p:nvPr>
        </p:nvSpPr>
        <p:spPr/>
        <p:txBody>
          <a:bodyPr/>
          <a:lstStyle/>
          <a:p>
            <a:fld id="{F22E046B-D405-48ED-9E04-8643E3702DCC}" type="slidenum">
              <a:rPr lang="en-US" smtClean="0"/>
              <a:t>9</a:t>
            </a:fld>
            <a:endParaRPr lang="en-US"/>
          </a:p>
        </p:txBody>
      </p:sp>
    </p:spTree>
    <p:extLst>
      <p:ext uri="{BB962C8B-B14F-4D97-AF65-F5344CB8AC3E}">
        <p14:creationId xmlns:p14="http://schemas.microsoft.com/office/powerpoint/2010/main" val="37969266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cs-CZ" sz="1200" dirty="0"/>
              <a:t>Concept 1</a:t>
            </a:r>
            <a:r>
              <a:rPr lang="en-US" sz="1200" dirty="0"/>
              <a:t>0</a:t>
            </a:r>
            <a:r>
              <a:rPr lang="cs-CZ" sz="1200" dirty="0"/>
              <a:t> – Euromillions</a:t>
            </a:r>
            <a:r>
              <a:rPr lang="en-US" sz="1200" dirty="0"/>
              <a:t> (benchmark)</a:t>
            </a:r>
            <a:endParaRPr lang="cs-CZ" sz="1200" dirty="0"/>
          </a:p>
        </p:txBody>
      </p:sp>
      <p:sp>
        <p:nvSpPr>
          <p:cNvPr id="4" name="Slide Number Placeholder 3"/>
          <p:cNvSpPr>
            <a:spLocks noGrp="1"/>
          </p:cNvSpPr>
          <p:nvPr>
            <p:ph type="sldNum" sz="quarter" idx="5"/>
          </p:nvPr>
        </p:nvSpPr>
        <p:spPr/>
        <p:txBody>
          <a:bodyPr/>
          <a:lstStyle/>
          <a:p>
            <a:fld id="{F22E046B-D405-48ED-9E04-8643E3702DCC}" type="slidenum">
              <a:rPr lang="en-US" smtClean="0"/>
              <a:t>10</a:t>
            </a:fld>
            <a:endParaRPr lang="en-US"/>
          </a:p>
        </p:txBody>
      </p:sp>
    </p:spTree>
    <p:extLst>
      <p:ext uri="{BB962C8B-B14F-4D97-AF65-F5344CB8AC3E}">
        <p14:creationId xmlns:p14="http://schemas.microsoft.com/office/powerpoint/2010/main" val="33487972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cs-CZ" sz="1200" dirty="0"/>
              <a:t>Concept 1</a:t>
            </a:r>
            <a:r>
              <a:rPr lang="en-US" sz="1200" dirty="0"/>
              <a:t>1</a:t>
            </a:r>
            <a:r>
              <a:rPr lang="cs-CZ" sz="1200" dirty="0"/>
              <a:t> – EuroDreams</a:t>
            </a:r>
            <a:r>
              <a:rPr lang="en-US" sz="1200" dirty="0"/>
              <a:t> (benchmark)</a:t>
            </a:r>
            <a:endParaRPr lang="cs-CZ" sz="1200" dirty="0"/>
          </a:p>
        </p:txBody>
      </p:sp>
      <p:sp>
        <p:nvSpPr>
          <p:cNvPr id="4" name="Slide Number Placeholder 3"/>
          <p:cNvSpPr>
            <a:spLocks noGrp="1"/>
          </p:cNvSpPr>
          <p:nvPr>
            <p:ph type="sldNum" sz="quarter" idx="5"/>
          </p:nvPr>
        </p:nvSpPr>
        <p:spPr/>
        <p:txBody>
          <a:bodyPr/>
          <a:lstStyle/>
          <a:p>
            <a:fld id="{F22E046B-D405-48ED-9E04-8643E3702DCC}" type="slidenum">
              <a:rPr lang="en-US" smtClean="0"/>
              <a:t>11</a:t>
            </a:fld>
            <a:endParaRPr lang="en-US"/>
          </a:p>
        </p:txBody>
      </p:sp>
    </p:spTree>
    <p:extLst>
      <p:ext uri="{BB962C8B-B14F-4D97-AF65-F5344CB8AC3E}">
        <p14:creationId xmlns:p14="http://schemas.microsoft.com/office/powerpoint/2010/main" val="19008752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Koncept - Širší">
    <p:spTree>
      <p:nvGrpSpPr>
        <p:cNvPr id="1" name=""/>
        <p:cNvGrpSpPr/>
        <p:nvPr/>
      </p:nvGrpSpPr>
      <p:grpSpPr>
        <a:xfrm>
          <a:off x="0" y="0"/>
          <a:ext cx="0" cy="0"/>
          <a:chOff x="0" y="0"/>
          <a:chExt cx="0" cy="0"/>
        </a:xfrm>
      </p:grpSpPr>
      <p:sp>
        <p:nvSpPr>
          <p:cNvPr id="2" name="Title 1"/>
          <p:cNvSpPr>
            <a:spLocks noGrp="1"/>
          </p:cNvSpPr>
          <p:nvPr>
            <p:ph type="title"/>
          </p:nvPr>
        </p:nvSpPr>
        <p:spPr>
          <a:xfrm>
            <a:off x="225288" y="357050"/>
            <a:ext cx="6361042" cy="922506"/>
          </a:xfrm>
        </p:spPr>
        <p:txBody>
          <a:bodyPr/>
          <a:lstStyle/>
          <a:p>
            <a:r>
              <a:rPr lang="en-US" dirty="0"/>
              <a:t>Click to edit Master title style</a:t>
            </a:r>
          </a:p>
        </p:txBody>
      </p:sp>
      <p:sp>
        <p:nvSpPr>
          <p:cNvPr id="4" name="Text Placeholder 3">
            <a:extLst>
              <a:ext uri="{FF2B5EF4-FFF2-40B4-BE49-F238E27FC236}">
                <a16:creationId xmlns:a16="http://schemas.microsoft.com/office/drawing/2014/main" id="{3371AA04-A0F8-87B9-B272-01F3327D49CB}"/>
              </a:ext>
            </a:extLst>
          </p:cNvPr>
          <p:cNvSpPr>
            <a:spLocks noGrp="1"/>
          </p:cNvSpPr>
          <p:nvPr>
            <p:ph type="body" sz="quarter" idx="10"/>
          </p:nvPr>
        </p:nvSpPr>
        <p:spPr>
          <a:xfrm>
            <a:off x="225288" y="1279525"/>
            <a:ext cx="6361042" cy="9255953"/>
          </a:xfrm>
        </p:spPr>
        <p:txBody>
          <a:bodyPr>
            <a:normAutofit/>
          </a:bodyPr>
          <a:lstStyle>
            <a:lvl1pPr>
              <a:defRPr sz="3600"/>
            </a:lvl1pPr>
            <a:lvl2pPr>
              <a:defRPr sz="3600"/>
            </a:lvl2pPr>
            <a:lvl3pPr>
              <a:defRPr sz="3600"/>
            </a:lvl3pPr>
            <a:lvl4pPr>
              <a:defRPr sz="3600"/>
            </a:lvl4pPr>
            <a:lvl5pPr>
              <a:defRPr sz="3600"/>
            </a:lvl5pPr>
          </a:lstStyle>
          <a:p>
            <a:pPr lvl="0"/>
            <a:r>
              <a:rPr lang="en-US" dirty="0"/>
              <a:t>Click to edit Master text styles</a:t>
            </a:r>
          </a:p>
          <a:p>
            <a:pPr lvl="1"/>
            <a:r>
              <a:rPr lang="en-US" dirty="0"/>
              <a:t>Second level</a:t>
            </a:r>
          </a:p>
        </p:txBody>
      </p:sp>
    </p:spTree>
    <p:extLst>
      <p:ext uri="{BB962C8B-B14F-4D97-AF65-F5344CB8AC3E}">
        <p14:creationId xmlns:p14="http://schemas.microsoft.com/office/powerpoint/2010/main" val="9543878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Koncept Užší">
    <p:spTree>
      <p:nvGrpSpPr>
        <p:cNvPr id="1" name=""/>
        <p:cNvGrpSpPr/>
        <p:nvPr/>
      </p:nvGrpSpPr>
      <p:grpSpPr>
        <a:xfrm>
          <a:off x="0" y="0"/>
          <a:ext cx="0" cy="0"/>
          <a:chOff x="0" y="0"/>
          <a:chExt cx="0" cy="0"/>
        </a:xfrm>
      </p:grpSpPr>
    </p:spTree>
    <p:extLst>
      <p:ext uri="{BB962C8B-B14F-4D97-AF65-F5344CB8AC3E}">
        <p14:creationId xmlns:p14="http://schemas.microsoft.com/office/powerpoint/2010/main" val="36733643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dea">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371AA04-A0F8-87B9-B272-01F3327D49CB}"/>
              </a:ext>
            </a:extLst>
          </p:cNvPr>
          <p:cNvSpPr>
            <a:spLocks noGrp="1"/>
          </p:cNvSpPr>
          <p:nvPr>
            <p:ph type="body" sz="quarter" idx="10"/>
          </p:nvPr>
        </p:nvSpPr>
        <p:spPr>
          <a:xfrm>
            <a:off x="119270" y="357809"/>
            <a:ext cx="6626087" cy="10177669"/>
          </a:xfrm>
        </p:spPr>
        <p:txBody>
          <a:bodyPr anchor="ctr">
            <a:normAutofit/>
          </a:bodyPr>
          <a:lstStyle>
            <a:lvl1pPr algn="ctr">
              <a:lnSpc>
                <a:spcPct val="100000"/>
              </a:lnSpc>
              <a:spcBef>
                <a:spcPts val="0"/>
              </a:spcBef>
              <a:defRPr sz="6600"/>
            </a:lvl1pPr>
            <a:lvl2pPr>
              <a:defRPr sz="4000"/>
            </a:lvl2pPr>
            <a:lvl3pPr>
              <a:defRPr sz="3600"/>
            </a:lvl3pPr>
            <a:lvl4pPr>
              <a:defRPr sz="3600"/>
            </a:lvl4pPr>
            <a:lvl5pPr>
              <a:defRPr sz="3600"/>
            </a:lvl5pPr>
          </a:lstStyle>
          <a:p>
            <a:pPr lvl="0"/>
            <a:r>
              <a:rPr lang="en-US" dirty="0"/>
              <a:t>Click to edit Master text styles</a:t>
            </a:r>
          </a:p>
        </p:txBody>
      </p:sp>
    </p:spTree>
    <p:extLst>
      <p:ext uri="{BB962C8B-B14F-4D97-AF65-F5344CB8AC3E}">
        <p14:creationId xmlns:p14="http://schemas.microsoft.com/office/powerpoint/2010/main" val="95777005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357050"/>
            <a:ext cx="5915025" cy="922506"/>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71488" y="1444488"/>
            <a:ext cx="5915025" cy="8998226"/>
          </a:xfrm>
          <a:prstGeom prst="rect">
            <a:avLst/>
          </a:prstGeom>
        </p:spPr>
        <p:txBody>
          <a:bodyPr vert="horz" lIns="91440" tIns="45720" rIns="91440" bIns="45720" rtlCol="0">
            <a:normAutofit/>
          </a:bodyPr>
          <a:lstStyle/>
          <a:p>
            <a:pPr lvl="0"/>
            <a:r>
              <a:rPr lang="en-US" dirty="0"/>
              <a:t>Click to edit Master text styles</a:t>
            </a:r>
          </a:p>
        </p:txBody>
      </p:sp>
    </p:spTree>
    <p:extLst>
      <p:ext uri="{BB962C8B-B14F-4D97-AF65-F5344CB8AC3E}">
        <p14:creationId xmlns:p14="http://schemas.microsoft.com/office/powerpoint/2010/main" val="3736371093"/>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Lst>
  <p:txStyles>
    <p:titleStyle>
      <a:lvl1pPr algn="l" defTabSz="685800" rtl="0" eaLnBrk="1" latinLnBrk="0" hangingPunct="1">
        <a:lnSpc>
          <a:spcPct val="90000"/>
        </a:lnSpc>
        <a:spcBef>
          <a:spcPct val="0"/>
        </a:spcBef>
        <a:buNone/>
        <a:defRPr sz="3600" kern="1200">
          <a:solidFill>
            <a:schemeClr val="tx1"/>
          </a:solidFill>
          <a:latin typeface="+mn-lt"/>
          <a:ea typeface="+mj-ea"/>
          <a:cs typeface="+mj-cs"/>
        </a:defRPr>
      </a:lvl1pPr>
    </p:titleStyle>
    <p:bodyStyle>
      <a:lvl1pPr marL="0" indent="0" algn="l" defTabSz="685800" rtl="0" eaLnBrk="1" latinLnBrk="0" hangingPunct="1">
        <a:lnSpc>
          <a:spcPct val="90000"/>
        </a:lnSpc>
        <a:spcBef>
          <a:spcPts val="750"/>
        </a:spcBef>
        <a:buFontTx/>
        <a:buNone/>
        <a:defRPr sz="3600" kern="1200">
          <a:solidFill>
            <a:schemeClr val="tx1"/>
          </a:solidFill>
          <a:latin typeface="+mn-lt"/>
          <a:ea typeface="+mn-ea"/>
          <a:cs typeface="+mn-cs"/>
        </a:defRPr>
      </a:lvl1pPr>
      <a:lvl2pPr marL="342900" indent="0" algn="l" defTabSz="685800" rtl="0" eaLnBrk="1" latinLnBrk="0" hangingPunct="1">
        <a:lnSpc>
          <a:spcPct val="90000"/>
        </a:lnSpc>
        <a:spcBef>
          <a:spcPts val="375"/>
        </a:spcBef>
        <a:buFontTx/>
        <a:buNone/>
        <a:defRPr sz="1800"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1500"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13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7DFCDD9-C826-837F-D6D5-121AEA845F69}"/>
              </a:ext>
            </a:extLst>
          </p:cNvPr>
          <p:cNvPicPr>
            <a:picLocks noChangeAspect="1"/>
          </p:cNvPicPr>
          <p:nvPr/>
        </p:nvPicPr>
        <p:blipFill>
          <a:blip r:embed="rId3"/>
          <a:stretch>
            <a:fillRect/>
          </a:stretch>
        </p:blipFill>
        <p:spPr>
          <a:xfrm>
            <a:off x="312867" y="6407031"/>
            <a:ext cx="6232266" cy="4252787"/>
          </a:xfrm>
          <a:prstGeom prst="rect">
            <a:avLst/>
          </a:prstGeom>
        </p:spPr>
      </p:pic>
      <p:sp>
        <p:nvSpPr>
          <p:cNvPr id="4" name="Rectangle 3">
            <a:extLst>
              <a:ext uri="{FF2B5EF4-FFF2-40B4-BE49-F238E27FC236}">
                <a16:creationId xmlns:a16="http://schemas.microsoft.com/office/drawing/2014/main" id="{75607BD8-0FD7-A110-1B15-4DB5DC81D836}"/>
              </a:ext>
            </a:extLst>
          </p:cNvPr>
          <p:cNvSpPr/>
          <p:nvPr/>
        </p:nvSpPr>
        <p:spPr>
          <a:xfrm>
            <a:off x="0" y="-11916"/>
            <a:ext cx="6858000" cy="922475"/>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4502129-00D9-C538-5C9D-8BE935563DC8}"/>
              </a:ext>
            </a:extLst>
          </p:cNvPr>
          <p:cNvSpPr>
            <a:spLocks noGrp="1"/>
          </p:cNvSpPr>
          <p:nvPr>
            <p:ph type="title" idx="4294967295"/>
          </p:nvPr>
        </p:nvSpPr>
        <p:spPr>
          <a:xfrm>
            <a:off x="302952" y="20638"/>
            <a:ext cx="6384925" cy="922337"/>
          </a:xfrm>
        </p:spPr>
        <p:txBody>
          <a:bodyPr>
            <a:normAutofit fontScale="90000"/>
          </a:bodyPr>
          <a:lstStyle/>
          <a:p>
            <a:r>
              <a:rPr lang="cs-CZ" sz="2400" b="1" dirty="0" err="1"/>
              <a:t>Powerball</a:t>
            </a:r>
            <a:br>
              <a:rPr lang="cs-CZ" sz="2400" b="1" dirty="0"/>
            </a:br>
            <a:r>
              <a:rPr lang="de-DE" sz="2400" b="1" dirty="0"/>
              <a:t>Stellen Sie sich vor, es wird ein neues Lotteriespiel eingeführt:</a:t>
            </a:r>
          </a:p>
        </p:txBody>
      </p:sp>
      <p:sp>
        <p:nvSpPr>
          <p:cNvPr id="3" name="Text Placeholder 2">
            <a:extLst>
              <a:ext uri="{FF2B5EF4-FFF2-40B4-BE49-F238E27FC236}">
                <a16:creationId xmlns:a16="http://schemas.microsoft.com/office/drawing/2014/main" id="{2173771B-3D19-3D93-187F-DF1BE6DA3B6C}"/>
              </a:ext>
            </a:extLst>
          </p:cNvPr>
          <p:cNvSpPr>
            <a:spLocks noGrp="1"/>
          </p:cNvSpPr>
          <p:nvPr>
            <p:ph type="body" sz="quarter" idx="4294967295"/>
          </p:nvPr>
        </p:nvSpPr>
        <p:spPr>
          <a:xfrm>
            <a:off x="217508" y="942975"/>
            <a:ext cx="6400800" cy="5362575"/>
          </a:xfrm>
        </p:spPr>
        <p:txBody>
          <a:bodyPr>
            <a:normAutofit/>
          </a:bodyPr>
          <a:lstStyle/>
          <a:p>
            <a:pPr marL="0" indent="0" algn="just">
              <a:buNone/>
            </a:pPr>
            <a:r>
              <a:rPr lang="de-AT" sz="2000" dirty="0"/>
              <a:t>Dieses Lotteriespiel wird international angeboten. Dank </a:t>
            </a:r>
            <a:br>
              <a:rPr lang="de-AT" sz="2000" dirty="0"/>
            </a:br>
            <a:r>
              <a:rPr lang="de-AT" sz="2000" dirty="0"/>
              <a:t>des gemeinsamen Pools zwischen vielen teilnehmenden Ländern ist dies </a:t>
            </a:r>
            <a:r>
              <a:rPr lang="de-AT" sz="2000" b="1" dirty="0"/>
              <a:t>die</a:t>
            </a:r>
            <a:r>
              <a:rPr lang="de-AT" sz="2000" dirty="0"/>
              <a:t> </a:t>
            </a:r>
            <a:r>
              <a:rPr lang="de-AT" sz="2000" b="1" dirty="0"/>
              <a:t>größte Lotterie der Welt</a:t>
            </a:r>
            <a:r>
              <a:rPr lang="de-AT" sz="2000" dirty="0"/>
              <a:t>. </a:t>
            </a:r>
            <a:br>
              <a:rPr lang="de-AT" sz="2000" dirty="0"/>
            </a:br>
            <a:r>
              <a:rPr lang="de-AT" sz="2000" dirty="0"/>
              <a:t>Der Jackpot kann über </a:t>
            </a:r>
            <a:r>
              <a:rPr lang="de-AT" sz="2000" b="1" dirty="0"/>
              <a:t>eine halbe Milliarde EUR </a:t>
            </a:r>
            <a:r>
              <a:rPr lang="de-AT" sz="2000" dirty="0"/>
              <a:t>erreichen. Der durchschnittliche Jackpot beträgt etwa eine Viertelmilliarde EUR. Die minimale Jackpot-Höhe beträgt garantiert </a:t>
            </a:r>
            <a:r>
              <a:rPr lang="de-AT" sz="2000" b="1" dirty="0"/>
              <a:t>20 Millionen EUR</a:t>
            </a:r>
            <a:r>
              <a:rPr lang="de-AT" sz="2000" dirty="0"/>
              <a:t>.</a:t>
            </a:r>
          </a:p>
          <a:p>
            <a:pPr marL="0" indent="0" algn="just">
              <a:buNone/>
            </a:pPr>
            <a:r>
              <a:rPr lang="de-AT" sz="2000" dirty="0"/>
              <a:t>Um teilzunehmen, wählen Sie 5 Zahlen aus 69 und 1 Zahl aus 26, um Ihren Tipp zu erstellen. Oder Sie lassen via Quicktipp den Zufallsgenerator Ihre Zahlen aussuchen. Der Preis pro Teilnahme beträgt </a:t>
            </a:r>
            <a:r>
              <a:rPr lang="de-AT" sz="2000" b="1" dirty="0"/>
              <a:t>4 EUR</a:t>
            </a:r>
            <a:r>
              <a:rPr lang="de-AT" sz="2000" dirty="0"/>
              <a:t>. Für diesen Preis erhalten Sie </a:t>
            </a:r>
            <a:r>
              <a:rPr lang="de-AT" sz="2000" b="1" dirty="0"/>
              <a:t>2 Tipps</a:t>
            </a:r>
            <a:r>
              <a:rPr lang="de-AT" sz="2000" dirty="0"/>
              <a:t>, also zwei Chancen, die 5+1 Zahlen zu tippen.</a:t>
            </a:r>
          </a:p>
          <a:p>
            <a:pPr marL="0" indent="0" algn="just">
              <a:buNone/>
            </a:pPr>
            <a:r>
              <a:rPr lang="de-AT" sz="2000" dirty="0"/>
              <a:t>Es gibt drei Ziehungen pro Woche, die jeden Montag, Mittwoch und Samstag stattfinden. Der Hauptpreis wird (theoretisch) 4 – 5 Mal im Jahr gewonnen.</a:t>
            </a:r>
          </a:p>
          <a:p>
            <a:pPr marL="0" indent="0" algn="just">
              <a:buNone/>
            </a:pPr>
            <a:r>
              <a:rPr lang="de-AT" sz="2000" dirty="0"/>
              <a:t>In Österreich wird dieses Spiel in allen Annahmestellen oder online auf den jeweiligen Websites und Apps angeboten.</a:t>
            </a:r>
          </a:p>
          <a:p>
            <a:pPr algn="just"/>
            <a:endParaRPr lang="de-AT" sz="2000" dirty="0"/>
          </a:p>
        </p:txBody>
      </p:sp>
    </p:spTree>
    <p:extLst>
      <p:ext uri="{BB962C8B-B14F-4D97-AF65-F5344CB8AC3E}">
        <p14:creationId xmlns:p14="http://schemas.microsoft.com/office/powerpoint/2010/main" val="36691629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3B746D6-0D0B-71DF-D65F-FB0AEC1E95EF}"/>
              </a:ext>
            </a:extLst>
          </p:cNvPr>
          <p:cNvPicPr>
            <a:picLocks noChangeAspect="1"/>
          </p:cNvPicPr>
          <p:nvPr/>
        </p:nvPicPr>
        <p:blipFill>
          <a:blip r:embed="rId3"/>
          <a:stretch>
            <a:fillRect/>
          </a:stretch>
        </p:blipFill>
        <p:spPr>
          <a:xfrm>
            <a:off x="266516" y="6400237"/>
            <a:ext cx="6359340" cy="4355280"/>
          </a:xfrm>
          <a:prstGeom prst="rect">
            <a:avLst/>
          </a:prstGeom>
        </p:spPr>
      </p:pic>
      <p:sp>
        <p:nvSpPr>
          <p:cNvPr id="2" name="Rectangle 1">
            <a:extLst>
              <a:ext uri="{FF2B5EF4-FFF2-40B4-BE49-F238E27FC236}">
                <a16:creationId xmlns:a16="http://schemas.microsoft.com/office/drawing/2014/main" id="{890E4225-2496-1C1A-38CE-F3AB03A192B7}"/>
              </a:ext>
            </a:extLst>
          </p:cNvPr>
          <p:cNvSpPr/>
          <p:nvPr/>
        </p:nvSpPr>
        <p:spPr>
          <a:xfrm>
            <a:off x="0" y="-11916"/>
            <a:ext cx="6858000" cy="703679"/>
          </a:xfrm>
          <a:prstGeom prst="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itle 1">
            <a:extLst>
              <a:ext uri="{FF2B5EF4-FFF2-40B4-BE49-F238E27FC236}">
                <a16:creationId xmlns:a16="http://schemas.microsoft.com/office/drawing/2014/main" id="{A669874F-89FA-6E78-114B-B92FDA79AFA0}"/>
              </a:ext>
            </a:extLst>
          </p:cNvPr>
          <p:cNvSpPr txBox="1">
            <a:spLocks/>
          </p:cNvSpPr>
          <p:nvPr/>
        </p:nvSpPr>
        <p:spPr>
          <a:xfrm>
            <a:off x="228523" y="-64427"/>
            <a:ext cx="6384925" cy="816013"/>
          </a:xfrm>
          <a:prstGeom prst="rect">
            <a:avLst/>
          </a:prstGeom>
        </p:spPr>
        <p:txBody>
          <a:bodyPr vert="horz" lIns="91440" tIns="45720" rIns="91440" bIns="45720" rtlCol="0" anchor="ctr">
            <a:normAutofit fontScale="92500" lnSpcReduction="20000"/>
          </a:bodyPr>
          <a:lstStyle>
            <a:lvl1pPr algn="l" defTabSz="685800" rtl="0" eaLnBrk="1" latinLnBrk="0" hangingPunct="1">
              <a:lnSpc>
                <a:spcPct val="90000"/>
              </a:lnSpc>
              <a:spcBef>
                <a:spcPct val="0"/>
              </a:spcBef>
              <a:buNone/>
              <a:defRPr sz="3600" kern="1200">
                <a:solidFill>
                  <a:schemeClr val="tx1"/>
                </a:solidFill>
                <a:latin typeface="+mn-lt"/>
                <a:ea typeface="+mj-ea"/>
                <a:cs typeface="+mj-cs"/>
              </a:defRPr>
            </a:lvl1pPr>
          </a:lstStyle>
          <a:p>
            <a:r>
              <a:rPr lang="cs-CZ" sz="2400" dirty="0" err="1"/>
              <a:t>MegaMillions</a:t>
            </a:r>
            <a:endParaRPr lang="cs-CZ" sz="2400" b="1" dirty="0"/>
          </a:p>
          <a:p>
            <a:r>
              <a:rPr lang="de-DE" sz="2400" b="1" dirty="0"/>
              <a:t>Stellen Sie sich vor, es wird ein neues Lotteriespiel eingeführt:</a:t>
            </a:r>
          </a:p>
        </p:txBody>
      </p:sp>
      <p:sp>
        <p:nvSpPr>
          <p:cNvPr id="22" name="Text Placeholder 2">
            <a:extLst>
              <a:ext uri="{FF2B5EF4-FFF2-40B4-BE49-F238E27FC236}">
                <a16:creationId xmlns:a16="http://schemas.microsoft.com/office/drawing/2014/main" id="{0F53A738-C1F6-0569-FD56-07C8D922BCF6}"/>
              </a:ext>
            </a:extLst>
          </p:cNvPr>
          <p:cNvSpPr txBox="1">
            <a:spLocks/>
          </p:cNvSpPr>
          <p:nvPr/>
        </p:nvSpPr>
        <p:spPr>
          <a:xfrm>
            <a:off x="223287" y="751586"/>
            <a:ext cx="6402569" cy="5362575"/>
          </a:xfrm>
          <a:prstGeom prst="rect">
            <a:avLst/>
          </a:prstGeom>
        </p:spPr>
        <p:txBody>
          <a:bodyPr vert="horz" lIns="91440" tIns="45720" rIns="91440" bIns="45720" rtlCol="0">
            <a:noAutofit/>
          </a:bodyPr>
          <a:lstStyle>
            <a:lvl1pPr marL="0" indent="0" algn="l" defTabSz="685800" rtl="0" eaLnBrk="1" latinLnBrk="0" hangingPunct="1">
              <a:lnSpc>
                <a:spcPct val="90000"/>
              </a:lnSpc>
              <a:spcBef>
                <a:spcPts val="750"/>
              </a:spcBef>
              <a:buFontTx/>
              <a:buNone/>
              <a:defRPr sz="3600" kern="1200">
                <a:solidFill>
                  <a:schemeClr val="tx1"/>
                </a:solidFill>
                <a:latin typeface="+mn-lt"/>
                <a:ea typeface="+mn-ea"/>
                <a:cs typeface="+mn-cs"/>
              </a:defRPr>
            </a:lvl1pPr>
            <a:lvl2pPr marL="342900" indent="0" algn="l" defTabSz="685800" rtl="0" eaLnBrk="1" latinLnBrk="0" hangingPunct="1">
              <a:lnSpc>
                <a:spcPct val="90000"/>
              </a:lnSpc>
              <a:spcBef>
                <a:spcPts val="375"/>
              </a:spcBef>
              <a:buFontTx/>
              <a:buNone/>
              <a:defRPr sz="1800"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1500"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13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a:buNone/>
            </a:pPr>
            <a:r>
              <a:rPr lang="de-AT" sz="1750" dirty="0"/>
              <a:t>Dieses Lotteriespiel wird international angeboten. Der Jackpot kann bis zu </a:t>
            </a:r>
            <a:r>
              <a:rPr lang="de-AT" sz="1750" b="1" dirty="0"/>
              <a:t>1 Milliarde EUR </a:t>
            </a:r>
            <a:r>
              <a:rPr lang="de-AT" sz="1750" dirty="0"/>
              <a:t>erreichen. Der durchschnittliche Jackpot beträgt etwa eine Viertelmilliarde EUR. Die minimale Jackpot-Höhe beträgt garantiert 50 Millionen EUR. </a:t>
            </a:r>
            <a:r>
              <a:rPr lang="de-AT" sz="1750" b="1" dirty="0"/>
              <a:t>Der Jackpot wird in jährlichen Zahlungen über 30 Jahre ausgezahlt</a:t>
            </a:r>
            <a:r>
              <a:rPr lang="de-AT" sz="1750" dirty="0"/>
              <a:t>. Die jährlichen Zahlungen würden im Laufe der Zeit steigen, um die Spieler vor Inflation zu schützen. Die jährlichen Auszahlungen können auch vererbt werden. </a:t>
            </a:r>
          </a:p>
          <a:p>
            <a:pPr marL="0" indent="0" algn="just">
              <a:buNone/>
            </a:pPr>
            <a:r>
              <a:rPr lang="de-AT" sz="1750" dirty="0"/>
              <a:t>Um teilzunehmen, wählen Sie 5 Zahlen aus 70 und 1 Zahl aus 25, um Ihren Tipp zu erstellen. Oder Sie lassen via Quicktipp den Zufallsgenerator Ihre Zahlen aussuchen. </a:t>
            </a:r>
          </a:p>
          <a:p>
            <a:pPr marL="0" indent="0" algn="just">
              <a:buNone/>
            </a:pPr>
            <a:r>
              <a:rPr lang="de-AT" sz="1750" dirty="0"/>
              <a:t>Zusätzlich zum Hauptspiel gibt es auch ein Zusatzspiel, das alle Gewinne (außer den Jackpot) um das 2-, 3-, 4- oder 5-fache multipliziert. Die Multiplikatorzahl wird vor jeder Ziehung gezogen. Daher können Spieler, die 1 Million im zweiten Preisniveau gewinnen, ihre Gewinne auf 2, 3, 4 oder 5 Millionen EUR erhöhen. </a:t>
            </a:r>
          </a:p>
          <a:p>
            <a:pPr marL="0" indent="0" algn="just">
              <a:buNone/>
            </a:pPr>
            <a:r>
              <a:rPr lang="de-AT" sz="1750" dirty="0"/>
              <a:t>Der Preis pro Teilnahme beträgt </a:t>
            </a:r>
            <a:r>
              <a:rPr lang="de-AT" sz="1750" b="1" dirty="0"/>
              <a:t>5 EUR</a:t>
            </a:r>
            <a:r>
              <a:rPr lang="de-AT" sz="1750" dirty="0"/>
              <a:t>. Für diesen Preis erhalten Sie </a:t>
            </a:r>
            <a:r>
              <a:rPr lang="de-AT" sz="1750" b="1" dirty="0"/>
              <a:t>1 Tipp </a:t>
            </a:r>
            <a:r>
              <a:rPr lang="de-AT" sz="1750" dirty="0"/>
              <a:t>des Hauptspiels </a:t>
            </a:r>
            <a:r>
              <a:rPr lang="de-AT" sz="1750" b="1" dirty="0"/>
              <a:t>und auch den zusätzlichen Multiplikator</a:t>
            </a:r>
            <a:r>
              <a:rPr lang="de-AT" sz="1750" dirty="0"/>
              <a:t>. </a:t>
            </a:r>
          </a:p>
          <a:p>
            <a:pPr marL="0" indent="0" algn="just">
              <a:buNone/>
            </a:pPr>
            <a:r>
              <a:rPr lang="de-AT" sz="1750" dirty="0"/>
              <a:t>Es gibt zwei Ziehungen pro Woche. Der Hauptpreis wird (theoretisch) 4 – 5 Mal im Jahr gewonnen. </a:t>
            </a:r>
          </a:p>
          <a:p>
            <a:pPr marL="0" indent="0" algn="just">
              <a:buNone/>
            </a:pPr>
            <a:r>
              <a:rPr lang="de-AT" sz="1750" dirty="0"/>
              <a:t>In Österreich wird dieses Spiel in allen Annahmestellen oder online auf den jeweiligen Websites und Apps angeboten.</a:t>
            </a:r>
          </a:p>
        </p:txBody>
      </p:sp>
    </p:spTree>
    <p:extLst>
      <p:ext uri="{BB962C8B-B14F-4D97-AF65-F5344CB8AC3E}">
        <p14:creationId xmlns:p14="http://schemas.microsoft.com/office/powerpoint/2010/main" val="33858824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55EAB8C4-6093-1392-DEE2-C1078C0590D4}"/>
              </a:ext>
            </a:extLst>
          </p:cNvPr>
          <p:cNvPicPr>
            <a:picLocks noChangeAspect="1"/>
          </p:cNvPicPr>
          <p:nvPr/>
        </p:nvPicPr>
        <p:blipFill rotWithShape="1">
          <a:blip r:embed="rId3"/>
          <a:srcRect b="17154"/>
          <a:stretch/>
        </p:blipFill>
        <p:spPr>
          <a:xfrm>
            <a:off x="323512" y="7670500"/>
            <a:ext cx="6333742" cy="3066324"/>
          </a:xfrm>
          <a:prstGeom prst="rect">
            <a:avLst/>
          </a:prstGeom>
        </p:spPr>
      </p:pic>
      <p:sp>
        <p:nvSpPr>
          <p:cNvPr id="2" name="Rectangle 1">
            <a:extLst>
              <a:ext uri="{FF2B5EF4-FFF2-40B4-BE49-F238E27FC236}">
                <a16:creationId xmlns:a16="http://schemas.microsoft.com/office/drawing/2014/main" id="{2EC8EECF-27B3-0DD3-7644-3B45274B4F95}"/>
              </a:ext>
            </a:extLst>
          </p:cNvPr>
          <p:cNvSpPr/>
          <p:nvPr/>
        </p:nvSpPr>
        <p:spPr>
          <a:xfrm>
            <a:off x="0" y="-11916"/>
            <a:ext cx="6858000" cy="922475"/>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itle 1">
            <a:extLst>
              <a:ext uri="{FF2B5EF4-FFF2-40B4-BE49-F238E27FC236}">
                <a16:creationId xmlns:a16="http://schemas.microsoft.com/office/drawing/2014/main" id="{E429CABF-1FF3-A85E-0EB7-30C550D607D9}"/>
              </a:ext>
            </a:extLst>
          </p:cNvPr>
          <p:cNvSpPr txBox="1">
            <a:spLocks/>
          </p:cNvSpPr>
          <p:nvPr/>
        </p:nvSpPr>
        <p:spPr>
          <a:xfrm>
            <a:off x="302952" y="20638"/>
            <a:ext cx="6384925" cy="922337"/>
          </a:xfrm>
          <a:prstGeom prst="rect">
            <a:avLst/>
          </a:prstGeom>
        </p:spPr>
        <p:txBody>
          <a:bodyPr vert="horz" lIns="91440" tIns="45720" rIns="91440" bIns="45720" rtlCol="0" anchor="ctr">
            <a:normAutofit fontScale="92500" lnSpcReduction="10000"/>
          </a:bodyPr>
          <a:lstStyle>
            <a:lvl1pPr algn="l" defTabSz="685800" rtl="0" eaLnBrk="1" latinLnBrk="0" hangingPunct="1">
              <a:lnSpc>
                <a:spcPct val="90000"/>
              </a:lnSpc>
              <a:spcBef>
                <a:spcPct val="0"/>
              </a:spcBef>
              <a:buNone/>
              <a:defRPr sz="3600" kern="1200">
                <a:solidFill>
                  <a:schemeClr val="tx1"/>
                </a:solidFill>
                <a:latin typeface="+mn-lt"/>
                <a:ea typeface="+mj-ea"/>
                <a:cs typeface="+mj-cs"/>
              </a:defRPr>
            </a:lvl1pPr>
          </a:lstStyle>
          <a:p>
            <a:r>
              <a:rPr lang="cs-CZ" sz="2400" dirty="0" err="1"/>
              <a:t>Omaze-inspired</a:t>
            </a:r>
            <a:endParaRPr lang="cs-CZ" sz="2400" b="1" dirty="0"/>
          </a:p>
          <a:p>
            <a:r>
              <a:rPr lang="de-DE" sz="2400" b="1" dirty="0"/>
              <a:t>Stellen Sie sich vor, es wird ein neues Lotteriespiel eingeführt:</a:t>
            </a:r>
          </a:p>
        </p:txBody>
      </p:sp>
      <p:sp>
        <p:nvSpPr>
          <p:cNvPr id="27" name="Text Placeholder 2">
            <a:extLst>
              <a:ext uri="{FF2B5EF4-FFF2-40B4-BE49-F238E27FC236}">
                <a16:creationId xmlns:a16="http://schemas.microsoft.com/office/drawing/2014/main" id="{E99B8C6B-1064-EEFB-E580-9ECF552E54AE}"/>
              </a:ext>
            </a:extLst>
          </p:cNvPr>
          <p:cNvSpPr txBox="1">
            <a:spLocks/>
          </p:cNvSpPr>
          <p:nvPr/>
        </p:nvSpPr>
        <p:spPr>
          <a:xfrm>
            <a:off x="137482" y="953608"/>
            <a:ext cx="6592182" cy="5362575"/>
          </a:xfrm>
          <a:prstGeom prst="rect">
            <a:avLst/>
          </a:prstGeom>
        </p:spPr>
        <p:txBody>
          <a:bodyPr vert="horz" lIns="91440" tIns="45720" rIns="91440" bIns="45720" rtlCol="0">
            <a:noAutofit/>
          </a:bodyPr>
          <a:lstStyle>
            <a:lvl1pPr marL="0" indent="0" algn="l" defTabSz="685800" rtl="0" eaLnBrk="1" latinLnBrk="0" hangingPunct="1">
              <a:lnSpc>
                <a:spcPct val="90000"/>
              </a:lnSpc>
              <a:spcBef>
                <a:spcPts val="750"/>
              </a:spcBef>
              <a:buFontTx/>
              <a:buNone/>
              <a:defRPr sz="3600" kern="1200">
                <a:solidFill>
                  <a:schemeClr val="tx1"/>
                </a:solidFill>
                <a:latin typeface="+mn-lt"/>
                <a:ea typeface="+mn-ea"/>
                <a:cs typeface="+mn-cs"/>
              </a:defRPr>
            </a:lvl1pPr>
            <a:lvl2pPr marL="342900" indent="0" algn="l" defTabSz="685800" rtl="0" eaLnBrk="1" latinLnBrk="0" hangingPunct="1">
              <a:lnSpc>
                <a:spcPct val="90000"/>
              </a:lnSpc>
              <a:spcBef>
                <a:spcPts val="375"/>
              </a:spcBef>
              <a:buFontTx/>
              <a:buNone/>
              <a:defRPr sz="1800"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1500"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13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marR="0" lvl="0" indent="0" algn="just" defTabSz="685800" rtl="0" eaLnBrk="1" fontAlgn="auto" latinLnBrk="0" hangingPunct="1">
              <a:lnSpc>
                <a:spcPct val="107000"/>
              </a:lnSpc>
              <a:spcBef>
                <a:spcPts val="0"/>
              </a:spcBef>
              <a:spcAft>
                <a:spcPts val="800"/>
              </a:spcAft>
              <a:buClr>
                <a:srgbClr val="27E2CC"/>
              </a:buClr>
              <a:buSzTx/>
              <a:buFont typeface="Arial" panose="020B0604020202020204" pitchFamily="34" charset="0"/>
              <a:buNone/>
              <a:tabLst/>
              <a:defRPr/>
            </a:pPr>
            <a:r>
              <a:rPr lang="de-DE" sz="1750" dirty="0"/>
              <a:t>Diese Lotterie wäre eine monatliche Verlosung, die international gespielt wird. Dank des gemeinsamen Pools könnte sie </a:t>
            </a:r>
            <a:r>
              <a:rPr lang="de-DE" sz="1750" b="1" dirty="0"/>
              <a:t>jeden Monat exklusive Traumhäuser anbieten</a:t>
            </a:r>
            <a:r>
              <a:rPr lang="de-DE" sz="1750" dirty="0"/>
              <a:t>. Im Jänner könnte es eine Villa in Spanien sein, im Februar ein luxuriöses Apartment in den Alpen, ein Penthouse mit Blick auf das antike Rom oder ein Bungalow auf einer karibischen Insel. </a:t>
            </a:r>
            <a:endParaRPr lang="cs-CZ" sz="1750" dirty="0"/>
          </a:p>
          <a:p>
            <a:pPr marL="0" marR="0" lvl="0" indent="0" algn="just" defTabSz="685800" rtl="0" eaLnBrk="1" fontAlgn="auto" latinLnBrk="0" hangingPunct="1">
              <a:lnSpc>
                <a:spcPct val="107000"/>
              </a:lnSpc>
              <a:spcBef>
                <a:spcPts val="0"/>
              </a:spcBef>
              <a:spcAft>
                <a:spcPts val="800"/>
              </a:spcAft>
              <a:buClr>
                <a:srgbClr val="27E2CC"/>
              </a:buClr>
              <a:buSzTx/>
              <a:buFont typeface="Arial" panose="020B0604020202020204" pitchFamily="34" charset="0"/>
              <a:buNone/>
              <a:tabLst/>
              <a:defRPr/>
            </a:pPr>
            <a:r>
              <a:rPr lang="de-DE" sz="1750" dirty="0"/>
              <a:t>Es wird auch Hunderte von Geldpreisen in Höhe von </a:t>
            </a:r>
            <a:r>
              <a:rPr lang="de-DE" sz="1750" b="1" dirty="0"/>
              <a:t>25</a:t>
            </a:r>
            <a:r>
              <a:rPr lang="cs-CZ" sz="1750" b="1" dirty="0"/>
              <a:t> </a:t>
            </a:r>
            <a:r>
              <a:rPr lang="de-DE" sz="1750" b="1" dirty="0"/>
              <a:t>000 </a:t>
            </a:r>
            <a:r>
              <a:rPr lang="cs-CZ" sz="1750" b="1" dirty="0"/>
              <a:t>EUR</a:t>
            </a:r>
            <a:r>
              <a:rPr lang="de-DE" sz="1750" b="1" dirty="0"/>
              <a:t> </a:t>
            </a:r>
            <a:r>
              <a:rPr lang="de-DE" sz="1750" dirty="0"/>
              <a:t>geben. </a:t>
            </a:r>
            <a:endParaRPr lang="cs-CZ" sz="1750" dirty="0"/>
          </a:p>
          <a:p>
            <a:pPr marL="0" marR="0" lvl="0" indent="0" algn="just" defTabSz="685800" rtl="0" eaLnBrk="1" fontAlgn="auto" latinLnBrk="0" hangingPunct="1">
              <a:lnSpc>
                <a:spcPct val="107000"/>
              </a:lnSpc>
              <a:spcBef>
                <a:spcPts val="0"/>
              </a:spcBef>
              <a:spcAft>
                <a:spcPts val="800"/>
              </a:spcAft>
              <a:buClr>
                <a:srgbClr val="27E2CC"/>
              </a:buClr>
              <a:buSzTx/>
              <a:buFont typeface="Arial" panose="020B0604020202020204" pitchFamily="34" charset="0"/>
              <a:buNone/>
              <a:tabLst/>
              <a:defRPr/>
            </a:pPr>
            <a:r>
              <a:rPr lang="de-DE" sz="1750" dirty="0"/>
              <a:t>Um an dem Spiel teilzunehmen, müssen Sie keine Zahlen auswählen. Bei Teilnahme wird ein einzigartiger Code generiert, der in eine Datenbank eingetragen wird. Das bedeutet, je mehr Teilnahmen Sie kaufen, desto öfter erscheint Ihr Code in der Datenbank. Am Ende des Monats wird dann der Gewinner per Ziehung ermittelt. </a:t>
            </a:r>
            <a:endParaRPr lang="cs-CZ" sz="1750" dirty="0"/>
          </a:p>
          <a:p>
            <a:pPr marL="0" marR="0" lvl="0" indent="0" algn="just" defTabSz="685800" rtl="0" eaLnBrk="1" fontAlgn="auto" latinLnBrk="0" hangingPunct="1">
              <a:lnSpc>
                <a:spcPct val="107000"/>
              </a:lnSpc>
              <a:spcBef>
                <a:spcPts val="0"/>
              </a:spcBef>
              <a:spcAft>
                <a:spcPts val="800"/>
              </a:spcAft>
              <a:buClr>
                <a:srgbClr val="27E2CC"/>
              </a:buClr>
              <a:buSzTx/>
              <a:buFont typeface="Arial" panose="020B0604020202020204" pitchFamily="34" charset="0"/>
              <a:buNone/>
              <a:tabLst/>
              <a:defRPr/>
            </a:pPr>
            <a:r>
              <a:rPr lang="de-DE" sz="1750" dirty="0"/>
              <a:t>Es kann lediglich per </a:t>
            </a:r>
            <a:r>
              <a:rPr lang="de-DE" sz="1750" b="1" dirty="0"/>
              <a:t>Online-Abo </a:t>
            </a:r>
            <a:r>
              <a:rPr lang="de-DE" sz="1750" dirty="0"/>
              <a:t>teilgenommen werden. </a:t>
            </a:r>
            <a:endParaRPr lang="cs-CZ" sz="1750" dirty="0"/>
          </a:p>
          <a:p>
            <a:pPr marL="0" marR="0" lvl="0" indent="0" algn="just" defTabSz="685800" rtl="0" eaLnBrk="1" fontAlgn="auto" latinLnBrk="0" hangingPunct="1">
              <a:lnSpc>
                <a:spcPct val="107000"/>
              </a:lnSpc>
              <a:spcBef>
                <a:spcPts val="0"/>
              </a:spcBef>
              <a:spcAft>
                <a:spcPts val="800"/>
              </a:spcAft>
              <a:buClr>
                <a:srgbClr val="27E2CC"/>
              </a:buClr>
              <a:buSzTx/>
              <a:buFont typeface="Arial" panose="020B0604020202020204" pitchFamily="34" charset="0"/>
              <a:buNone/>
              <a:tabLst/>
              <a:defRPr/>
            </a:pPr>
            <a:r>
              <a:rPr lang="de-DE" sz="1750" dirty="0"/>
              <a:t>Sie können wählen, wie oft Ihr Code teilnimmt. Für </a:t>
            </a:r>
            <a:r>
              <a:rPr lang="de-DE" sz="1750" b="1" dirty="0"/>
              <a:t>10 </a:t>
            </a:r>
            <a:r>
              <a:rPr lang="cs-CZ" sz="1750" b="1" dirty="0"/>
              <a:t>EUR</a:t>
            </a:r>
            <a:r>
              <a:rPr lang="de-DE" sz="1750" b="1" dirty="0"/>
              <a:t> pro Monat </a:t>
            </a:r>
            <a:r>
              <a:rPr lang="de-DE" sz="1750" dirty="0"/>
              <a:t>erhalten Sie 30 Teilnahmen bei der monatlichen Verlosung. Für </a:t>
            </a:r>
            <a:r>
              <a:rPr lang="de-DE" sz="1750" b="1" dirty="0"/>
              <a:t>30 </a:t>
            </a:r>
            <a:r>
              <a:rPr lang="cs-CZ" sz="1750" b="1" dirty="0"/>
              <a:t>EUR</a:t>
            </a:r>
            <a:r>
              <a:rPr lang="de-DE" sz="1750" b="1" dirty="0"/>
              <a:t> pro Monat </a:t>
            </a:r>
            <a:r>
              <a:rPr lang="de-DE" sz="1750" dirty="0"/>
              <a:t>erhalten Sie 100 Teilnahmen. </a:t>
            </a:r>
            <a:endParaRPr lang="cs-CZ" sz="1750" dirty="0"/>
          </a:p>
          <a:p>
            <a:pPr marL="0" lvl="0" indent="0" algn="just">
              <a:lnSpc>
                <a:spcPct val="107000"/>
              </a:lnSpc>
              <a:spcBef>
                <a:spcPts val="0"/>
              </a:spcBef>
              <a:spcAft>
                <a:spcPts val="800"/>
              </a:spcAft>
              <a:buClr>
                <a:srgbClr val="27E2CC"/>
              </a:buClr>
              <a:buNone/>
              <a:defRPr/>
            </a:pPr>
            <a:r>
              <a:rPr lang="de-DE" sz="1750" dirty="0"/>
              <a:t>Für diejenigen Spieler, die an allen 12 Ziehungen des Jahres teilnehmen, gibt es zusätzlich zu den monatlichen Preisen</a:t>
            </a:r>
            <a:r>
              <a:rPr lang="cs-CZ" sz="1750" dirty="0"/>
              <a:t> zu Silverste</a:t>
            </a:r>
            <a:r>
              <a:rPr lang="en-US" sz="1750" dirty="0"/>
              <a:t>r</a:t>
            </a:r>
            <a:r>
              <a:rPr lang="cs-CZ" sz="1750" dirty="0"/>
              <a:t> </a:t>
            </a:r>
            <a:r>
              <a:rPr lang="de-DE" sz="1750" dirty="0"/>
              <a:t>eine kostenlose Hauptverlosung mit einem Multi-Millionen-Preis. </a:t>
            </a:r>
            <a:endParaRPr lang="cs-CZ" sz="1750" dirty="0"/>
          </a:p>
          <a:p>
            <a:pPr marL="0" marR="0" lvl="0" indent="0" algn="just" defTabSz="685800" rtl="0" eaLnBrk="1" fontAlgn="auto" latinLnBrk="0" hangingPunct="1">
              <a:lnSpc>
                <a:spcPct val="107000"/>
              </a:lnSpc>
              <a:spcBef>
                <a:spcPts val="0"/>
              </a:spcBef>
              <a:spcAft>
                <a:spcPts val="800"/>
              </a:spcAft>
              <a:buClr>
                <a:srgbClr val="27E2CC"/>
              </a:buClr>
              <a:buSzTx/>
              <a:buFont typeface="Arial" panose="020B0604020202020204" pitchFamily="34" charset="0"/>
              <a:buNone/>
              <a:tabLst/>
              <a:defRPr/>
            </a:pPr>
            <a:r>
              <a:rPr lang="de-DE" sz="1750" dirty="0"/>
              <a:t>Das Abo kann jederzeit während des Jahres gekündigt werden.</a:t>
            </a:r>
            <a:endParaRPr lang="de-AT" sz="1750" dirty="0"/>
          </a:p>
        </p:txBody>
      </p:sp>
    </p:spTree>
    <p:extLst>
      <p:ext uri="{BB962C8B-B14F-4D97-AF65-F5344CB8AC3E}">
        <p14:creationId xmlns:p14="http://schemas.microsoft.com/office/powerpoint/2010/main" val="10364190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C92F394-5977-9358-66F5-821B9B3A69ED}"/>
              </a:ext>
            </a:extLst>
          </p:cNvPr>
          <p:cNvPicPr>
            <a:picLocks noChangeAspect="1"/>
          </p:cNvPicPr>
          <p:nvPr/>
        </p:nvPicPr>
        <p:blipFill>
          <a:blip r:embed="rId3"/>
          <a:stretch>
            <a:fillRect/>
          </a:stretch>
        </p:blipFill>
        <p:spPr>
          <a:xfrm>
            <a:off x="419192" y="6326884"/>
            <a:ext cx="6145703" cy="4300467"/>
          </a:xfrm>
          <a:prstGeom prst="rect">
            <a:avLst/>
          </a:prstGeom>
        </p:spPr>
      </p:pic>
      <p:sp>
        <p:nvSpPr>
          <p:cNvPr id="2" name="Rectangle 1">
            <a:extLst>
              <a:ext uri="{FF2B5EF4-FFF2-40B4-BE49-F238E27FC236}">
                <a16:creationId xmlns:a16="http://schemas.microsoft.com/office/drawing/2014/main" id="{03B74859-AAD5-267A-6C07-3716B6C045ED}"/>
              </a:ext>
            </a:extLst>
          </p:cNvPr>
          <p:cNvSpPr/>
          <p:nvPr/>
        </p:nvSpPr>
        <p:spPr>
          <a:xfrm>
            <a:off x="0" y="-11916"/>
            <a:ext cx="6858000" cy="922475"/>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itle 1">
            <a:extLst>
              <a:ext uri="{FF2B5EF4-FFF2-40B4-BE49-F238E27FC236}">
                <a16:creationId xmlns:a16="http://schemas.microsoft.com/office/drawing/2014/main" id="{89153A0E-BD1C-669D-A9E8-1FD97DABBBC9}"/>
              </a:ext>
            </a:extLst>
          </p:cNvPr>
          <p:cNvSpPr txBox="1">
            <a:spLocks/>
          </p:cNvSpPr>
          <p:nvPr/>
        </p:nvSpPr>
        <p:spPr>
          <a:xfrm>
            <a:off x="302952" y="20638"/>
            <a:ext cx="6384925" cy="922337"/>
          </a:xfrm>
          <a:prstGeom prst="rect">
            <a:avLst/>
          </a:prstGeom>
        </p:spPr>
        <p:txBody>
          <a:bodyPr vert="horz" lIns="91440" tIns="45720" rIns="91440" bIns="45720" rtlCol="0" anchor="ctr">
            <a:normAutofit fontScale="92500" lnSpcReduction="10000"/>
          </a:bodyPr>
          <a:lstStyle>
            <a:lvl1pPr algn="l" defTabSz="685800" rtl="0" eaLnBrk="1" latinLnBrk="0" hangingPunct="1">
              <a:lnSpc>
                <a:spcPct val="90000"/>
              </a:lnSpc>
              <a:spcBef>
                <a:spcPct val="0"/>
              </a:spcBef>
              <a:buNone/>
              <a:defRPr sz="3600" kern="1200">
                <a:solidFill>
                  <a:schemeClr val="tx1"/>
                </a:solidFill>
                <a:latin typeface="+mn-lt"/>
                <a:ea typeface="+mj-ea"/>
                <a:cs typeface="+mj-cs"/>
              </a:defRPr>
            </a:lvl1pPr>
          </a:lstStyle>
          <a:p>
            <a:r>
              <a:rPr lang="cs-CZ" sz="2400" dirty="0" err="1"/>
              <a:t>Progressive</a:t>
            </a:r>
            <a:r>
              <a:rPr lang="cs-CZ" sz="2400" dirty="0"/>
              <a:t> </a:t>
            </a:r>
            <a:r>
              <a:rPr lang="cs-CZ" sz="2400" dirty="0" err="1"/>
              <a:t>annuity</a:t>
            </a:r>
            <a:endParaRPr lang="cs-CZ" sz="2400" b="1" dirty="0"/>
          </a:p>
          <a:p>
            <a:r>
              <a:rPr lang="de-DE" sz="2400" b="1" dirty="0"/>
              <a:t>Stellen Sie sich vor, es wird ein neues Lotteriespiel eingeführt:</a:t>
            </a:r>
          </a:p>
        </p:txBody>
      </p:sp>
      <p:sp>
        <p:nvSpPr>
          <p:cNvPr id="28" name="Text Placeholder 2">
            <a:extLst>
              <a:ext uri="{FF2B5EF4-FFF2-40B4-BE49-F238E27FC236}">
                <a16:creationId xmlns:a16="http://schemas.microsoft.com/office/drawing/2014/main" id="{DD22262A-7D27-6C48-BD8D-1B4CBFAA5321}"/>
              </a:ext>
            </a:extLst>
          </p:cNvPr>
          <p:cNvSpPr txBox="1">
            <a:spLocks/>
          </p:cNvSpPr>
          <p:nvPr/>
        </p:nvSpPr>
        <p:spPr>
          <a:xfrm>
            <a:off x="297718" y="942975"/>
            <a:ext cx="6400800" cy="5362575"/>
          </a:xfrm>
          <a:prstGeom prst="rect">
            <a:avLst/>
          </a:prstGeom>
        </p:spPr>
        <p:txBody>
          <a:bodyPr vert="horz" lIns="91440" tIns="45720" rIns="91440" bIns="45720" rtlCol="0">
            <a:noAutofit/>
          </a:bodyPr>
          <a:lstStyle>
            <a:lvl1pPr marL="0" indent="0" algn="l" defTabSz="685800" rtl="0" eaLnBrk="1" latinLnBrk="0" hangingPunct="1">
              <a:lnSpc>
                <a:spcPct val="90000"/>
              </a:lnSpc>
              <a:spcBef>
                <a:spcPts val="750"/>
              </a:spcBef>
              <a:buFontTx/>
              <a:buNone/>
              <a:defRPr sz="3600" kern="1200">
                <a:solidFill>
                  <a:schemeClr val="tx1"/>
                </a:solidFill>
                <a:latin typeface="+mn-lt"/>
                <a:ea typeface="+mn-ea"/>
                <a:cs typeface="+mn-cs"/>
              </a:defRPr>
            </a:lvl1pPr>
            <a:lvl2pPr marL="342900" indent="0" algn="l" defTabSz="685800" rtl="0" eaLnBrk="1" latinLnBrk="0" hangingPunct="1">
              <a:lnSpc>
                <a:spcPct val="90000"/>
              </a:lnSpc>
              <a:spcBef>
                <a:spcPts val="375"/>
              </a:spcBef>
              <a:buFontTx/>
              <a:buNone/>
              <a:defRPr sz="1800"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1500"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13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a:buNone/>
            </a:pPr>
            <a:r>
              <a:rPr lang="de-DE" sz="1900" dirty="0"/>
              <a:t>Dieses Lotteriespiel wird international angeboten. Dank des gemeinsamen Pools der teilnehmenden Länder kann das Spiel einen erheblichen Hauptpreis in Form einer jährlichen Zahlung anbieten. Die jährlichen Zahlungen beginnen bei einem Minimum von </a:t>
            </a:r>
            <a:r>
              <a:rPr lang="de-DE" sz="1900" b="1" dirty="0"/>
              <a:t>200</a:t>
            </a:r>
            <a:r>
              <a:rPr lang="cs-CZ" sz="1900" b="1" dirty="0"/>
              <a:t> </a:t>
            </a:r>
            <a:r>
              <a:rPr lang="de-DE" sz="1900" b="1" dirty="0"/>
              <a:t>000 EUR pro Jahr für 7 Jahre </a:t>
            </a:r>
            <a:r>
              <a:rPr lang="de-DE" sz="1900" dirty="0"/>
              <a:t>und können auf bis zu </a:t>
            </a:r>
            <a:r>
              <a:rPr lang="de-DE" sz="1900" b="1" dirty="0"/>
              <a:t>5 Millionen EUR jährlich für 7 Jahre</a:t>
            </a:r>
            <a:r>
              <a:rPr lang="de-DE" sz="1900" dirty="0"/>
              <a:t> ansteigen.</a:t>
            </a:r>
            <a:endParaRPr lang="cs-CZ" sz="1900" dirty="0"/>
          </a:p>
          <a:p>
            <a:pPr marL="0" indent="0" algn="just">
              <a:buNone/>
            </a:pPr>
            <a:r>
              <a:rPr lang="de-DE" sz="1900" dirty="0"/>
              <a:t>Wenn der Hauptpreis bei der ersten Ziehung nicht gewonnen wird, gibt es einen Jackpot. Der Hauptpreis erhöht sich dann von 200.000 EUR auf 270.000 EUR jährlich für 7 Jahre und wächst weiter nach jeder Ziehung, bis er gewonnen wird. </a:t>
            </a:r>
            <a:endParaRPr lang="cs-CZ" sz="1900" dirty="0"/>
          </a:p>
          <a:p>
            <a:pPr marL="0" indent="0" algn="just">
              <a:buNone/>
            </a:pPr>
            <a:r>
              <a:rPr lang="de-DE" sz="1900" dirty="0"/>
              <a:t>Um teilzunehmen, wählen Sie 7 Zahlen aus 45. Oder Sie lassen</a:t>
            </a:r>
            <a:r>
              <a:rPr lang="cs-CZ" sz="1900" dirty="0"/>
              <a:t> </a:t>
            </a:r>
            <a:r>
              <a:rPr lang="de-DE" sz="1900" dirty="0"/>
              <a:t>via Quicktipp den Zufallsgenerator Ihre Zahlen aussuchen. </a:t>
            </a:r>
            <a:endParaRPr lang="cs-CZ" sz="1900" dirty="0"/>
          </a:p>
          <a:p>
            <a:pPr marL="0" indent="0" algn="just">
              <a:buNone/>
            </a:pPr>
            <a:r>
              <a:rPr lang="de-DE" sz="1900" dirty="0"/>
              <a:t>Der Preis für 1 Teilnahme beträgt </a:t>
            </a:r>
            <a:r>
              <a:rPr lang="de-DE" sz="1900" b="1" dirty="0"/>
              <a:t>1,50 EUR</a:t>
            </a:r>
            <a:r>
              <a:rPr lang="de-DE" sz="1900" dirty="0"/>
              <a:t>. </a:t>
            </a:r>
            <a:endParaRPr lang="cs-CZ" sz="1900" dirty="0"/>
          </a:p>
          <a:p>
            <a:pPr marL="0" indent="0" algn="just">
              <a:buNone/>
            </a:pPr>
            <a:r>
              <a:rPr lang="de-DE" sz="1900" dirty="0"/>
              <a:t>Es gibt 2 Ziehungen pro Woche. Der Hauptpreis wird (theoretisch) einmal in 10 Wochen gewonnen. </a:t>
            </a:r>
            <a:endParaRPr lang="cs-CZ" sz="1900" dirty="0"/>
          </a:p>
          <a:p>
            <a:pPr marL="0" indent="0" algn="just">
              <a:buNone/>
            </a:pPr>
            <a:r>
              <a:rPr lang="de-DE" sz="1900" dirty="0"/>
              <a:t>In Österreich wird dieses Spiel in allen Annahmestellen oder online auf den jeweiligen Websites und Apps angeboten.</a:t>
            </a:r>
            <a:endParaRPr lang="cs-CZ" sz="1900" dirty="0"/>
          </a:p>
          <a:p>
            <a:pPr algn="just"/>
            <a:endParaRPr lang="de-AT" sz="1900" dirty="0"/>
          </a:p>
        </p:txBody>
      </p:sp>
    </p:spTree>
    <p:extLst>
      <p:ext uri="{BB962C8B-B14F-4D97-AF65-F5344CB8AC3E}">
        <p14:creationId xmlns:p14="http://schemas.microsoft.com/office/powerpoint/2010/main" val="23003968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5F272D4-D862-F82A-74F8-855C331DECAE}"/>
              </a:ext>
            </a:extLst>
          </p:cNvPr>
          <p:cNvPicPr>
            <a:picLocks noChangeAspect="1"/>
          </p:cNvPicPr>
          <p:nvPr/>
        </p:nvPicPr>
        <p:blipFill>
          <a:blip r:embed="rId3"/>
          <a:stretch>
            <a:fillRect/>
          </a:stretch>
        </p:blipFill>
        <p:spPr>
          <a:xfrm>
            <a:off x="376666" y="5911349"/>
            <a:ext cx="6183616" cy="4242605"/>
          </a:xfrm>
          <a:prstGeom prst="rect">
            <a:avLst/>
          </a:prstGeom>
        </p:spPr>
      </p:pic>
      <p:sp>
        <p:nvSpPr>
          <p:cNvPr id="2" name="Rectangle 1">
            <a:extLst>
              <a:ext uri="{FF2B5EF4-FFF2-40B4-BE49-F238E27FC236}">
                <a16:creationId xmlns:a16="http://schemas.microsoft.com/office/drawing/2014/main" id="{9EFAC3F9-2AC5-8DDF-BC06-F3FFE869CF66}"/>
              </a:ext>
            </a:extLst>
          </p:cNvPr>
          <p:cNvSpPr/>
          <p:nvPr/>
        </p:nvSpPr>
        <p:spPr>
          <a:xfrm>
            <a:off x="0" y="-11916"/>
            <a:ext cx="6858000" cy="922475"/>
          </a:xfrm>
          <a:prstGeom prst="rect">
            <a:avLst/>
          </a:prstGeom>
          <a:solidFill>
            <a:srgbClr val="F2A6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itle 1">
            <a:extLst>
              <a:ext uri="{FF2B5EF4-FFF2-40B4-BE49-F238E27FC236}">
                <a16:creationId xmlns:a16="http://schemas.microsoft.com/office/drawing/2014/main" id="{108C060C-D3A8-7D72-6BB5-F7B8BF99C5CE}"/>
              </a:ext>
            </a:extLst>
          </p:cNvPr>
          <p:cNvSpPr txBox="1">
            <a:spLocks/>
          </p:cNvSpPr>
          <p:nvPr/>
        </p:nvSpPr>
        <p:spPr>
          <a:xfrm>
            <a:off x="302952" y="20638"/>
            <a:ext cx="6384925" cy="922337"/>
          </a:xfrm>
          <a:prstGeom prst="rect">
            <a:avLst/>
          </a:prstGeom>
        </p:spPr>
        <p:txBody>
          <a:bodyPr vert="horz" lIns="91440" tIns="45720" rIns="91440" bIns="45720" rtlCol="0" anchor="ctr">
            <a:normAutofit fontScale="92500" lnSpcReduction="10000"/>
          </a:bodyPr>
          <a:lstStyle>
            <a:lvl1pPr algn="l" defTabSz="685800" rtl="0" eaLnBrk="1" latinLnBrk="0" hangingPunct="1">
              <a:lnSpc>
                <a:spcPct val="90000"/>
              </a:lnSpc>
              <a:spcBef>
                <a:spcPct val="0"/>
              </a:spcBef>
              <a:buNone/>
              <a:defRPr sz="3600" kern="1200">
                <a:solidFill>
                  <a:schemeClr val="tx1"/>
                </a:solidFill>
                <a:latin typeface="+mn-lt"/>
                <a:ea typeface="+mj-ea"/>
                <a:cs typeface="+mj-cs"/>
              </a:defRPr>
            </a:lvl1pPr>
          </a:lstStyle>
          <a:p>
            <a:r>
              <a:rPr lang="cs-CZ" sz="2400" dirty="0" err="1"/>
              <a:t>Daily</a:t>
            </a:r>
            <a:r>
              <a:rPr lang="cs-CZ" sz="2400" dirty="0"/>
              <a:t> </a:t>
            </a:r>
            <a:r>
              <a:rPr lang="cs-CZ" sz="2400" dirty="0" err="1"/>
              <a:t>Millionaire</a:t>
            </a:r>
            <a:endParaRPr lang="cs-CZ" sz="2400" b="1" dirty="0"/>
          </a:p>
          <a:p>
            <a:r>
              <a:rPr lang="de-DE" sz="2400" b="1" dirty="0"/>
              <a:t>Stellen Sie sich vor, es wird ein neues Lotteriespiel eingeführt:</a:t>
            </a:r>
          </a:p>
        </p:txBody>
      </p:sp>
      <p:sp>
        <p:nvSpPr>
          <p:cNvPr id="20" name="Text Placeholder 2">
            <a:extLst>
              <a:ext uri="{FF2B5EF4-FFF2-40B4-BE49-F238E27FC236}">
                <a16:creationId xmlns:a16="http://schemas.microsoft.com/office/drawing/2014/main" id="{E6B3F803-88CF-E08D-38ED-D79EBE8B47E2}"/>
              </a:ext>
            </a:extLst>
          </p:cNvPr>
          <p:cNvSpPr txBox="1">
            <a:spLocks/>
          </p:cNvSpPr>
          <p:nvPr/>
        </p:nvSpPr>
        <p:spPr>
          <a:xfrm>
            <a:off x="297718" y="985507"/>
            <a:ext cx="6400800" cy="5362575"/>
          </a:xfrm>
          <a:prstGeom prst="rect">
            <a:avLst/>
          </a:prstGeom>
        </p:spPr>
        <p:txBody>
          <a:bodyPr vert="horz" lIns="91440" tIns="45720" rIns="91440" bIns="45720" rtlCol="0">
            <a:normAutofit/>
          </a:bodyPr>
          <a:lstStyle>
            <a:lvl1pPr marL="0" indent="0" algn="l" defTabSz="685800" rtl="0" eaLnBrk="1" latinLnBrk="0" hangingPunct="1">
              <a:lnSpc>
                <a:spcPct val="90000"/>
              </a:lnSpc>
              <a:spcBef>
                <a:spcPts val="750"/>
              </a:spcBef>
              <a:buFontTx/>
              <a:buNone/>
              <a:defRPr sz="3600" kern="1200">
                <a:solidFill>
                  <a:schemeClr val="tx1"/>
                </a:solidFill>
                <a:latin typeface="+mn-lt"/>
                <a:ea typeface="+mn-ea"/>
                <a:cs typeface="+mn-cs"/>
              </a:defRPr>
            </a:lvl1pPr>
            <a:lvl2pPr marL="342900" indent="0" algn="l" defTabSz="685800" rtl="0" eaLnBrk="1" latinLnBrk="0" hangingPunct="1">
              <a:lnSpc>
                <a:spcPct val="90000"/>
              </a:lnSpc>
              <a:spcBef>
                <a:spcPts val="375"/>
              </a:spcBef>
              <a:buFontTx/>
              <a:buNone/>
              <a:defRPr sz="1800"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1500"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13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lvl="0" indent="0" algn="just">
              <a:buNone/>
            </a:pPr>
            <a:r>
              <a:rPr lang="de-DE" sz="2000" dirty="0"/>
              <a:t>Diese Lotterie wird international angeboten und ermöglicht es den Spielern, </a:t>
            </a:r>
            <a:r>
              <a:rPr lang="de-DE" sz="2000" b="1" dirty="0"/>
              <a:t>täglich einen fixen Hauptpreis von </a:t>
            </a:r>
            <a:br>
              <a:rPr lang="cs-CZ" sz="2000" b="1" dirty="0"/>
            </a:br>
            <a:r>
              <a:rPr lang="de-DE" sz="2000" b="1" dirty="0"/>
              <a:t>1 Million EUR zu gewinnen</a:t>
            </a:r>
            <a:r>
              <a:rPr lang="de-DE" sz="2000" dirty="0"/>
              <a:t>. </a:t>
            </a:r>
            <a:endParaRPr lang="cs-CZ" sz="2000" dirty="0"/>
          </a:p>
          <a:p>
            <a:pPr marL="0" lvl="0" indent="0" algn="just">
              <a:buNone/>
            </a:pPr>
            <a:r>
              <a:rPr lang="de-DE" sz="2000" dirty="0"/>
              <a:t>Um teilzunehmen, wählen Sie 6 Zahlen aus 40. Oder Sie lassen via Quicktipp den Zufallsgenerator Ihre Zahlen aussuchen. </a:t>
            </a:r>
            <a:endParaRPr lang="cs-CZ" sz="2000" dirty="0"/>
          </a:p>
          <a:p>
            <a:pPr marL="0" lvl="0" indent="0" algn="just">
              <a:buNone/>
            </a:pPr>
            <a:r>
              <a:rPr lang="de-DE" sz="2000" dirty="0"/>
              <a:t>Der Preis für 1 Teilnahme beträgt </a:t>
            </a:r>
            <a:r>
              <a:rPr lang="de-DE" sz="2000" b="1" dirty="0"/>
              <a:t>1 EUR</a:t>
            </a:r>
            <a:r>
              <a:rPr lang="de-DE" sz="2000" dirty="0"/>
              <a:t>. </a:t>
            </a:r>
            <a:endParaRPr lang="cs-CZ" sz="2000" dirty="0"/>
          </a:p>
          <a:p>
            <a:pPr marL="0" lvl="0" indent="0" algn="just">
              <a:buNone/>
            </a:pPr>
            <a:r>
              <a:rPr lang="de-DE" sz="2000" dirty="0"/>
              <a:t>Der Hauptpreis wird (theoretisch) einmal in 3 Ziehungen gewonnen. Die Gesamtwahrscheinlichkeit zu gewinnen ist bei diesem Spiel ziemlich hoch – einer von fünf Tipps gewinnt.</a:t>
            </a:r>
            <a:endParaRPr lang="cs-CZ" sz="2000" dirty="0"/>
          </a:p>
          <a:p>
            <a:pPr marL="0" lvl="0" indent="0" algn="just">
              <a:buNone/>
            </a:pPr>
            <a:r>
              <a:rPr lang="de-DE" sz="2000" dirty="0"/>
              <a:t>Ziehungen finden jeden Abend in Finnland statt. </a:t>
            </a:r>
            <a:endParaRPr lang="cs-CZ" sz="2000" dirty="0"/>
          </a:p>
          <a:p>
            <a:pPr marL="0" lvl="0" indent="0" algn="just">
              <a:buNone/>
            </a:pPr>
            <a:r>
              <a:rPr lang="de-DE" sz="2000" dirty="0"/>
              <a:t>In Österreich wird dieses Spiel in allen Annahmestellen oder online auf den jeweiligen Websites und Apps angeboten.</a:t>
            </a:r>
            <a:endParaRPr lang="cs-CZ" sz="1800" dirty="0"/>
          </a:p>
        </p:txBody>
      </p:sp>
    </p:spTree>
    <p:extLst>
      <p:ext uri="{BB962C8B-B14F-4D97-AF65-F5344CB8AC3E}">
        <p14:creationId xmlns:p14="http://schemas.microsoft.com/office/powerpoint/2010/main" val="25746416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97D39CE-3621-8CCA-FBB7-9029E3E5E0B7}"/>
              </a:ext>
            </a:extLst>
          </p:cNvPr>
          <p:cNvPicPr>
            <a:picLocks noChangeAspect="1"/>
          </p:cNvPicPr>
          <p:nvPr/>
        </p:nvPicPr>
        <p:blipFill>
          <a:blip r:embed="rId3"/>
          <a:stretch>
            <a:fillRect/>
          </a:stretch>
        </p:blipFill>
        <p:spPr>
          <a:xfrm>
            <a:off x="407730" y="6868635"/>
            <a:ext cx="6069498" cy="3524224"/>
          </a:xfrm>
          <a:prstGeom prst="rect">
            <a:avLst/>
          </a:prstGeom>
        </p:spPr>
      </p:pic>
      <p:sp>
        <p:nvSpPr>
          <p:cNvPr id="2" name="Rectangle 1">
            <a:extLst>
              <a:ext uri="{FF2B5EF4-FFF2-40B4-BE49-F238E27FC236}">
                <a16:creationId xmlns:a16="http://schemas.microsoft.com/office/drawing/2014/main" id="{97F19E21-7514-9615-E604-1894C6E8F158}"/>
              </a:ext>
            </a:extLst>
          </p:cNvPr>
          <p:cNvSpPr/>
          <p:nvPr/>
        </p:nvSpPr>
        <p:spPr>
          <a:xfrm>
            <a:off x="0" y="-11916"/>
            <a:ext cx="6858000" cy="922475"/>
          </a:xfrm>
          <a:prstGeom prst="rect">
            <a:avLst/>
          </a:prstGeom>
          <a:solidFill>
            <a:srgbClr val="9BF1F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itle 1">
            <a:extLst>
              <a:ext uri="{FF2B5EF4-FFF2-40B4-BE49-F238E27FC236}">
                <a16:creationId xmlns:a16="http://schemas.microsoft.com/office/drawing/2014/main" id="{E6D56636-B781-6C72-9345-D6D0A3D280FB}"/>
              </a:ext>
            </a:extLst>
          </p:cNvPr>
          <p:cNvSpPr txBox="1">
            <a:spLocks/>
          </p:cNvSpPr>
          <p:nvPr/>
        </p:nvSpPr>
        <p:spPr>
          <a:xfrm>
            <a:off x="302952" y="20638"/>
            <a:ext cx="6384925" cy="922337"/>
          </a:xfrm>
          <a:prstGeom prst="rect">
            <a:avLst/>
          </a:prstGeom>
        </p:spPr>
        <p:txBody>
          <a:bodyPr vert="horz" lIns="91440" tIns="45720" rIns="91440" bIns="45720" rtlCol="0" anchor="ctr">
            <a:normAutofit fontScale="92500" lnSpcReduction="10000"/>
          </a:bodyPr>
          <a:lstStyle>
            <a:lvl1pPr algn="l" defTabSz="685800" rtl="0" eaLnBrk="1" latinLnBrk="0" hangingPunct="1">
              <a:lnSpc>
                <a:spcPct val="90000"/>
              </a:lnSpc>
              <a:spcBef>
                <a:spcPct val="0"/>
              </a:spcBef>
              <a:buNone/>
              <a:defRPr sz="3600" kern="1200">
                <a:solidFill>
                  <a:schemeClr val="tx1"/>
                </a:solidFill>
                <a:latin typeface="+mn-lt"/>
                <a:ea typeface="+mj-ea"/>
                <a:cs typeface="+mj-cs"/>
              </a:defRPr>
            </a:lvl1pPr>
          </a:lstStyle>
          <a:p>
            <a:r>
              <a:rPr lang="cs-CZ" sz="2400" dirty="0"/>
              <a:t>New </a:t>
            </a:r>
            <a:r>
              <a:rPr lang="cs-CZ" sz="2400" dirty="0" err="1"/>
              <a:t>Years</a:t>
            </a:r>
            <a:r>
              <a:rPr lang="cs-CZ" sz="2400" dirty="0"/>
              <a:t> </a:t>
            </a:r>
            <a:r>
              <a:rPr lang="cs-CZ" sz="2400" dirty="0" err="1"/>
              <a:t>Eve</a:t>
            </a:r>
            <a:r>
              <a:rPr lang="cs-CZ" sz="2400" dirty="0"/>
              <a:t> 13 </a:t>
            </a:r>
            <a:r>
              <a:rPr lang="cs-CZ" sz="2400" dirty="0" err="1"/>
              <a:t>millionaires</a:t>
            </a:r>
            <a:endParaRPr lang="cs-CZ" sz="2400" b="1" dirty="0"/>
          </a:p>
          <a:p>
            <a:r>
              <a:rPr lang="de-DE" sz="2400" b="1" dirty="0"/>
              <a:t>Stellen Sie sich vor, es wird ein neues Lotteriespiel eingeführt:</a:t>
            </a:r>
          </a:p>
        </p:txBody>
      </p:sp>
      <p:sp>
        <p:nvSpPr>
          <p:cNvPr id="19" name="Text Placeholder 2">
            <a:extLst>
              <a:ext uri="{FF2B5EF4-FFF2-40B4-BE49-F238E27FC236}">
                <a16:creationId xmlns:a16="http://schemas.microsoft.com/office/drawing/2014/main" id="{E796CE68-27B9-DA80-F742-2B11C151AC19}"/>
              </a:ext>
            </a:extLst>
          </p:cNvPr>
          <p:cNvSpPr txBox="1">
            <a:spLocks/>
          </p:cNvSpPr>
          <p:nvPr/>
        </p:nvSpPr>
        <p:spPr>
          <a:xfrm>
            <a:off x="217508" y="942975"/>
            <a:ext cx="6400800" cy="5362575"/>
          </a:xfrm>
          <a:prstGeom prst="rect">
            <a:avLst/>
          </a:prstGeom>
        </p:spPr>
        <p:txBody>
          <a:bodyPr vert="horz" lIns="91440" tIns="45720" rIns="91440" bIns="45720" rtlCol="0">
            <a:noAutofit/>
          </a:bodyPr>
          <a:lstStyle>
            <a:lvl1pPr marL="0" indent="0" algn="l" defTabSz="685800" rtl="0" eaLnBrk="1" latinLnBrk="0" hangingPunct="1">
              <a:lnSpc>
                <a:spcPct val="90000"/>
              </a:lnSpc>
              <a:spcBef>
                <a:spcPts val="750"/>
              </a:spcBef>
              <a:buFontTx/>
              <a:buNone/>
              <a:defRPr sz="3600" kern="1200">
                <a:solidFill>
                  <a:schemeClr val="tx1"/>
                </a:solidFill>
                <a:latin typeface="+mn-lt"/>
                <a:ea typeface="+mn-ea"/>
                <a:cs typeface="+mn-cs"/>
              </a:defRPr>
            </a:lvl1pPr>
            <a:lvl2pPr marL="342900" indent="0" algn="l" defTabSz="685800" rtl="0" eaLnBrk="1" latinLnBrk="0" hangingPunct="1">
              <a:lnSpc>
                <a:spcPct val="90000"/>
              </a:lnSpc>
              <a:spcBef>
                <a:spcPts val="375"/>
              </a:spcBef>
              <a:buFontTx/>
              <a:buNone/>
              <a:defRPr sz="1800"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1500"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13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a:buNone/>
            </a:pPr>
            <a:r>
              <a:rPr lang="de-DE" sz="2000" dirty="0"/>
              <a:t>Diese Lotterie ist ein einmal im Jahr stattfindendes Spiel, das nur zu Silvester in mehreren europäischen Ländern gespielt wird. Im Laufe des Tages gibt es 13 Ziehungen: </a:t>
            </a:r>
            <a:br>
              <a:rPr lang="cs-CZ" sz="2000" dirty="0"/>
            </a:br>
            <a:r>
              <a:rPr lang="de-DE" sz="2000" dirty="0"/>
              <a:t>jede volle Stunde von Mittag bis Mitternacht. </a:t>
            </a:r>
            <a:endParaRPr lang="cs-CZ" sz="2000" dirty="0"/>
          </a:p>
          <a:p>
            <a:pPr marL="0" indent="0" algn="just">
              <a:buNone/>
            </a:pPr>
            <a:r>
              <a:rPr lang="de-DE" sz="2000" dirty="0"/>
              <a:t>Dank des gemeinsamen Pools der teilnehmenden Länder kann das Spiel </a:t>
            </a:r>
            <a:r>
              <a:rPr lang="de-DE" sz="2000" b="1" dirty="0"/>
              <a:t>bei jeder Ziehung Tausende Preise </a:t>
            </a:r>
            <a:r>
              <a:rPr lang="de-DE" sz="2000" dirty="0"/>
              <a:t>anbieten. Die 13. Ziehung, die um Mitternacht stattfindet, ist eine besondere Ziehung, bei der </a:t>
            </a:r>
            <a:r>
              <a:rPr lang="de-DE" sz="2000" b="1" dirty="0"/>
              <a:t>13 Gewinner, die jeweils </a:t>
            </a:r>
            <a:br>
              <a:rPr lang="cs-CZ" sz="2000" b="1" dirty="0"/>
            </a:br>
            <a:r>
              <a:rPr lang="de-DE" sz="2000" b="1" dirty="0"/>
              <a:t>1 Million EUR gewinnen, ermittelt werden</a:t>
            </a:r>
            <a:r>
              <a:rPr lang="de-DE" sz="2000" dirty="0"/>
              <a:t>. </a:t>
            </a:r>
            <a:endParaRPr lang="cs-CZ" sz="2000" dirty="0"/>
          </a:p>
          <a:p>
            <a:pPr marL="0" indent="0" algn="just">
              <a:buNone/>
            </a:pPr>
            <a:r>
              <a:rPr lang="de-DE" sz="2000" dirty="0"/>
              <a:t>Ein Ticket kostet </a:t>
            </a:r>
            <a:r>
              <a:rPr lang="de-DE" sz="2000" b="1" dirty="0"/>
              <a:t>10 EUR </a:t>
            </a:r>
            <a:r>
              <a:rPr lang="de-DE" sz="2000" dirty="0"/>
              <a:t>und dieses Ticket berechtigt zur Teilnahme an allen 13 Ziehungen. Jedes Ticket kann in          5 Teile geteilt und mit Familie und Freunden geteilt werden. </a:t>
            </a:r>
            <a:endParaRPr lang="cs-CZ" sz="2000" dirty="0"/>
          </a:p>
          <a:p>
            <a:pPr marL="0" indent="0" algn="just">
              <a:buNone/>
            </a:pPr>
            <a:r>
              <a:rPr lang="de-DE" sz="2000" dirty="0"/>
              <a:t>Um teilzunehmen, müssen Sie keine Zahlen auswählen; das Ticket enthält einen einzigartigen Code (eine Kombination aus Zahlen und Buchstaben), der als Teilnahme für jede Ziehung dient. </a:t>
            </a:r>
            <a:endParaRPr lang="cs-CZ" sz="2000" dirty="0"/>
          </a:p>
          <a:p>
            <a:pPr marL="0" indent="0" algn="just">
              <a:buNone/>
            </a:pPr>
            <a:r>
              <a:rPr lang="de-DE" sz="2000" dirty="0"/>
              <a:t>Der Verkauf beginnt am 1. Dezember. In Österreich wird dieses Spiel in allen Annahmestellen oder online auf deren jeweiligen Websites und Apps angeboten.</a:t>
            </a:r>
          </a:p>
        </p:txBody>
      </p:sp>
    </p:spTree>
    <p:extLst>
      <p:ext uri="{BB962C8B-B14F-4D97-AF65-F5344CB8AC3E}">
        <p14:creationId xmlns:p14="http://schemas.microsoft.com/office/powerpoint/2010/main" val="35223805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63873BE-5A90-FB05-632A-F7982C424761}"/>
              </a:ext>
            </a:extLst>
          </p:cNvPr>
          <p:cNvPicPr>
            <a:picLocks noChangeAspect="1"/>
          </p:cNvPicPr>
          <p:nvPr/>
        </p:nvPicPr>
        <p:blipFill>
          <a:blip r:embed="rId3"/>
          <a:stretch>
            <a:fillRect/>
          </a:stretch>
        </p:blipFill>
        <p:spPr>
          <a:xfrm>
            <a:off x="297718" y="6825288"/>
            <a:ext cx="6356714" cy="3911824"/>
          </a:xfrm>
          <a:prstGeom prst="rect">
            <a:avLst/>
          </a:prstGeom>
        </p:spPr>
      </p:pic>
      <p:sp>
        <p:nvSpPr>
          <p:cNvPr id="2" name="Rectangle 1">
            <a:extLst>
              <a:ext uri="{FF2B5EF4-FFF2-40B4-BE49-F238E27FC236}">
                <a16:creationId xmlns:a16="http://schemas.microsoft.com/office/drawing/2014/main" id="{98B7B548-14FD-F2FF-30BA-786B5A318D1E}"/>
              </a:ext>
            </a:extLst>
          </p:cNvPr>
          <p:cNvSpPr/>
          <p:nvPr/>
        </p:nvSpPr>
        <p:spPr>
          <a:xfrm>
            <a:off x="0" y="-11916"/>
            <a:ext cx="6858000" cy="922475"/>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itle 1">
            <a:extLst>
              <a:ext uri="{FF2B5EF4-FFF2-40B4-BE49-F238E27FC236}">
                <a16:creationId xmlns:a16="http://schemas.microsoft.com/office/drawing/2014/main" id="{A2B7A311-281C-FD69-FDB3-75067AFB0BE5}"/>
              </a:ext>
            </a:extLst>
          </p:cNvPr>
          <p:cNvSpPr txBox="1">
            <a:spLocks/>
          </p:cNvSpPr>
          <p:nvPr/>
        </p:nvSpPr>
        <p:spPr>
          <a:xfrm>
            <a:off x="302952" y="-11261"/>
            <a:ext cx="6384925" cy="922337"/>
          </a:xfrm>
          <a:prstGeom prst="rect">
            <a:avLst/>
          </a:prstGeom>
        </p:spPr>
        <p:txBody>
          <a:bodyPr vert="horz" lIns="91440" tIns="45720" rIns="91440" bIns="45720" rtlCol="0" anchor="ctr">
            <a:normAutofit fontScale="92500" lnSpcReduction="10000"/>
          </a:bodyPr>
          <a:lstStyle>
            <a:lvl1pPr algn="l" defTabSz="685800" rtl="0" eaLnBrk="1" latinLnBrk="0" hangingPunct="1">
              <a:lnSpc>
                <a:spcPct val="90000"/>
              </a:lnSpc>
              <a:spcBef>
                <a:spcPct val="0"/>
              </a:spcBef>
              <a:buNone/>
              <a:defRPr sz="3600" kern="1200">
                <a:solidFill>
                  <a:schemeClr val="tx1"/>
                </a:solidFill>
                <a:latin typeface="+mn-lt"/>
                <a:ea typeface="+mj-ea"/>
                <a:cs typeface="+mj-cs"/>
              </a:defRPr>
            </a:lvl1pPr>
          </a:lstStyle>
          <a:p>
            <a:r>
              <a:rPr lang="cs-CZ" sz="2400" dirty="0" err="1"/>
              <a:t>Millionaires</a:t>
            </a:r>
            <a:r>
              <a:rPr lang="cs-CZ" sz="2400" dirty="0"/>
              <a:t> </a:t>
            </a:r>
            <a:r>
              <a:rPr lang="cs-CZ" sz="2400" dirty="0" err="1"/>
              <a:t>Flood</a:t>
            </a:r>
            <a:endParaRPr lang="cs-CZ" sz="2400" b="1" dirty="0"/>
          </a:p>
          <a:p>
            <a:r>
              <a:rPr lang="de-DE" sz="2400" b="1" dirty="0"/>
              <a:t>Stellen Sie sich vor, es wird ein neues Lotteriespiel eingeführt:</a:t>
            </a:r>
          </a:p>
        </p:txBody>
      </p:sp>
      <p:sp>
        <p:nvSpPr>
          <p:cNvPr id="16" name="Text Placeholder 2">
            <a:extLst>
              <a:ext uri="{FF2B5EF4-FFF2-40B4-BE49-F238E27FC236}">
                <a16:creationId xmlns:a16="http://schemas.microsoft.com/office/drawing/2014/main" id="{0F1E6DEB-9C07-A296-AB56-63246E666292}"/>
              </a:ext>
            </a:extLst>
          </p:cNvPr>
          <p:cNvSpPr txBox="1">
            <a:spLocks/>
          </p:cNvSpPr>
          <p:nvPr/>
        </p:nvSpPr>
        <p:spPr>
          <a:xfrm>
            <a:off x="297718" y="911078"/>
            <a:ext cx="6400800" cy="5362575"/>
          </a:xfrm>
          <a:prstGeom prst="rect">
            <a:avLst/>
          </a:prstGeom>
        </p:spPr>
        <p:txBody>
          <a:bodyPr vert="horz" lIns="91440" tIns="45720" rIns="91440" bIns="45720" rtlCol="0">
            <a:noAutofit/>
          </a:bodyPr>
          <a:lstStyle>
            <a:lvl1pPr marL="0" indent="0" algn="l" defTabSz="685800" rtl="0" eaLnBrk="1" latinLnBrk="0" hangingPunct="1">
              <a:lnSpc>
                <a:spcPct val="90000"/>
              </a:lnSpc>
              <a:spcBef>
                <a:spcPts val="750"/>
              </a:spcBef>
              <a:buFontTx/>
              <a:buNone/>
              <a:defRPr sz="3600" kern="1200">
                <a:solidFill>
                  <a:schemeClr val="tx1"/>
                </a:solidFill>
                <a:latin typeface="+mn-lt"/>
                <a:ea typeface="+mn-ea"/>
                <a:cs typeface="+mn-cs"/>
              </a:defRPr>
            </a:lvl1pPr>
            <a:lvl2pPr marL="342900" indent="0" algn="l" defTabSz="685800" rtl="0" eaLnBrk="1" latinLnBrk="0" hangingPunct="1">
              <a:lnSpc>
                <a:spcPct val="90000"/>
              </a:lnSpc>
              <a:spcBef>
                <a:spcPts val="375"/>
              </a:spcBef>
              <a:buFontTx/>
              <a:buNone/>
              <a:defRPr sz="1800"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1500"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13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a:lnSpc>
                <a:spcPct val="107000"/>
              </a:lnSpc>
              <a:spcBef>
                <a:spcPts val="0"/>
              </a:spcBef>
              <a:spcAft>
                <a:spcPts val="800"/>
              </a:spcAft>
              <a:buNone/>
            </a:pPr>
            <a:r>
              <a:rPr lang="de-DE" sz="1750" dirty="0"/>
              <a:t>Diese Lotterie ist ein tägliches Spiel. Es wird international angeboten und dank des gemeinsamen Pools gibt es zusätzlich zu den regulären Preisen ein besonderes Feature namens „</a:t>
            </a:r>
            <a:r>
              <a:rPr lang="de-DE" sz="1750" b="1" dirty="0"/>
              <a:t>Millionen-Regen</a:t>
            </a:r>
            <a:r>
              <a:rPr lang="de-DE" sz="1750" dirty="0"/>
              <a:t>“. Ein Teil der Einnahmen wird im </a:t>
            </a:r>
            <a:r>
              <a:rPr lang="de-DE" sz="1750" b="1" dirty="0"/>
              <a:t>Millionen-Regen </a:t>
            </a:r>
            <a:r>
              <a:rPr lang="de-DE" sz="1750" dirty="0"/>
              <a:t>Fonds gesammelt, der über </a:t>
            </a:r>
            <a:r>
              <a:rPr lang="de-DE" sz="1750" b="1" dirty="0"/>
              <a:t>50 Millionen EUR </a:t>
            </a:r>
            <a:r>
              <a:rPr lang="de-DE" sz="1750" dirty="0"/>
              <a:t>erreichen kann. </a:t>
            </a:r>
            <a:endParaRPr lang="cs-CZ" sz="1750" dirty="0"/>
          </a:p>
          <a:p>
            <a:pPr marL="0" indent="0" algn="just">
              <a:lnSpc>
                <a:spcPct val="107000"/>
              </a:lnSpc>
              <a:spcBef>
                <a:spcPts val="0"/>
              </a:spcBef>
              <a:spcAft>
                <a:spcPts val="800"/>
              </a:spcAft>
              <a:buNone/>
            </a:pPr>
            <a:r>
              <a:rPr lang="de-DE" sz="1750" dirty="0"/>
              <a:t>Um an dem Spiel teilzunehmen, wählen Sie 5 Zahlen aus 17. Bei der abendlichen Ziehung sehen Sie nicht nur, ob Sie mit Ihren Zahlen gewonnen haben, sondern auch, ob an diesem Tag der „</a:t>
            </a:r>
            <a:r>
              <a:rPr lang="de-DE" sz="1750" b="1" dirty="0"/>
              <a:t>Millionen-Regen</a:t>
            </a:r>
            <a:r>
              <a:rPr lang="de-DE" sz="1750" dirty="0"/>
              <a:t>" stattfindet. Dies passiert bei jeder Ziehung, bei der alle         5 gezogenen Zahlen gerade sind. Zum Beispiel, wenn an diesem Tag 25,5 Millionen EUR im Fonds sind, werden 25 Spieler auf Basis Ihres Ticketcodes ausgewählt. Diese Spieler gewinnen dann </a:t>
            </a:r>
            <a:r>
              <a:rPr lang="de-DE" sz="1750" b="1" dirty="0"/>
              <a:t>jeweils            1 Million EUR</a:t>
            </a:r>
            <a:r>
              <a:rPr lang="de-DE" sz="1750" dirty="0"/>
              <a:t>. </a:t>
            </a:r>
            <a:endParaRPr lang="cs-CZ" sz="1750" dirty="0"/>
          </a:p>
          <a:p>
            <a:pPr marL="0" indent="0" algn="just">
              <a:lnSpc>
                <a:spcPct val="107000"/>
              </a:lnSpc>
              <a:spcBef>
                <a:spcPts val="0"/>
              </a:spcBef>
              <a:spcAft>
                <a:spcPts val="800"/>
              </a:spcAft>
              <a:buNone/>
            </a:pPr>
            <a:r>
              <a:rPr lang="de-DE" sz="1750" dirty="0"/>
              <a:t>Der Mindestpreis für die Teilnahme beträgt </a:t>
            </a:r>
            <a:r>
              <a:rPr lang="de-DE" sz="1750" b="1" dirty="0"/>
              <a:t>1,50 EUR.</a:t>
            </a:r>
            <a:r>
              <a:rPr lang="de-DE" sz="1750" dirty="0"/>
              <a:t> Damit erhalten Sie die Chance, täglich in einer der 6 Gewinnkategorien zu gewinnen. Außerdem nimmt Ihr Los am Millionen-Regen teil, wenn dieser bei der jeweiligen Ziehung stattfindet. </a:t>
            </a:r>
            <a:endParaRPr lang="cs-CZ" sz="1750" dirty="0"/>
          </a:p>
          <a:p>
            <a:pPr marL="0" indent="0" algn="just">
              <a:lnSpc>
                <a:spcPct val="107000"/>
              </a:lnSpc>
              <a:spcBef>
                <a:spcPts val="0"/>
              </a:spcBef>
              <a:spcAft>
                <a:spcPts val="800"/>
              </a:spcAft>
              <a:buNone/>
            </a:pPr>
            <a:r>
              <a:rPr lang="de-DE" sz="1750" dirty="0"/>
              <a:t>In Österreich wird dieses Spiel in allen Annahmestellen oder online auf deren jeweiligen Websites und Apps angeboten.</a:t>
            </a:r>
            <a:endParaRPr lang="cs-CZ" sz="175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8958194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5EE2AB3-4E51-48B8-7357-7AE4B1AE26F3}"/>
              </a:ext>
            </a:extLst>
          </p:cNvPr>
          <p:cNvPicPr>
            <a:picLocks noChangeAspect="1"/>
          </p:cNvPicPr>
          <p:nvPr/>
        </p:nvPicPr>
        <p:blipFill>
          <a:blip r:embed="rId3"/>
          <a:stretch>
            <a:fillRect/>
          </a:stretch>
        </p:blipFill>
        <p:spPr>
          <a:xfrm>
            <a:off x="240371" y="6917732"/>
            <a:ext cx="6377253" cy="3149065"/>
          </a:xfrm>
          <a:prstGeom prst="rect">
            <a:avLst/>
          </a:prstGeom>
        </p:spPr>
      </p:pic>
      <p:sp>
        <p:nvSpPr>
          <p:cNvPr id="2" name="Rectangle 1">
            <a:extLst>
              <a:ext uri="{FF2B5EF4-FFF2-40B4-BE49-F238E27FC236}">
                <a16:creationId xmlns:a16="http://schemas.microsoft.com/office/drawing/2014/main" id="{00794CDD-1346-39A1-ECCF-7552AEF81E26}"/>
              </a:ext>
            </a:extLst>
          </p:cNvPr>
          <p:cNvSpPr/>
          <p:nvPr/>
        </p:nvSpPr>
        <p:spPr>
          <a:xfrm>
            <a:off x="0" y="-11916"/>
            <a:ext cx="6858000" cy="922475"/>
          </a:xfrm>
          <a:prstGeom prst="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itle 1">
            <a:extLst>
              <a:ext uri="{FF2B5EF4-FFF2-40B4-BE49-F238E27FC236}">
                <a16:creationId xmlns:a16="http://schemas.microsoft.com/office/drawing/2014/main" id="{40E9EF81-5DC9-3A08-A348-823FDD5F16CD}"/>
              </a:ext>
            </a:extLst>
          </p:cNvPr>
          <p:cNvSpPr txBox="1">
            <a:spLocks/>
          </p:cNvSpPr>
          <p:nvPr/>
        </p:nvSpPr>
        <p:spPr>
          <a:xfrm>
            <a:off x="302952" y="20638"/>
            <a:ext cx="6384925" cy="922337"/>
          </a:xfrm>
          <a:prstGeom prst="rect">
            <a:avLst/>
          </a:prstGeom>
        </p:spPr>
        <p:txBody>
          <a:bodyPr vert="horz" lIns="91440" tIns="45720" rIns="91440" bIns="45720" rtlCol="0" anchor="ctr">
            <a:normAutofit fontScale="92500" lnSpcReduction="10000"/>
          </a:bodyPr>
          <a:lstStyle>
            <a:lvl1pPr algn="l" defTabSz="685800" rtl="0" eaLnBrk="1" latinLnBrk="0" hangingPunct="1">
              <a:lnSpc>
                <a:spcPct val="90000"/>
              </a:lnSpc>
              <a:spcBef>
                <a:spcPct val="0"/>
              </a:spcBef>
              <a:buNone/>
              <a:defRPr sz="3600" kern="1200">
                <a:solidFill>
                  <a:schemeClr val="tx1"/>
                </a:solidFill>
                <a:latin typeface="+mn-lt"/>
                <a:ea typeface="+mj-ea"/>
                <a:cs typeface="+mj-cs"/>
              </a:defRPr>
            </a:lvl1pPr>
          </a:lstStyle>
          <a:p>
            <a:r>
              <a:rPr lang="cs-CZ" sz="2400" dirty="0"/>
              <a:t>Real </a:t>
            </a:r>
            <a:r>
              <a:rPr lang="cs-CZ" sz="2400" dirty="0" err="1"/>
              <a:t>estate</a:t>
            </a:r>
            <a:r>
              <a:rPr lang="cs-CZ" sz="2400" dirty="0"/>
              <a:t> </a:t>
            </a:r>
            <a:r>
              <a:rPr lang="cs-CZ" sz="2400" dirty="0" err="1"/>
              <a:t>prizes</a:t>
            </a:r>
            <a:r>
              <a:rPr lang="cs-CZ" sz="2400" dirty="0"/>
              <a:t> </a:t>
            </a:r>
            <a:r>
              <a:rPr lang="cs-CZ" sz="2400" dirty="0" err="1"/>
              <a:t>added</a:t>
            </a:r>
            <a:r>
              <a:rPr lang="cs-CZ" sz="2400" dirty="0"/>
              <a:t> to</a:t>
            </a:r>
            <a:r>
              <a:rPr lang="en-US" sz="2400" dirty="0"/>
              <a:t> existing lottery</a:t>
            </a:r>
            <a:endParaRPr lang="cs-CZ" sz="2400" b="1" dirty="0"/>
          </a:p>
          <a:p>
            <a:r>
              <a:rPr lang="de-DE" sz="2400" b="1" dirty="0"/>
              <a:t>Stellen Sie sich vor, es gibt ein neues Zusatzspiel für Spieler von EuroMillionen:</a:t>
            </a:r>
          </a:p>
        </p:txBody>
      </p:sp>
      <p:sp>
        <p:nvSpPr>
          <p:cNvPr id="24" name="Text Placeholder 2">
            <a:extLst>
              <a:ext uri="{FF2B5EF4-FFF2-40B4-BE49-F238E27FC236}">
                <a16:creationId xmlns:a16="http://schemas.microsoft.com/office/drawing/2014/main" id="{96778904-1DAE-5506-89BD-45A84629C047}"/>
              </a:ext>
            </a:extLst>
          </p:cNvPr>
          <p:cNvSpPr txBox="1">
            <a:spLocks/>
          </p:cNvSpPr>
          <p:nvPr/>
        </p:nvSpPr>
        <p:spPr>
          <a:xfrm>
            <a:off x="297718" y="985507"/>
            <a:ext cx="6319907" cy="6095778"/>
          </a:xfrm>
          <a:prstGeom prst="rect">
            <a:avLst/>
          </a:prstGeom>
        </p:spPr>
        <p:txBody>
          <a:bodyPr vert="horz" lIns="91440" tIns="45720" rIns="91440" bIns="45720" rtlCol="0">
            <a:noAutofit/>
          </a:bodyPr>
          <a:lstStyle>
            <a:lvl1pPr marL="0" indent="0" algn="l" defTabSz="685800" rtl="0" eaLnBrk="1" latinLnBrk="0" hangingPunct="1">
              <a:lnSpc>
                <a:spcPct val="90000"/>
              </a:lnSpc>
              <a:spcBef>
                <a:spcPts val="750"/>
              </a:spcBef>
              <a:buFontTx/>
              <a:buNone/>
              <a:defRPr sz="3600" kern="1200">
                <a:solidFill>
                  <a:schemeClr val="tx1"/>
                </a:solidFill>
                <a:latin typeface="+mn-lt"/>
                <a:ea typeface="+mn-ea"/>
                <a:cs typeface="+mn-cs"/>
              </a:defRPr>
            </a:lvl1pPr>
            <a:lvl2pPr marL="342900" indent="0" algn="l" defTabSz="685800" rtl="0" eaLnBrk="1" latinLnBrk="0" hangingPunct="1">
              <a:lnSpc>
                <a:spcPct val="90000"/>
              </a:lnSpc>
              <a:spcBef>
                <a:spcPts val="375"/>
              </a:spcBef>
              <a:buFontTx/>
              <a:buNone/>
              <a:defRPr sz="1800"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1500"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13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a:buNone/>
            </a:pPr>
            <a:r>
              <a:rPr lang="de-DE" sz="2100" dirty="0"/>
              <a:t>Dieses neue Spiel ist ein Zusatzspiel für EuroMillionen. Für zusätzliche </a:t>
            </a:r>
            <a:r>
              <a:rPr lang="de-DE" sz="2100" b="1" dirty="0"/>
              <a:t>1,50 EUR </a:t>
            </a:r>
            <a:r>
              <a:rPr lang="de-DE" sz="2100" dirty="0"/>
              <a:t>pro Quittung nehmen die EuroMillionen-Spieler auch an einer zusätzlichen Verlosung teil, bei der es </a:t>
            </a:r>
            <a:r>
              <a:rPr lang="de-DE" sz="2100" b="1" dirty="0"/>
              <a:t>exklusive Sachpreise wie Villen im Mittelmeerraum, den Alpen, berühmten europäischen Kurorten oder Penthäuser in europäischen Metropolen, Apartments am Comer See usw</a:t>
            </a:r>
            <a:r>
              <a:rPr lang="de-DE" sz="2100" dirty="0"/>
              <a:t>. zu gewinnen gibt. </a:t>
            </a:r>
            <a:endParaRPr lang="cs-CZ" sz="2100" dirty="0"/>
          </a:p>
          <a:p>
            <a:pPr marL="0" indent="0" algn="just">
              <a:buNone/>
            </a:pPr>
            <a:r>
              <a:rPr lang="de-DE" sz="2100" dirty="0"/>
              <a:t>Diese exklusiven Preise können dank eines international geteilten Pools angeboten werden. Um an dieser Zusatzverlosung teilzunehmen, müssen die Spieler keine Zahlen auswählen. Die EuroMillionen Quittungsnummer nimmt automatisch an der Verlosung teil, wenn die zusätzlichen </a:t>
            </a:r>
            <a:r>
              <a:rPr lang="de-DE" sz="2100" b="1" dirty="0"/>
              <a:t>1,50 EUR </a:t>
            </a:r>
            <a:r>
              <a:rPr lang="de-DE" sz="2100" dirty="0"/>
              <a:t>bezahlt werden. </a:t>
            </a:r>
            <a:endParaRPr lang="cs-CZ" sz="2100" dirty="0"/>
          </a:p>
          <a:p>
            <a:pPr marL="0" indent="0" algn="just">
              <a:buNone/>
            </a:pPr>
            <a:r>
              <a:rPr lang="de-DE" sz="2100" dirty="0"/>
              <a:t>Der Hauptpreis sind exklusive Immobilien im Wert von  2 Millionen EUR. Es gibt keine niedrigeren Gewinne. Die Ziehungen für die Zusatzverlosung finden zeitgleich mit den Ziehungen von EuroMillionen statt.</a:t>
            </a:r>
            <a:endParaRPr lang="en-GB" sz="2100" dirty="0"/>
          </a:p>
        </p:txBody>
      </p:sp>
    </p:spTree>
    <p:extLst>
      <p:ext uri="{BB962C8B-B14F-4D97-AF65-F5344CB8AC3E}">
        <p14:creationId xmlns:p14="http://schemas.microsoft.com/office/powerpoint/2010/main" val="22704491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7F68D02-E399-2FF0-53D0-37BCE1F26984}"/>
              </a:ext>
            </a:extLst>
          </p:cNvPr>
          <p:cNvPicPr>
            <a:picLocks noChangeAspect="1"/>
          </p:cNvPicPr>
          <p:nvPr/>
        </p:nvPicPr>
        <p:blipFill>
          <a:blip r:embed="rId3"/>
          <a:stretch>
            <a:fillRect/>
          </a:stretch>
        </p:blipFill>
        <p:spPr>
          <a:xfrm>
            <a:off x="408009" y="7006361"/>
            <a:ext cx="6159046" cy="3690842"/>
          </a:xfrm>
          <a:prstGeom prst="rect">
            <a:avLst/>
          </a:prstGeom>
        </p:spPr>
      </p:pic>
      <p:sp>
        <p:nvSpPr>
          <p:cNvPr id="2" name="Rectangle 1">
            <a:extLst>
              <a:ext uri="{FF2B5EF4-FFF2-40B4-BE49-F238E27FC236}">
                <a16:creationId xmlns:a16="http://schemas.microsoft.com/office/drawing/2014/main" id="{5679DBBF-5849-A475-0522-713E7DB0B017}"/>
              </a:ext>
            </a:extLst>
          </p:cNvPr>
          <p:cNvSpPr/>
          <p:nvPr/>
        </p:nvSpPr>
        <p:spPr>
          <a:xfrm>
            <a:off x="0" y="-11915"/>
            <a:ext cx="6858000" cy="743436"/>
          </a:xfrm>
          <a:prstGeom prst="rect">
            <a:avLst/>
          </a:prstGeom>
          <a:solidFill>
            <a:srgbClr val="FC30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itle 1">
            <a:extLst>
              <a:ext uri="{FF2B5EF4-FFF2-40B4-BE49-F238E27FC236}">
                <a16:creationId xmlns:a16="http://schemas.microsoft.com/office/drawing/2014/main" id="{3508B767-0564-750A-D90F-F07E9F080224}"/>
              </a:ext>
            </a:extLst>
          </p:cNvPr>
          <p:cNvSpPr txBox="1">
            <a:spLocks/>
          </p:cNvSpPr>
          <p:nvPr/>
        </p:nvSpPr>
        <p:spPr>
          <a:xfrm>
            <a:off x="302952" y="-74777"/>
            <a:ext cx="6384925" cy="922337"/>
          </a:xfrm>
          <a:prstGeom prst="rect">
            <a:avLst/>
          </a:prstGeom>
        </p:spPr>
        <p:txBody>
          <a:bodyPr vert="horz" lIns="91440" tIns="45720" rIns="91440" bIns="45720" rtlCol="0" anchor="ctr">
            <a:normAutofit fontScale="92500" lnSpcReduction="10000"/>
          </a:bodyPr>
          <a:lstStyle>
            <a:lvl1pPr algn="l" defTabSz="685800" rtl="0" eaLnBrk="1" latinLnBrk="0" hangingPunct="1">
              <a:lnSpc>
                <a:spcPct val="90000"/>
              </a:lnSpc>
              <a:spcBef>
                <a:spcPct val="0"/>
              </a:spcBef>
              <a:buNone/>
              <a:defRPr sz="3600" kern="1200">
                <a:solidFill>
                  <a:schemeClr val="tx1"/>
                </a:solidFill>
                <a:latin typeface="+mn-lt"/>
                <a:ea typeface="+mj-ea"/>
                <a:cs typeface="+mj-cs"/>
              </a:defRPr>
            </a:lvl1pPr>
          </a:lstStyle>
          <a:p>
            <a:r>
              <a:rPr lang="cs-CZ" sz="2400" dirty="0" err="1"/>
              <a:t>Experiential</a:t>
            </a:r>
            <a:r>
              <a:rPr lang="cs-CZ" sz="2400" dirty="0"/>
              <a:t> </a:t>
            </a:r>
            <a:r>
              <a:rPr lang="cs-CZ" sz="2400" dirty="0" err="1"/>
              <a:t>prizes</a:t>
            </a:r>
            <a:r>
              <a:rPr lang="cs-CZ" sz="2400" dirty="0"/>
              <a:t> </a:t>
            </a:r>
            <a:r>
              <a:rPr lang="cs-CZ" sz="2400" dirty="0" err="1"/>
              <a:t>added</a:t>
            </a:r>
            <a:r>
              <a:rPr lang="cs-CZ" sz="2400" dirty="0"/>
              <a:t> to </a:t>
            </a:r>
            <a:r>
              <a:rPr lang="cs-CZ" sz="2400" dirty="0" err="1"/>
              <a:t>annuity</a:t>
            </a:r>
            <a:r>
              <a:rPr lang="cs-CZ" sz="2400" dirty="0"/>
              <a:t> </a:t>
            </a:r>
            <a:r>
              <a:rPr lang="cs-CZ" sz="2400" dirty="0" err="1"/>
              <a:t>lottery</a:t>
            </a:r>
            <a:r>
              <a:rPr lang="cs-CZ" sz="2400" dirty="0"/>
              <a:t> (SFL)</a:t>
            </a:r>
            <a:endParaRPr lang="cs-CZ" sz="2400" b="1" dirty="0"/>
          </a:p>
          <a:p>
            <a:r>
              <a:rPr lang="de-DE" sz="2400" b="1" dirty="0"/>
              <a:t>Stellen Sie sich vor, es gibt ein neues Zusatzspiel für Spieler von EuroDreams:</a:t>
            </a:r>
          </a:p>
        </p:txBody>
      </p:sp>
      <p:sp>
        <p:nvSpPr>
          <p:cNvPr id="15" name="Text Placeholder 2">
            <a:extLst>
              <a:ext uri="{FF2B5EF4-FFF2-40B4-BE49-F238E27FC236}">
                <a16:creationId xmlns:a16="http://schemas.microsoft.com/office/drawing/2014/main" id="{AF99556A-3E1F-856A-1365-35CB8C67CDE8}"/>
              </a:ext>
            </a:extLst>
          </p:cNvPr>
          <p:cNvSpPr txBox="1">
            <a:spLocks/>
          </p:cNvSpPr>
          <p:nvPr/>
        </p:nvSpPr>
        <p:spPr>
          <a:xfrm>
            <a:off x="297718" y="788522"/>
            <a:ext cx="6400800" cy="5362575"/>
          </a:xfrm>
          <a:prstGeom prst="rect">
            <a:avLst/>
          </a:prstGeom>
        </p:spPr>
        <p:txBody>
          <a:bodyPr vert="horz" lIns="91440" tIns="45720" rIns="91440" bIns="45720" rtlCol="0">
            <a:noAutofit/>
          </a:bodyPr>
          <a:lstStyle>
            <a:lvl1pPr marL="0" indent="0" algn="l" defTabSz="685800" rtl="0" eaLnBrk="1" latinLnBrk="0" hangingPunct="1">
              <a:lnSpc>
                <a:spcPct val="90000"/>
              </a:lnSpc>
              <a:spcBef>
                <a:spcPts val="750"/>
              </a:spcBef>
              <a:buFontTx/>
              <a:buNone/>
              <a:defRPr sz="3600" kern="1200">
                <a:solidFill>
                  <a:schemeClr val="tx1"/>
                </a:solidFill>
                <a:latin typeface="+mn-lt"/>
                <a:ea typeface="+mn-ea"/>
                <a:cs typeface="+mn-cs"/>
              </a:defRPr>
            </a:lvl1pPr>
            <a:lvl2pPr marL="342900" indent="0" algn="l" defTabSz="685800" rtl="0" eaLnBrk="1" latinLnBrk="0" hangingPunct="1">
              <a:lnSpc>
                <a:spcPct val="90000"/>
              </a:lnSpc>
              <a:spcBef>
                <a:spcPts val="375"/>
              </a:spcBef>
              <a:buFontTx/>
              <a:buNone/>
              <a:defRPr sz="1800"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1500"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13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a:buNone/>
            </a:pPr>
            <a:r>
              <a:rPr lang="de-DE" sz="1750" dirty="0"/>
              <a:t>Dieses Zusatzspiel für </a:t>
            </a:r>
            <a:r>
              <a:rPr lang="cs-CZ" sz="1750" dirty="0"/>
              <a:t>Eur</a:t>
            </a:r>
            <a:r>
              <a:rPr lang="en-US" sz="1750" dirty="0"/>
              <a:t>o</a:t>
            </a:r>
            <a:r>
              <a:rPr lang="cs-CZ" sz="1750" dirty="0"/>
              <a:t>Dreams </a:t>
            </a:r>
            <a:r>
              <a:rPr lang="de-DE" sz="1750" dirty="0"/>
              <a:t>wird international angeboten. Spieler haben die Chance exklusive Erlebnisse zu gewinnen, die </a:t>
            </a:r>
            <a:r>
              <a:rPr lang="de-DE" sz="1750" b="1" dirty="0"/>
              <a:t>man mit Geld nicht kaufen kann</a:t>
            </a:r>
            <a:r>
              <a:rPr lang="de-DE" sz="1750" dirty="0"/>
              <a:t>. Beispiele könnten sein: </a:t>
            </a:r>
            <a:endParaRPr lang="cs-CZ" sz="1750" dirty="0"/>
          </a:p>
          <a:p>
            <a:pPr marL="285750" indent="-285750" algn="just">
              <a:buFont typeface="Arial" panose="020B0604020202020204" pitchFamily="34" charset="0"/>
              <a:buChar char="•"/>
            </a:pPr>
            <a:r>
              <a:rPr lang="de-DE" sz="1750" dirty="0"/>
              <a:t>Tickets zu den Olympischen Spielen inklusive Treffen mit Athleten, Reisen zu Formel-1-Rennen mit VIP-Reisepaket, Gold-Class-Tickets zu Konzerten und Festivals sowie Lagerhallen-Schnäppchenjagden. </a:t>
            </a:r>
            <a:endParaRPr lang="cs-CZ" sz="1750" dirty="0"/>
          </a:p>
          <a:p>
            <a:pPr marL="285750" indent="-285750" algn="just">
              <a:buFont typeface="Arial" panose="020B0604020202020204" pitchFamily="34" charset="0"/>
              <a:buChar char="•"/>
            </a:pPr>
            <a:r>
              <a:rPr lang="de-DE" sz="1750" dirty="0"/>
              <a:t>Rollen als Statisten in erfolgreichen TV-Shows oder Filmen, als Juroren in Koch-/Backshows oder beliebten Talentshows, Teilnahme an Reality-Shows, ein Trainingstag mit einem</a:t>
            </a:r>
            <a:br>
              <a:rPr lang="de-DE" sz="1750" dirty="0"/>
            </a:br>
            <a:r>
              <a:rPr lang="de-DE" sz="1750" dirty="0"/>
              <a:t> Profi-Fußballteam, F1-Fahrsimulator-Erlebnis. </a:t>
            </a:r>
            <a:endParaRPr lang="cs-CZ" sz="1750" dirty="0"/>
          </a:p>
          <a:p>
            <a:pPr marL="285750" indent="-285750" algn="just">
              <a:buFont typeface="Arial" panose="020B0604020202020204" pitchFamily="34" charset="0"/>
              <a:buChar char="•"/>
            </a:pPr>
            <a:r>
              <a:rPr lang="de-DE" sz="1750" dirty="0"/>
              <a:t>Skitraining mit einem prominenten Skiprofi, exklusive Filmpremieren mit Abendessen, Luxuskreuzfahrten mit prominenten Reiseführern, Premium-E-Sport-Pakete, Kunst- und Kulturtouren rund um die Welt sowie Opernreisen nach Wien. </a:t>
            </a:r>
            <a:endParaRPr lang="cs-CZ" sz="1750" dirty="0"/>
          </a:p>
          <a:p>
            <a:pPr marL="0" indent="0" algn="just">
              <a:buNone/>
            </a:pPr>
            <a:r>
              <a:rPr lang="de-DE" sz="1750" dirty="0"/>
              <a:t>Die Gewinner haben </a:t>
            </a:r>
            <a:r>
              <a:rPr lang="de-DE" sz="1750" b="1" dirty="0"/>
              <a:t>die Wahl zwischen mehreren Alternativen</a:t>
            </a:r>
            <a:r>
              <a:rPr lang="de-DE" sz="1750" dirty="0"/>
              <a:t>. </a:t>
            </a:r>
            <a:endParaRPr lang="cs-CZ" sz="1750" dirty="0"/>
          </a:p>
          <a:p>
            <a:pPr marL="0" indent="0" algn="just">
              <a:buNone/>
            </a:pPr>
            <a:r>
              <a:rPr lang="de-DE" sz="1750" dirty="0"/>
              <a:t>Der Preis pro Teilnahme beträgt </a:t>
            </a:r>
            <a:r>
              <a:rPr lang="de-DE" sz="1750" b="1" dirty="0"/>
              <a:t>0,50 EUR pro gespieltem Tipp</a:t>
            </a:r>
            <a:r>
              <a:rPr lang="de-DE" sz="1750" dirty="0"/>
              <a:t>. Um an diesem Zusatzspiel teilzunehmen, müssen die Spieler keine Zahlen auswählen. Für jeden gespielten EuroDreams-Tipp erhält man einen Code. Diese Codes nehmen automatisch an der Verlosung teil. </a:t>
            </a:r>
            <a:endParaRPr lang="cs-CZ" sz="1750" dirty="0"/>
          </a:p>
          <a:p>
            <a:pPr marL="0" indent="0" algn="just">
              <a:buNone/>
            </a:pPr>
            <a:r>
              <a:rPr lang="de-DE" sz="1750" dirty="0"/>
              <a:t>Die Verlosung findet zweimal pro Woche statt, jeden Montag und Donnerstag.</a:t>
            </a:r>
            <a:endParaRPr lang="cs-CZ" sz="1750" dirty="0"/>
          </a:p>
        </p:txBody>
      </p:sp>
    </p:spTree>
    <p:extLst>
      <p:ext uri="{BB962C8B-B14F-4D97-AF65-F5344CB8AC3E}">
        <p14:creationId xmlns:p14="http://schemas.microsoft.com/office/powerpoint/2010/main" val="25779559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5E25C60-E84D-4C2C-6F05-30F62EB39857}"/>
              </a:ext>
            </a:extLst>
          </p:cNvPr>
          <p:cNvPicPr>
            <a:picLocks noChangeAspect="1"/>
          </p:cNvPicPr>
          <p:nvPr/>
        </p:nvPicPr>
        <p:blipFill>
          <a:blip r:embed="rId3"/>
          <a:stretch>
            <a:fillRect/>
          </a:stretch>
        </p:blipFill>
        <p:spPr>
          <a:xfrm>
            <a:off x="349917" y="5949545"/>
            <a:ext cx="6337960" cy="4372092"/>
          </a:xfrm>
          <a:prstGeom prst="rect">
            <a:avLst/>
          </a:prstGeom>
        </p:spPr>
      </p:pic>
      <p:sp>
        <p:nvSpPr>
          <p:cNvPr id="2" name="Rectangle 1">
            <a:extLst>
              <a:ext uri="{FF2B5EF4-FFF2-40B4-BE49-F238E27FC236}">
                <a16:creationId xmlns:a16="http://schemas.microsoft.com/office/drawing/2014/main" id="{DF55D530-DFBD-04D6-3A66-FB1E679C52A8}"/>
              </a:ext>
            </a:extLst>
          </p:cNvPr>
          <p:cNvSpPr/>
          <p:nvPr/>
        </p:nvSpPr>
        <p:spPr>
          <a:xfrm>
            <a:off x="0" y="-11916"/>
            <a:ext cx="6858000" cy="922475"/>
          </a:xfrm>
          <a:prstGeom prst="rect">
            <a:avLst/>
          </a:prstGeom>
          <a:solidFill>
            <a:srgbClr val="A2B0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itle 1">
            <a:extLst>
              <a:ext uri="{FF2B5EF4-FFF2-40B4-BE49-F238E27FC236}">
                <a16:creationId xmlns:a16="http://schemas.microsoft.com/office/drawing/2014/main" id="{A30F4D9E-0DAE-5BF5-BBED-A6B72CE567C0}"/>
              </a:ext>
            </a:extLst>
          </p:cNvPr>
          <p:cNvSpPr txBox="1">
            <a:spLocks/>
          </p:cNvSpPr>
          <p:nvPr/>
        </p:nvSpPr>
        <p:spPr>
          <a:xfrm>
            <a:off x="302952" y="20638"/>
            <a:ext cx="6384925" cy="922337"/>
          </a:xfrm>
          <a:prstGeom prst="rect">
            <a:avLst/>
          </a:prstGeom>
        </p:spPr>
        <p:txBody>
          <a:bodyPr vert="horz" lIns="91440" tIns="45720" rIns="91440" bIns="45720" rtlCol="0" anchor="ctr">
            <a:normAutofit fontScale="92500" lnSpcReduction="10000"/>
          </a:bodyPr>
          <a:lstStyle>
            <a:lvl1pPr algn="l" defTabSz="685800" rtl="0" eaLnBrk="1" latinLnBrk="0" hangingPunct="1">
              <a:lnSpc>
                <a:spcPct val="90000"/>
              </a:lnSpc>
              <a:spcBef>
                <a:spcPct val="0"/>
              </a:spcBef>
              <a:buNone/>
              <a:defRPr sz="3600" kern="1200">
                <a:solidFill>
                  <a:schemeClr val="tx1"/>
                </a:solidFill>
                <a:latin typeface="+mn-lt"/>
                <a:ea typeface="+mj-ea"/>
                <a:cs typeface="+mj-cs"/>
              </a:defRPr>
            </a:lvl1pPr>
          </a:lstStyle>
          <a:p>
            <a:r>
              <a:rPr lang="cs-CZ" sz="2400" dirty="0" err="1"/>
              <a:t>Euromillions</a:t>
            </a:r>
            <a:r>
              <a:rPr lang="cs-CZ" sz="2400" dirty="0"/>
              <a:t> (benchmark)</a:t>
            </a:r>
            <a:endParaRPr lang="cs-CZ" sz="2400" b="1" dirty="0"/>
          </a:p>
          <a:p>
            <a:r>
              <a:rPr lang="de-DE" sz="2400" b="1" dirty="0"/>
              <a:t>Stellen Sie sich vor, es wird ein neues Lotteriespiel eingeführt:</a:t>
            </a:r>
          </a:p>
        </p:txBody>
      </p:sp>
      <p:sp>
        <p:nvSpPr>
          <p:cNvPr id="19" name="Text Placeholder 2">
            <a:extLst>
              <a:ext uri="{FF2B5EF4-FFF2-40B4-BE49-F238E27FC236}">
                <a16:creationId xmlns:a16="http://schemas.microsoft.com/office/drawing/2014/main" id="{00195CB3-D732-860B-C6E2-5E6D856DD6A5}"/>
              </a:ext>
            </a:extLst>
          </p:cNvPr>
          <p:cNvSpPr txBox="1">
            <a:spLocks/>
          </p:cNvSpPr>
          <p:nvPr/>
        </p:nvSpPr>
        <p:spPr>
          <a:xfrm>
            <a:off x="297718" y="1176895"/>
            <a:ext cx="6400800" cy="5362575"/>
          </a:xfrm>
          <a:prstGeom prst="rect">
            <a:avLst/>
          </a:prstGeom>
        </p:spPr>
        <p:txBody>
          <a:bodyPr vert="horz" lIns="91440" tIns="45720" rIns="91440" bIns="45720" rtlCol="0">
            <a:normAutofit/>
          </a:bodyPr>
          <a:lstStyle>
            <a:lvl1pPr marL="0" indent="0" algn="l" defTabSz="685800" rtl="0" eaLnBrk="1" latinLnBrk="0" hangingPunct="1">
              <a:lnSpc>
                <a:spcPct val="90000"/>
              </a:lnSpc>
              <a:spcBef>
                <a:spcPts val="750"/>
              </a:spcBef>
              <a:buFontTx/>
              <a:buNone/>
              <a:defRPr sz="3600" kern="1200">
                <a:solidFill>
                  <a:schemeClr val="tx1"/>
                </a:solidFill>
                <a:latin typeface="+mn-lt"/>
                <a:ea typeface="+mn-ea"/>
                <a:cs typeface="+mn-cs"/>
              </a:defRPr>
            </a:lvl1pPr>
            <a:lvl2pPr marL="342900" indent="0" algn="l" defTabSz="685800" rtl="0" eaLnBrk="1" latinLnBrk="0" hangingPunct="1">
              <a:lnSpc>
                <a:spcPct val="90000"/>
              </a:lnSpc>
              <a:spcBef>
                <a:spcPts val="375"/>
              </a:spcBef>
              <a:buFontTx/>
              <a:buNone/>
              <a:defRPr sz="1800"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1500"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13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a:lnSpc>
                <a:spcPct val="107000"/>
              </a:lnSpc>
              <a:spcBef>
                <a:spcPts val="0"/>
              </a:spcBef>
              <a:spcAft>
                <a:spcPts val="800"/>
              </a:spcAft>
              <a:buNone/>
            </a:pPr>
            <a:r>
              <a:rPr lang="de-DE" sz="2000" kern="100" dirty="0">
                <a:effectLst/>
                <a:ea typeface="Aptos" panose="020B0004020202020204" pitchFamily="34" charset="0"/>
                <a:cs typeface="Times New Roman" panose="02020603050405020304" pitchFamily="18" charset="0"/>
              </a:rPr>
              <a:t>Dies ist ein Lotteriespiel, das die Chance bietet, regelmäßig beträchtliche Jackpots zu gewinnen.</a:t>
            </a:r>
          </a:p>
          <a:p>
            <a:pPr marL="0" indent="0" algn="just">
              <a:lnSpc>
                <a:spcPct val="107000"/>
              </a:lnSpc>
              <a:spcBef>
                <a:spcPts val="0"/>
              </a:spcBef>
              <a:spcAft>
                <a:spcPts val="800"/>
              </a:spcAft>
              <a:buNone/>
            </a:pPr>
            <a:r>
              <a:rPr lang="de-DE" sz="2000" kern="100" dirty="0">
                <a:effectLst/>
                <a:ea typeface="Aptos" panose="020B0004020202020204" pitchFamily="34" charset="0"/>
                <a:cs typeface="Times New Roman" panose="02020603050405020304" pitchFamily="18" charset="0"/>
              </a:rPr>
              <a:t>Um teilzunehmen, wählen Sie 5 Zahlen und 2 Bonuszahlen, um die Chance auf den ultimativen Jackpot von bis zu</a:t>
            </a:r>
            <a:br>
              <a:rPr lang="de-DE" sz="2000" kern="100" dirty="0">
                <a:effectLst/>
                <a:ea typeface="Aptos" panose="020B0004020202020204" pitchFamily="34" charset="0"/>
                <a:cs typeface="Times New Roman" panose="02020603050405020304" pitchFamily="18" charset="0"/>
              </a:rPr>
            </a:br>
            <a:r>
              <a:rPr lang="de-DE" sz="2000" b="1" kern="100" dirty="0">
                <a:effectLst/>
                <a:ea typeface="Aptos" panose="020B0004020202020204" pitchFamily="34" charset="0"/>
                <a:cs typeface="Times New Roman" panose="02020603050405020304" pitchFamily="18" charset="0"/>
              </a:rPr>
              <a:t>240 Millionen EUR </a:t>
            </a:r>
            <a:r>
              <a:rPr lang="de-DE" sz="2000" kern="100" dirty="0">
                <a:effectLst/>
                <a:ea typeface="Aptos" panose="020B0004020202020204" pitchFamily="34" charset="0"/>
                <a:cs typeface="Times New Roman" panose="02020603050405020304" pitchFamily="18" charset="0"/>
              </a:rPr>
              <a:t>zu haben.</a:t>
            </a:r>
          </a:p>
          <a:p>
            <a:pPr marL="0" indent="0" algn="just">
              <a:lnSpc>
                <a:spcPct val="107000"/>
              </a:lnSpc>
              <a:spcBef>
                <a:spcPts val="0"/>
              </a:spcBef>
              <a:spcAft>
                <a:spcPts val="800"/>
              </a:spcAft>
              <a:buNone/>
            </a:pPr>
            <a:r>
              <a:rPr lang="de-DE" sz="2000" kern="100" dirty="0">
                <a:effectLst/>
                <a:ea typeface="Aptos" panose="020B0004020202020204" pitchFamily="34" charset="0"/>
                <a:cs typeface="Times New Roman" panose="02020603050405020304" pitchFamily="18" charset="0"/>
              </a:rPr>
              <a:t>Die Teilnahme kostet </a:t>
            </a:r>
            <a:r>
              <a:rPr lang="de-DE" sz="2000" b="1" kern="100" dirty="0">
                <a:effectLst/>
                <a:ea typeface="Aptos" panose="020B0004020202020204" pitchFamily="34" charset="0"/>
                <a:cs typeface="Times New Roman" panose="02020603050405020304" pitchFamily="18" charset="0"/>
              </a:rPr>
              <a:t>2,50 EUR </a:t>
            </a:r>
            <a:r>
              <a:rPr lang="de-DE" sz="2000" kern="100" dirty="0">
                <a:effectLst/>
                <a:ea typeface="Aptos" panose="020B0004020202020204" pitchFamily="34" charset="0"/>
                <a:cs typeface="Times New Roman" panose="02020603050405020304" pitchFamily="18" charset="0"/>
              </a:rPr>
              <a:t>pro Tipp.</a:t>
            </a:r>
          </a:p>
          <a:p>
            <a:pPr marL="0" indent="0" algn="just">
              <a:lnSpc>
                <a:spcPct val="107000"/>
              </a:lnSpc>
              <a:spcBef>
                <a:spcPts val="0"/>
              </a:spcBef>
              <a:spcAft>
                <a:spcPts val="800"/>
              </a:spcAft>
              <a:buNone/>
            </a:pPr>
            <a:r>
              <a:rPr lang="de-DE" sz="2000" kern="100" dirty="0">
                <a:effectLst/>
                <a:ea typeface="Aptos" panose="020B0004020202020204" pitchFamily="34" charset="0"/>
                <a:cs typeface="Times New Roman" panose="02020603050405020304" pitchFamily="18" charset="0"/>
              </a:rPr>
              <a:t>Dieses Spiel kann online oder im Einzelhandel gespielt werden. Wenn der Jackpot nicht gewonnen wird, wird die gesamte Summe auf die nächste Ziehung übertragen.</a:t>
            </a:r>
          </a:p>
          <a:p>
            <a:pPr marL="0" indent="0" algn="just">
              <a:lnSpc>
                <a:spcPct val="107000"/>
              </a:lnSpc>
              <a:spcBef>
                <a:spcPts val="0"/>
              </a:spcBef>
              <a:spcAft>
                <a:spcPts val="800"/>
              </a:spcAft>
              <a:buNone/>
            </a:pPr>
            <a:r>
              <a:rPr lang="de-DE" sz="2000" kern="100" dirty="0">
                <a:effectLst/>
                <a:ea typeface="Aptos" panose="020B0004020202020204" pitchFamily="34" charset="0"/>
                <a:cs typeface="Times New Roman" panose="02020603050405020304" pitchFamily="18" charset="0"/>
              </a:rPr>
              <a:t>Die Ziehungen finden zweimal pro Woche statt: jeden Dienstag und Freitag. Die Wahrscheinlichkeit, bei einer Ziehung einen Gewinn zu erzielen, beträgt 1 zu 13.</a:t>
            </a:r>
            <a:endParaRPr lang="cs-CZ" sz="2000" kern="100" dirty="0">
              <a:effectLst/>
              <a:ea typeface="Aptos" panose="020B0004020202020204" pitchFamily="34" charset="0"/>
              <a:cs typeface="Times New Roman" panose="02020603050405020304" pitchFamily="18" charset="0"/>
            </a:endParaRPr>
          </a:p>
          <a:p>
            <a:pPr algn="just"/>
            <a:endParaRPr lang="de-AT" sz="2000" dirty="0"/>
          </a:p>
        </p:txBody>
      </p:sp>
    </p:spTree>
    <p:extLst>
      <p:ext uri="{BB962C8B-B14F-4D97-AF65-F5344CB8AC3E}">
        <p14:creationId xmlns:p14="http://schemas.microsoft.com/office/powerpoint/2010/main" val="1775730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ADBE6E2-99D8-087D-C258-C53FB3B9E3E6}"/>
              </a:ext>
            </a:extLst>
          </p:cNvPr>
          <p:cNvPicPr>
            <a:picLocks noChangeAspect="1"/>
          </p:cNvPicPr>
          <p:nvPr/>
        </p:nvPicPr>
        <p:blipFill>
          <a:blip r:embed="rId3"/>
          <a:stretch>
            <a:fillRect/>
          </a:stretch>
        </p:blipFill>
        <p:spPr>
          <a:xfrm>
            <a:off x="302951" y="6294710"/>
            <a:ext cx="6271783" cy="4271971"/>
          </a:xfrm>
          <a:prstGeom prst="rect">
            <a:avLst/>
          </a:prstGeom>
        </p:spPr>
      </p:pic>
      <p:sp>
        <p:nvSpPr>
          <p:cNvPr id="2" name="Rectangle 1">
            <a:extLst>
              <a:ext uri="{FF2B5EF4-FFF2-40B4-BE49-F238E27FC236}">
                <a16:creationId xmlns:a16="http://schemas.microsoft.com/office/drawing/2014/main" id="{7E208E28-43A6-B250-414B-0A759922893C}"/>
              </a:ext>
            </a:extLst>
          </p:cNvPr>
          <p:cNvSpPr/>
          <p:nvPr/>
        </p:nvSpPr>
        <p:spPr>
          <a:xfrm>
            <a:off x="0" y="-11916"/>
            <a:ext cx="6858000" cy="922475"/>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itle 1">
            <a:extLst>
              <a:ext uri="{FF2B5EF4-FFF2-40B4-BE49-F238E27FC236}">
                <a16:creationId xmlns:a16="http://schemas.microsoft.com/office/drawing/2014/main" id="{23FC829F-190D-FCDB-8BCE-B3C54BCE7E24}"/>
              </a:ext>
            </a:extLst>
          </p:cNvPr>
          <p:cNvSpPr txBox="1">
            <a:spLocks/>
          </p:cNvSpPr>
          <p:nvPr/>
        </p:nvSpPr>
        <p:spPr>
          <a:xfrm>
            <a:off x="302952" y="20638"/>
            <a:ext cx="6384925" cy="922337"/>
          </a:xfrm>
          <a:prstGeom prst="rect">
            <a:avLst/>
          </a:prstGeom>
        </p:spPr>
        <p:txBody>
          <a:bodyPr vert="horz" lIns="91440" tIns="45720" rIns="91440" bIns="45720" rtlCol="0" anchor="ctr">
            <a:normAutofit fontScale="92500" lnSpcReduction="10000"/>
          </a:bodyPr>
          <a:lstStyle>
            <a:lvl1pPr algn="l" defTabSz="685800" rtl="0" eaLnBrk="1" latinLnBrk="0" hangingPunct="1">
              <a:lnSpc>
                <a:spcPct val="90000"/>
              </a:lnSpc>
              <a:spcBef>
                <a:spcPct val="0"/>
              </a:spcBef>
              <a:buNone/>
              <a:defRPr sz="3600" kern="1200">
                <a:solidFill>
                  <a:schemeClr val="tx1"/>
                </a:solidFill>
                <a:latin typeface="+mn-lt"/>
                <a:ea typeface="+mj-ea"/>
                <a:cs typeface="+mj-cs"/>
              </a:defRPr>
            </a:lvl1pPr>
          </a:lstStyle>
          <a:p>
            <a:r>
              <a:rPr lang="cs-CZ" sz="2400" dirty="0" err="1"/>
              <a:t>EuroDreams</a:t>
            </a:r>
            <a:r>
              <a:rPr lang="en-US" sz="2400"/>
              <a:t> (benchmark)</a:t>
            </a:r>
            <a:endParaRPr lang="cs-CZ" sz="2400" b="1"/>
          </a:p>
          <a:p>
            <a:r>
              <a:rPr lang="de-DE" sz="2400" b="1" dirty="0"/>
              <a:t>Stellen Sie sich vor, es wird ein neues Lotteriespiel eingeführt:</a:t>
            </a:r>
          </a:p>
        </p:txBody>
      </p:sp>
      <p:sp>
        <p:nvSpPr>
          <p:cNvPr id="16" name="Text Placeholder 2">
            <a:extLst>
              <a:ext uri="{FF2B5EF4-FFF2-40B4-BE49-F238E27FC236}">
                <a16:creationId xmlns:a16="http://schemas.microsoft.com/office/drawing/2014/main" id="{48FC0FAC-E223-9C0E-666F-EC6A1B18919F}"/>
              </a:ext>
            </a:extLst>
          </p:cNvPr>
          <p:cNvSpPr txBox="1">
            <a:spLocks/>
          </p:cNvSpPr>
          <p:nvPr/>
        </p:nvSpPr>
        <p:spPr>
          <a:xfrm>
            <a:off x="233550" y="942975"/>
            <a:ext cx="6400800" cy="5362575"/>
          </a:xfrm>
          <a:prstGeom prst="rect">
            <a:avLst/>
          </a:prstGeom>
        </p:spPr>
        <p:txBody>
          <a:bodyPr vert="horz" lIns="91440" tIns="45720" rIns="91440" bIns="45720" rtlCol="0">
            <a:normAutofit lnSpcReduction="10000"/>
          </a:bodyPr>
          <a:lstStyle>
            <a:lvl1pPr marL="0" indent="0" algn="l" defTabSz="685800" rtl="0" eaLnBrk="1" latinLnBrk="0" hangingPunct="1">
              <a:lnSpc>
                <a:spcPct val="90000"/>
              </a:lnSpc>
              <a:spcBef>
                <a:spcPts val="750"/>
              </a:spcBef>
              <a:buFontTx/>
              <a:buNone/>
              <a:defRPr sz="3600" kern="1200">
                <a:solidFill>
                  <a:schemeClr val="tx1"/>
                </a:solidFill>
                <a:latin typeface="+mn-lt"/>
                <a:ea typeface="+mn-ea"/>
                <a:cs typeface="+mn-cs"/>
              </a:defRPr>
            </a:lvl1pPr>
            <a:lvl2pPr marL="342900" indent="0" algn="l" defTabSz="685800" rtl="0" eaLnBrk="1" latinLnBrk="0" hangingPunct="1">
              <a:lnSpc>
                <a:spcPct val="90000"/>
              </a:lnSpc>
              <a:spcBef>
                <a:spcPts val="375"/>
              </a:spcBef>
              <a:buFontTx/>
              <a:buNone/>
              <a:defRPr sz="1800"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1500"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13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a:lnSpc>
                <a:spcPct val="107000"/>
              </a:lnSpc>
              <a:spcBef>
                <a:spcPts val="0"/>
              </a:spcBef>
              <a:spcAft>
                <a:spcPts val="800"/>
              </a:spcAft>
              <a:buNone/>
            </a:pPr>
            <a:r>
              <a:rPr lang="de-DE" sz="2000" b="0" i="0" dirty="0">
                <a:solidFill>
                  <a:srgbClr val="333333"/>
                </a:solidFill>
                <a:effectLst/>
              </a:rPr>
              <a:t>Dies ist ein internationales Lotteriespiel, bei dem Spieler aus den teilnehmenden Ländern einen traumhaften Hauptpreis von </a:t>
            </a:r>
            <a:r>
              <a:rPr lang="de-DE" sz="2000" b="1" i="0" dirty="0">
                <a:solidFill>
                  <a:srgbClr val="333333"/>
                </a:solidFill>
                <a:effectLst/>
              </a:rPr>
              <a:t>20</a:t>
            </a:r>
            <a:r>
              <a:rPr lang="cs-CZ" sz="2000" b="1" i="0" dirty="0">
                <a:solidFill>
                  <a:srgbClr val="333333"/>
                </a:solidFill>
                <a:effectLst/>
              </a:rPr>
              <a:t> </a:t>
            </a:r>
            <a:r>
              <a:rPr lang="de-DE" sz="2000" b="1" i="0" dirty="0">
                <a:solidFill>
                  <a:srgbClr val="333333"/>
                </a:solidFill>
                <a:effectLst/>
              </a:rPr>
              <a:t>000 EUR pro Monat für die Dauer </a:t>
            </a:r>
            <a:r>
              <a:rPr lang="de-DE" sz="2000" b="1" dirty="0">
                <a:solidFill>
                  <a:srgbClr val="333333"/>
                </a:solidFill>
              </a:rPr>
              <a:t>von </a:t>
            </a:r>
            <a:br>
              <a:rPr lang="cs-CZ" sz="2000" b="1" dirty="0">
                <a:solidFill>
                  <a:srgbClr val="333333"/>
                </a:solidFill>
              </a:rPr>
            </a:br>
            <a:r>
              <a:rPr lang="de-DE" sz="2000" b="1" dirty="0">
                <a:solidFill>
                  <a:srgbClr val="333333"/>
                </a:solidFill>
              </a:rPr>
              <a:t>30 Jahren </a:t>
            </a:r>
            <a:r>
              <a:rPr lang="de-DE" sz="2000" b="1" i="0" dirty="0">
                <a:solidFill>
                  <a:srgbClr val="333333"/>
                </a:solidFill>
                <a:effectLst/>
              </a:rPr>
              <a:t>gewinnen können.</a:t>
            </a:r>
          </a:p>
          <a:p>
            <a:pPr marL="0" indent="0" algn="just">
              <a:lnSpc>
                <a:spcPct val="107000"/>
              </a:lnSpc>
              <a:spcBef>
                <a:spcPts val="0"/>
              </a:spcBef>
              <a:spcAft>
                <a:spcPts val="800"/>
              </a:spcAft>
              <a:buNone/>
            </a:pPr>
            <a:r>
              <a:rPr lang="de-DE" sz="2000" b="0" i="0" dirty="0">
                <a:solidFill>
                  <a:srgbClr val="333333"/>
                </a:solidFill>
                <a:effectLst/>
              </a:rPr>
              <a:t>Um teilzunehmen, wählen Sie 6 Zahlen von 1 bis 40 und </a:t>
            </a:r>
            <a:br>
              <a:rPr lang="cs-CZ" sz="2000" b="0" i="0" dirty="0">
                <a:solidFill>
                  <a:srgbClr val="333333"/>
                </a:solidFill>
                <a:effectLst/>
              </a:rPr>
            </a:br>
            <a:r>
              <a:rPr lang="de-DE" sz="2000" b="0" i="0" dirty="0">
                <a:solidFill>
                  <a:srgbClr val="333333"/>
                </a:solidFill>
                <a:effectLst/>
              </a:rPr>
              <a:t>1 Bonuszahl von 1 bis 5. Wenn Sie alle 7 Zahlen richtig tippen, gewinnen Sie den Hauptpreis. Dieser beträgt</a:t>
            </a:r>
            <a:br>
              <a:rPr lang="de-DE" sz="2000" b="0" i="0" dirty="0">
                <a:solidFill>
                  <a:srgbClr val="333333"/>
                </a:solidFill>
                <a:effectLst/>
              </a:rPr>
            </a:br>
            <a:r>
              <a:rPr lang="de-DE" sz="2000" b="0" i="0" dirty="0">
                <a:solidFill>
                  <a:srgbClr val="333333"/>
                </a:solidFill>
                <a:effectLst/>
              </a:rPr>
              <a:t>20 </a:t>
            </a:r>
            <a:r>
              <a:rPr lang="de-DE" sz="2000" dirty="0">
                <a:solidFill>
                  <a:srgbClr val="333333"/>
                </a:solidFill>
              </a:rPr>
              <a:t>000 EUR pro Monat für die nächsten 30 Jahre.</a:t>
            </a:r>
            <a:endParaRPr lang="de-DE" sz="2000" b="0" i="0" dirty="0">
              <a:solidFill>
                <a:srgbClr val="333333"/>
              </a:solidFill>
              <a:effectLst/>
            </a:endParaRPr>
          </a:p>
          <a:p>
            <a:pPr marL="0" indent="0" algn="just">
              <a:lnSpc>
                <a:spcPct val="107000"/>
              </a:lnSpc>
              <a:spcBef>
                <a:spcPts val="0"/>
              </a:spcBef>
              <a:spcAft>
                <a:spcPts val="800"/>
              </a:spcAft>
              <a:buNone/>
            </a:pPr>
            <a:r>
              <a:rPr lang="de-DE" sz="2000" b="0" i="0" dirty="0">
                <a:solidFill>
                  <a:srgbClr val="333333"/>
                </a:solidFill>
                <a:effectLst/>
              </a:rPr>
              <a:t>In der zweiten Gewinnstufe gibt es 2</a:t>
            </a:r>
            <a:r>
              <a:rPr lang="cs-CZ" sz="2000" b="0" i="0" dirty="0">
                <a:solidFill>
                  <a:srgbClr val="333333"/>
                </a:solidFill>
                <a:effectLst/>
              </a:rPr>
              <a:t> </a:t>
            </a:r>
            <a:r>
              <a:rPr lang="de-DE" sz="2000" b="0" i="0" dirty="0">
                <a:solidFill>
                  <a:srgbClr val="333333"/>
                </a:solidFill>
                <a:effectLst/>
              </a:rPr>
              <a:t>000 </a:t>
            </a:r>
            <a:r>
              <a:rPr lang="cs-CZ" sz="2000" b="0" i="0" dirty="0">
                <a:solidFill>
                  <a:srgbClr val="333333"/>
                </a:solidFill>
                <a:effectLst/>
              </a:rPr>
              <a:t>EUR</a:t>
            </a:r>
            <a:r>
              <a:rPr lang="de-DE" sz="2000" b="0" i="0" dirty="0">
                <a:solidFill>
                  <a:srgbClr val="333333"/>
                </a:solidFill>
                <a:effectLst/>
              </a:rPr>
              <a:t> pro Monat </a:t>
            </a:r>
            <a:br>
              <a:rPr lang="cs-CZ" sz="2000" b="0" i="0" dirty="0">
                <a:solidFill>
                  <a:srgbClr val="333333"/>
                </a:solidFill>
                <a:effectLst/>
              </a:rPr>
            </a:br>
            <a:r>
              <a:rPr lang="de-DE" sz="2000" b="0" i="0" dirty="0">
                <a:solidFill>
                  <a:srgbClr val="333333"/>
                </a:solidFill>
                <a:effectLst/>
              </a:rPr>
              <a:t>für 5 Jahre zu gewinnen.</a:t>
            </a:r>
          </a:p>
          <a:p>
            <a:pPr marL="0" indent="0" algn="just">
              <a:lnSpc>
                <a:spcPct val="107000"/>
              </a:lnSpc>
              <a:spcBef>
                <a:spcPts val="0"/>
              </a:spcBef>
              <a:spcAft>
                <a:spcPts val="800"/>
              </a:spcAft>
              <a:buNone/>
            </a:pPr>
            <a:r>
              <a:rPr lang="de-DE" sz="2000" b="0" i="0" dirty="0">
                <a:solidFill>
                  <a:srgbClr val="333333"/>
                </a:solidFill>
                <a:effectLst/>
              </a:rPr>
              <a:t>Ein Tipp kostet </a:t>
            </a:r>
            <a:r>
              <a:rPr lang="de-DE" sz="2000" b="1" i="0" dirty="0">
                <a:solidFill>
                  <a:srgbClr val="333333"/>
                </a:solidFill>
                <a:effectLst/>
              </a:rPr>
              <a:t>2,50 EUR</a:t>
            </a:r>
            <a:r>
              <a:rPr lang="de-DE" sz="2000" b="0" i="0" dirty="0">
                <a:solidFill>
                  <a:srgbClr val="333333"/>
                </a:solidFill>
                <a:effectLst/>
              </a:rPr>
              <a:t>.</a:t>
            </a:r>
          </a:p>
          <a:p>
            <a:pPr marL="0" indent="0" algn="just">
              <a:lnSpc>
                <a:spcPct val="107000"/>
              </a:lnSpc>
              <a:spcBef>
                <a:spcPts val="0"/>
              </a:spcBef>
              <a:spcAft>
                <a:spcPts val="800"/>
              </a:spcAft>
              <a:buNone/>
            </a:pPr>
            <a:r>
              <a:rPr lang="de-DE" sz="2000" b="0" i="0" dirty="0">
                <a:solidFill>
                  <a:srgbClr val="333333"/>
                </a:solidFill>
                <a:effectLst/>
              </a:rPr>
              <a:t>Es gibt zwei Ziehungen pro Woche: montags und donnerstags.</a:t>
            </a:r>
          </a:p>
          <a:p>
            <a:pPr marL="0" indent="0" algn="just">
              <a:lnSpc>
                <a:spcPct val="107000"/>
              </a:lnSpc>
              <a:spcBef>
                <a:spcPts val="0"/>
              </a:spcBef>
              <a:spcAft>
                <a:spcPts val="800"/>
              </a:spcAft>
              <a:buNone/>
            </a:pPr>
            <a:r>
              <a:rPr lang="de-DE" sz="2000" b="0" i="0" dirty="0">
                <a:solidFill>
                  <a:srgbClr val="333333"/>
                </a:solidFill>
                <a:effectLst/>
              </a:rPr>
              <a:t>In Österreich wird dieses Spiel in allen Annahmestellen oder online auf den jeweiligen </a:t>
            </a:r>
            <a:r>
              <a:rPr lang="de-DE" sz="2000" b="0" i="0" dirty="0">
                <a:solidFill>
                  <a:srgbClr val="333333"/>
                </a:solidFill>
                <a:effectLst/>
                <a:highlight>
                  <a:srgbClr val="FFFFFF"/>
                </a:highlight>
              </a:rPr>
              <a:t>Websites und Apps angeboten.</a:t>
            </a:r>
            <a:endParaRPr lang="cs-CZ" sz="2000" b="0" i="0" dirty="0">
              <a:solidFill>
                <a:srgbClr val="333333"/>
              </a:solidFill>
              <a:effectLst/>
              <a:highlight>
                <a:srgbClr val="FFFFFF"/>
              </a:highlight>
            </a:endParaRPr>
          </a:p>
          <a:p>
            <a:pPr algn="just"/>
            <a:endParaRPr lang="de-AT" sz="2000" dirty="0"/>
          </a:p>
        </p:txBody>
      </p:sp>
    </p:spTree>
    <p:extLst>
      <p:ext uri="{BB962C8B-B14F-4D97-AF65-F5344CB8AC3E}">
        <p14:creationId xmlns:p14="http://schemas.microsoft.com/office/powerpoint/2010/main" val="382008028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EXCLUDEHIDDENSLIDES" val="False"/>
  <p:tag name="NUMBEROFPAGES" val="11"/>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3741da7a-79c1-417c-b408-16c0bfe99fca}" enabled="1" method="Standard" siteId="{1e355c04-e0a4-42ed-8e2d-7351591f0ef1}" removed="0"/>
</clbl:labelList>
</file>

<file path=docProps/app.xml><?xml version="1.0" encoding="utf-8"?>
<Properties xmlns="http://schemas.openxmlformats.org/officeDocument/2006/extended-properties" xmlns:vt="http://schemas.openxmlformats.org/officeDocument/2006/docPropsVTypes">
  <Template>Office Theme</Template>
  <TotalTime>979</TotalTime>
  <Words>2056</Words>
  <Application>Microsoft Office PowerPoint</Application>
  <PresentationFormat>Custom</PresentationFormat>
  <Paragraphs>102</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Aptos</vt:lpstr>
      <vt:lpstr>Arial</vt:lpstr>
      <vt:lpstr>Calibri</vt:lpstr>
      <vt:lpstr>Office Theme</vt:lpstr>
      <vt:lpstr>Powerball Stellen Sie sich vor, es wird ein neues Lotteriespiel eingeführt: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Rajsnerová, Jana (KTPRG)</dc:creator>
  <cp:lastModifiedBy>Peter Javornický</cp:lastModifiedBy>
  <cp:revision>53</cp:revision>
  <dcterms:created xsi:type="dcterms:W3CDTF">2022-11-09T07:36:23Z</dcterms:created>
  <dcterms:modified xsi:type="dcterms:W3CDTF">2025-12-16T08:23:21Z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3741da7a-79c1-417c-b408-16c0bfe99fca_Enabled">
    <vt:lpwstr>true</vt:lpwstr>
  </property>
  <property fmtid="{D5CDD505-2E9C-101B-9397-08002B2CF9AE}" pid="3" name="MSIP_Label_3741da7a-79c1-417c-b408-16c0bfe99fca_SetDate">
    <vt:lpwstr>2023-03-30T08:52:17Z</vt:lpwstr>
  </property>
  <property fmtid="{D5CDD505-2E9C-101B-9397-08002B2CF9AE}" pid="4" name="MSIP_Label_3741da7a-79c1-417c-b408-16c0bfe99fca_Method">
    <vt:lpwstr>Standard</vt:lpwstr>
  </property>
  <property fmtid="{D5CDD505-2E9C-101B-9397-08002B2CF9AE}" pid="5" name="MSIP_Label_3741da7a-79c1-417c-b408-16c0bfe99fca_Name">
    <vt:lpwstr>Internal Only - Amber</vt:lpwstr>
  </property>
  <property fmtid="{D5CDD505-2E9C-101B-9397-08002B2CF9AE}" pid="6" name="MSIP_Label_3741da7a-79c1-417c-b408-16c0bfe99fca_SiteId">
    <vt:lpwstr>1e355c04-e0a4-42ed-8e2d-7351591f0ef1</vt:lpwstr>
  </property>
  <property fmtid="{D5CDD505-2E9C-101B-9397-08002B2CF9AE}" pid="7" name="MSIP_Label_3741da7a-79c1-417c-b408-16c0bfe99fca_ActionId">
    <vt:lpwstr>5b4cd54c-153d-4cdd-b8e7-de533e844d37</vt:lpwstr>
  </property>
  <property fmtid="{D5CDD505-2E9C-101B-9397-08002B2CF9AE}" pid="8" name="MSIP_Label_3741da7a-79c1-417c-b408-16c0bfe99fca_ContentBits">
    <vt:lpwstr>0</vt:lpwstr>
  </property>
</Properties>
</file>