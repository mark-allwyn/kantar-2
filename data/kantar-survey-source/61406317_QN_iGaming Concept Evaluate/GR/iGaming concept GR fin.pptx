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9" r:id="rId2"/>
    <p:sldId id="270" r:id="rId3"/>
    <p:sldId id="271" r:id="rId4"/>
    <p:sldId id="272" r:id="rId5"/>
  </p:sldIdLst>
  <p:sldSz cx="6858000" cy="10799763"/>
  <p:notesSz cx="6858000" cy="9144000"/>
  <p:custDataLst>
    <p:tags r:id="rId6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4" autoAdjust="0"/>
    <p:restoredTop sz="94660"/>
  </p:normalViewPr>
  <p:slideViewPr>
    <p:cSldViewPr snapToGrid="0">
      <p:cViewPr varScale="1">
        <p:scale>
          <a:sx n="65" d="100"/>
          <a:sy n="65" d="100"/>
        </p:scale>
        <p:origin x="334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ter Javornický" userId="3b98f8e0-d449-4f6e-b57d-5f9bfb7a5c2c" providerId="ADAL" clId="{88A10E76-C547-4713-B92A-3B48010D5CF0}"/>
    <pc:docChg chg="undo custSel modSld">
      <pc:chgData name="Peter Javornický" userId="3b98f8e0-d449-4f6e-b57d-5f9bfb7a5c2c" providerId="ADAL" clId="{88A10E76-C547-4713-B92A-3B48010D5CF0}" dt="2025-12-15T12:47:16.868" v="23" actId="6549"/>
      <pc:docMkLst>
        <pc:docMk/>
      </pc:docMkLst>
      <pc:sldChg chg="modSp mod">
        <pc:chgData name="Peter Javornický" userId="3b98f8e0-d449-4f6e-b57d-5f9bfb7a5c2c" providerId="ADAL" clId="{88A10E76-C547-4713-B92A-3B48010D5CF0}" dt="2025-12-15T12:43:57.113" v="8" actId="403"/>
        <pc:sldMkLst>
          <pc:docMk/>
          <pc:sldMk cId="286161547" sldId="269"/>
        </pc:sldMkLst>
        <pc:spChg chg="mod">
          <ac:chgData name="Peter Javornický" userId="3b98f8e0-d449-4f6e-b57d-5f9bfb7a5c2c" providerId="ADAL" clId="{88A10E76-C547-4713-B92A-3B48010D5CF0}" dt="2025-12-15T12:43:57.113" v="8" actId="403"/>
          <ac:spMkLst>
            <pc:docMk/>
            <pc:sldMk cId="286161547" sldId="269"/>
            <ac:spMk id="2" creationId="{6F301B1D-23EF-F404-4120-677E868974BE}"/>
          </ac:spMkLst>
        </pc:spChg>
      </pc:sldChg>
      <pc:sldChg chg="modSp mod">
        <pc:chgData name="Peter Javornický" userId="3b98f8e0-d449-4f6e-b57d-5f9bfb7a5c2c" providerId="ADAL" clId="{88A10E76-C547-4713-B92A-3B48010D5CF0}" dt="2025-12-15T12:45:04.057" v="11" actId="255"/>
        <pc:sldMkLst>
          <pc:docMk/>
          <pc:sldMk cId="483741611" sldId="270"/>
        </pc:sldMkLst>
        <pc:spChg chg="mod">
          <ac:chgData name="Peter Javornický" userId="3b98f8e0-d449-4f6e-b57d-5f9bfb7a5c2c" providerId="ADAL" clId="{88A10E76-C547-4713-B92A-3B48010D5CF0}" dt="2025-12-15T12:45:04.057" v="11" actId="255"/>
          <ac:spMkLst>
            <pc:docMk/>
            <pc:sldMk cId="483741611" sldId="270"/>
            <ac:spMk id="2" creationId="{6F301B1D-23EF-F404-4120-677E868974BE}"/>
          </ac:spMkLst>
        </pc:spChg>
      </pc:sldChg>
      <pc:sldChg chg="modSp mod">
        <pc:chgData name="Peter Javornický" userId="3b98f8e0-d449-4f6e-b57d-5f9bfb7a5c2c" providerId="ADAL" clId="{88A10E76-C547-4713-B92A-3B48010D5CF0}" dt="2025-12-15T12:46:14.866" v="19" actId="27636"/>
        <pc:sldMkLst>
          <pc:docMk/>
          <pc:sldMk cId="3679052220" sldId="271"/>
        </pc:sldMkLst>
        <pc:spChg chg="mod">
          <ac:chgData name="Peter Javornický" userId="3b98f8e0-d449-4f6e-b57d-5f9bfb7a5c2c" providerId="ADAL" clId="{88A10E76-C547-4713-B92A-3B48010D5CF0}" dt="2025-12-15T12:46:14.866" v="19" actId="27636"/>
          <ac:spMkLst>
            <pc:docMk/>
            <pc:sldMk cId="3679052220" sldId="271"/>
            <ac:spMk id="2" creationId="{6F301B1D-23EF-F404-4120-677E868974BE}"/>
          </ac:spMkLst>
        </pc:spChg>
      </pc:sldChg>
      <pc:sldChg chg="modSp mod">
        <pc:chgData name="Peter Javornický" userId="3b98f8e0-d449-4f6e-b57d-5f9bfb7a5c2c" providerId="ADAL" clId="{88A10E76-C547-4713-B92A-3B48010D5CF0}" dt="2025-12-15T12:47:16.868" v="23" actId="6549"/>
        <pc:sldMkLst>
          <pc:docMk/>
          <pc:sldMk cId="2932225244" sldId="272"/>
        </pc:sldMkLst>
        <pc:spChg chg="mod">
          <ac:chgData name="Peter Javornický" userId="3b98f8e0-d449-4f6e-b57d-5f9bfb7a5c2c" providerId="ADAL" clId="{88A10E76-C547-4713-B92A-3B48010D5CF0}" dt="2025-12-15T12:47:16.868" v="23" actId="6549"/>
          <ac:spMkLst>
            <pc:docMk/>
            <pc:sldMk cId="2932225244" sldId="272"/>
            <ac:spMk id="2" creationId="{6F301B1D-23EF-F404-4120-677E868974B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cept - Širš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5288" y="357050"/>
            <a:ext cx="6361042" cy="92250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71AA04-A0F8-87B9-B272-01F3327D49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5288" y="1279525"/>
            <a:ext cx="6361042" cy="9255953"/>
          </a:xfrm>
        </p:spPr>
        <p:txBody>
          <a:bodyPr>
            <a:normAutofit/>
          </a:bodyPr>
          <a:lstStyle>
            <a:lvl1pPr>
              <a:defRPr sz="36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954387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cept Užš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312" y="357050"/>
            <a:ext cx="6069497" cy="92250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71AA04-A0F8-87B9-B272-01F3327D49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4312" y="1279525"/>
            <a:ext cx="6069497" cy="9255953"/>
          </a:xfrm>
        </p:spPr>
        <p:txBody>
          <a:bodyPr>
            <a:normAutofit/>
          </a:bodyPr>
          <a:lstStyle>
            <a:lvl1pPr>
              <a:defRPr sz="36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673364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d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71AA04-A0F8-87B9-B272-01F3327D49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9270" y="357809"/>
            <a:ext cx="6626087" cy="10177669"/>
          </a:xfr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600"/>
            </a:lvl1pPr>
            <a:lvl2pPr>
              <a:defRPr sz="40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57770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357050"/>
            <a:ext cx="5915025" cy="922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1444488"/>
            <a:ext cx="5915025" cy="89982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3637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90000"/>
        </a:lnSpc>
        <a:spcBef>
          <a:spcPts val="750"/>
        </a:spcBef>
        <a:buFontTx/>
        <a:buNone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0" algn="l" defTabSz="685800" rtl="0" eaLnBrk="1" latinLnBrk="0" hangingPunct="1">
        <a:lnSpc>
          <a:spcPct val="90000"/>
        </a:lnSpc>
        <a:spcBef>
          <a:spcPts val="375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0" algn="l" defTabSz="685800" rtl="0" eaLnBrk="1" latinLnBrk="0" hangingPunct="1">
        <a:lnSpc>
          <a:spcPct val="90000"/>
        </a:lnSpc>
        <a:spcBef>
          <a:spcPts val="375"/>
        </a:spcBef>
        <a:buFontTx/>
        <a:buNone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indent="0" algn="l" defTabSz="685800" rtl="0" eaLnBrk="1" latinLnBrk="0" hangingPunct="1">
        <a:lnSpc>
          <a:spcPct val="90000"/>
        </a:lnSpc>
        <a:spcBef>
          <a:spcPts val="375"/>
        </a:spcBef>
        <a:buFontTx/>
        <a:buNone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0" algn="l" defTabSz="685800" rtl="0" eaLnBrk="1" latinLnBrk="0" hangingPunct="1">
        <a:lnSpc>
          <a:spcPct val="90000"/>
        </a:lnSpc>
        <a:spcBef>
          <a:spcPts val="375"/>
        </a:spcBef>
        <a:buFontTx/>
        <a:buNone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01B1D-23EF-F404-4120-677E86897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4" y="160098"/>
            <a:ext cx="6400798" cy="922506"/>
          </a:xfrm>
        </p:spPr>
        <p:txBody>
          <a:bodyPr>
            <a:noAutofit/>
          </a:bodyPr>
          <a:lstStyle/>
          <a:p>
            <a:r>
              <a:rPr lang="cs-CZ" b="1" dirty="0" err="1"/>
              <a:t>Exclusive</a:t>
            </a:r>
            <a:r>
              <a:rPr lang="cs-CZ" b="1" dirty="0"/>
              <a:t> Game </a:t>
            </a:r>
            <a:r>
              <a:rPr lang="cs-CZ" b="1" dirty="0" err="1"/>
              <a:t>Skins</a:t>
            </a:r>
            <a:br>
              <a:rPr lang="cs-CZ" b="1" dirty="0"/>
            </a:br>
            <a:r>
              <a:rPr lang="el-GR" sz="2400" b="1" dirty="0"/>
              <a:t>Αποκλειστικές εμφανίσεις παιχνιδιού</a:t>
            </a:r>
            <a:endParaRPr lang="el-GR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0D9BB9-7BDB-6DCC-7920-DA0C3A614FC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5083" y="1363927"/>
            <a:ext cx="6400799" cy="9255953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  <a:spcBef>
                <a:spcPts val="1200"/>
              </a:spcBef>
            </a:pPr>
            <a:r>
              <a:rPr lang="el-GR" sz="2200" i="1" dirty="0"/>
              <a:t>Μερικές φορές θέλω νέους τρόπους βελτίωσης της εμπειρίας μου στο παιχνίδι και αναζητώ </a:t>
            </a:r>
            <a:r>
              <a:rPr lang="el-GR" sz="2200" b="1" i="1" dirty="0"/>
              <a:t>αποκλειστικές και ελκυστικές εμφανίσεις </a:t>
            </a:r>
            <a:r>
              <a:rPr lang="el-GR" sz="2200" i="1" dirty="0"/>
              <a:t>για να ξεχωρίζω, ή εξατομίκευση των χαρακτήρων σε παιχνίδια όπως τα Counter Strike ή League of Legends.</a:t>
            </a:r>
          </a:p>
          <a:p>
            <a:pPr>
              <a:lnSpc>
                <a:spcPct val="80000"/>
              </a:lnSpc>
              <a:spcBef>
                <a:spcPts val="1200"/>
              </a:spcBef>
            </a:pPr>
            <a:endParaRPr lang="en-GB" sz="2200" dirty="0"/>
          </a:p>
          <a:p>
            <a:pPr>
              <a:lnSpc>
                <a:spcPct val="80000"/>
              </a:lnSpc>
              <a:spcBef>
                <a:spcPts val="1200"/>
              </a:spcBef>
            </a:pPr>
            <a:r>
              <a:rPr lang="el-GR" sz="2200" dirty="0"/>
              <a:t>Οι παίκτες θα έχουν την ευκαιρία </a:t>
            </a:r>
            <a:r>
              <a:rPr lang="el-GR" sz="2200" b="1" dirty="0"/>
              <a:t>να κερδίσουν αποκλειστικές, υψηλής ποιότητας και εντυπωσιακές εμφανίσεις </a:t>
            </a:r>
            <a:r>
              <a:rPr lang="el-GR" sz="2200" dirty="0"/>
              <a:t>παίζοντας online κάρτες ξυστό, αγοράζοντας παραδοσιακές κάρτες ξυστό ή συμμετέχοντας σε ειδικές διαδικτυακές λοταρίες. </a:t>
            </a:r>
          </a:p>
          <a:p>
            <a:pPr>
              <a:lnSpc>
                <a:spcPct val="80000"/>
              </a:lnSpc>
              <a:spcBef>
                <a:spcPts val="1200"/>
              </a:spcBef>
            </a:pPr>
            <a:r>
              <a:rPr lang="el-GR" sz="2200" dirty="0"/>
              <a:t>Αυτές οι μοναδικές εμφανίσεις επιτρέπουν στους παίκτες να αναδείξουν την επιτυχία και την ιδιαιτερότητά τους για να εμπλουτίσουν την εμπειρία τους στο παιχνίδι.</a:t>
            </a:r>
          </a:p>
          <a:p>
            <a:pPr>
              <a:lnSpc>
                <a:spcPct val="80000"/>
              </a:lnSpc>
              <a:spcBef>
                <a:spcPts val="1200"/>
              </a:spcBef>
            </a:pPr>
            <a:r>
              <a:rPr lang="el-GR" sz="2200" dirty="0"/>
              <a:t>Η συνεργασία μεταξύ του φορέα διεξαγωγής της λοταρίας και δημοφιλών προγραμματιστών παιχνιδιών εξασφαλίζει ότι οι εμφανίσεις είναι επίσημα αναγνωρισμένες και εξαργυρώσιμες. </a:t>
            </a:r>
          </a:p>
          <a:p>
            <a:pPr>
              <a:lnSpc>
                <a:spcPct val="80000"/>
              </a:lnSpc>
              <a:spcBef>
                <a:spcPts val="1200"/>
              </a:spcBef>
            </a:pPr>
            <a:r>
              <a:rPr lang="el-GR" sz="2200" b="1" dirty="0"/>
              <a:t>Απλά λάβετε μέρος, κερδίστε έναν κωδικό και απολαύστε τη νέα σας εμφάνιση στο αγαπημένο σας παιχνίδι.</a:t>
            </a:r>
          </a:p>
          <a:p>
            <a:pPr>
              <a:lnSpc>
                <a:spcPct val="80000"/>
              </a:lnSpc>
              <a:spcBef>
                <a:spcPts val="1200"/>
              </a:spcBef>
            </a:pPr>
            <a:endParaRPr lang="en-GB" sz="2200" dirty="0"/>
          </a:p>
          <a:p>
            <a:pPr>
              <a:lnSpc>
                <a:spcPct val="80000"/>
              </a:lnSpc>
              <a:spcBef>
                <a:spcPts val="1200"/>
              </a:spcBef>
            </a:pPr>
            <a:r>
              <a:rPr lang="el-GR" sz="2200" dirty="0"/>
              <a:t>Παράδειγμα διαδικασίας:</a:t>
            </a:r>
          </a:p>
          <a:p>
            <a:pPr>
              <a:lnSpc>
                <a:spcPct val="80000"/>
              </a:lnSpc>
              <a:spcBef>
                <a:spcPts val="1200"/>
              </a:spcBef>
            </a:pPr>
            <a:r>
              <a:rPr lang="el-GR" sz="2200" dirty="0"/>
              <a:t>Εάν ένας παίκτης κερδίσει μια online κάρτα ξυστό, λαμβάνει έναν κωδικό που ξεκλειδώνει μια μοναδική εμφάνιση για το Counter Strike ή κάποιο άλλο παιχνίδι.</a:t>
            </a:r>
          </a:p>
          <a:p>
            <a:pPr>
              <a:lnSpc>
                <a:spcPct val="80000"/>
              </a:lnSpc>
              <a:spcBef>
                <a:spcPts val="1200"/>
              </a:spcBef>
            </a:pPr>
            <a:endParaRPr lang="en-GB" sz="2200" dirty="0"/>
          </a:p>
        </p:txBody>
      </p:sp>
    </p:spTree>
    <p:extLst>
      <p:ext uri="{BB962C8B-B14F-4D97-AF65-F5344CB8AC3E}">
        <p14:creationId xmlns:p14="http://schemas.microsoft.com/office/powerpoint/2010/main" val="28616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AA97AB8-7C22-ED38-6397-3E00A3AE28F8}"/>
              </a:ext>
            </a:extLst>
          </p:cNvPr>
          <p:cNvSpPr/>
          <p:nvPr/>
        </p:nvSpPr>
        <p:spPr>
          <a:xfrm>
            <a:off x="0" y="0"/>
            <a:ext cx="6858000" cy="125852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301B1D-23EF-F404-4120-677E86897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4" y="188234"/>
            <a:ext cx="6400798" cy="922506"/>
          </a:xfrm>
        </p:spPr>
        <p:txBody>
          <a:bodyPr>
            <a:noAutofit/>
          </a:bodyPr>
          <a:lstStyle/>
          <a:p>
            <a:r>
              <a:rPr lang="en-GB" b="1" dirty="0"/>
              <a:t>Team Play with Social Sharing</a:t>
            </a:r>
            <a:br>
              <a:rPr lang="cs-CZ" b="1" dirty="0"/>
            </a:br>
            <a:r>
              <a:rPr lang="el-GR" sz="2200" b="1" dirty="0"/>
              <a:t>Team Play με κοινοποίηση στα μέσα κοινωνικής δικτύωσης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0D9BB9-7BDB-6DCC-7920-DA0C3A614FC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5083" y="1377993"/>
            <a:ext cx="6400799" cy="9255953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</a:pPr>
            <a:r>
              <a:rPr lang="el-GR" sz="2200" i="1" dirty="0"/>
              <a:t>Μου αρέσουν τα κοινωνικά παιχνίδια και τα παιχνίδια συνεργασίας. </a:t>
            </a:r>
            <a:br>
              <a:rPr lang="el-GR" sz="2200" i="1" dirty="0"/>
            </a:br>
            <a:r>
              <a:rPr lang="el-GR" sz="2200" i="1" dirty="0"/>
              <a:t>Μου αρέσει να κοινοποιώ τα επιτεύγματα και τις σημαντικές νίκες στους φίλους μου και στα μέσα κοινωνικής δικτύωσης.</a:t>
            </a:r>
          </a:p>
          <a:p>
            <a:pPr>
              <a:spcBef>
                <a:spcPts val="1200"/>
              </a:spcBef>
            </a:pPr>
            <a:endParaRPr lang="cs-CZ" sz="2200" dirty="0"/>
          </a:p>
          <a:p>
            <a:pPr>
              <a:spcBef>
                <a:spcPts val="1200"/>
              </a:spcBef>
            </a:pPr>
            <a:r>
              <a:rPr lang="el-GR" sz="2200" dirty="0"/>
              <a:t>Όταν παίζετε online τυχερά παιχνίδια επί πληρωμή, όπως online κάρτες ξυστό ή online κουλοχέρηδες, </a:t>
            </a:r>
            <a:br>
              <a:rPr lang="cs-CZ" sz="2200" dirty="0"/>
            </a:br>
            <a:r>
              <a:rPr lang="el-GR" sz="2200" dirty="0"/>
              <a:t>η </a:t>
            </a:r>
            <a:r>
              <a:rPr lang="el-GR" sz="2200" b="1" dirty="0"/>
              <a:t>λειτουργία Team Play </a:t>
            </a:r>
            <a:r>
              <a:rPr lang="el-GR" sz="2200" dirty="0"/>
              <a:t>επιτρέπει στους παίκτες να σχηματίζουν ομάδες και να παίζουν σε συνεργασία.</a:t>
            </a:r>
          </a:p>
          <a:p>
            <a:pPr>
              <a:spcBef>
                <a:spcPts val="1200"/>
              </a:spcBef>
            </a:pPr>
            <a:r>
              <a:rPr lang="el-GR" sz="2200" dirty="0"/>
              <a:t>Κάθε </a:t>
            </a:r>
            <a:r>
              <a:rPr lang="el-GR" sz="2200" b="1" dirty="0"/>
              <a:t>μέλος </a:t>
            </a:r>
            <a:r>
              <a:rPr lang="el-GR" sz="2200" dirty="0"/>
              <a:t>της ομάδας </a:t>
            </a:r>
            <a:r>
              <a:rPr lang="el-GR" sz="2200" b="1" dirty="0"/>
              <a:t>συνεισφέρει </a:t>
            </a:r>
            <a:r>
              <a:rPr lang="el-GR" sz="2200" dirty="0"/>
              <a:t>στο συλλογικό σκορ της ομάδας και τα </a:t>
            </a:r>
            <a:r>
              <a:rPr lang="el-GR" sz="2200" b="1" dirty="0"/>
              <a:t>κέρδη μοιράζονται</a:t>
            </a:r>
            <a:r>
              <a:rPr lang="el-GR" sz="2200" dirty="0"/>
              <a:t> ανάμεσα στα μέλη. </a:t>
            </a:r>
          </a:p>
          <a:p>
            <a:pPr>
              <a:spcBef>
                <a:spcPts val="1200"/>
              </a:spcBef>
            </a:pPr>
            <a:r>
              <a:rPr lang="el-GR" sz="2200" dirty="0"/>
              <a:t>Τα μέλη μπορούν επίσης να κοινοποιούν τα αποτελέσματα των παιχνιδιών τους, τις σημαντικές νίκες και τα επιτεύγματά τους στα</a:t>
            </a:r>
            <a:r>
              <a:rPr lang="el-GR" sz="2200" b="1" dirty="0"/>
              <a:t> μέσα κοινωνικής δικτύωσης </a:t>
            </a:r>
            <a:r>
              <a:rPr lang="el-GR" sz="2200" dirty="0"/>
              <a:t>(WhatsApp, Telegram, Facebook/Messenger ή Instagram).</a:t>
            </a:r>
          </a:p>
          <a:p>
            <a:pPr>
              <a:spcBef>
                <a:spcPts val="1200"/>
              </a:spcBef>
            </a:pPr>
            <a:r>
              <a:rPr lang="el-GR" sz="2200" b="1" dirty="0"/>
              <a:t>Η κοινοποίηση στα μέσα κοινωνικής δικτύωσης και το παιχνίδι συνεργασίας ενισχύουν την αίσθηση της κοινότητας.</a:t>
            </a:r>
          </a:p>
          <a:p>
            <a:pPr>
              <a:spcBef>
                <a:spcPts val="1200"/>
              </a:spcBef>
            </a:pPr>
            <a:endParaRPr lang="en-GB" sz="2200" dirty="0"/>
          </a:p>
          <a:p>
            <a:pPr>
              <a:spcBef>
                <a:spcPts val="1200"/>
              </a:spcBef>
            </a:pPr>
            <a:r>
              <a:rPr lang="el-GR" sz="2200" dirty="0"/>
              <a:t>Παράδειγμα διαδικασίας:</a:t>
            </a:r>
          </a:p>
          <a:p>
            <a:pPr>
              <a:spcBef>
                <a:spcPts val="1200"/>
              </a:spcBef>
            </a:pPr>
            <a:r>
              <a:rPr lang="el-GR" sz="2200" dirty="0"/>
              <a:t>Μια ομάδα τεσσάρων παικτών μπορεί να συνδυάσει τα σκορ της για να ξεκλειδώσει μεγαλύτερες ανταμοιβές. </a:t>
            </a:r>
          </a:p>
        </p:txBody>
      </p:sp>
    </p:spTree>
    <p:extLst>
      <p:ext uri="{BB962C8B-B14F-4D97-AF65-F5344CB8AC3E}">
        <p14:creationId xmlns:p14="http://schemas.microsoft.com/office/powerpoint/2010/main" val="483741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472181B-334C-FD1A-E8F1-F22FA5E77911}"/>
              </a:ext>
            </a:extLst>
          </p:cNvPr>
          <p:cNvSpPr/>
          <p:nvPr/>
        </p:nvSpPr>
        <p:spPr>
          <a:xfrm>
            <a:off x="0" y="0"/>
            <a:ext cx="6858000" cy="99816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301B1D-23EF-F404-4120-677E86897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4" y="75690"/>
            <a:ext cx="6400798" cy="922506"/>
          </a:xfrm>
        </p:spPr>
        <p:txBody>
          <a:bodyPr>
            <a:normAutofit/>
          </a:bodyPr>
          <a:lstStyle/>
          <a:p>
            <a:r>
              <a:rPr lang="cs-CZ" b="1" dirty="0" err="1"/>
              <a:t>Battle</a:t>
            </a:r>
            <a:r>
              <a:rPr lang="cs-CZ" b="1" dirty="0"/>
              <a:t> </a:t>
            </a:r>
            <a:r>
              <a:rPr lang="cs-CZ" b="1" dirty="0" err="1"/>
              <a:t>Royale</a:t>
            </a:r>
            <a:r>
              <a:rPr lang="cs-CZ" b="1" dirty="0"/>
              <a:t> </a:t>
            </a:r>
            <a:r>
              <a:rPr lang="cs-CZ" b="1" dirty="0" err="1"/>
              <a:t>for</a:t>
            </a:r>
            <a:r>
              <a:rPr lang="cs-CZ" b="1" dirty="0"/>
              <a:t> Jackpot </a:t>
            </a:r>
            <a:br>
              <a:rPr lang="cs-CZ" b="1" dirty="0"/>
            </a:br>
            <a:r>
              <a:rPr lang="el-GR" sz="2400" b="1" dirty="0"/>
              <a:t>Battle Royale για το τζάκποτ 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0D9BB9-7BDB-6DCC-7920-DA0C3A614FC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5083" y="1224308"/>
            <a:ext cx="6400799" cy="9197886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l-GR" sz="2400" i="1" dirty="0"/>
              <a:t>Λατρεύω τα </a:t>
            </a:r>
            <a:r>
              <a:rPr lang="el-GR" sz="2400" b="1" i="1" dirty="0"/>
              <a:t>ανταγωνιστικά παιχνίδια, </a:t>
            </a:r>
            <a:r>
              <a:rPr lang="el-GR" sz="2400" i="1" dirty="0"/>
              <a:t>με τη συγκίνηση των γύρων αποκλεισμού και το κυνήγι σημαντικών ανταμοιβών. Εκτιμώ την αναγνώριση και </a:t>
            </a:r>
            <a:br>
              <a:rPr lang="el-GR" sz="2400" i="1" dirty="0"/>
            </a:br>
            <a:r>
              <a:rPr lang="el-GR" sz="2400" i="1" dirty="0"/>
              <a:t>τις ανταμοιβές εντός του παιχνιδιού για τις επιδόσεις μου.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endParaRPr lang="en-GB" sz="2400" dirty="0"/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l-GR" sz="2400" dirty="0"/>
              <a:t>Το Battle Royale είναι ένα παιχνίδι τύχης επί πληρωμή, όπου οι παίκτες ανταγωνίζονται σε μια σειρά γύρων, εξαλείφοντας σταδιακά ο ένας τον άλλον μέχρι να απομείνει μόνο ένας παίκτης. Ο τελευταίος παίκτης που μένει όρθιος </a:t>
            </a:r>
            <a:r>
              <a:rPr lang="el-GR" sz="2400" b="1" dirty="0"/>
              <a:t>κερδίζει το τζάκποτ. 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l-GR" sz="2400" dirty="0"/>
              <a:t>Άλλοι κορυφαίοι παίκτες λαμβάνουν </a:t>
            </a:r>
            <a:r>
              <a:rPr lang="el-GR" sz="2400" b="1" dirty="0"/>
              <a:t>ανταμοιβές εντός του παιχνιδιού</a:t>
            </a:r>
            <a:r>
              <a:rPr lang="el-GR" sz="2400" dirty="0"/>
              <a:t>, όπως επιτεύγματα και μπόνους. 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l-GR" sz="2400" dirty="0"/>
              <a:t>Όλοι οι συμμετέχοντες κερδίζουν </a:t>
            </a:r>
            <a:r>
              <a:rPr lang="el-GR" sz="2400" b="1" dirty="0"/>
              <a:t>ανταμοιβές επιβράβευσης </a:t>
            </a:r>
            <a:r>
              <a:rPr lang="el-GR" sz="2400" dirty="0"/>
              <a:t>που εξαργυρώνονται για προνόμια (δωρεάν περιστροφές, μπόνους κατάθεσης) ή για συμμετοχές σε λοταρίες.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l-GR" sz="2400" b="1" dirty="0"/>
              <a:t>Ο συνδυασμός ενθουσιασμού και απτών ανταμοιβών παρέχει τόσο άμεση ικανοποίηση όσο και μακροπρόθεσμα οφέλη. 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endParaRPr lang="en-GB" sz="2400" dirty="0"/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l-GR" sz="2400" dirty="0"/>
              <a:t>Παράδειγμα διαδικασίας: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l-GR" sz="2400" dirty="0"/>
              <a:t>Σε έναν αγώνα 100 παικτών, ο νικητής κερδίζει το τζάκποτ και οι 10 πρώτοι παίκτες λαμβάνουν </a:t>
            </a:r>
            <a:br>
              <a:rPr lang="el-GR" sz="2400" dirty="0"/>
            </a:br>
            <a:r>
              <a:rPr lang="el-GR" sz="2400" dirty="0"/>
              <a:t>ανταμοιβές εντός του παιχνιδιού. Όλοι οι παίκτες κερδίζουν ανταμοιβές επιβράβευσης για τη συμμετοχή τους.</a:t>
            </a:r>
          </a:p>
        </p:txBody>
      </p:sp>
    </p:spTree>
    <p:extLst>
      <p:ext uri="{BB962C8B-B14F-4D97-AF65-F5344CB8AC3E}">
        <p14:creationId xmlns:p14="http://schemas.microsoft.com/office/powerpoint/2010/main" val="3679052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A94724D-9183-2EA4-4F28-045801CB2C98}"/>
              </a:ext>
            </a:extLst>
          </p:cNvPr>
          <p:cNvSpPr/>
          <p:nvPr/>
        </p:nvSpPr>
        <p:spPr>
          <a:xfrm>
            <a:off x="0" y="0"/>
            <a:ext cx="6858000" cy="120936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301B1D-23EF-F404-4120-677E86897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4" y="160098"/>
            <a:ext cx="6400798" cy="922506"/>
          </a:xfrm>
        </p:spPr>
        <p:txBody>
          <a:bodyPr>
            <a:noAutofit/>
          </a:bodyPr>
          <a:lstStyle/>
          <a:p>
            <a:r>
              <a:rPr lang="en-GB" b="1" dirty="0"/>
              <a:t>Multiplayer Game </a:t>
            </a:r>
            <a:br>
              <a:rPr lang="en-GB" b="1" dirty="0"/>
            </a:br>
            <a:r>
              <a:rPr lang="en-GB" b="1" dirty="0"/>
              <a:t>with Shared Winnings</a:t>
            </a:r>
            <a:br>
              <a:rPr lang="cs-CZ" b="1" dirty="0"/>
            </a:br>
            <a:r>
              <a:rPr lang="el-GR" sz="2200" b="1" dirty="0"/>
              <a:t>Παιχνίδι για πολλούς παίκτες με κοινά κέρδη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0D9BB9-7BDB-6DCC-7920-DA0C3A614FC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5083" y="1358810"/>
            <a:ext cx="6400799" cy="8973964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</a:pPr>
            <a:r>
              <a:rPr lang="el-GR" sz="2300" i="1" dirty="0"/>
              <a:t>Μου αρέσουν τα παιχνίδια που προωθούν </a:t>
            </a:r>
            <a:r>
              <a:rPr lang="el-GR" sz="2300" b="1" i="1" dirty="0"/>
              <a:t>τη συντροφικότητα και την αμοιβαία υποστήριξη</a:t>
            </a:r>
            <a:r>
              <a:rPr lang="el-GR" sz="2300" i="1" dirty="0"/>
              <a:t>. Μου αρέσει να μοιράζομαι την επιτυχία με τους φίλους μου και να επωφελούμαι από τα συλλογικά κέρδη.</a:t>
            </a:r>
          </a:p>
          <a:p>
            <a:pPr>
              <a:spcBef>
                <a:spcPts val="1200"/>
              </a:spcBef>
            </a:pPr>
            <a:endParaRPr lang="en-GB" sz="2300" dirty="0"/>
          </a:p>
          <a:p>
            <a:pPr>
              <a:spcBef>
                <a:spcPts val="1200"/>
              </a:spcBef>
            </a:pPr>
            <a:r>
              <a:rPr lang="el-GR" sz="2300" dirty="0"/>
              <a:t>Πρόκειται για ένα </a:t>
            </a:r>
            <a:r>
              <a:rPr lang="el-GR" sz="2300" b="1" dirty="0"/>
              <a:t>τυχερό παιχνίδι για πολλούς παίκτες </a:t>
            </a:r>
            <a:r>
              <a:rPr lang="el-GR" sz="2300" dirty="0"/>
              <a:t>επί πληρωμή που έχει σχεδιαστεί για φίλους, οι οποίοι μπορούν να μοιραστούν τα κέρδη τους μεταξύ τους. </a:t>
            </a:r>
          </a:p>
          <a:p>
            <a:pPr>
              <a:spcBef>
                <a:spcPts val="1200"/>
              </a:spcBef>
            </a:pPr>
            <a:r>
              <a:rPr lang="el-GR" sz="2300" dirty="0"/>
              <a:t>Εάν οποιοσδήποτε παίκτης της ομάδας κερδίσει, </a:t>
            </a:r>
            <a:br>
              <a:rPr lang="cs-CZ" sz="2300" dirty="0"/>
            </a:br>
            <a:r>
              <a:rPr lang="el-GR" sz="2300" dirty="0"/>
              <a:t>ο νικητής διατηρεί το 50% των κερδών, ενώ το υπόλοιπο 50% </a:t>
            </a:r>
            <a:r>
              <a:rPr lang="el-GR" sz="2300" b="1" dirty="0"/>
              <a:t>διανέμεται αναλογικά </a:t>
            </a:r>
            <a:r>
              <a:rPr lang="el-GR" sz="2300" dirty="0"/>
              <a:t>στα υπόλοιπα μέλη της ομάδας. </a:t>
            </a:r>
          </a:p>
          <a:p>
            <a:pPr>
              <a:spcBef>
                <a:spcPts val="1200"/>
              </a:spcBef>
            </a:pPr>
            <a:r>
              <a:rPr lang="el-GR" sz="2300" dirty="0"/>
              <a:t>Υπάρχει επίσης μια επιλογή δωρεάν παιχνιδιού με πόντους και πίνακες κατάταξης όπου διανέμονται πραγματικά βραβεία και μπόνους.</a:t>
            </a:r>
          </a:p>
          <a:p>
            <a:pPr>
              <a:spcBef>
                <a:spcPts val="1200"/>
              </a:spcBef>
            </a:pPr>
            <a:r>
              <a:rPr lang="el-GR" sz="2300" b="1" dirty="0"/>
              <a:t>Όλοι επωφελούνται, καθιστώντας το παιχνίδι πιο ευχάριστο και επικερδές.</a:t>
            </a:r>
          </a:p>
          <a:p>
            <a:pPr>
              <a:spcBef>
                <a:spcPts val="1200"/>
              </a:spcBef>
            </a:pPr>
            <a:endParaRPr lang="en-GB" sz="2300" dirty="0"/>
          </a:p>
          <a:p>
            <a:pPr>
              <a:spcBef>
                <a:spcPts val="1200"/>
              </a:spcBef>
            </a:pPr>
            <a:r>
              <a:rPr lang="el-GR" sz="2300" dirty="0"/>
              <a:t>Παράδειγμα διαδικασίας:</a:t>
            </a:r>
          </a:p>
          <a:p>
            <a:pPr>
              <a:spcBef>
                <a:spcPts val="1200"/>
              </a:spcBef>
            </a:pPr>
            <a:r>
              <a:rPr lang="el-GR" sz="2300" dirty="0"/>
              <a:t>Εάν υπάρχουν 3 παίκτες και ένας νικητής, </a:t>
            </a:r>
            <a:br>
              <a:rPr lang="el-GR" sz="2300" dirty="0"/>
            </a:br>
            <a:r>
              <a:rPr lang="el-GR" sz="2300" dirty="0"/>
              <a:t>ο νικητής παίκτης λαμβάνει το 50% των κερδών, ενώ οι άλλοι δύο παίκτες λαμβάνουν από 25% των κερδών.</a:t>
            </a:r>
          </a:p>
        </p:txBody>
      </p:sp>
    </p:spTree>
    <p:extLst>
      <p:ext uri="{BB962C8B-B14F-4D97-AF65-F5344CB8AC3E}">
        <p14:creationId xmlns:p14="http://schemas.microsoft.com/office/powerpoint/2010/main" val="293222524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XCLUDEHIDDENSLIDES" val="False"/>
  <p:tag name="NUMBEROFPAGES" val="4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3741da7a-79c1-417c-b408-16c0bfe99fca}" enabled="1" method="Standard" siteId="{1e355c04-e0a4-42ed-8e2d-7351591f0ef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754</TotalTime>
  <Words>669</Words>
  <Application>Microsoft Office PowerPoint</Application>
  <PresentationFormat>Custom</PresentationFormat>
  <Paragraphs>40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Exclusive Game Skins Αποκλειστικές εμφανίσεις παιχνιδιού</vt:lpstr>
      <vt:lpstr>Team Play with Social Sharing Team Play με κοινοποίηση στα μέσα κοινωνικής δικτύωσης</vt:lpstr>
      <vt:lpstr>Battle Royale for Jackpot  Battle Royale για το τζάκποτ  </vt:lpstr>
      <vt:lpstr>Multiplayer Game  with Shared Winnings Παιχνίδι για πολλούς παίκτες με κοινά κέρδη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Rajsnerová, Jana (KTPRG)</dc:creator>
  <cp:lastModifiedBy>Peter Javornický</cp:lastModifiedBy>
  <cp:revision>39</cp:revision>
  <dcterms:created xsi:type="dcterms:W3CDTF">2022-11-09T07:36:23Z</dcterms:created>
  <dcterms:modified xsi:type="dcterms:W3CDTF">2025-12-15T12:47:19Z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741da7a-79c1-417c-b408-16c0bfe99fca_Enabled">
    <vt:lpwstr>true</vt:lpwstr>
  </property>
  <property fmtid="{D5CDD505-2E9C-101B-9397-08002B2CF9AE}" pid="3" name="MSIP_Label_3741da7a-79c1-417c-b408-16c0bfe99fca_SetDate">
    <vt:lpwstr>2023-03-30T08:52:17Z</vt:lpwstr>
  </property>
  <property fmtid="{D5CDD505-2E9C-101B-9397-08002B2CF9AE}" pid="4" name="MSIP_Label_3741da7a-79c1-417c-b408-16c0bfe99fca_Method">
    <vt:lpwstr>Standard</vt:lpwstr>
  </property>
  <property fmtid="{D5CDD505-2E9C-101B-9397-08002B2CF9AE}" pid="5" name="MSIP_Label_3741da7a-79c1-417c-b408-16c0bfe99fca_Name">
    <vt:lpwstr>Internal Only - Amber</vt:lpwstr>
  </property>
  <property fmtid="{D5CDD505-2E9C-101B-9397-08002B2CF9AE}" pid="6" name="MSIP_Label_3741da7a-79c1-417c-b408-16c0bfe99fca_SiteId">
    <vt:lpwstr>1e355c04-e0a4-42ed-8e2d-7351591f0ef1</vt:lpwstr>
  </property>
  <property fmtid="{D5CDD505-2E9C-101B-9397-08002B2CF9AE}" pid="7" name="MSIP_Label_3741da7a-79c1-417c-b408-16c0bfe99fca_ActionId">
    <vt:lpwstr>5b4cd54c-153d-4cdd-b8e7-de533e844d37</vt:lpwstr>
  </property>
  <property fmtid="{D5CDD505-2E9C-101B-9397-08002B2CF9AE}" pid="8" name="MSIP_Label_3741da7a-79c1-417c-b408-16c0bfe99fca_ContentBits">
    <vt:lpwstr>0</vt:lpwstr>
  </property>
</Properties>
</file>