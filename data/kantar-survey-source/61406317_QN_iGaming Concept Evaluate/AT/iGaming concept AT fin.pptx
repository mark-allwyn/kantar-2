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70" r:id="rId3"/>
    <p:sldId id="271" r:id="rId4"/>
    <p:sldId id="272" r:id="rId5"/>
  </p:sldIdLst>
  <p:sldSz cx="6858000" cy="10799763"/>
  <p:notesSz cx="6858000" cy="9144000"/>
  <p:custDataLst>
    <p:tags r:id="rId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custSel modSld">
      <pc:chgData name="Peter Javornický" userId="3b98f8e0-d449-4f6e-b57d-5f9bfb7a5c2c" providerId="ADAL" clId="{88A10E76-C547-4713-B92A-3B48010D5CF0}" dt="2025-12-15T12:46:54.718" v="20" actId="6549"/>
      <pc:docMkLst>
        <pc:docMk/>
      </pc:docMkLst>
      <pc:sldChg chg="modSp mod">
        <pc:chgData name="Peter Javornický" userId="3b98f8e0-d449-4f6e-b57d-5f9bfb7a5c2c" providerId="ADAL" clId="{88A10E76-C547-4713-B92A-3B48010D5CF0}" dt="2025-12-15T12:43:26.290" v="6" actId="27636"/>
        <pc:sldMkLst>
          <pc:docMk/>
          <pc:sldMk cId="286161547" sldId="269"/>
        </pc:sldMkLst>
        <pc:spChg chg="mod">
          <ac:chgData name="Peter Javornický" userId="3b98f8e0-d449-4f6e-b57d-5f9bfb7a5c2c" providerId="ADAL" clId="{88A10E76-C547-4713-B92A-3B48010D5CF0}" dt="2025-12-15T12:43:26.290" v="6" actId="27636"/>
          <ac:spMkLst>
            <pc:docMk/>
            <pc:sldMk cId="286161547" sldId="269"/>
            <ac:spMk id="2" creationId="{6F301B1D-23EF-F404-4120-677E868974BE}"/>
          </ac:spMkLst>
        </pc:spChg>
      </pc:sldChg>
      <pc:sldChg chg="modSp mod">
        <pc:chgData name="Peter Javornický" userId="3b98f8e0-d449-4f6e-b57d-5f9bfb7a5c2c" providerId="ADAL" clId="{88A10E76-C547-4713-B92A-3B48010D5CF0}" dt="2025-12-15T12:44:47.681" v="11" actId="27636"/>
        <pc:sldMkLst>
          <pc:docMk/>
          <pc:sldMk cId="483741611" sldId="270"/>
        </pc:sldMkLst>
        <pc:spChg chg="mod">
          <ac:chgData name="Peter Javornický" userId="3b98f8e0-d449-4f6e-b57d-5f9bfb7a5c2c" providerId="ADAL" clId="{88A10E76-C547-4713-B92A-3B48010D5CF0}" dt="2025-12-15T12:44:47.681" v="11" actId="27636"/>
          <ac:spMkLst>
            <pc:docMk/>
            <pc:sldMk cId="483741611" sldId="270"/>
            <ac:spMk id="2" creationId="{6F301B1D-23EF-F404-4120-677E868974BE}"/>
          </ac:spMkLst>
        </pc:spChg>
      </pc:sldChg>
      <pc:sldChg chg="modSp mod">
        <pc:chgData name="Peter Javornický" userId="3b98f8e0-d449-4f6e-b57d-5f9bfb7a5c2c" providerId="ADAL" clId="{88A10E76-C547-4713-B92A-3B48010D5CF0}" dt="2025-12-15T12:45:55.998" v="16" actId="27636"/>
        <pc:sldMkLst>
          <pc:docMk/>
          <pc:sldMk cId="3679052220" sldId="271"/>
        </pc:sldMkLst>
        <pc:spChg chg="mod">
          <ac:chgData name="Peter Javornický" userId="3b98f8e0-d449-4f6e-b57d-5f9bfb7a5c2c" providerId="ADAL" clId="{88A10E76-C547-4713-B92A-3B48010D5CF0}" dt="2025-12-15T12:45:55.998" v="16" actId="27636"/>
          <ac:spMkLst>
            <pc:docMk/>
            <pc:sldMk cId="3679052220" sldId="271"/>
            <ac:spMk id="2" creationId="{6F301B1D-23EF-F404-4120-677E868974BE}"/>
          </ac:spMkLst>
        </pc:spChg>
      </pc:sldChg>
      <pc:sldChg chg="modSp mod">
        <pc:chgData name="Peter Javornický" userId="3b98f8e0-d449-4f6e-b57d-5f9bfb7a5c2c" providerId="ADAL" clId="{88A10E76-C547-4713-B92A-3B48010D5CF0}" dt="2025-12-15T12:46:54.718" v="20" actId="6549"/>
        <pc:sldMkLst>
          <pc:docMk/>
          <pc:sldMk cId="2932225244" sldId="272"/>
        </pc:sldMkLst>
        <pc:spChg chg="mod">
          <ac:chgData name="Peter Javornický" userId="3b98f8e0-d449-4f6e-b57d-5f9bfb7a5c2c" providerId="ADAL" clId="{88A10E76-C547-4713-B92A-3B48010D5CF0}" dt="2025-12-15T12:46:54.718" v="20" actId="6549"/>
          <ac:spMkLst>
            <pc:docMk/>
            <pc:sldMk cId="2932225244" sldId="272"/>
            <ac:spMk id="2" creationId="{6F301B1D-23EF-F404-4120-677E868974B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1B1D-23EF-F404-4120-677E868974BE}"/>
              </a:ext>
            </a:extLst>
          </p:cNvPr>
          <p:cNvSpPr>
            <a:spLocks noGrp="1"/>
          </p:cNvSpPr>
          <p:nvPr>
            <p:ph type="title"/>
          </p:nvPr>
        </p:nvSpPr>
        <p:spPr>
          <a:xfrm>
            <a:off x="225084" y="75690"/>
            <a:ext cx="6400798" cy="922506"/>
          </a:xfrm>
        </p:spPr>
        <p:txBody>
          <a:bodyPr>
            <a:normAutofit/>
          </a:bodyPr>
          <a:lstStyle/>
          <a:p>
            <a:r>
              <a:rPr lang="cs-CZ" b="1" dirty="0" err="1"/>
              <a:t>Exclusive</a:t>
            </a:r>
            <a:r>
              <a:rPr lang="cs-CZ" b="1" dirty="0"/>
              <a:t> Game </a:t>
            </a:r>
            <a:r>
              <a:rPr lang="cs-CZ" b="1" dirty="0" err="1"/>
              <a:t>Skins</a:t>
            </a:r>
            <a:br>
              <a:rPr lang="cs-CZ" b="1" dirty="0"/>
            </a:br>
            <a:r>
              <a:rPr lang="de-AT" sz="2200" b="1" dirty="0"/>
              <a:t>Exklusive Spiel-Skins</a:t>
            </a:r>
            <a:endParaRPr lang="de-AT" b="1" dirty="0"/>
          </a:p>
        </p:txBody>
      </p:sp>
      <p:sp>
        <p:nvSpPr>
          <p:cNvPr id="3" name="Text Placeholder 2">
            <a:extLst>
              <a:ext uri="{FF2B5EF4-FFF2-40B4-BE49-F238E27FC236}">
                <a16:creationId xmlns:a16="http://schemas.microsoft.com/office/drawing/2014/main" id="{CC0D9BB9-7BDB-6DCC-7920-DA0C3A614FC6}"/>
              </a:ext>
            </a:extLst>
          </p:cNvPr>
          <p:cNvSpPr>
            <a:spLocks noGrp="1"/>
          </p:cNvSpPr>
          <p:nvPr>
            <p:ph type="body" sz="quarter" idx="10"/>
          </p:nvPr>
        </p:nvSpPr>
        <p:spPr>
          <a:xfrm>
            <a:off x="225083" y="998165"/>
            <a:ext cx="6400799" cy="9255953"/>
          </a:xfrm>
        </p:spPr>
        <p:txBody>
          <a:bodyPr>
            <a:noAutofit/>
          </a:bodyPr>
          <a:lstStyle/>
          <a:p>
            <a:pPr>
              <a:spcBef>
                <a:spcPts val="1200"/>
              </a:spcBef>
            </a:pPr>
            <a:r>
              <a:rPr lang="de-AT" sz="2200" i="1" dirty="0"/>
              <a:t>Ab und zu sehne ich mich nach neuen Möglichkeiten, mein Spielerlebnis zu verbessern, und suche nach exklusiven und optisch ansprechenden Skins, um aufzufallen, oder nach Charakterpersonalisierungen in Spielen wie Counterstrike oder League of Legends.</a:t>
            </a:r>
          </a:p>
          <a:p>
            <a:pPr>
              <a:spcBef>
                <a:spcPts val="1200"/>
              </a:spcBef>
            </a:pPr>
            <a:endParaRPr lang="en-GB" sz="2200" dirty="0"/>
          </a:p>
          <a:p>
            <a:pPr>
              <a:spcBef>
                <a:spcPts val="1200"/>
              </a:spcBef>
            </a:pPr>
            <a:r>
              <a:rPr lang="de-AT" sz="2200" dirty="0"/>
              <a:t>Spieler haben die Möglichkeit, durch das Aufrubbeln von Online-Rubbellosen, den Kauf traditioneller Rubbellose oder die Teilnahme an speziellen Online-Lotterieveranstaltungen </a:t>
            </a:r>
            <a:r>
              <a:rPr lang="de-AT" sz="2200" b="1" dirty="0"/>
              <a:t>exklusive, hochwertige und optisch ansprechende Skins zu gewinnen</a:t>
            </a:r>
            <a:r>
              <a:rPr lang="de-AT" sz="2200" dirty="0"/>
              <a:t>. </a:t>
            </a:r>
          </a:p>
          <a:p>
            <a:pPr>
              <a:spcBef>
                <a:spcPts val="1200"/>
              </a:spcBef>
            </a:pPr>
            <a:r>
              <a:rPr lang="de-AT" sz="2200" dirty="0"/>
              <a:t>Dank dieser einzigartigen Skins können Spieler ihren Erfolg und ihre Individualität zur Schau stellen und so ihr Spielerlebnis bereichern.</a:t>
            </a:r>
          </a:p>
          <a:p>
            <a:pPr>
              <a:spcBef>
                <a:spcPts val="1200"/>
              </a:spcBef>
            </a:pPr>
            <a:r>
              <a:rPr lang="de-AT" sz="2200" dirty="0"/>
              <a:t>Durch die Zusammenarbeit zwischen dem Lotteriebetreiber und den Entwicklern beliebter Spiele wird sichergestellt, dass die Skins offiziell anerkannt und einlösbar sind. </a:t>
            </a:r>
          </a:p>
          <a:p>
            <a:pPr>
              <a:spcBef>
                <a:spcPts val="1200"/>
              </a:spcBef>
            </a:pPr>
            <a:r>
              <a:rPr lang="de-AT" sz="2200" b="1" dirty="0"/>
              <a:t>Einfach mitmachen, einen Code gewinnen und den neuen Skin im Lieblingsspiel genießen.</a:t>
            </a:r>
          </a:p>
          <a:p>
            <a:pPr>
              <a:spcBef>
                <a:spcPts val="1200"/>
              </a:spcBef>
            </a:pPr>
            <a:endParaRPr lang="en-GB" sz="2200" dirty="0"/>
          </a:p>
          <a:p>
            <a:pPr>
              <a:spcBef>
                <a:spcPts val="1200"/>
              </a:spcBef>
            </a:pPr>
            <a:r>
              <a:rPr lang="de-AT" sz="2200" dirty="0"/>
              <a:t>So funktioniert‘s am Beispiel:</a:t>
            </a:r>
          </a:p>
          <a:p>
            <a:pPr>
              <a:spcBef>
                <a:spcPts val="1200"/>
              </a:spcBef>
            </a:pPr>
            <a:r>
              <a:rPr lang="de-AT" sz="2200" dirty="0"/>
              <a:t>Gewinnt ein Spieler eine Online-Rubbelkarte, erhält er einen Code, mit dem er einen einzigartigen Skin für Counterstrike oder ein anderes Spiel freischalten kann.</a:t>
            </a:r>
          </a:p>
          <a:p>
            <a:pPr>
              <a:spcBef>
                <a:spcPts val="1200"/>
              </a:spcBef>
            </a:pPr>
            <a:endParaRPr lang="en-GB" sz="2500" dirty="0"/>
          </a:p>
        </p:txBody>
      </p:sp>
    </p:spTree>
    <p:extLst>
      <p:ext uri="{BB962C8B-B14F-4D97-AF65-F5344CB8AC3E}">
        <p14:creationId xmlns:p14="http://schemas.microsoft.com/office/powerpoint/2010/main" val="28616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38DA68-155A-AAC6-1A00-6B27A43FB749}"/>
              </a:ext>
            </a:extLst>
          </p:cNvPr>
          <p:cNvSpPr/>
          <p:nvPr/>
        </p:nvSpPr>
        <p:spPr>
          <a:xfrm>
            <a:off x="0" y="0"/>
            <a:ext cx="6858000" cy="99816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itle 1">
            <a:extLst>
              <a:ext uri="{FF2B5EF4-FFF2-40B4-BE49-F238E27FC236}">
                <a16:creationId xmlns:a16="http://schemas.microsoft.com/office/drawing/2014/main" id="{6F301B1D-23EF-F404-4120-677E868974BE}"/>
              </a:ext>
            </a:extLst>
          </p:cNvPr>
          <p:cNvSpPr>
            <a:spLocks noGrp="1"/>
          </p:cNvSpPr>
          <p:nvPr>
            <p:ph type="title"/>
          </p:nvPr>
        </p:nvSpPr>
        <p:spPr>
          <a:xfrm>
            <a:off x="225084" y="75690"/>
            <a:ext cx="6400798" cy="922506"/>
          </a:xfrm>
        </p:spPr>
        <p:txBody>
          <a:bodyPr>
            <a:normAutofit/>
          </a:bodyPr>
          <a:lstStyle/>
          <a:p>
            <a:r>
              <a:rPr lang="en-GB" b="1" dirty="0"/>
              <a:t>Team Play with Social Sharing</a:t>
            </a:r>
            <a:br>
              <a:rPr lang="cs-CZ" b="1" dirty="0"/>
            </a:br>
            <a:r>
              <a:rPr lang="de-AT" sz="2400" b="1" dirty="0"/>
              <a:t>Teamplay mit </a:t>
            </a:r>
            <a:r>
              <a:rPr lang="de-AT" sz="2400" b="1" dirty="0" err="1"/>
              <a:t>Social</a:t>
            </a:r>
            <a:r>
              <a:rPr lang="de-AT" sz="2400" b="1" dirty="0"/>
              <a:t> Sharing</a:t>
            </a:r>
          </a:p>
        </p:txBody>
      </p:sp>
      <p:sp>
        <p:nvSpPr>
          <p:cNvPr id="3" name="Text Placeholder 2">
            <a:extLst>
              <a:ext uri="{FF2B5EF4-FFF2-40B4-BE49-F238E27FC236}">
                <a16:creationId xmlns:a16="http://schemas.microsoft.com/office/drawing/2014/main" id="{CC0D9BB9-7BDB-6DCC-7920-DA0C3A614FC6}"/>
              </a:ext>
            </a:extLst>
          </p:cNvPr>
          <p:cNvSpPr>
            <a:spLocks noGrp="1"/>
          </p:cNvSpPr>
          <p:nvPr>
            <p:ph type="body" sz="quarter" idx="10"/>
          </p:nvPr>
        </p:nvSpPr>
        <p:spPr>
          <a:xfrm>
            <a:off x="225083" y="1273468"/>
            <a:ext cx="6400799" cy="9255953"/>
          </a:xfrm>
        </p:spPr>
        <p:txBody>
          <a:bodyPr>
            <a:normAutofit/>
          </a:bodyPr>
          <a:lstStyle/>
          <a:p>
            <a:pPr>
              <a:spcBef>
                <a:spcPts val="1200"/>
              </a:spcBef>
            </a:pPr>
            <a:r>
              <a:rPr lang="de-AT" sz="2400" i="1" dirty="0"/>
              <a:t>Ich spiele gerne mit anderen zusammen. </a:t>
            </a:r>
            <a:br>
              <a:rPr lang="de-AT" sz="2400" i="1" dirty="0"/>
            </a:br>
            <a:r>
              <a:rPr lang="de-AT" sz="2400" i="1" dirty="0"/>
              <a:t>Ich teile Erfolge und wichtige Siege gerne mit Freunden und in den sozialen Medien.</a:t>
            </a:r>
          </a:p>
          <a:p>
            <a:pPr>
              <a:spcBef>
                <a:spcPts val="1200"/>
              </a:spcBef>
            </a:pPr>
            <a:endParaRPr lang="cs-CZ" sz="2400" dirty="0"/>
          </a:p>
          <a:p>
            <a:pPr>
              <a:spcBef>
                <a:spcPts val="1200"/>
              </a:spcBef>
            </a:pPr>
            <a:r>
              <a:rPr lang="de-AT" sz="2400" dirty="0"/>
              <a:t>Wenn Spieler kostenpflichtige Online-Glücksspiele wie Online-Rubbellose oder Online-Slot-Spiele spielen, können sie mithilfe der </a:t>
            </a:r>
            <a:r>
              <a:rPr lang="de-AT" sz="2400" b="1" dirty="0"/>
              <a:t>Teamplay-Funktion</a:t>
            </a:r>
            <a:r>
              <a:rPr lang="de-AT" sz="2400" dirty="0"/>
              <a:t> Teams bilden und gemeinsam spielen.</a:t>
            </a:r>
          </a:p>
          <a:p>
            <a:pPr>
              <a:spcBef>
                <a:spcPts val="1200"/>
              </a:spcBef>
            </a:pPr>
            <a:r>
              <a:rPr lang="de-AT" sz="2400" dirty="0"/>
              <a:t>Die </a:t>
            </a:r>
            <a:r>
              <a:rPr lang="de-AT" sz="2400" b="1" dirty="0"/>
              <a:t>Teammitglieder tragen</a:t>
            </a:r>
            <a:r>
              <a:rPr lang="de-AT" sz="2400" dirty="0"/>
              <a:t> alle zum Gesamtergebnis des Teams </a:t>
            </a:r>
            <a:r>
              <a:rPr lang="de-AT" sz="2400" b="1" dirty="0"/>
              <a:t>bei</a:t>
            </a:r>
            <a:r>
              <a:rPr lang="de-AT" sz="2400" dirty="0"/>
              <a:t>, und die </a:t>
            </a:r>
            <a:r>
              <a:rPr lang="de-AT" sz="2400" b="1" dirty="0"/>
              <a:t>Gewinne werden</a:t>
            </a:r>
            <a:r>
              <a:rPr lang="de-AT" sz="2400" dirty="0"/>
              <a:t> unter den Teammitgliedern </a:t>
            </a:r>
            <a:r>
              <a:rPr lang="de-AT" sz="2400" b="1" dirty="0"/>
              <a:t>aufgeteilt</a:t>
            </a:r>
            <a:r>
              <a:rPr lang="de-AT" sz="2400" dirty="0"/>
              <a:t>. </a:t>
            </a:r>
          </a:p>
          <a:p>
            <a:pPr>
              <a:spcBef>
                <a:spcPts val="1200"/>
              </a:spcBef>
            </a:pPr>
            <a:r>
              <a:rPr lang="de-AT" sz="2400" dirty="0"/>
              <a:t>Sie können ihre Spielergebnisse, wichtigen Siege und Erfolge auch in den </a:t>
            </a:r>
            <a:r>
              <a:rPr lang="de-AT" sz="2400" b="1" dirty="0"/>
              <a:t>sozialen Medien</a:t>
            </a:r>
            <a:r>
              <a:rPr lang="de-AT" sz="2400" dirty="0"/>
              <a:t> (WhatsApp, Telegram, Facebook/Messenger oder Instagram) teilen.</a:t>
            </a:r>
          </a:p>
          <a:p>
            <a:pPr>
              <a:spcBef>
                <a:spcPts val="1200"/>
              </a:spcBef>
            </a:pPr>
            <a:r>
              <a:rPr lang="de-AT" sz="2400" b="1" dirty="0"/>
              <a:t>Durch das gemeinsame Spielen und Teilen in sozialen Netzwerken wird das Gemeinschaftsgefühl gefördert.</a:t>
            </a:r>
          </a:p>
          <a:p>
            <a:pPr>
              <a:spcBef>
                <a:spcPts val="1200"/>
              </a:spcBef>
            </a:pPr>
            <a:endParaRPr lang="en-GB" sz="2400" dirty="0"/>
          </a:p>
          <a:p>
            <a:pPr>
              <a:spcBef>
                <a:spcPts val="1200"/>
              </a:spcBef>
            </a:pPr>
            <a:r>
              <a:rPr lang="de-AT" sz="2400" dirty="0"/>
              <a:t>So funktioniert‘s am Beispiel:</a:t>
            </a:r>
          </a:p>
          <a:p>
            <a:pPr>
              <a:spcBef>
                <a:spcPts val="1200"/>
              </a:spcBef>
            </a:pPr>
            <a:r>
              <a:rPr lang="de-AT" sz="2400" dirty="0"/>
              <a:t>Ein Team aus vier Spielern konnte seine Punkte kombinieren, um größere Belohnungen freizuschalten. </a:t>
            </a:r>
          </a:p>
        </p:txBody>
      </p:sp>
    </p:spTree>
    <p:extLst>
      <p:ext uri="{BB962C8B-B14F-4D97-AF65-F5344CB8AC3E}">
        <p14:creationId xmlns:p14="http://schemas.microsoft.com/office/powerpoint/2010/main" val="48374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247096-40F2-435A-62EF-71FE99F82642}"/>
              </a:ext>
            </a:extLst>
          </p:cNvPr>
          <p:cNvSpPr/>
          <p:nvPr/>
        </p:nvSpPr>
        <p:spPr>
          <a:xfrm>
            <a:off x="0" y="0"/>
            <a:ext cx="6858000" cy="998165"/>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itle 1">
            <a:extLst>
              <a:ext uri="{FF2B5EF4-FFF2-40B4-BE49-F238E27FC236}">
                <a16:creationId xmlns:a16="http://schemas.microsoft.com/office/drawing/2014/main" id="{6F301B1D-23EF-F404-4120-677E868974BE}"/>
              </a:ext>
            </a:extLst>
          </p:cNvPr>
          <p:cNvSpPr>
            <a:spLocks noGrp="1"/>
          </p:cNvSpPr>
          <p:nvPr>
            <p:ph type="title"/>
          </p:nvPr>
        </p:nvSpPr>
        <p:spPr>
          <a:xfrm>
            <a:off x="225084" y="75690"/>
            <a:ext cx="6400798" cy="922506"/>
          </a:xfrm>
        </p:spPr>
        <p:txBody>
          <a:bodyPr>
            <a:normAutofit/>
          </a:bodyPr>
          <a:lstStyle/>
          <a:p>
            <a:r>
              <a:rPr lang="cs-CZ" b="1" dirty="0" err="1"/>
              <a:t>Battle</a:t>
            </a:r>
            <a:r>
              <a:rPr lang="cs-CZ" b="1" dirty="0"/>
              <a:t> </a:t>
            </a:r>
            <a:r>
              <a:rPr lang="cs-CZ" b="1" dirty="0" err="1"/>
              <a:t>Royale</a:t>
            </a:r>
            <a:r>
              <a:rPr lang="cs-CZ" b="1" dirty="0"/>
              <a:t> </a:t>
            </a:r>
            <a:r>
              <a:rPr lang="cs-CZ" b="1" dirty="0" err="1"/>
              <a:t>for</a:t>
            </a:r>
            <a:r>
              <a:rPr lang="cs-CZ" b="1" dirty="0"/>
              <a:t> Jackpot </a:t>
            </a:r>
            <a:br>
              <a:rPr lang="cs-CZ" b="1" dirty="0"/>
            </a:br>
            <a:r>
              <a:rPr lang="de-AT" sz="2400" b="1" dirty="0"/>
              <a:t>Battle Royale um den Jackpot  </a:t>
            </a:r>
          </a:p>
        </p:txBody>
      </p:sp>
      <p:sp>
        <p:nvSpPr>
          <p:cNvPr id="3" name="Text Placeholder 2">
            <a:extLst>
              <a:ext uri="{FF2B5EF4-FFF2-40B4-BE49-F238E27FC236}">
                <a16:creationId xmlns:a16="http://schemas.microsoft.com/office/drawing/2014/main" id="{CC0D9BB9-7BDB-6DCC-7920-DA0C3A614FC6}"/>
              </a:ext>
            </a:extLst>
          </p:cNvPr>
          <p:cNvSpPr>
            <a:spLocks noGrp="1"/>
          </p:cNvSpPr>
          <p:nvPr>
            <p:ph type="body" sz="quarter" idx="10"/>
          </p:nvPr>
        </p:nvSpPr>
        <p:spPr>
          <a:xfrm>
            <a:off x="225083" y="1302966"/>
            <a:ext cx="6400799" cy="9255953"/>
          </a:xfrm>
        </p:spPr>
        <p:txBody>
          <a:bodyPr>
            <a:normAutofit fontScale="92500" lnSpcReduction="20000"/>
          </a:bodyPr>
          <a:lstStyle/>
          <a:p>
            <a:pPr>
              <a:spcBef>
                <a:spcPts val="1200"/>
              </a:spcBef>
            </a:pPr>
            <a:r>
              <a:rPr lang="de-AT" sz="2600" i="1" dirty="0"/>
              <a:t>Ich liebe </a:t>
            </a:r>
            <a:r>
              <a:rPr lang="de-AT" sz="2600" b="1" i="1" dirty="0"/>
              <a:t>kompetitive Spiele</a:t>
            </a:r>
            <a:r>
              <a:rPr lang="de-AT" sz="2600" i="1" dirty="0"/>
              <a:t>, mit dem Nervenkitzel der K.-o.-Runden und dem Streben nach bedeutenden Belohnungen. Ich schätze Anerkennung und 
</a:t>
            </a:r>
            <a:br>
              <a:rPr lang="de-AT" sz="2600" i="1" dirty="0"/>
            </a:br>
            <a:r>
              <a:rPr lang="de-AT" sz="2600" i="1" dirty="0"/>
              <a:t>Belohnungen im Spiel für meine Leistung.</a:t>
            </a:r>
          </a:p>
          <a:p>
            <a:pPr>
              <a:spcBef>
                <a:spcPts val="1200"/>
              </a:spcBef>
            </a:pPr>
            <a:endParaRPr lang="en-GB" sz="2600" dirty="0"/>
          </a:p>
          <a:p>
            <a:pPr>
              <a:spcBef>
                <a:spcPts val="1200"/>
              </a:spcBef>
            </a:pPr>
            <a:r>
              <a:rPr lang="de-AT" sz="2600" dirty="0"/>
              <a:t>Bei einem Battle Royale handelt es sich um ein kostenpflichtiges Glücksspiel, bei dem die Spieler in einer Reihe von Runden gegeneinander antreten und sich nach und nach gegenseitig eliminieren, bis nur noch ein Spieler übrig bleibt. Der letzte noch im Spiel befindliche Spieler </a:t>
            </a:r>
            <a:r>
              <a:rPr lang="de-AT" sz="2600" b="1" dirty="0"/>
              <a:t>gewinnt den Jackpot</a:t>
            </a:r>
            <a:r>
              <a:rPr lang="de-AT" sz="2600" dirty="0"/>
              <a:t>.</a:t>
            </a:r>
            <a:r>
              <a:rPr lang="de-AT" sz="2600" b="1" dirty="0"/>
              <a:t> </a:t>
            </a:r>
          </a:p>
          <a:p>
            <a:pPr>
              <a:spcBef>
                <a:spcPts val="1200"/>
              </a:spcBef>
            </a:pPr>
            <a:r>
              <a:rPr lang="de-AT" sz="2600" dirty="0"/>
              <a:t>Weitere Spitzenspieler erhalten </a:t>
            </a:r>
            <a:r>
              <a:rPr lang="de-AT" sz="2600" b="1" dirty="0"/>
              <a:t>Belohnungen im Spiel</a:t>
            </a:r>
            <a:r>
              <a:rPr lang="de-AT" sz="2600" dirty="0"/>
              <a:t>, wie z. B. Erfolge und Boni. </a:t>
            </a:r>
          </a:p>
          <a:p>
            <a:pPr>
              <a:spcBef>
                <a:spcPts val="1200"/>
              </a:spcBef>
            </a:pPr>
            <a:r>
              <a:rPr lang="de-AT" sz="2600" dirty="0"/>
              <a:t>Alle Teilnehmer erhalten </a:t>
            </a:r>
            <a:r>
              <a:rPr lang="de-AT" sz="2600" b="1" dirty="0"/>
              <a:t>Treueprämien</a:t>
            </a:r>
            <a:r>
              <a:rPr lang="de-AT" sz="2600" dirty="0"/>
              <a:t>, die sie gegen Vorteile (Freispiele, Einzahlungsboni) oder für die Teilnahme an Lotterieveranstaltungen einlösen können.</a:t>
            </a:r>
          </a:p>
          <a:p>
            <a:pPr>
              <a:spcBef>
                <a:spcPts val="1200"/>
              </a:spcBef>
            </a:pPr>
            <a:r>
              <a:rPr lang="de-AT" sz="2600" b="1" dirty="0"/>
              <a:t>Die Kombination aus Spannung und greifbaren Belohnungen bietet sowohl unmittelbare Freude als auch langfristige Vorteile. </a:t>
            </a:r>
          </a:p>
          <a:p>
            <a:pPr>
              <a:spcBef>
                <a:spcPts val="1200"/>
              </a:spcBef>
            </a:pPr>
            <a:endParaRPr lang="en-GB" sz="2600" dirty="0"/>
          </a:p>
          <a:p>
            <a:pPr>
              <a:spcBef>
                <a:spcPts val="1200"/>
              </a:spcBef>
            </a:pPr>
            <a:r>
              <a:rPr lang="de-AT" sz="2600" dirty="0"/>
              <a:t>So funktioniert‘s am Beispiel:</a:t>
            </a:r>
          </a:p>
          <a:p>
            <a:pPr>
              <a:spcBef>
                <a:spcPts val="1200"/>
              </a:spcBef>
            </a:pPr>
            <a:r>
              <a:rPr lang="de-AT" sz="2600" dirty="0"/>
              <a:t>Beim Spiel mit 100 Spielern erhält der Gewinner den Jackpot und die besten 10 Spieler erhalten Belohnungen im Spiel. Alle Spieler erhalten für ihre Teilnahme Treueprämien.</a:t>
            </a:r>
          </a:p>
          <a:p>
            <a:pPr>
              <a:spcBef>
                <a:spcPts val="1200"/>
              </a:spcBef>
            </a:pPr>
            <a:endParaRPr lang="en-GB" sz="2800" dirty="0"/>
          </a:p>
        </p:txBody>
      </p:sp>
    </p:spTree>
    <p:extLst>
      <p:ext uri="{BB962C8B-B14F-4D97-AF65-F5344CB8AC3E}">
        <p14:creationId xmlns:p14="http://schemas.microsoft.com/office/powerpoint/2010/main" val="3679052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80A0AF-8AAB-F153-5840-6739F9328BD5}"/>
              </a:ext>
            </a:extLst>
          </p:cNvPr>
          <p:cNvSpPr/>
          <p:nvPr/>
        </p:nvSpPr>
        <p:spPr>
          <a:xfrm>
            <a:off x="0" y="0"/>
            <a:ext cx="6858000" cy="120936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itle 1">
            <a:extLst>
              <a:ext uri="{FF2B5EF4-FFF2-40B4-BE49-F238E27FC236}">
                <a16:creationId xmlns:a16="http://schemas.microsoft.com/office/drawing/2014/main" id="{6F301B1D-23EF-F404-4120-677E868974BE}"/>
              </a:ext>
            </a:extLst>
          </p:cNvPr>
          <p:cNvSpPr>
            <a:spLocks noGrp="1"/>
          </p:cNvSpPr>
          <p:nvPr>
            <p:ph type="title"/>
          </p:nvPr>
        </p:nvSpPr>
        <p:spPr>
          <a:xfrm>
            <a:off x="225084" y="216370"/>
            <a:ext cx="6400798" cy="922506"/>
          </a:xfrm>
        </p:spPr>
        <p:txBody>
          <a:bodyPr>
            <a:noAutofit/>
          </a:bodyPr>
          <a:lstStyle/>
          <a:p>
            <a:r>
              <a:rPr lang="en-GB" b="1" dirty="0"/>
              <a:t>Multiplayer Game </a:t>
            </a:r>
            <a:br>
              <a:rPr lang="en-GB" b="1" dirty="0"/>
            </a:br>
            <a:r>
              <a:rPr lang="en-GB" b="1" dirty="0"/>
              <a:t>with Shared Winnings</a:t>
            </a:r>
            <a:br>
              <a:rPr lang="cs-CZ" b="1" dirty="0"/>
            </a:br>
            <a:r>
              <a:rPr lang="de-AT" sz="2200" b="1"/>
              <a:t>Mehrspieler-Spiel mit </a:t>
            </a:r>
            <a:r>
              <a:rPr lang="de-AT" sz="2200" b="1" dirty="0"/>
              <a:t>geteiltem Gewinn</a:t>
            </a:r>
          </a:p>
        </p:txBody>
      </p:sp>
      <p:sp>
        <p:nvSpPr>
          <p:cNvPr id="3" name="Text Placeholder 2">
            <a:extLst>
              <a:ext uri="{FF2B5EF4-FFF2-40B4-BE49-F238E27FC236}">
                <a16:creationId xmlns:a16="http://schemas.microsoft.com/office/drawing/2014/main" id="{CC0D9BB9-7BDB-6DCC-7920-DA0C3A614FC6}"/>
              </a:ext>
            </a:extLst>
          </p:cNvPr>
          <p:cNvSpPr>
            <a:spLocks noGrp="1"/>
          </p:cNvSpPr>
          <p:nvPr>
            <p:ph type="body" sz="quarter" idx="10"/>
          </p:nvPr>
        </p:nvSpPr>
        <p:spPr>
          <a:xfrm>
            <a:off x="225083" y="1506297"/>
            <a:ext cx="6400799" cy="8973964"/>
          </a:xfrm>
        </p:spPr>
        <p:txBody>
          <a:bodyPr>
            <a:normAutofit fontScale="92500" lnSpcReduction="10000"/>
          </a:bodyPr>
          <a:lstStyle/>
          <a:p>
            <a:pPr>
              <a:spcBef>
                <a:spcPts val="1200"/>
              </a:spcBef>
            </a:pPr>
            <a:r>
              <a:rPr lang="de-AT" sz="2800" i="1" dirty="0"/>
              <a:t>Ich mag Spiele, die den </a:t>
            </a:r>
            <a:r>
              <a:rPr lang="de-AT" sz="2800" b="1" i="1" dirty="0"/>
              <a:t>Zusammenhalt</a:t>
            </a:r>
            <a:r>
              <a:rPr lang="de-AT" sz="2800" i="1" dirty="0"/>
              <a:t> und die </a:t>
            </a:r>
            <a:r>
              <a:rPr lang="de-AT" sz="2800" b="1" i="1" dirty="0"/>
              <a:t>gegenseitige Unterstützung</a:t>
            </a:r>
            <a:r>
              <a:rPr lang="de-AT" sz="2800" i="1" dirty="0"/>
              <a:t> fördern. Ich teile meinen Erfolg gerne mit meinen Freunden und profitiere von den gemeinsamen Gewinnen.</a:t>
            </a:r>
          </a:p>
          <a:p>
            <a:pPr>
              <a:spcBef>
                <a:spcPts val="1200"/>
              </a:spcBef>
            </a:pPr>
            <a:endParaRPr lang="en-GB" sz="2800" dirty="0"/>
          </a:p>
          <a:p>
            <a:pPr>
              <a:spcBef>
                <a:spcPts val="1200"/>
              </a:spcBef>
            </a:pPr>
            <a:r>
              <a:rPr lang="de-AT" sz="2800" dirty="0"/>
              <a:t>Dies ist ein kostenpflichtiges </a:t>
            </a:r>
            <a:r>
              <a:rPr lang="de-AT" sz="2800" b="1" dirty="0"/>
              <a:t>Multiplayer-Glücksspiel</a:t>
            </a:r>
            <a:r>
              <a:rPr lang="de-AT" sz="2800" dirty="0"/>
              <a:t> für Freunde, die ihre Gewinne miteinander teilen können. </a:t>
            </a:r>
          </a:p>
          <a:p>
            <a:pPr>
              <a:spcBef>
                <a:spcPts val="1200"/>
              </a:spcBef>
            </a:pPr>
            <a:r>
              <a:rPr lang="de-AT" sz="2800" dirty="0"/>
              <a:t>Wenn ein Spieler des Teams gewinnt, behält der Gewinner 50 % des Gewinns, während die restlichen 50 % </a:t>
            </a:r>
            <a:r>
              <a:rPr lang="de-AT" sz="2800" b="1" dirty="0"/>
              <a:t>proportional</a:t>
            </a:r>
            <a:r>
              <a:rPr lang="de-AT" sz="2800" dirty="0"/>
              <a:t> auf die anderen Teammitglieder </a:t>
            </a:r>
            <a:r>
              <a:rPr lang="de-AT" sz="2800" b="1" dirty="0"/>
              <a:t>verteilt</a:t>
            </a:r>
            <a:r>
              <a:rPr lang="de-AT" sz="2800" dirty="0"/>
              <a:t> werden. </a:t>
            </a:r>
          </a:p>
          <a:p>
            <a:pPr>
              <a:spcBef>
                <a:spcPts val="1200"/>
              </a:spcBef>
            </a:pPr>
            <a:r>
              <a:rPr lang="de-AT" sz="2800" dirty="0"/>
              <a:t>Zudem gibt es eine kostenlose Spieloption mit Punkten und Ranglisten, bei der echte Preise und Boni vergeben werden.</a:t>
            </a:r>
          </a:p>
          <a:p>
            <a:pPr>
              <a:spcBef>
                <a:spcPts val="1200"/>
              </a:spcBef>
            </a:pPr>
            <a:r>
              <a:rPr lang="de-AT" sz="2800" b="1" dirty="0"/>
              <a:t>Jeder profitiert davon, was das Spiel unterhaltsamer und lohnenswerter macht.</a:t>
            </a:r>
          </a:p>
          <a:p>
            <a:pPr>
              <a:spcBef>
                <a:spcPts val="1200"/>
              </a:spcBef>
            </a:pPr>
            <a:endParaRPr lang="en-GB" sz="2800" dirty="0"/>
          </a:p>
          <a:p>
            <a:pPr>
              <a:spcBef>
                <a:spcPts val="1200"/>
              </a:spcBef>
            </a:pPr>
            <a:r>
              <a:rPr lang="de-AT" sz="2800" dirty="0"/>
              <a:t>So funktioniert‘s am Beispiel:</a:t>
            </a:r>
          </a:p>
          <a:p>
            <a:pPr>
              <a:spcBef>
                <a:spcPts val="1200"/>
              </a:spcBef>
            </a:pPr>
            <a:r>
              <a:rPr lang="de-AT" sz="2800" dirty="0"/>
              <a:t>Bei drei Spielern und einem Gewinner erhält der Gewinner 50 % des Gewinns, die anderen beiden Spieler erhalten jeweils 25 % des Gewinns.</a:t>
            </a:r>
          </a:p>
        </p:txBody>
      </p:sp>
    </p:spTree>
    <p:extLst>
      <p:ext uri="{BB962C8B-B14F-4D97-AF65-F5344CB8AC3E}">
        <p14:creationId xmlns:p14="http://schemas.microsoft.com/office/powerpoint/2010/main" val="29322252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4"/>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41da7a-79c1-417c-b408-16c0bfe99fca}" enabled="1" method="Standard" siteId="{1e355c04-e0a4-42ed-8e2d-7351591f0ef1}" removed="0"/>
</clbl:labelList>
</file>

<file path=docProps/app.xml><?xml version="1.0" encoding="utf-8"?>
<Properties xmlns="http://schemas.openxmlformats.org/officeDocument/2006/extended-properties" xmlns:vt="http://schemas.openxmlformats.org/officeDocument/2006/docPropsVTypes">
  <Template>Office Theme</Template>
  <TotalTime>757</TotalTime>
  <Words>632</Words>
  <Application>Microsoft Office PowerPoint</Application>
  <PresentationFormat>Custom</PresentationFormat>
  <Paragraphs>40</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Exclusive Game Skins Exklusive Spiel-Skins</vt:lpstr>
      <vt:lpstr>Team Play with Social Sharing Teamplay mit Social Sharing</vt:lpstr>
      <vt:lpstr>Battle Royale for Jackpot  Battle Royale um den Jackpot  </vt:lpstr>
      <vt:lpstr>Multiplayer Game  with Shared Winnings Mehrspieler-Spiel mit geteiltem Gewinn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40</cp:revision>
  <dcterms:created xsi:type="dcterms:W3CDTF">2022-11-09T07:36:23Z</dcterms:created>
  <dcterms:modified xsi:type="dcterms:W3CDTF">2025-12-15T12:47:03Z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