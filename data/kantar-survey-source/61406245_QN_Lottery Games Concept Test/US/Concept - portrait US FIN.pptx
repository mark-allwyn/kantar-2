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</p:sldIdLst>
  <p:sldSz cx="6858000" cy="1079976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A1C214-F779-42C4-A32D-88955BDB29BB}" v="10" dt="2025-12-16T08:25:03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33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custSel modSld">
      <pc:chgData name="Peter Javornický" userId="3b98f8e0-d449-4f6e-b57d-5f9bfb7a5c2c" providerId="ADAL" clId="{88A10E76-C547-4713-B92A-3B48010D5CF0}" dt="2025-12-16T08:25:06.172" v="21" actId="113"/>
      <pc:docMkLst>
        <pc:docMk/>
      </pc:docMkLst>
      <pc:sldChg chg="modSp mod">
        <pc:chgData name="Peter Javornický" userId="3b98f8e0-d449-4f6e-b57d-5f9bfb7a5c2c" providerId="ADAL" clId="{88A10E76-C547-4713-B92A-3B48010D5CF0}" dt="2025-12-16T08:16:10.066" v="1"/>
        <pc:sldMkLst>
          <pc:docMk/>
          <pc:sldMk cId="3669162915" sldId="272"/>
        </pc:sldMkLst>
        <pc:spChg chg="mod">
          <ac:chgData name="Peter Javornický" userId="3b98f8e0-d449-4f6e-b57d-5f9bfb7a5c2c" providerId="ADAL" clId="{88A10E76-C547-4713-B92A-3B48010D5CF0}" dt="2025-12-16T08:16:10.066" v="1"/>
          <ac:spMkLst>
            <pc:docMk/>
            <pc:sldMk cId="3669162915" sldId="272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6:19.763" v="3"/>
        <pc:sldMkLst>
          <pc:docMk/>
          <pc:sldMk cId="3385882476" sldId="273"/>
        </pc:sldMkLst>
        <pc:spChg chg="mod">
          <ac:chgData name="Peter Javornický" userId="3b98f8e0-d449-4f6e-b57d-5f9bfb7a5c2c" providerId="ADAL" clId="{88A10E76-C547-4713-B92A-3B48010D5CF0}" dt="2025-12-16T08:16:19.763" v="3"/>
          <ac:spMkLst>
            <pc:docMk/>
            <pc:sldMk cId="3385882476" sldId="273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7:52.725" v="5"/>
        <pc:sldMkLst>
          <pc:docMk/>
          <pc:sldMk cId="1036419051" sldId="274"/>
        </pc:sldMkLst>
        <pc:spChg chg="mod">
          <ac:chgData name="Peter Javornický" userId="3b98f8e0-d449-4f6e-b57d-5f9bfb7a5c2c" providerId="ADAL" clId="{88A10E76-C547-4713-B92A-3B48010D5CF0}" dt="2025-12-16T08:17:52.725" v="5"/>
          <ac:spMkLst>
            <pc:docMk/>
            <pc:sldMk cId="1036419051" sldId="274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8:04.966" v="7"/>
        <pc:sldMkLst>
          <pc:docMk/>
          <pc:sldMk cId="2300396861" sldId="275"/>
        </pc:sldMkLst>
        <pc:spChg chg="mod">
          <ac:chgData name="Peter Javornický" userId="3b98f8e0-d449-4f6e-b57d-5f9bfb7a5c2c" providerId="ADAL" clId="{88A10E76-C547-4713-B92A-3B48010D5CF0}" dt="2025-12-16T08:18:04.966" v="7"/>
          <ac:spMkLst>
            <pc:docMk/>
            <pc:sldMk cId="2300396861" sldId="275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9:20.224" v="9"/>
        <pc:sldMkLst>
          <pc:docMk/>
          <pc:sldMk cId="2574641618" sldId="276"/>
        </pc:sldMkLst>
        <pc:spChg chg="mod">
          <ac:chgData name="Peter Javornický" userId="3b98f8e0-d449-4f6e-b57d-5f9bfb7a5c2c" providerId="ADAL" clId="{88A10E76-C547-4713-B92A-3B48010D5CF0}" dt="2025-12-16T08:19:20.224" v="9"/>
          <ac:spMkLst>
            <pc:docMk/>
            <pc:sldMk cId="2574641618" sldId="276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19:32.917" v="11"/>
        <pc:sldMkLst>
          <pc:docMk/>
          <pc:sldMk cId="3522380568" sldId="277"/>
        </pc:sldMkLst>
        <pc:spChg chg="mod">
          <ac:chgData name="Peter Javornický" userId="3b98f8e0-d449-4f6e-b57d-5f9bfb7a5c2c" providerId="ADAL" clId="{88A10E76-C547-4713-B92A-3B48010D5CF0}" dt="2025-12-16T08:19:32.917" v="11"/>
          <ac:spMkLst>
            <pc:docMk/>
            <pc:sldMk cId="3522380568" sldId="277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0:45.383" v="13"/>
        <pc:sldMkLst>
          <pc:docMk/>
          <pc:sldMk cId="2895819414" sldId="278"/>
        </pc:sldMkLst>
        <pc:spChg chg="mod">
          <ac:chgData name="Peter Javornický" userId="3b98f8e0-d449-4f6e-b57d-5f9bfb7a5c2c" providerId="ADAL" clId="{88A10E76-C547-4713-B92A-3B48010D5CF0}" dt="2025-12-16T08:20:45.383" v="13"/>
          <ac:spMkLst>
            <pc:docMk/>
            <pc:sldMk cId="2895819414" sldId="278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1:02.485" v="15"/>
        <pc:sldMkLst>
          <pc:docMk/>
          <pc:sldMk cId="2270449164" sldId="279"/>
        </pc:sldMkLst>
        <pc:spChg chg="mod">
          <ac:chgData name="Peter Javornický" userId="3b98f8e0-d449-4f6e-b57d-5f9bfb7a5c2c" providerId="ADAL" clId="{88A10E76-C547-4713-B92A-3B48010D5CF0}" dt="2025-12-16T08:21:02.485" v="15"/>
          <ac:spMkLst>
            <pc:docMk/>
            <pc:sldMk cId="2270449164" sldId="279"/>
            <ac:spMk id="2" creationId="{44502129-00D9-C538-5C9D-8BE935563DC8}"/>
          </ac:spMkLst>
        </pc:spChg>
      </pc:sldChg>
      <pc:sldChg chg="modSp mod">
        <pc:chgData name="Peter Javornický" userId="3b98f8e0-d449-4f6e-b57d-5f9bfb7a5c2c" providerId="ADAL" clId="{88A10E76-C547-4713-B92A-3B48010D5CF0}" dt="2025-12-16T08:22:17.371" v="18"/>
        <pc:sldMkLst>
          <pc:docMk/>
          <pc:sldMk cId="2577955923" sldId="280"/>
        </pc:sldMkLst>
        <pc:spChg chg="mod">
          <ac:chgData name="Peter Javornický" userId="3b98f8e0-d449-4f6e-b57d-5f9bfb7a5c2c" providerId="ADAL" clId="{88A10E76-C547-4713-B92A-3B48010D5CF0}" dt="2025-12-16T08:22:17.371" v="18"/>
          <ac:spMkLst>
            <pc:docMk/>
            <pc:sldMk cId="2577955923" sldId="280"/>
            <ac:spMk id="8" creationId="{7F43BABE-A829-4C74-B898-43894DFB6273}"/>
          </ac:spMkLst>
        </pc:spChg>
      </pc:sldChg>
      <pc:sldChg chg="modSp mod">
        <pc:chgData name="Peter Javornický" userId="3b98f8e0-d449-4f6e-b57d-5f9bfb7a5c2c" providerId="ADAL" clId="{88A10E76-C547-4713-B92A-3B48010D5CF0}" dt="2025-12-16T08:25:06.172" v="21" actId="113"/>
        <pc:sldMkLst>
          <pc:docMk/>
          <pc:sldMk cId="177573063" sldId="282"/>
        </pc:sldMkLst>
        <pc:spChg chg="mod">
          <ac:chgData name="Peter Javornický" userId="3b98f8e0-d449-4f6e-b57d-5f9bfb7a5c2c" providerId="ADAL" clId="{88A10E76-C547-4713-B92A-3B48010D5CF0}" dt="2025-12-16T08:25:06.172" v="21" actId="113"/>
          <ac:spMkLst>
            <pc:docMk/>
            <pc:sldMk cId="177573063" sldId="282"/>
            <ac:spMk id="2" creationId="{44502129-00D9-C538-5C9D-8BE935563D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8576-1518-49B0-AA00-14C05CA9820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49513" y="1143000"/>
            <a:ext cx="195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E046B-D405-48ED-9E04-8643E3702D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9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1 - Powerball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062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2 - MegaMillions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91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3 – Omaze-inspired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1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4 – Progressive annuity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3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5 – Daily Millionaire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612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6 – New Years Eve 13 millionaires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09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7 – Millionaires Flood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31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8 – Real estate prizes added to</a:t>
            </a:r>
            <a:r>
              <a:rPr lang="en-US" sz="1200" dirty="0"/>
              <a:t> existing lottery</a:t>
            </a:r>
            <a:endParaRPr lang="cs-CZ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078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9 – Experiential prizes added </a:t>
            </a:r>
            <a:r>
              <a:rPr lang="en-US" sz="1200" dirty="0"/>
              <a:t>to existing lottery</a:t>
            </a:r>
            <a:endParaRPr lang="cs-CZ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26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75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dirty="0"/>
              <a:t>Concept 11 – </a:t>
            </a:r>
            <a:r>
              <a:rPr lang="en-US" sz="1200" dirty="0" err="1"/>
              <a:t>EuroDreams</a:t>
            </a:r>
            <a:r>
              <a:rPr lang="en-US" sz="1200" dirty="0"/>
              <a:t> </a:t>
            </a:r>
            <a:r>
              <a:rPr lang="cs-CZ" sz="1200" dirty="0"/>
              <a:t>(benchmark)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2E046B-D405-48ED-9E04-8643E3702D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97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49D68D-5628-55AF-DB56-709A2BE7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9" y="6449821"/>
            <a:ext cx="6138000" cy="42265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9A73D5-9117-13EF-169C-CE36D7A00649}"/>
              </a:ext>
            </a:extLst>
          </p:cNvPr>
          <p:cNvSpPr/>
          <p:nvPr/>
        </p:nvSpPr>
        <p:spPr>
          <a:xfrm>
            <a:off x="0" y="-11915"/>
            <a:ext cx="6858000" cy="8257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52984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Powerball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4589" y="942643"/>
            <a:ext cx="6400799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This lottery game will be offered internationally. 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Thanks to the shared pool between many participating countries, this will be the </a:t>
            </a: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world´s biggest lottery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. Its jackpot could reach over</a:t>
            </a:r>
            <a:r>
              <a:rPr lang="cs-CZ" sz="20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half a billion USD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. The average jackpot will be about a quarter of a billion USD, with the minimum level of the jackpot guaranteed to be </a:t>
            </a: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20 million USD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2000" dirty="0"/>
              <a:t>To enter, you select 5 numbers out of 69 and 1 number out of 26 for each line played, or simply use the random number generator option.</a:t>
            </a:r>
            <a:endParaRPr 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Price per participation is</a:t>
            </a: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 4 USD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. For this price, you get </a:t>
            </a:r>
            <a:br>
              <a:rPr lang="cs-CZ" sz="20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b="1" dirty="0">
                <a:ea typeface="Calibri" panose="020F0502020204030204" pitchFamily="34" charset="0"/>
                <a:cs typeface="Times New Roman" panose="02020603050405020304" pitchFamily="18" charset="0"/>
              </a:rPr>
              <a:t>2 lines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, in other words, two chances to match the </a:t>
            </a:r>
            <a:b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5+1 numbers.</a:t>
            </a:r>
          </a:p>
          <a:p>
            <a:pPr marL="0" indent="0" algn="just">
              <a:buNone/>
            </a:pPr>
            <a:r>
              <a:rPr lang="en-US" sz="2000" dirty="0"/>
              <a:t>There are three draws per week, every Monday, Wednesday and Saturday. The top prize will be won (theoretically)              4–5 times a year.</a:t>
            </a:r>
          </a:p>
          <a:p>
            <a:pPr marL="0" indent="0" algn="just">
              <a:buNone/>
            </a:pPr>
            <a:r>
              <a:rPr lang="en-US" sz="2000" dirty="0"/>
              <a:t>This game would be offered in all points of sale where you can buy lottery tickets or scratch cards or online on respective websites and apps.</a:t>
            </a:r>
            <a:endParaRPr lang="cs-CZ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6916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256BC2-BD0E-2711-80A9-26CB8275F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46" y="6431028"/>
            <a:ext cx="6344508" cy="436873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58C936-655F-8FEA-925C-E8CD07F489E0}"/>
              </a:ext>
            </a:extLst>
          </p:cNvPr>
          <p:cNvSpPr/>
          <p:nvPr/>
        </p:nvSpPr>
        <p:spPr>
          <a:xfrm>
            <a:off x="0" y="-11915"/>
            <a:ext cx="6858000" cy="68857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126136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MegaMillions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8337" y="750139"/>
            <a:ext cx="6577263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This lottery game would be offered internationally.</a:t>
            </a: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 Its jackpot could reach as high as </a:t>
            </a: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1 billion USD, </a:t>
            </a: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with the average jackpot about a quarter of a billion USD. The minimum jackpot level is guaranteed at 50 million USD. </a:t>
            </a: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The jackpot is paid in annual installments for </a:t>
            </a:r>
            <a:br>
              <a:rPr lang="cs-CZ" sz="1800" b="1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30 years</a:t>
            </a: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. The annuity would increase over time to protect players from inflation.     The payouts can be inherited as well.</a:t>
            </a:r>
          </a:p>
          <a:p>
            <a:pPr marL="0" indent="0" algn="just">
              <a:buNone/>
            </a:pPr>
            <a:r>
              <a:rPr lang="en-US" sz="1800" dirty="0"/>
              <a:t>To enter, you select 5 numbers out of 70 and 1 number out of 25 for each line played, or simply use the random number generator option.</a:t>
            </a:r>
            <a:endParaRPr lang="en-US" sz="1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/>
              <a:t>Together with the main game, there is also an add-on game that multiplies all winnings (except for the jackpot) by 2, 3, 4 or 5. The Multiplier number is drawn before each draw. Therefore, players who win 1 million in the second prize tier can multiply their winnings to 2, 3, 4 or 5 million USD.</a:t>
            </a:r>
          </a:p>
          <a:p>
            <a:pPr marL="0" indent="0" algn="just">
              <a:buNone/>
            </a:pP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The price per participation is </a:t>
            </a: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5 USD</a:t>
            </a: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. For this price, you get </a:t>
            </a: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1 line </a:t>
            </a: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of the main game </a:t>
            </a:r>
            <a:r>
              <a:rPr lang="en-US" sz="1800" b="1" dirty="0">
                <a:ea typeface="Calibri" panose="020F0502020204030204" pitchFamily="34" charset="0"/>
                <a:cs typeface="Times New Roman" panose="02020603050405020304" pitchFamily="18" charset="0"/>
              </a:rPr>
              <a:t>and also the add-on multiplier</a:t>
            </a:r>
            <a:r>
              <a:rPr lang="en-US" sz="1800" dirty="0"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r>
              <a:rPr lang="en-US" sz="1800" dirty="0"/>
              <a:t>There would be two draws per week. The top prize is won (theoretically) 4–5 times a year.</a:t>
            </a:r>
          </a:p>
          <a:p>
            <a:pPr marL="0" indent="0" algn="just">
              <a:buNone/>
            </a:pPr>
            <a:r>
              <a:rPr lang="en-US" sz="1800" dirty="0"/>
              <a:t>This game would be offered in all points of sale where you can buy lottery tickets or scratch cards or online on respective websites and apps.</a:t>
            </a: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85882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79F843-37A1-F18B-6ADD-F8975F7F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01" y="7494126"/>
            <a:ext cx="6227115" cy="30903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4F8AB6-BCA6-D993-34C7-24C466DB5557}"/>
              </a:ext>
            </a:extLst>
          </p:cNvPr>
          <p:cNvSpPr/>
          <p:nvPr/>
        </p:nvSpPr>
        <p:spPr>
          <a:xfrm>
            <a:off x="0" y="-11915"/>
            <a:ext cx="6858000" cy="6885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107848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Omaze-inspired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632" y="750139"/>
            <a:ext cx="6368715" cy="9255953"/>
          </a:xfrm>
        </p:spPr>
        <p:txBody>
          <a:bodyPr>
            <a:normAutofit/>
          </a:bodyPr>
          <a:lstStyle/>
          <a:p>
            <a:pPr marL="0" marR="0" lvl="0" indent="0" algn="just" defTabSz="6858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This lottery would be a monthly raffle played internationally. Thanks to the shared pool, it would offer </a:t>
            </a:r>
            <a:r>
              <a:rPr kumimoji="0" lang="en-US" sz="1800" b="1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exclusive dream houses every month</a:t>
            </a:r>
            <a:r>
              <a:rPr kumimoji="0" lang="en-US" sz="1800" b="0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. It could be a villa in Malibu in the January draw, then a luxurious condo in </a:t>
            </a:r>
            <a:r>
              <a:rPr lang="en-US" sz="1800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Colorado in February</a:t>
            </a:r>
            <a:r>
              <a:rPr kumimoji="0" lang="en-US" sz="1800" b="0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, a penthouse </a:t>
            </a:r>
            <a:r>
              <a:rPr lang="en-US" sz="1800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apartment in New York</a:t>
            </a:r>
            <a:r>
              <a:rPr kumimoji="0" lang="en-US" sz="1800" b="0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, or a bungalow on a Caribbean island.</a:t>
            </a:r>
          </a:p>
          <a:p>
            <a:pPr marL="0" marR="0" lvl="0" indent="0" algn="just" defTabSz="6858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800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There will be also hundreds of cash prizes of </a:t>
            </a:r>
            <a:r>
              <a:rPr lang="en-US" sz="1800" b="1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25 000 USD</a:t>
            </a:r>
            <a:r>
              <a:rPr lang="en-US" sz="1800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kumimoji="0" lang="en-US" sz="1800" b="0" i="0" strike="noStrike" kern="100" cap="none" spc="0" normalizeH="0" baseline="0" noProof="0" dirty="0">
              <a:ln>
                <a:noFill/>
              </a:ln>
              <a:solidFill>
                <a:srgbClr val="022C33"/>
              </a:solidFill>
              <a:effectLst/>
              <a:uLnTx/>
              <a:uFillTx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kumimoji="0" lang="en-US" sz="1800" b="0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There is no need to choose </a:t>
            </a:r>
            <a:r>
              <a:rPr lang="en-US" sz="1800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any numbers to enter the game. </a:t>
            </a:r>
            <a:r>
              <a:rPr kumimoji="0" lang="en-US" sz="1800" b="0" i="0" strike="noStrike" kern="100" cap="none" spc="0" normalizeH="0" baseline="0" noProof="0" dirty="0">
                <a:ln>
                  <a:noFill/>
                </a:ln>
                <a:solidFill>
                  <a:srgbClr val="022C33"/>
                </a:solidFill>
                <a:effectLst/>
                <a:uLnTx/>
                <a:uFillTx/>
                <a:ea typeface="Aptos" panose="020B0004020202020204" pitchFamily="34" charset="0"/>
                <a:cs typeface="Times New Roman" panose="02020603050405020304" pitchFamily="18" charset="0"/>
              </a:rPr>
              <a:t>Your purchase generates a unique code which will be put into a database. This means that the more entries you buy, the more times your code will appear in the database. </a:t>
            </a:r>
            <a:r>
              <a:rPr lang="en-US" sz="1800" kern="100" dirty="0">
                <a:solidFill>
                  <a:srgbClr val="022C33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en-US" sz="1800" dirty="0">
                <a:solidFill>
                  <a:srgbClr val="000000"/>
                </a:solidFill>
              </a:rPr>
              <a:t>he winner will then be drawn at the end of the month using a randomized draw engine.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en-US" sz="1800" dirty="0">
                <a:solidFill>
                  <a:srgbClr val="000000"/>
                </a:solidFill>
              </a:rPr>
              <a:t>The only purchase option is </a:t>
            </a:r>
            <a:r>
              <a:rPr lang="en-US" sz="1800" b="1" dirty="0">
                <a:solidFill>
                  <a:srgbClr val="000000"/>
                </a:solidFill>
              </a:rPr>
              <a:t>online subscription</a:t>
            </a:r>
            <a:r>
              <a:rPr lang="en-US" sz="1800" dirty="0">
                <a:solidFill>
                  <a:srgbClr val="000000"/>
                </a:solidFill>
              </a:rPr>
              <a:t>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en-US" sz="1800" dirty="0">
                <a:solidFill>
                  <a:srgbClr val="000000"/>
                </a:solidFill>
              </a:rPr>
              <a:t>You can choose how many times you want your code to be put into the database. For </a:t>
            </a:r>
            <a:r>
              <a:rPr lang="en-US" sz="1800" b="1" dirty="0">
                <a:solidFill>
                  <a:srgbClr val="000000"/>
                </a:solidFill>
              </a:rPr>
              <a:t>10 USD a month</a:t>
            </a:r>
            <a:r>
              <a:rPr lang="en-US" sz="1800" dirty="0">
                <a:solidFill>
                  <a:srgbClr val="000000"/>
                </a:solidFill>
              </a:rPr>
              <a:t>, you get 30 entries in the monthly raffle. For </a:t>
            </a:r>
            <a:r>
              <a:rPr lang="en-US" sz="1800" b="1" dirty="0">
                <a:solidFill>
                  <a:srgbClr val="000000"/>
                </a:solidFill>
              </a:rPr>
              <a:t>30 USD a month</a:t>
            </a:r>
            <a:r>
              <a:rPr lang="en-US" sz="1800" dirty="0">
                <a:solidFill>
                  <a:srgbClr val="000000"/>
                </a:solidFill>
              </a:rPr>
              <a:t>, you get 100.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en-US" sz="1800" dirty="0">
                <a:solidFill>
                  <a:srgbClr val="000000"/>
                </a:solidFill>
              </a:rPr>
              <a:t>For those players who participate in all 12 draws of the year, there will be a free Grand Draw on New Year‘s Day for a multi-million dollar prize on top of the monthly prizes.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>
                <a:srgbClr val="27E2CC"/>
              </a:buClr>
              <a:buNone/>
              <a:defRPr/>
            </a:pPr>
            <a:r>
              <a:rPr lang="en-US" sz="1800" dirty="0">
                <a:solidFill>
                  <a:srgbClr val="000000"/>
                </a:solidFill>
              </a:rPr>
              <a:t>The subscription can be canceled at anytime during the year.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3641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01A31F-109C-0789-BEDD-1E08B844A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12" y="6094455"/>
            <a:ext cx="6217014" cy="44506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2E3142-2C2C-0444-AD63-8E8F13E387B3}"/>
              </a:ext>
            </a:extLst>
          </p:cNvPr>
          <p:cNvSpPr/>
          <p:nvPr/>
        </p:nvSpPr>
        <p:spPr>
          <a:xfrm>
            <a:off x="0" y="-11915"/>
            <a:ext cx="6858000" cy="64285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133034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Progressive</a:t>
            </a:r>
            <a:r>
              <a:rPr lang="cs-CZ" sz="2400" dirty="0"/>
              <a:t> </a:t>
            </a:r>
            <a:r>
              <a:rPr lang="cs-CZ" sz="2400" dirty="0" err="1"/>
              <a:t>annuity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6674" y="718055"/>
            <a:ext cx="6416842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1900" dirty="0"/>
              <a:t>This lottery game would be offered internationally. Thanks to the shared pool among participating countries, the game can offer a substantial top prize in the form of an annual payment, starting at a minimum </a:t>
            </a:r>
            <a:r>
              <a:rPr lang="en-GB" sz="1900" b="1" dirty="0"/>
              <a:t>of 200 000 USD per year for 7 years</a:t>
            </a:r>
            <a:r>
              <a:rPr lang="en-GB" sz="1900" dirty="0"/>
              <a:t>, and potentially reaching as high </a:t>
            </a:r>
            <a:r>
              <a:rPr lang="en-GB" sz="1900" b="1" dirty="0"/>
              <a:t>as 5 million USD annually for          7 years</a:t>
            </a:r>
            <a:r>
              <a:rPr lang="en-GB" sz="1900" dirty="0"/>
              <a:t>.</a:t>
            </a:r>
          </a:p>
          <a:p>
            <a:pPr marL="0" indent="0" algn="just">
              <a:buNone/>
            </a:pPr>
            <a:r>
              <a:rPr lang="en-GB" sz="1900" dirty="0"/>
              <a:t>If the top prize is not won in the initial round, it is rolled over. The top prize then increases from 200 000 USD to 270 000 USD annually for 7 years and continues to grow after each draw until won.</a:t>
            </a:r>
          </a:p>
          <a:p>
            <a:pPr marL="0" indent="0" algn="just">
              <a:buNone/>
            </a:pPr>
            <a:r>
              <a:rPr lang="en-GB" sz="1900" dirty="0"/>
              <a:t>To enter, you select 7 numbers out of 45 or opt to for random number generation.</a:t>
            </a:r>
          </a:p>
          <a:p>
            <a:pPr marL="0" indent="0" algn="just">
              <a:buNone/>
            </a:pPr>
            <a:r>
              <a:rPr lang="en-GB" sz="1900" dirty="0">
                <a:ea typeface="Calibri" panose="020F0502020204030204" pitchFamily="34" charset="0"/>
                <a:cs typeface="Times New Roman" panose="02020603050405020304" pitchFamily="18" charset="0"/>
              </a:rPr>
              <a:t>Price per 1 entry is </a:t>
            </a:r>
            <a:r>
              <a:rPr lang="en-GB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1.50 USD</a:t>
            </a:r>
            <a:r>
              <a:rPr lang="en-GB" sz="19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GB" sz="1900" dirty="0"/>
              <a:t>Draws will take place twice a week. The top prize will be won (theoretically) once every 10 weeks. </a:t>
            </a:r>
          </a:p>
          <a:p>
            <a:pPr marL="0" indent="0" algn="just">
              <a:buNone/>
            </a:pPr>
            <a:r>
              <a:rPr lang="en-US" sz="1900" dirty="0"/>
              <a:t>This game would be offered in all points of sale where you can buy lottery tickets or scratch cards or online on respective websites and apps.</a:t>
            </a:r>
          </a:p>
          <a:p>
            <a:pPr marL="0" indent="0" algn="just">
              <a:buNone/>
            </a:pPr>
            <a:endParaRPr lang="cs-CZ" sz="1900" dirty="0"/>
          </a:p>
          <a:p>
            <a:pPr marL="0" indent="0" algn="just">
              <a:buNone/>
            </a:pPr>
            <a:endParaRPr lang="cs-CZ" sz="1900" dirty="0"/>
          </a:p>
          <a:p>
            <a:pPr algn="just"/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30039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D388C8-0D27-E5BA-45B4-D94EE254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82" y="6308950"/>
            <a:ext cx="6013707" cy="41111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0F8016-7BE6-8B52-D062-0E98A74852F1}"/>
              </a:ext>
            </a:extLst>
          </p:cNvPr>
          <p:cNvSpPr/>
          <p:nvPr/>
        </p:nvSpPr>
        <p:spPr>
          <a:xfrm>
            <a:off x="0" y="-11915"/>
            <a:ext cx="6858000" cy="844020"/>
          </a:xfrm>
          <a:prstGeom prst="rect">
            <a:avLst/>
          </a:prstGeom>
          <a:solidFill>
            <a:srgbClr val="F2A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4126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Daily</a:t>
            </a:r>
            <a:r>
              <a:rPr lang="cs-CZ" sz="2400" dirty="0"/>
              <a:t> </a:t>
            </a:r>
            <a:r>
              <a:rPr lang="cs-CZ" sz="2400" dirty="0" err="1"/>
              <a:t>Millionaire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26601"/>
            <a:ext cx="6069497" cy="925595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GB" sz="2200" dirty="0"/>
              <a:t>This lottery would be offered internationally and allow players to win a fixed top prize of </a:t>
            </a:r>
            <a:r>
              <a:rPr lang="en-GB" sz="2200" b="1" dirty="0"/>
              <a:t>1 million USD on a daily basis</a:t>
            </a:r>
            <a:r>
              <a:rPr lang="en-GB" sz="2200" dirty="0"/>
              <a:t>.</a:t>
            </a:r>
          </a:p>
          <a:p>
            <a:pPr marL="0" indent="0" algn="just">
              <a:buNone/>
            </a:pPr>
            <a:r>
              <a:rPr lang="en-GB" sz="2200" dirty="0"/>
              <a:t>To enter, simply select 6 numbers out of 40 or use the random number generator option.</a:t>
            </a:r>
          </a:p>
          <a:p>
            <a:pPr marL="0" indent="0" algn="just">
              <a:buNone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Price per 1 entry is</a:t>
            </a:r>
            <a:r>
              <a:rPr lang="en-GB" sz="2200" b="1" dirty="0">
                <a:ea typeface="Calibri" panose="020F0502020204030204" pitchFamily="34" charset="0"/>
                <a:cs typeface="Times New Roman" panose="02020603050405020304" pitchFamily="18" charset="0"/>
              </a:rPr>
              <a:t> 1 USD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en-GB" sz="2200" dirty="0"/>
              <a:t>The top prize would be won (theoretically) once every    3 draws. The overall odds of winning any prize are fairly high in this game: one in five lines.</a:t>
            </a: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GB" sz="2200" dirty="0">
                <a:ea typeface="Calibri" panose="020F0502020204030204" pitchFamily="34" charset="0"/>
                <a:cs typeface="Times New Roman" panose="02020603050405020304" pitchFamily="18" charset="0"/>
              </a:rPr>
              <a:t>Draws take place every evening in Finland.</a:t>
            </a:r>
            <a:endParaRPr lang="en-GB" sz="2200" dirty="0"/>
          </a:p>
          <a:p>
            <a:pPr marL="0" indent="0" algn="just">
              <a:buNone/>
            </a:pPr>
            <a:r>
              <a:rPr lang="en-US" sz="2200" dirty="0"/>
              <a:t>This game would be offered in all points of sale where you can buy lottery tickets or scratch cards or online on respective websites and apps.</a:t>
            </a:r>
          </a:p>
          <a:p>
            <a:pPr marL="0" indent="0" algn="just">
              <a:buNone/>
            </a:pPr>
            <a:endParaRPr lang="cs-CZ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7464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4052E2-54BB-793F-B6A4-7331EA215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11" y="7079083"/>
            <a:ext cx="5993591" cy="35545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EFCD22-41A0-54FE-DF08-635DD8C7B58E}"/>
              </a:ext>
            </a:extLst>
          </p:cNvPr>
          <p:cNvSpPr/>
          <p:nvPr/>
        </p:nvSpPr>
        <p:spPr>
          <a:xfrm>
            <a:off x="0" y="-11915"/>
            <a:ext cx="6858000" cy="688572"/>
          </a:xfrm>
          <a:prstGeom prst="rect">
            <a:avLst/>
          </a:prstGeom>
          <a:solidFill>
            <a:srgbClr val="9BF1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107848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/>
              <a:t>New </a:t>
            </a:r>
            <a:r>
              <a:rPr lang="cs-CZ" sz="2400" dirty="0" err="1"/>
              <a:t>Years</a:t>
            </a:r>
            <a:r>
              <a:rPr lang="cs-CZ" sz="2400" dirty="0"/>
              <a:t> </a:t>
            </a:r>
            <a:r>
              <a:rPr lang="cs-CZ" sz="2400" dirty="0" err="1"/>
              <a:t>Eve</a:t>
            </a:r>
            <a:r>
              <a:rPr lang="cs-CZ" sz="2400" dirty="0"/>
              <a:t> 13 </a:t>
            </a:r>
            <a:r>
              <a:rPr lang="cs-CZ" sz="2400" dirty="0" err="1"/>
              <a:t>millionaires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782223"/>
            <a:ext cx="6089376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100" dirty="0"/>
              <a:t>This lottery is a once-a-year game, played only on New Year's Eve in Illinois, with 13 draws throughout the day, every hour on the hour, starting at noon and ending at midnight.</a:t>
            </a:r>
          </a:p>
          <a:p>
            <a:pPr marL="0" indent="0" algn="just">
              <a:buNone/>
            </a:pPr>
            <a:r>
              <a:rPr lang="en-GB" sz="2100" dirty="0"/>
              <a:t>Thanks to the shared pool among participating countries, the game can offer </a:t>
            </a:r>
            <a:r>
              <a:rPr lang="en-GB" sz="2100" b="1" dirty="0"/>
              <a:t>thousands of prizes in each draw</a:t>
            </a:r>
            <a:r>
              <a:rPr lang="en-GB" sz="2100" dirty="0"/>
              <a:t>. The 13th draw, which will take place at midnight, will be a special draw determining</a:t>
            </a:r>
            <a:r>
              <a:rPr lang="cs-CZ" sz="2100" dirty="0"/>
              <a:t> </a:t>
            </a:r>
            <a:br>
              <a:rPr lang="cs-CZ" sz="2100" dirty="0"/>
            </a:br>
            <a:r>
              <a:rPr lang="en-GB" sz="2100" b="1" dirty="0"/>
              <a:t>13 winners of a final cash prize of 1 million USD each</a:t>
            </a:r>
            <a:r>
              <a:rPr lang="en-GB" sz="2100" dirty="0"/>
              <a:t>.</a:t>
            </a:r>
          </a:p>
          <a:p>
            <a:pPr marL="0" indent="0" algn="just">
              <a:buNone/>
            </a:pPr>
            <a:r>
              <a:rPr lang="en-GB" sz="2100" dirty="0"/>
              <a:t>One ticket costs </a:t>
            </a:r>
            <a:r>
              <a:rPr lang="en-GB" sz="2100" b="1" dirty="0"/>
              <a:t>10 USD</a:t>
            </a:r>
            <a:r>
              <a:rPr lang="en-GB" sz="2100" dirty="0"/>
              <a:t>, and this ticket grants entry to all 13 draws. Each ticket can be divided into 5 parts and shared with family and friends.</a:t>
            </a:r>
          </a:p>
          <a:p>
            <a:pPr marL="0" indent="0" algn="just">
              <a:buNone/>
            </a:pPr>
            <a:r>
              <a:rPr lang="en-GB" sz="2100" dirty="0"/>
              <a:t>To enter, you do not need to choose any numbers; the ticket contains a unique code (a combination of numbers and letters) that serves as entry for each draw.</a:t>
            </a:r>
          </a:p>
          <a:p>
            <a:pPr marL="0" indent="0" algn="just">
              <a:buNone/>
            </a:pPr>
            <a:r>
              <a:rPr lang="en-GB" sz="2100" dirty="0"/>
              <a:t>Sales open on December 1</a:t>
            </a:r>
            <a:r>
              <a:rPr lang="en-GB" sz="2100" baseline="30000" dirty="0"/>
              <a:t>st</a:t>
            </a:r>
            <a:r>
              <a:rPr lang="en-GB" sz="2100" dirty="0"/>
              <a:t>. </a:t>
            </a:r>
            <a:r>
              <a:rPr lang="en-US" sz="2100" dirty="0"/>
              <a:t>This game would be offered in all points of sale where you can buy lottery tickets or scratch cards or online on respective websites and apps.</a:t>
            </a:r>
          </a:p>
          <a:p>
            <a:pPr marL="0" indent="0" algn="just">
              <a:buNone/>
            </a:pPr>
            <a:endParaRPr lang="cs-CZ" sz="2100" dirty="0"/>
          </a:p>
          <a:p>
            <a:pPr marL="0" indent="0" algn="just">
              <a:buNone/>
            </a:pPr>
            <a:endParaRPr lang="cs-CZ" sz="2100" dirty="0"/>
          </a:p>
          <a:p>
            <a:pPr marL="0" indent="0" algn="just">
              <a:buNone/>
            </a:pPr>
            <a:endParaRPr lang="en-US" sz="2100" dirty="0"/>
          </a:p>
          <a:p>
            <a:pPr marL="0" indent="0" algn="just">
              <a:buNone/>
            </a:pPr>
            <a:endParaRPr lang="cs-CZ" sz="2100" dirty="0"/>
          </a:p>
          <a:p>
            <a:pPr algn="just"/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352238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31D7A2-A91A-204E-314D-3E32EABEA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24" y="6699456"/>
            <a:ext cx="6362950" cy="38761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67FB615-4FBC-25F4-42E9-41134340EBC1}"/>
              </a:ext>
            </a:extLst>
          </p:cNvPr>
          <p:cNvSpPr/>
          <p:nvPr/>
        </p:nvSpPr>
        <p:spPr>
          <a:xfrm>
            <a:off x="0" y="-11915"/>
            <a:ext cx="6858000" cy="6062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171856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Millionaires</a:t>
            </a:r>
            <a:r>
              <a:rPr lang="cs-CZ" sz="2400" dirty="0"/>
              <a:t> </a:t>
            </a:r>
            <a:r>
              <a:rPr lang="cs-CZ" sz="2400" dirty="0" err="1"/>
              <a:t>Flood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2506" y="669929"/>
            <a:ext cx="6481010" cy="92559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This lottery is a daily game. It will be offered internationally, and thanks to the shared pool, will include a special feature called </a:t>
            </a: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Millionaires Flood” on top of the regular prizes. A portion of the revenue will be collected in the Millionaires Flood Fund, which can reach </a:t>
            </a: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over</a:t>
            </a: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50</a:t>
            </a:r>
            <a:r>
              <a:rPr lang="en-GB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million USD.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To enter the game, choose your 5 numbers out of 17 and watch the evening draw to find out not only if you match the winning numbers, but also to see if it is a </a:t>
            </a:r>
            <a:r>
              <a:rPr lang="en-GB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"Millionaires Flood“ </a:t>
            </a: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day. These will happen in every draw </a:t>
            </a: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when all </a:t>
            </a: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5 drawn numbers are even. 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For example, </a:t>
            </a:r>
            <a:r>
              <a:rPr lang="cs-CZ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f the fund on that day stands at 25.5 million USD, then  25 players will be selected based on their ticket code. These players will then win </a:t>
            </a:r>
            <a:r>
              <a:rPr lang="en-GB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 million USD each</a:t>
            </a: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The minimum entry price is </a:t>
            </a:r>
            <a:r>
              <a:rPr lang="en-GB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1.50 </a:t>
            </a:r>
            <a:r>
              <a:rPr lang="en-GB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USD, </a:t>
            </a: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which gives </a:t>
            </a:r>
            <a:r>
              <a:rPr lang="en-GB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you the chance to </a:t>
            </a:r>
            <a:r>
              <a:rPr lang="en-GB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win in one of the 6 winning categories in the daily game. Moreover, your lottery ticket qualifies you for the Millionaires Flood raffle if it occurs in the given draw. </a:t>
            </a:r>
          </a:p>
          <a:p>
            <a:pPr marL="0" indent="0" algn="just">
              <a:buNone/>
            </a:pPr>
            <a:r>
              <a:rPr lang="en-US" sz="1800" dirty="0"/>
              <a:t>This game would be offered in all points of sale where you can buy lottery tickets or scratch cards or online on respective websites and apps.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1800" dirty="0"/>
          </a:p>
          <a:p>
            <a:pPr marL="0" indent="0" algn="just">
              <a:buNone/>
            </a:pPr>
            <a:endParaRPr lang="cs-CZ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95819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D2F903-6FFA-83D2-777F-F98A77364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55" y="7464854"/>
            <a:ext cx="5984183" cy="29549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DBFCCBB-7691-7179-F3D5-17D0602124BD}"/>
              </a:ext>
            </a:extLst>
          </p:cNvPr>
          <p:cNvSpPr/>
          <p:nvPr/>
        </p:nvSpPr>
        <p:spPr>
          <a:xfrm>
            <a:off x="0" y="-11915"/>
            <a:ext cx="6858000" cy="8440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8" y="20168"/>
            <a:ext cx="6197135" cy="922506"/>
          </a:xfrm>
        </p:spPr>
        <p:txBody>
          <a:bodyPr>
            <a:normAutofit/>
          </a:bodyPr>
          <a:lstStyle/>
          <a:p>
            <a:r>
              <a:rPr lang="cs-CZ" sz="2400" dirty="0"/>
              <a:t>Real </a:t>
            </a:r>
            <a:r>
              <a:rPr lang="cs-CZ" sz="2400" dirty="0" err="1"/>
              <a:t>estate</a:t>
            </a:r>
            <a:r>
              <a:rPr lang="cs-CZ" sz="2400" dirty="0"/>
              <a:t> </a:t>
            </a:r>
            <a:r>
              <a:rPr lang="cs-CZ" sz="2400" dirty="0" err="1"/>
              <a:t>prizes</a:t>
            </a:r>
            <a:r>
              <a:rPr lang="cs-CZ" sz="2400" dirty="0"/>
              <a:t> </a:t>
            </a:r>
            <a:r>
              <a:rPr lang="cs-CZ" sz="2400" dirty="0" err="1"/>
              <a:t>added</a:t>
            </a:r>
            <a:r>
              <a:rPr lang="cs-CZ" sz="2400" dirty="0"/>
              <a:t> to</a:t>
            </a:r>
            <a:r>
              <a:rPr lang="en-US" sz="2400" dirty="0"/>
              <a:t> existing lottery</a:t>
            </a:r>
            <a:br>
              <a:rPr lang="cs-CZ" sz="2400" b="1" dirty="0"/>
            </a:br>
            <a:r>
              <a:rPr lang="en-US" sz="2400" b="1" dirty="0"/>
              <a:t>Imagine a new add-on game for lottery players: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42643"/>
            <a:ext cx="6069497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This new game would be an add-on to an existing multinational lottery that offers huge jackpots. For an additional </a:t>
            </a:r>
            <a:r>
              <a:rPr lang="en-US" sz="2200" b="1" dirty="0"/>
              <a:t>1.50 USD</a:t>
            </a:r>
            <a:r>
              <a:rPr lang="en-US" sz="2200" dirty="0"/>
              <a:t> per ticket, players would also participate in an additional raffle draw where they could win </a:t>
            </a:r>
            <a:r>
              <a:rPr lang="en-US" sz="2200" b="1" dirty="0"/>
              <a:t>exclusive non-cash prizes such as villa</a:t>
            </a:r>
            <a:r>
              <a:rPr lang="cs-CZ" sz="2200" b="1" dirty="0"/>
              <a:t>s</a:t>
            </a:r>
            <a:r>
              <a:rPr lang="en-US" sz="2200" b="1" dirty="0"/>
              <a:t> in Denver, Colorado, or in a famous spa resort,</a:t>
            </a:r>
            <a:r>
              <a:rPr lang="cs-CZ" sz="2200" b="1" dirty="0"/>
              <a:t> </a:t>
            </a:r>
            <a:r>
              <a:rPr lang="en-US" sz="2200" b="1" dirty="0"/>
              <a:t>or penthouses in European/US metropolises, an apartment at Lake Como, etc. </a:t>
            </a:r>
            <a:r>
              <a:rPr lang="en-US" sz="2200" dirty="0"/>
              <a:t>These exclusive prizes can be offered thanks to an internationally-shared pool.</a:t>
            </a:r>
          </a:p>
          <a:p>
            <a:pPr marL="0" indent="0" algn="just">
              <a:buNone/>
            </a:pPr>
            <a:r>
              <a:rPr lang="en-US" sz="2200" dirty="0"/>
              <a:t>To participate in this add-on raffle, players do not need to select any numbers. The serial number of the ticket will be automatically entered into the raffle if the extra </a:t>
            </a:r>
            <a:r>
              <a:rPr lang="en-US" sz="2200" b="1" dirty="0"/>
              <a:t>1.50 USD </a:t>
            </a:r>
            <a:r>
              <a:rPr lang="en-US" sz="2200" dirty="0"/>
              <a:t>is paid.</a:t>
            </a:r>
          </a:p>
          <a:p>
            <a:pPr marL="0" indent="0" algn="just">
              <a:buNone/>
            </a:pPr>
            <a:r>
              <a:rPr lang="en-US" sz="2200" dirty="0"/>
              <a:t>There will be no lower prize categories. Draws for the add-on raffle will coincide with the draws of the accompanying multinational (and multi-state) jackpot lottery games.</a:t>
            </a:r>
          </a:p>
          <a:p>
            <a:pPr marL="0" indent="0" algn="just">
              <a:buNone/>
            </a:pPr>
            <a:endParaRPr lang="cs-CZ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270449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B6C6AA-3A02-A4AF-E1CB-838F61BAB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93" y="6884992"/>
            <a:ext cx="6197135" cy="37136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3625E5-82E8-30DC-1ECE-22E6EF062DA4}"/>
              </a:ext>
            </a:extLst>
          </p:cNvPr>
          <p:cNvSpPr/>
          <p:nvPr/>
        </p:nvSpPr>
        <p:spPr>
          <a:xfrm>
            <a:off x="0" y="-11916"/>
            <a:ext cx="6858000" cy="679427"/>
          </a:xfrm>
          <a:prstGeom prst="rect">
            <a:avLst/>
          </a:prstGeom>
          <a:solidFill>
            <a:srgbClr val="FC30A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0632" y="734097"/>
            <a:ext cx="6497052" cy="92559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900" dirty="0"/>
              <a:t>This new add-on game to an existing jackpot lottery would be offered internationally. Players would have the chance to </a:t>
            </a:r>
            <a:r>
              <a:rPr lang="en-US" sz="1900" b="1" dirty="0"/>
              <a:t>win</a:t>
            </a:r>
            <a:r>
              <a:rPr lang="en-US" sz="1900" dirty="0"/>
              <a:t> </a:t>
            </a:r>
            <a:r>
              <a:rPr lang="en-US" sz="1900" b="1" dirty="0"/>
              <a:t>exclusive experiential prizes that money cannot buy</a:t>
            </a:r>
            <a:r>
              <a:rPr lang="en-US" sz="1900" dirty="0"/>
              <a:t>. Examples might be: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Tickets to the Olympic Games, including meeting with athletes, trips to Formula 1 races with a VIP travel package, Gold Class tickets to concerts and festivals</a:t>
            </a:r>
            <a:r>
              <a:rPr lang="cs-CZ" sz="1900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Warehouse dashes, roles as extras in hit TV shows or films, being a judge in cooking/baking TV shows or popular talent shows, a NASCAR driving simulator experience.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900" dirty="0"/>
              <a:t>Training for a day with a pro football team, exclusive film premieres with dinner, luxury cruises with celebrity guides, or Broadway theatre trips. </a:t>
            </a:r>
          </a:p>
          <a:p>
            <a:pPr marL="0" indent="0" algn="just">
              <a:buNone/>
            </a:pPr>
            <a:r>
              <a:rPr lang="en-US" sz="1900" dirty="0"/>
              <a:t>Winners will be given </a:t>
            </a:r>
            <a:r>
              <a:rPr lang="en-US" sz="1900" b="1" dirty="0"/>
              <a:t>a choice from a number of alternatives.</a:t>
            </a:r>
          </a:p>
          <a:p>
            <a:pPr marL="0" indent="0" algn="just">
              <a:buNone/>
            </a:pPr>
            <a:r>
              <a:rPr lang="en-US" sz="1900" dirty="0">
                <a:ea typeface="Calibri" panose="020F0502020204030204" pitchFamily="34" charset="0"/>
                <a:cs typeface="Times New Roman" panose="02020603050405020304" pitchFamily="18" charset="0"/>
              </a:rPr>
              <a:t>Price per 1 entry would be </a:t>
            </a:r>
            <a:r>
              <a:rPr lang="en-US" sz="1900" b="1" dirty="0">
                <a:ea typeface="Calibri" panose="020F0502020204030204" pitchFamily="34" charset="0"/>
                <a:cs typeface="Times New Roman" panose="02020603050405020304" pitchFamily="18" charset="0"/>
              </a:rPr>
              <a:t>0.50 USD per line played.</a:t>
            </a:r>
          </a:p>
          <a:p>
            <a:pPr marL="0" indent="0" algn="just">
              <a:buNone/>
            </a:pPr>
            <a:r>
              <a:rPr lang="en-US" sz="1900" dirty="0"/>
              <a:t>To participate in this add-on, players do not need to select any numbers. There will be a special code printed underneath each line of the main lottery played. These codes will be automatically entered into the raffle. </a:t>
            </a:r>
          </a:p>
          <a:p>
            <a:pPr marL="0" indent="0" algn="just">
              <a:buNone/>
            </a:pPr>
            <a:r>
              <a:rPr lang="en-US" sz="1900" dirty="0">
                <a:ea typeface="Calibri" panose="020F0502020204030204" pitchFamily="34" charset="0"/>
                <a:cs typeface="Times New Roman" panose="02020603050405020304" pitchFamily="18" charset="0"/>
              </a:rPr>
              <a:t>This raffle draw will take place twice a week.</a:t>
            </a:r>
          </a:p>
          <a:p>
            <a:pPr marL="0" indent="0" algn="just">
              <a:buNone/>
            </a:pPr>
            <a:endParaRPr lang="cs-CZ" sz="1900" dirty="0"/>
          </a:p>
          <a:p>
            <a:pPr algn="just"/>
            <a:endParaRPr lang="en-US" sz="19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43BABE-A829-4C74-B898-43894DFB6273}"/>
              </a:ext>
            </a:extLst>
          </p:cNvPr>
          <p:cNvSpPr txBox="1">
            <a:spLocks/>
          </p:cNvSpPr>
          <p:nvPr/>
        </p:nvSpPr>
        <p:spPr>
          <a:xfrm>
            <a:off x="368968" y="-25552"/>
            <a:ext cx="6197135" cy="713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cs-CZ" sz="2400" dirty="0" err="1"/>
              <a:t>Experiential</a:t>
            </a:r>
            <a:r>
              <a:rPr lang="cs-CZ" sz="2400" dirty="0"/>
              <a:t> </a:t>
            </a:r>
            <a:r>
              <a:rPr lang="cs-CZ" sz="2400" dirty="0" err="1"/>
              <a:t>prizes</a:t>
            </a:r>
            <a:r>
              <a:rPr lang="cs-CZ" sz="2400" dirty="0"/>
              <a:t> </a:t>
            </a:r>
            <a:r>
              <a:rPr lang="cs-CZ" sz="2400" dirty="0" err="1"/>
              <a:t>added</a:t>
            </a:r>
            <a:r>
              <a:rPr lang="cs-CZ" sz="2400" dirty="0"/>
              <a:t> to </a:t>
            </a:r>
            <a:r>
              <a:rPr lang="cs-CZ" sz="2400" dirty="0" err="1"/>
              <a:t>annuity</a:t>
            </a:r>
            <a:r>
              <a:rPr lang="cs-CZ" sz="2400" dirty="0"/>
              <a:t> </a:t>
            </a:r>
            <a:r>
              <a:rPr lang="cs-CZ" sz="2400" dirty="0" err="1"/>
              <a:t>lottery</a:t>
            </a:r>
            <a:r>
              <a:rPr lang="cs-CZ" sz="2400" dirty="0"/>
              <a:t> (SFL)</a:t>
            </a:r>
            <a:endParaRPr lang="cs-CZ" sz="2400" b="1" dirty="0"/>
          </a:p>
          <a:p>
            <a:r>
              <a:rPr lang="en-US" sz="2400" b="1" dirty="0"/>
              <a:t>Imagine a new add-on game for lottery players: </a:t>
            </a:r>
          </a:p>
        </p:txBody>
      </p:sp>
    </p:spTree>
    <p:extLst>
      <p:ext uri="{BB962C8B-B14F-4D97-AF65-F5344CB8AC3E}">
        <p14:creationId xmlns:p14="http://schemas.microsoft.com/office/powerpoint/2010/main" val="2577955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942643"/>
            <a:ext cx="6069497" cy="925595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4800" dirty="0"/>
          </a:p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4800" dirty="0"/>
          </a:p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US" sz="4800" dirty="0"/>
          </a:p>
          <a:p>
            <a:pPr mar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800" dirty="0"/>
              <a:t>NOT RELEVANT FOR THE US MARKET</a:t>
            </a:r>
            <a:endParaRPr lang="cs-CZ" sz="4800" dirty="0"/>
          </a:p>
          <a:p>
            <a:pPr algn="ctr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820080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8BB60F-A9F2-0920-76EC-94CD66096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90" y="6486449"/>
            <a:ext cx="5953657" cy="41069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EE0250-8DF1-261E-2C48-23A024A10973}"/>
              </a:ext>
            </a:extLst>
          </p:cNvPr>
          <p:cNvSpPr/>
          <p:nvPr/>
        </p:nvSpPr>
        <p:spPr>
          <a:xfrm>
            <a:off x="0" y="-11915"/>
            <a:ext cx="6858000" cy="85316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502129-00D9-C538-5C9D-8BE935563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312" y="-34696"/>
            <a:ext cx="6069497" cy="922506"/>
          </a:xfrm>
        </p:spPr>
        <p:txBody>
          <a:bodyPr>
            <a:normAutofit/>
          </a:bodyPr>
          <a:lstStyle/>
          <a:p>
            <a:r>
              <a:rPr lang="cs-CZ" sz="2400" dirty="0" err="1"/>
              <a:t>Annuity</a:t>
            </a:r>
            <a:r>
              <a:rPr lang="cs-CZ" sz="2400" dirty="0"/>
              <a:t> benchmark</a:t>
            </a:r>
            <a:br>
              <a:rPr lang="cs-CZ" sz="2400" b="1" dirty="0"/>
            </a:br>
            <a:r>
              <a:rPr lang="en-US" sz="2400" b="1" dirty="0"/>
              <a:t>Imagine a new lottery game is being launched: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3771B-3D19-3D93-187F-DF1BE6DA3B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0144" y="942643"/>
            <a:ext cx="6069497" cy="925595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This is an international lottery numbers game in which players from participating countries play to win a dream top </a:t>
            </a:r>
            <a:r>
              <a:rPr lang="en-US" sz="2200" dirty="0">
                <a:solidFill>
                  <a:srgbClr val="333333"/>
                </a:solidFill>
              </a:rPr>
              <a:t>p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rize of </a:t>
            </a:r>
            <a:r>
              <a:rPr lang="en-US" sz="2200" b="1" i="0" dirty="0">
                <a:solidFill>
                  <a:srgbClr val="333333"/>
                </a:solidFill>
                <a:effectLst/>
              </a:rPr>
              <a:t>20 000 USD per month, paid in regular instalments over a 30-year period</a:t>
            </a:r>
            <a:r>
              <a:rPr lang="en-US" sz="2200" b="0" i="0" dirty="0">
                <a:solidFill>
                  <a:srgbClr val="333333"/>
                </a:solidFill>
                <a:effectLst/>
              </a:rPr>
              <a:t>. </a:t>
            </a:r>
            <a:r>
              <a:rPr lang="en-US" sz="2200" dirty="0">
                <a:solidFill>
                  <a:srgbClr val="333333"/>
                </a:solidFill>
              </a:rPr>
              <a:t>The prize payout can be inherited.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To enter, pick 6 numbers from 1 to 40 and 1 bonus number from 1 to 5. If you match all 7 numbers, you win the top prize. </a:t>
            </a:r>
            <a:r>
              <a:rPr lang="en-US" sz="2200" dirty="0">
                <a:solidFill>
                  <a:srgbClr val="333333"/>
                </a:solidFill>
              </a:rPr>
              <a:t>This prize is fixed.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There is also a</a:t>
            </a:r>
            <a:r>
              <a:rPr lang="en-US" sz="2200" dirty="0">
                <a:solidFill>
                  <a:srgbClr val="333333"/>
                </a:solidFill>
              </a:rPr>
              <a:t>n annuity prize in the 2nd tier: </a:t>
            </a:r>
            <a:br>
              <a:rPr lang="en-US" sz="2200" dirty="0">
                <a:solidFill>
                  <a:srgbClr val="333333"/>
                </a:solidFill>
              </a:rPr>
            </a:br>
            <a:r>
              <a:rPr lang="en-US" sz="2200" dirty="0">
                <a:solidFill>
                  <a:srgbClr val="333333"/>
                </a:solidFill>
              </a:rPr>
              <a:t>2000 USD per month for 5 years.</a:t>
            </a:r>
            <a:endParaRPr lang="en-US" sz="2200" b="0" i="0" dirty="0">
              <a:solidFill>
                <a:srgbClr val="333333"/>
              </a:solidFill>
              <a:effectLst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333333"/>
                </a:solidFill>
              </a:rPr>
              <a:t>One row costs </a:t>
            </a:r>
            <a:r>
              <a:rPr lang="en-US" sz="2200" b="1" dirty="0">
                <a:solidFill>
                  <a:srgbClr val="333333"/>
                </a:solidFill>
              </a:rPr>
              <a:t>2.50 USD</a:t>
            </a:r>
            <a:r>
              <a:rPr lang="en-US" sz="2200" dirty="0">
                <a:solidFill>
                  <a:srgbClr val="333333"/>
                </a:solidFill>
              </a:rPr>
              <a:t>. 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0" i="0" dirty="0">
                <a:solidFill>
                  <a:srgbClr val="333333"/>
                </a:solidFill>
                <a:effectLst/>
              </a:rPr>
              <a:t>There are two draws per week: </a:t>
            </a:r>
            <a:r>
              <a:rPr lang="en-US" sz="2200" dirty="0">
                <a:solidFill>
                  <a:srgbClr val="333333"/>
                </a:solidFill>
              </a:rPr>
              <a:t>on Mondays and Thursdays.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cs-CZ" sz="2200" dirty="0"/>
          </a:p>
          <a:p>
            <a:pPr marL="0" indent="0" algn="just">
              <a:buNone/>
            </a:pPr>
            <a:endParaRPr lang="cs-CZ" sz="2200" dirty="0"/>
          </a:p>
          <a:p>
            <a:pPr algn="just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775730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1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</TotalTime>
  <Words>2054</Words>
  <Application>Microsoft Office PowerPoint</Application>
  <PresentationFormat>Custom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Powerball Imagine a new lottery game is being launched:</vt:lpstr>
      <vt:lpstr>MegaMillions Imagine a new lottery game is being launched:</vt:lpstr>
      <vt:lpstr>Omaze-inspired Imagine a new lottery game is being launched:</vt:lpstr>
      <vt:lpstr>Progressive annuity Imagine a new lottery game is being launched:</vt:lpstr>
      <vt:lpstr>Daily Millionaire Imagine a new lottery game is being launched:</vt:lpstr>
      <vt:lpstr>New Years Eve 13 millionaires Imagine a new lottery game is being launched:</vt:lpstr>
      <vt:lpstr>Millionaires Flood Imagine a new lottery game is being launched:</vt:lpstr>
      <vt:lpstr>Real estate prizes added to existing lottery Imagine a new add-on game for lottery players: </vt:lpstr>
      <vt:lpstr>PowerPoint Presentation</vt:lpstr>
      <vt:lpstr>PowerPoint Presentation</vt:lpstr>
      <vt:lpstr>Annuity benchmark Imagine a new lottery game is being launched: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51</cp:revision>
  <dcterms:created xsi:type="dcterms:W3CDTF">2022-11-09T07:36:23Z</dcterms:created>
  <dcterms:modified xsi:type="dcterms:W3CDTF">2025-12-16T08:25:08Z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