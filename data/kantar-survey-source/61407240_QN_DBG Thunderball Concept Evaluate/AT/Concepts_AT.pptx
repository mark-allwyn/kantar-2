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</p:sldIdLst>
  <p:sldSz cx="6858000" cy="10799763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undo custSel modSld">
      <pc:chgData name="Peter Javornický" userId="3b98f8e0-d449-4f6e-b57d-5f9bfb7a5c2c" providerId="ADAL" clId="{88A10E76-C547-4713-B92A-3B48010D5CF0}" dt="2025-12-16T14:13:16.001" v="13" actId="404"/>
      <pc:docMkLst>
        <pc:docMk/>
      </pc:docMkLst>
      <pc:sldChg chg="modSp mod">
        <pc:chgData name="Peter Javornický" userId="3b98f8e0-d449-4f6e-b57d-5f9bfb7a5c2c" providerId="ADAL" clId="{88A10E76-C547-4713-B92A-3B48010D5CF0}" dt="2025-12-16T14:13:16.001" v="13" actId="404"/>
        <pc:sldMkLst>
          <pc:docMk/>
          <pc:sldMk cId="46857855" sldId="268"/>
        </pc:sldMkLst>
        <pc:spChg chg="mod">
          <ac:chgData name="Peter Javornický" userId="3b98f8e0-d449-4f6e-b57d-5f9bfb7a5c2c" providerId="ADAL" clId="{88A10E76-C547-4713-B92A-3B48010D5CF0}" dt="2025-12-16T14:13:16.001" v="13" actId="404"/>
          <ac:spMkLst>
            <pc:docMk/>
            <pc:sldMk cId="46857855" sldId="268"/>
            <ac:spMk id="3" creationId="{FF7F3D8E-FF11-1FC3-E262-8AB6EA3796E7}"/>
          </ac:spMkLst>
        </pc:spChg>
      </pc:sldChg>
      <pc:sldChg chg="modSp mod">
        <pc:chgData name="Peter Javornický" userId="3b98f8e0-d449-4f6e-b57d-5f9bfb7a5c2c" providerId="ADAL" clId="{88A10E76-C547-4713-B92A-3B48010D5CF0}" dt="2025-12-16T14:12:52.791" v="7" actId="404"/>
        <pc:sldMkLst>
          <pc:docMk/>
          <pc:sldMk cId="3168554335" sldId="269"/>
        </pc:sldMkLst>
        <pc:spChg chg="mod">
          <ac:chgData name="Peter Javornický" userId="3b98f8e0-d449-4f6e-b57d-5f9bfb7a5c2c" providerId="ADAL" clId="{88A10E76-C547-4713-B92A-3B48010D5CF0}" dt="2025-12-16T14:12:52.791" v="7" actId="404"/>
          <ac:spMkLst>
            <pc:docMk/>
            <pc:sldMk cId="3168554335" sldId="269"/>
            <ac:spMk id="3" creationId="{C97CA788-BEE6-AF28-CB3A-877D4596AE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2539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de-AT" sz="2400" b="1" dirty="0"/>
              <a:t>Daily Millionaire - Ein neues Lotteriespiel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Es handelt sich um ein internationales Lotteriespiel, bei dem Spieler die Chance haben, bis zu 1 Million EUR zu gewinnen, wenn sie 6 Zahlen aus 1 bis 52 richtig tippen.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Und das ist nicht der einzige Weg zum Millionär. Diese neue Lotterie beinhaltet auch einen speziellen Zusatzgewinn: </a:t>
            </a:r>
            <a:r>
              <a:rPr lang="cs-CZ" sz="2200" dirty="0"/>
              <a:t>den</a:t>
            </a:r>
            <a:r>
              <a:rPr lang="de-AT" sz="2200" dirty="0"/>
              <a:t> sogenannte</a:t>
            </a:r>
            <a:r>
              <a:rPr lang="cs-CZ" sz="2200" dirty="0"/>
              <a:t>n</a:t>
            </a:r>
            <a:r>
              <a:rPr lang="de-AT" sz="2200" dirty="0"/>
              <a:t> Millionen-Regen. </a:t>
            </a:r>
            <a:br>
              <a:rPr lang="cs-CZ" sz="2200" dirty="0"/>
            </a:br>
            <a:r>
              <a:rPr lang="de-AT" sz="2200" dirty="0"/>
              <a:t>Ein Teil des Preisgeldes jeder Ziehung wird in einen eigenen „Millionen-Regen Fonds“ eingezahlt. Das Geld aus diesem Fonds wird an glückliche Spielteilnehmer verteilt – und zwar an jenem Tag, an dem alle gezogenen Zahlen entweder gerade oder ungerade sind. </a:t>
            </a:r>
            <a:br>
              <a:rPr lang="cs-CZ" sz="2200" dirty="0"/>
            </a:br>
            <a:r>
              <a:rPr lang="de-AT" sz="2200" dirty="0"/>
              <a:t>Theoretisch tritt dieses Ereignis alle 6 Wochen ein.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Wenn sich zum Beispiel 15</a:t>
            </a:r>
            <a:r>
              <a:rPr lang="cs-CZ" sz="2200" dirty="0"/>
              <a:t>,</a:t>
            </a:r>
            <a:r>
              <a:rPr lang="de-AT" sz="2200" dirty="0"/>
              <a:t>5 Millionen EUR im „Millionen-Regen Fonds“ befinden, werden 15 Spieler anhand der Losnummer ihres Spielscheins ausgewählt. Jeder von ihnen gewinnt 1 Million EUR.</a:t>
            </a:r>
            <a:endParaRPr lang="de-AT" sz="2200" dirty="0">
              <a:ea typeface="Calibri"/>
              <a:cs typeface="Calibri"/>
            </a:endParaRPr>
          </a:p>
          <a:p>
            <a:pPr>
              <a:lnSpc>
                <a:spcPct val="75000"/>
              </a:lnSpc>
            </a:pPr>
            <a:r>
              <a:rPr lang="de-AT" sz="2200" dirty="0"/>
              <a:t>Der Preis pro </a:t>
            </a:r>
            <a:r>
              <a:rPr lang="de-AT" sz="2200" dirty="0" err="1"/>
              <a:t>Tippfeld</a:t>
            </a:r>
            <a:r>
              <a:rPr lang="de-AT" sz="2200" dirty="0"/>
              <a:t> beträgt 1</a:t>
            </a:r>
            <a:r>
              <a:rPr lang="cs-CZ" sz="2200" dirty="0"/>
              <a:t>,</a:t>
            </a:r>
            <a:r>
              <a:rPr lang="de-AT" sz="2200" dirty="0"/>
              <a:t>50 EUR.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Spieler können ein Abo für eine Woche, einen Monat oder länger abschließen. So verpassen sie garantiert keine Ziehung, bei der </a:t>
            </a:r>
            <a:r>
              <a:rPr lang="cs-CZ" sz="2200" dirty="0"/>
              <a:t>der</a:t>
            </a:r>
            <a:r>
              <a:rPr lang="de-AT" sz="2200" dirty="0"/>
              <a:t> Millionen-Regen stattfindet. </a:t>
            </a:r>
            <a:br>
              <a:rPr lang="cs-CZ" sz="2200" dirty="0"/>
            </a:br>
            <a:r>
              <a:rPr lang="de-AT" sz="2200" dirty="0"/>
              <a:t>Es ist auch möglich, Anteile an vorausbezahlten Tippscheinen zu erwerben, etwa ein Zehntel eines Monatstickets für 4</a:t>
            </a:r>
            <a:r>
              <a:rPr lang="cs-CZ" sz="2200" dirty="0"/>
              <a:t>,</a:t>
            </a:r>
            <a:r>
              <a:rPr lang="de-AT" sz="2200" dirty="0"/>
              <a:t>50 EUR usw.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Die Ziehung findet täglich am Abend in Österreich statt.</a:t>
            </a:r>
            <a:endParaRPr lang="de-AT" sz="2200" i="1" noProof="0" dirty="0"/>
          </a:p>
          <a:p>
            <a:pPr>
              <a:lnSpc>
                <a:spcPct val="70000"/>
              </a:lnSpc>
            </a:pPr>
            <a:endParaRPr lang="de-AT" sz="2200" i="1" noProof="0" dirty="0"/>
          </a:p>
          <a:p>
            <a:pPr>
              <a:lnSpc>
                <a:spcPct val="70000"/>
              </a:lnSpc>
              <a:spcAft>
                <a:spcPts val="300"/>
              </a:spcAft>
            </a:pPr>
            <a:endParaRPr lang="de-AT" sz="2200" noProof="0" dirty="0"/>
          </a:p>
          <a:p>
            <a:pPr>
              <a:lnSpc>
                <a:spcPct val="70000"/>
              </a:lnSpc>
              <a:spcAft>
                <a:spcPts val="300"/>
              </a:spcAft>
            </a:pPr>
            <a:endParaRPr lang="de-AT" sz="22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de-AT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62134-F2D2-ED00-4E39-3A200596028D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8E2E8E-49AD-C4A1-0FDE-4FAC8EEAE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326551"/>
              </p:ext>
            </p:extLst>
          </p:nvPr>
        </p:nvGraphicFramePr>
        <p:xfrm>
          <a:off x="147583" y="7377332"/>
          <a:ext cx="6608550" cy="26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512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291038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312986">
                <a:tc>
                  <a:txBody>
                    <a:bodyPr/>
                    <a:lstStyle/>
                    <a:p>
                      <a:r>
                        <a:rPr lang="de-AT" sz="1800" b="0" noProof="0" dirty="0">
                          <a:latin typeface="+mn-lt"/>
                        </a:rPr>
                        <a:t>Preis pro </a:t>
                      </a:r>
                      <a:r>
                        <a:rPr lang="de-AT" sz="1800" b="0" noProof="0" dirty="0" err="1">
                          <a:latin typeface="+mn-lt"/>
                        </a:rPr>
                        <a:t>Tippfeld</a:t>
                      </a:r>
                      <a:endParaRPr lang="de-AT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noProof="0" dirty="0">
                          <a:latin typeface="+mn-lt"/>
                        </a:rPr>
                        <a:t>1</a:t>
                      </a:r>
                      <a:r>
                        <a:rPr lang="cs-CZ" sz="1800" b="0" noProof="0" dirty="0">
                          <a:latin typeface="+mn-lt"/>
                        </a:rPr>
                        <a:t>,</a:t>
                      </a:r>
                      <a:r>
                        <a:rPr lang="de-AT" sz="1800" b="0" noProof="0" dirty="0">
                          <a:latin typeface="+mn-lt"/>
                        </a:rPr>
                        <a:t>50 EUR</a:t>
                      </a:r>
                      <a:endParaRPr lang="de-AT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Hauptpreis jeden Tag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Million EUR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60902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Hauptpreis beim Millionen-Regen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Million EUR für 13 Gewinner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(theoretisch)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Niedrigster Gewinn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EUR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Häufigkeit des Hauptgewinns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Alle 3 Wochen (theoretisch)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Häufigkeit 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</a:t>
                      </a: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Millionen-Regen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Alle 6 Wochen (theoretisch)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Gesamtgewinnwahrscheinlichkeit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 1:7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9188BF-728D-0C5C-E1E3-50B8629E8636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i="1" noProof="0" dirty="0"/>
              <a:t>Tippscheine sind in allen Annahmestellen der Österreichischen Lotterien sowie online auf win2day.at erhältlich.</a:t>
            </a:r>
            <a:endParaRPr lang="de-AT" i="1" noProof="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B7F-603F-AA1A-141F-E0A3E41C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CA788-BEE6-AF28-CB3A-877D4596AE9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5006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de-AT" sz="2400" b="1" dirty="0" err="1"/>
              <a:t>Thunderball</a:t>
            </a:r>
            <a:r>
              <a:rPr lang="de-AT" sz="2400" b="1" dirty="0"/>
              <a:t> </a:t>
            </a:r>
            <a:r>
              <a:rPr lang="de-AT" sz="2400" b="1" dirty="0" err="1"/>
              <a:t>inspired</a:t>
            </a:r>
            <a:r>
              <a:rPr lang="de-AT" sz="2400" b="1" dirty="0"/>
              <a:t> - Ein neues Lotteriespiel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Dies ist ein internationales Lotteriespiel, bei dem Spieler täglich 1 Million EUR gewinnen können, wenn sie </a:t>
            </a:r>
            <a:br>
              <a:rPr lang="cs-CZ" sz="2200" dirty="0"/>
            </a:br>
            <a:r>
              <a:rPr lang="de-AT" sz="2200" dirty="0"/>
              <a:t>5 Zahlen zwischen 1 und 39 sowie eine Zahl </a:t>
            </a:r>
            <a:br>
              <a:rPr lang="cs-CZ" sz="2200" dirty="0"/>
            </a:br>
            <a:r>
              <a:rPr lang="de-AT" sz="2200" dirty="0"/>
              <a:t>zwischen 1 und 14 richtig tippen.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Und das ist nicht der einzige Weg zum Millionär. </a:t>
            </a:r>
            <a:br>
              <a:rPr lang="cs-CZ" sz="2200" dirty="0"/>
            </a:br>
            <a:r>
              <a:rPr lang="de-AT" sz="2200" dirty="0"/>
              <a:t>Diese neue Lotterie beinhaltet auch einen besonderen Zusatzgewinn: </a:t>
            </a:r>
            <a:r>
              <a:rPr lang="cs-CZ" sz="2200" dirty="0"/>
              <a:t>den</a:t>
            </a:r>
            <a:r>
              <a:rPr lang="de-AT" sz="2200" dirty="0"/>
              <a:t> sogenannte</a:t>
            </a:r>
            <a:r>
              <a:rPr lang="cs-CZ" sz="2200" dirty="0"/>
              <a:t>n</a:t>
            </a:r>
            <a:r>
              <a:rPr lang="de-AT" sz="2200" dirty="0"/>
              <a:t> Millionen-Regen. </a:t>
            </a:r>
            <a:br>
              <a:rPr lang="cs-CZ" sz="2200" dirty="0"/>
            </a:br>
            <a:r>
              <a:rPr lang="de-AT" sz="2200" dirty="0"/>
              <a:t>Ein Teil des Preisgeldes jeder Ziehung fließt in den „Millionen-Regen Fonds“. Das Geld aus diesem Fonds wird ausgeschüttet, wenn alle 5 gezogenen Zahlen entweder gerade oder ungerade sind – ein Ereignis, </a:t>
            </a:r>
            <a:br>
              <a:rPr lang="cs-CZ" sz="2200" dirty="0"/>
            </a:br>
            <a:r>
              <a:rPr lang="de-AT" sz="2200" dirty="0"/>
              <a:t>das theoretisch alle 8 Wochen eintritt.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Wenn sich zum Beispiel 10</a:t>
            </a:r>
            <a:r>
              <a:rPr lang="cs-CZ" sz="2200" dirty="0"/>
              <a:t>,</a:t>
            </a:r>
            <a:r>
              <a:rPr lang="de-AT" sz="2200" dirty="0"/>
              <a:t>5 Millionen EUR </a:t>
            </a:r>
            <a:br>
              <a:rPr lang="cs-CZ" sz="2200" dirty="0"/>
            </a:br>
            <a:r>
              <a:rPr lang="de-AT" sz="2200" dirty="0"/>
              <a:t>im „Millionen-Regen Fonds“ befinden, werden </a:t>
            </a:r>
            <a:br>
              <a:rPr lang="cs-CZ" sz="2200" dirty="0"/>
            </a:br>
            <a:r>
              <a:rPr lang="de-AT" sz="2200" dirty="0"/>
              <a:t>10 glückliche Spieler anhand der Losnummer ihres Spielscheins gezogen. Jeder von ihnen gewinnt </a:t>
            </a:r>
            <a:br>
              <a:rPr lang="cs-CZ" sz="2200" dirty="0"/>
            </a:br>
            <a:r>
              <a:rPr lang="de-AT" sz="2200" dirty="0"/>
              <a:t>1 Million Euro – unabhängig von den getippten Zahlen.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Ein Tipp kostet 1</a:t>
            </a:r>
            <a:r>
              <a:rPr lang="cs-CZ" sz="2200" dirty="0"/>
              <a:t>,</a:t>
            </a:r>
            <a:r>
              <a:rPr lang="de-AT" sz="2200" dirty="0"/>
              <a:t>50 EUR.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Spieler können ein Abo für eine Woche, einen Monat oder länger abschließen – so verpassen sie keine Ziehung mit </a:t>
            </a:r>
            <a:r>
              <a:rPr lang="cs-CZ" sz="2200" dirty="0"/>
              <a:t>dem</a:t>
            </a:r>
            <a:r>
              <a:rPr lang="de-AT" sz="2200" dirty="0"/>
              <a:t> Millionen-Regen. </a:t>
            </a:r>
            <a:br>
              <a:rPr lang="cs-CZ" sz="2200" dirty="0"/>
            </a:br>
            <a:r>
              <a:rPr lang="de-AT" sz="2200" dirty="0"/>
              <a:t>Alternativ kann man auch Anteile an vorausbezahlten Tickets erwerben, z. B. ein Zehntel eines Monatstickets für 4</a:t>
            </a:r>
            <a:r>
              <a:rPr lang="cs-CZ" sz="2200" dirty="0"/>
              <a:t>,</a:t>
            </a:r>
            <a:r>
              <a:rPr lang="de-AT" sz="2200" dirty="0"/>
              <a:t>50 EUR usw.</a:t>
            </a:r>
          </a:p>
          <a:p>
            <a:pPr>
              <a:lnSpc>
                <a:spcPct val="75000"/>
              </a:lnSpc>
            </a:pPr>
            <a:r>
              <a:rPr lang="de-AT" sz="2200" dirty="0"/>
              <a:t>Die Ziehung findet jeden Abend in Österreich statt. </a:t>
            </a:r>
            <a:endParaRPr lang="de-AT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B7D47-2C35-85AD-D569-03507707F41C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45FFF-9E17-46C6-C750-413037AD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65559"/>
              </p:ext>
            </p:extLst>
          </p:nvPr>
        </p:nvGraphicFramePr>
        <p:xfrm>
          <a:off x="147583" y="7500691"/>
          <a:ext cx="6608550" cy="2698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01470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de-AT" sz="1800" b="0" noProof="0" dirty="0">
                          <a:latin typeface="+mn-lt"/>
                        </a:rPr>
                        <a:t>Preis pro </a:t>
                      </a:r>
                      <a:r>
                        <a:rPr lang="de-AT" sz="1800" b="0" noProof="0" dirty="0" err="1">
                          <a:latin typeface="+mn-lt"/>
                        </a:rPr>
                        <a:t>Tippfeld</a:t>
                      </a:r>
                      <a:endParaRPr lang="de-AT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noProof="0" dirty="0"/>
                        <a:t>1</a:t>
                      </a:r>
                      <a:r>
                        <a:rPr lang="cs-CZ" sz="1800" b="0" noProof="0" dirty="0"/>
                        <a:t>,</a:t>
                      </a:r>
                      <a:r>
                        <a:rPr lang="de-AT" sz="1800" b="0" noProof="0" dirty="0"/>
                        <a:t>50 EUR</a:t>
                      </a:r>
                      <a:endParaRPr lang="de-AT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Hauptpreis jeden Tag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Million EUR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Hauptpreis beim Millionen-Regen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Million EUR für 10 Gewinner (theoretisch)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Niedrigster Gewinn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EUR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Häufigkeit des Hauptgewinns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Alle 2 Wochen (theoretisch)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Häufigkeit 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</a:t>
                      </a:r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Millionen-Regen</a:t>
                      </a:r>
                      <a:r>
                        <a:rPr lang="cs-CZ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Alle 8 Wochen (theoretisch)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Gesamtgewinnwahrscheinlichkeit</a:t>
                      </a:r>
                      <a:endParaRPr lang="de-AT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de-AT" sz="1800" b="0" noProof="0" dirty="0">
                          <a:solidFill>
                            <a:schemeClr val="tx1"/>
                          </a:solidFill>
                        </a:rPr>
                        <a:t> 1:6</a:t>
                      </a:r>
                      <a:endParaRPr lang="de-AT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EB3688-F623-AAAE-C5F5-703DCF007439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i="1" noProof="0" dirty="0"/>
              <a:t>Tickets sind in allen Verkaufsstellen der Österreichischen Lotterien sowie online auf win2day.at erhältlich.</a:t>
            </a:r>
          </a:p>
        </p:txBody>
      </p:sp>
    </p:spTree>
    <p:extLst>
      <p:ext uri="{BB962C8B-B14F-4D97-AF65-F5344CB8AC3E}">
        <p14:creationId xmlns:p14="http://schemas.microsoft.com/office/powerpoint/2010/main" val="3168554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</TotalTime>
  <Words>584</Words>
  <Application>Microsoft Office PowerPoint</Application>
  <PresentationFormat>Custom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30</cp:revision>
  <dcterms:created xsi:type="dcterms:W3CDTF">2022-11-09T07:36:23Z</dcterms:created>
  <dcterms:modified xsi:type="dcterms:W3CDTF">2025-12-16T14:13:21Z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