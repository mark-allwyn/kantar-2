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0"/>
  </p:notesMasterIdLst>
  <p:sldIdLst>
    <p:sldId id="270" r:id="rId2"/>
    <p:sldId id="271" r:id="rId3"/>
    <p:sldId id="272" r:id="rId4"/>
    <p:sldId id="273" r:id="rId5"/>
    <p:sldId id="274" r:id="rId6"/>
    <p:sldId id="275" r:id="rId7"/>
    <p:sldId id="276" r:id="rId8"/>
    <p:sldId id="277" r:id="rId9"/>
  </p:sldIdLst>
  <p:sldSz cx="6858000" cy="10799763"/>
  <p:notesSz cx="6858000" cy="9144000"/>
  <p:custDataLst>
    <p:tags r:id="rId11"/>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96C7690-E4B6-4819-8F63-D6C34BABAD41}" v="8" dt="2025-12-16T08:44:41.26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327" autoAdjust="0"/>
    <p:restoredTop sz="94660"/>
  </p:normalViewPr>
  <p:slideViewPr>
    <p:cSldViewPr snapToGrid="0">
      <p:cViewPr varScale="1">
        <p:scale>
          <a:sx n="65" d="100"/>
          <a:sy n="65" d="100"/>
        </p:scale>
        <p:origin x="3678" y="72"/>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gs" Target="tags/tag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eter Javornický" userId="3b98f8e0-d449-4f6e-b57d-5f9bfb7a5c2c" providerId="ADAL" clId="{88A10E76-C547-4713-B92A-3B48010D5CF0}"/>
    <pc:docChg chg="modSld">
      <pc:chgData name="Peter Javornický" userId="3b98f8e0-d449-4f6e-b57d-5f9bfb7a5c2c" providerId="ADAL" clId="{88A10E76-C547-4713-B92A-3B48010D5CF0}" dt="2025-12-16T08:44:41.261" v="7"/>
      <pc:docMkLst>
        <pc:docMk/>
      </pc:docMkLst>
      <pc:sldChg chg="addSp modSp">
        <pc:chgData name="Peter Javornický" userId="3b98f8e0-d449-4f6e-b57d-5f9bfb7a5c2c" providerId="ADAL" clId="{88A10E76-C547-4713-B92A-3B48010D5CF0}" dt="2025-12-16T08:41:37.027" v="0"/>
        <pc:sldMkLst>
          <pc:docMk/>
          <pc:sldMk cId="1523422137" sldId="270"/>
        </pc:sldMkLst>
        <pc:spChg chg="add mod">
          <ac:chgData name="Peter Javornický" userId="3b98f8e0-d449-4f6e-b57d-5f9bfb7a5c2c" providerId="ADAL" clId="{88A10E76-C547-4713-B92A-3B48010D5CF0}" dt="2025-12-16T08:41:37.027" v="0"/>
          <ac:spMkLst>
            <pc:docMk/>
            <pc:sldMk cId="1523422137" sldId="270"/>
            <ac:spMk id="4" creationId="{89FF68C2-AA5C-CBE0-F0B1-AB8AE80E0F10}"/>
          </ac:spMkLst>
        </pc:spChg>
      </pc:sldChg>
      <pc:sldChg chg="addSp modSp">
        <pc:chgData name="Peter Javornický" userId="3b98f8e0-d449-4f6e-b57d-5f9bfb7a5c2c" providerId="ADAL" clId="{88A10E76-C547-4713-B92A-3B48010D5CF0}" dt="2025-12-16T08:42:03.159" v="1"/>
        <pc:sldMkLst>
          <pc:docMk/>
          <pc:sldMk cId="2657097092" sldId="271"/>
        </pc:sldMkLst>
        <pc:spChg chg="add mod">
          <ac:chgData name="Peter Javornický" userId="3b98f8e0-d449-4f6e-b57d-5f9bfb7a5c2c" providerId="ADAL" clId="{88A10E76-C547-4713-B92A-3B48010D5CF0}" dt="2025-12-16T08:42:03.159" v="1"/>
          <ac:spMkLst>
            <pc:docMk/>
            <pc:sldMk cId="2657097092" sldId="271"/>
            <ac:spMk id="4" creationId="{69AE33AC-13FC-4021-5302-1657F63184E5}"/>
          </ac:spMkLst>
        </pc:spChg>
      </pc:sldChg>
      <pc:sldChg chg="addSp modSp">
        <pc:chgData name="Peter Javornický" userId="3b98f8e0-d449-4f6e-b57d-5f9bfb7a5c2c" providerId="ADAL" clId="{88A10E76-C547-4713-B92A-3B48010D5CF0}" dt="2025-12-16T08:42:32.622" v="2"/>
        <pc:sldMkLst>
          <pc:docMk/>
          <pc:sldMk cId="4117134501" sldId="272"/>
        </pc:sldMkLst>
        <pc:spChg chg="add mod">
          <ac:chgData name="Peter Javornický" userId="3b98f8e0-d449-4f6e-b57d-5f9bfb7a5c2c" providerId="ADAL" clId="{88A10E76-C547-4713-B92A-3B48010D5CF0}" dt="2025-12-16T08:42:32.622" v="2"/>
          <ac:spMkLst>
            <pc:docMk/>
            <pc:sldMk cId="4117134501" sldId="272"/>
            <ac:spMk id="4" creationId="{4A120922-AD59-D1CE-7B21-C00AE33DC9E5}"/>
          </ac:spMkLst>
        </pc:spChg>
      </pc:sldChg>
      <pc:sldChg chg="addSp modSp">
        <pc:chgData name="Peter Javornický" userId="3b98f8e0-d449-4f6e-b57d-5f9bfb7a5c2c" providerId="ADAL" clId="{88A10E76-C547-4713-B92A-3B48010D5CF0}" dt="2025-12-16T08:42:58.846" v="3"/>
        <pc:sldMkLst>
          <pc:docMk/>
          <pc:sldMk cId="116364638" sldId="273"/>
        </pc:sldMkLst>
        <pc:spChg chg="add mod">
          <ac:chgData name="Peter Javornický" userId="3b98f8e0-d449-4f6e-b57d-5f9bfb7a5c2c" providerId="ADAL" clId="{88A10E76-C547-4713-B92A-3B48010D5CF0}" dt="2025-12-16T08:42:58.846" v="3"/>
          <ac:spMkLst>
            <pc:docMk/>
            <pc:sldMk cId="116364638" sldId="273"/>
            <ac:spMk id="6" creationId="{386BF877-1886-1F6B-060A-A8985D219C70}"/>
          </ac:spMkLst>
        </pc:spChg>
      </pc:sldChg>
      <pc:sldChg chg="addSp modSp">
        <pc:chgData name="Peter Javornický" userId="3b98f8e0-d449-4f6e-b57d-5f9bfb7a5c2c" providerId="ADAL" clId="{88A10E76-C547-4713-B92A-3B48010D5CF0}" dt="2025-12-16T08:43:29.652" v="4"/>
        <pc:sldMkLst>
          <pc:docMk/>
          <pc:sldMk cId="2678950995" sldId="274"/>
        </pc:sldMkLst>
        <pc:spChg chg="add mod">
          <ac:chgData name="Peter Javornický" userId="3b98f8e0-d449-4f6e-b57d-5f9bfb7a5c2c" providerId="ADAL" clId="{88A10E76-C547-4713-B92A-3B48010D5CF0}" dt="2025-12-16T08:43:29.652" v="4"/>
          <ac:spMkLst>
            <pc:docMk/>
            <pc:sldMk cId="2678950995" sldId="274"/>
            <ac:spMk id="6" creationId="{A3ABA76B-78DF-0D03-2E80-14B4709137DE}"/>
          </ac:spMkLst>
        </pc:spChg>
      </pc:sldChg>
      <pc:sldChg chg="addSp modSp">
        <pc:chgData name="Peter Javornický" userId="3b98f8e0-d449-4f6e-b57d-5f9bfb7a5c2c" providerId="ADAL" clId="{88A10E76-C547-4713-B92A-3B48010D5CF0}" dt="2025-12-16T08:43:54.113" v="5"/>
        <pc:sldMkLst>
          <pc:docMk/>
          <pc:sldMk cId="790849571" sldId="275"/>
        </pc:sldMkLst>
        <pc:spChg chg="add mod">
          <ac:chgData name="Peter Javornický" userId="3b98f8e0-d449-4f6e-b57d-5f9bfb7a5c2c" providerId="ADAL" clId="{88A10E76-C547-4713-B92A-3B48010D5CF0}" dt="2025-12-16T08:43:54.113" v="5"/>
          <ac:spMkLst>
            <pc:docMk/>
            <pc:sldMk cId="790849571" sldId="275"/>
            <ac:spMk id="4" creationId="{6D3AF1FD-8363-423B-68F0-480A6A31AC71}"/>
          </ac:spMkLst>
        </pc:spChg>
      </pc:sldChg>
      <pc:sldChg chg="addSp modSp">
        <pc:chgData name="Peter Javornický" userId="3b98f8e0-d449-4f6e-b57d-5f9bfb7a5c2c" providerId="ADAL" clId="{88A10E76-C547-4713-B92A-3B48010D5CF0}" dt="2025-12-16T08:44:20.002" v="6"/>
        <pc:sldMkLst>
          <pc:docMk/>
          <pc:sldMk cId="697953841" sldId="276"/>
        </pc:sldMkLst>
        <pc:spChg chg="add mod">
          <ac:chgData name="Peter Javornický" userId="3b98f8e0-d449-4f6e-b57d-5f9bfb7a5c2c" providerId="ADAL" clId="{88A10E76-C547-4713-B92A-3B48010D5CF0}" dt="2025-12-16T08:44:20.002" v="6"/>
          <ac:spMkLst>
            <pc:docMk/>
            <pc:sldMk cId="697953841" sldId="276"/>
            <ac:spMk id="4" creationId="{7FFB8518-C5D8-02E9-8E4B-5313BAC784A3}"/>
          </ac:spMkLst>
        </pc:spChg>
      </pc:sldChg>
      <pc:sldChg chg="addSp modSp">
        <pc:chgData name="Peter Javornický" userId="3b98f8e0-d449-4f6e-b57d-5f9bfb7a5c2c" providerId="ADAL" clId="{88A10E76-C547-4713-B92A-3B48010D5CF0}" dt="2025-12-16T08:44:41.261" v="7"/>
        <pc:sldMkLst>
          <pc:docMk/>
          <pc:sldMk cId="3012535913" sldId="277"/>
        </pc:sldMkLst>
        <pc:spChg chg="add mod">
          <ac:chgData name="Peter Javornický" userId="3b98f8e0-d449-4f6e-b57d-5f9bfb7a5c2c" providerId="ADAL" clId="{88A10E76-C547-4713-B92A-3B48010D5CF0}" dt="2025-12-16T08:44:41.261" v="7"/>
          <ac:spMkLst>
            <pc:docMk/>
            <pc:sldMk cId="3012535913" sldId="277"/>
            <ac:spMk id="4" creationId="{FD2EECC5-AC69-7213-FA77-A9DB5C3A7622}"/>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ABF10F7-B6C5-4722-8A86-628EEC0363DA}" type="datetimeFigureOut">
              <a:rPr lang="en-US" smtClean="0"/>
              <a:t>12/16/2025</a:t>
            </a:fld>
            <a:endParaRPr lang="en-US" dirty="0"/>
          </a:p>
        </p:txBody>
      </p:sp>
      <p:sp>
        <p:nvSpPr>
          <p:cNvPr id="4" name="Slide Image Placeholder 3"/>
          <p:cNvSpPr>
            <a:spLocks noGrp="1" noRot="1" noChangeAspect="1"/>
          </p:cNvSpPr>
          <p:nvPr>
            <p:ph type="sldImg" idx="2"/>
          </p:nvPr>
        </p:nvSpPr>
        <p:spPr>
          <a:xfrm>
            <a:off x="2449513" y="1143000"/>
            <a:ext cx="1958975"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FEF3203-849B-4784-BD5D-A210CDCB2B30}" type="slidenum">
              <a:rPr lang="en-US" smtClean="0"/>
              <a:t>‹#›</a:t>
            </a:fld>
            <a:endParaRPr lang="en-US" dirty="0"/>
          </a:p>
        </p:txBody>
      </p:sp>
    </p:spTree>
    <p:extLst>
      <p:ext uri="{BB962C8B-B14F-4D97-AF65-F5344CB8AC3E}">
        <p14:creationId xmlns:p14="http://schemas.microsoft.com/office/powerpoint/2010/main" val="31297423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ffectLst/>
              </a:rPr>
              <a:t>Christmas AR Message</a:t>
            </a:r>
            <a:endParaRPr lang="en-US" dirty="0"/>
          </a:p>
        </p:txBody>
      </p:sp>
      <p:sp>
        <p:nvSpPr>
          <p:cNvPr id="4" name="Slide Number Placeholder 3"/>
          <p:cNvSpPr>
            <a:spLocks noGrp="1"/>
          </p:cNvSpPr>
          <p:nvPr>
            <p:ph type="sldNum" sz="quarter" idx="5"/>
          </p:nvPr>
        </p:nvSpPr>
        <p:spPr/>
        <p:txBody>
          <a:bodyPr/>
          <a:lstStyle/>
          <a:p>
            <a:fld id="{5FEF3203-849B-4784-BD5D-A210CDCB2B30}" type="slidenum">
              <a:rPr lang="en-US" smtClean="0"/>
              <a:t>1</a:t>
            </a:fld>
            <a:endParaRPr lang="en-US" dirty="0"/>
          </a:p>
        </p:txBody>
      </p:sp>
    </p:spTree>
    <p:extLst>
      <p:ext uri="{BB962C8B-B14F-4D97-AF65-F5344CB8AC3E}">
        <p14:creationId xmlns:p14="http://schemas.microsoft.com/office/powerpoint/2010/main" val="6254955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B94E0F-0BC9-970D-7737-AF90F5C968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765663-095D-E931-85FD-6E48B3D23B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28684C-7615-B9F8-893D-916B9A635D37}"/>
              </a:ext>
            </a:extLst>
          </p:cNvPr>
          <p:cNvSpPr>
            <a:spLocks noGrp="1"/>
          </p:cNvSpPr>
          <p:nvPr>
            <p:ph type="body" idx="1"/>
          </p:nvPr>
        </p:nvSpPr>
        <p:spPr/>
        <p:txBody>
          <a:bodyPr/>
          <a:lstStyle/>
          <a:p>
            <a:r>
              <a:rPr lang="cs-CZ" dirty="0">
                <a:effectLst/>
              </a:rPr>
              <a:t>Elf Yourself</a:t>
            </a:r>
            <a:endParaRPr lang="en-US" dirty="0"/>
          </a:p>
        </p:txBody>
      </p:sp>
      <p:sp>
        <p:nvSpPr>
          <p:cNvPr id="4" name="Slide Number Placeholder 3">
            <a:extLst>
              <a:ext uri="{FF2B5EF4-FFF2-40B4-BE49-F238E27FC236}">
                <a16:creationId xmlns:a16="http://schemas.microsoft.com/office/drawing/2014/main" id="{B35BDCCD-CFB1-58A8-3E4C-A08077C21DFA}"/>
              </a:ext>
            </a:extLst>
          </p:cNvPr>
          <p:cNvSpPr>
            <a:spLocks noGrp="1"/>
          </p:cNvSpPr>
          <p:nvPr>
            <p:ph type="sldNum" sz="quarter" idx="5"/>
          </p:nvPr>
        </p:nvSpPr>
        <p:spPr/>
        <p:txBody>
          <a:bodyPr/>
          <a:lstStyle/>
          <a:p>
            <a:fld id="{5FEF3203-849B-4784-BD5D-A210CDCB2B30}" type="slidenum">
              <a:rPr lang="en-US" smtClean="0"/>
              <a:t>2</a:t>
            </a:fld>
            <a:endParaRPr lang="en-US"/>
          </a:p>
        </p:txBody>
      </p:sp>
    </p:spTree>
    <p:extLst>
      <p:ext uri="{BB962C8B-B14F-4D97-AF65-F5344CB8AC3E}">
        <p14:creationId xmlns:p14="http://schemas.microsoft.com/office/powerpoint/2010/main" val="7470245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0D5329-4541-42A3-2908-8CC6B0325F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CFFE9F-4416-2FF7-DB0B-FDA0889858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CADEEA-C1A1-3EF4-9872-C6C0967D540F}"/>
              </a:ext>
            </a:extLst>
          </p:cNvPr>
          <p:cNvSpPr>
            <a:spLocks noGrp="1"/>
          </p:cNvSpPr>
          <p:nvPr>
            <p:ph type="body" idx="1"/>
          </p:nvPr>
        </p:nvSpPr>
        <p:spPr/>
        <p:txBody>
          <a:bodyPr/>
          <a:lstStyle/>
          <a:p>
            <a:r>
              <a:rPr lang="cs-CZ" dirty="0">
                <a:effectLst/>
              </a:rPr>
              <a:t>AR Christmas Mini Game</a:t>
            </a:r>
            <a:endParaRPr lang="en-US" dirty="0"/>
          </a:p>
        </p:txBody>
      </p:sp>
      <p:sp>
        <p:nvSpPr>
          <p:cNvPr id="4" name="Slide Number Placeholder 3">
            <a:extLst>
              <a:ext uri="{FF2B5EF4-FFF2-40B4-BE49-F238E27FC236}">
                <a16:creationId xmlns:a16="http://schemas.microsoft.com/office/drawing/2014/main" id="{FCCBFCED-CFBE-F058-5767-62E0AEE0F90B}"/>
              </a:ext>
            </a:extLst>
          </p:cNvPr>
          <p:cNvSpPr>
            <a:spLocks noGrp="1"/>
          </p:cNvSpPr>
          <p:nvPr>
            <p:ph type="sldNum" sz="quarter" idx="5"/>
          </p:nvPr>
        </p:nvSpPr>
        <p:spPr/>
        <p:txBody>
          <a:bodyPr/>
          <a:lstStyle/>
          <a:p>
            <a:fld id="{5FEF3203-849B-4784-BD5D-A210CDCB2B30}" type="slidenum">
              <a:rPr lang="en-US" smtClean="0"/>
              <a:t>3</a:t>
            </a:fld>
            <a:endParaRPr lang="en-US"/>
          </a:p>
        </p:txBody>
      </p:sp>
    </p:spTree>
    <p:extLst>
      <p:ext uri="{BB962C8B-B14F-4D97-AF65-F5344CB8AC3E}">
        <p14:creationId xmlns:p14="http://schemas.microsoft.com/office/powerpoint/2010/main" val="22914628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8D033B-6D30-624D-09FF-B8F6AA860C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52E0A1-72CE-EB7D-2BF2-856FAFFBD4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168D0A-0450-B6CA-EAE0-91143215766D}"/>
              </a:ext>
            </a:extLst>
          </p:cNvPr>
          <p:cNvSpPr>
            <a:spLocks noGrp="1"/>
          </p:cNvSpPr>
          <p:nvPr>
            <p:ph type="body" idx="1"/>
          </p:nvPr>
        </p:nvSpPr>
        <p:spPr/>
        <p:txBody>
          <a:bodyPr/>
          <a:lstStyle/>
          <a:p>
            <a:r>
              <a:rPr lang="en-US" dirty="0">
                <a:effectLst/>
              </a:rPr>
              <a:t>Christmas </a:t>
            </a:r>
            <a:r>
              <a:rPr lang="cs-CZ" dirty="0">
                <a:effectLst/>
              </a:rPr>
              <a:t>Lip Sync</a:t>
            </a:r>
            <a:endParaRPr lang="en-US" dirty="0"/>
          </a:p>
        </p:txBody>
      </p:sp>
      <p:sp>
        <p:nvSpPr>
          <p:cNvPr id="4" name="Slide Number Placeholder 3">
            <a:extLst>
              <a:ext uri="{FF2B5EF4-FFF2-40B4-BE49-F238E27FC236}">
                <a16:creationId xmlns:a16="http://schemas.microsoft.com/office/drawing/2014/main" id="{79DBDE20-7355-19D4-D20F-B0B66D3116CC}"/>
              </a:ext>
            </a:extLst>
          </p:cNvPr>
          <p:cNvSpPr>
            <a:spLocks noGrp="1"/>
          </p:cNvSpPr>
          <p:nvPr>
            <p:ph type="sldNum" sz="quarter" idx="5"/>
          </p:nvPr>
        </p:nvSpPr>
        <p:spPr/>
        <p:txBody>
          <a:bodyPr/>
          <a:lstStyle/>
          <a:p>
            <a:fld id="{5FEF3203-849B-4784-BD5D-A210CDCB2B30}" type="slidenum">
              <a:rPr lang="en-US" smtClean="0"/>
              <a:t>4</a:t>
            </a:fld>
            <a:endParaRPr lang="en-US"/>
          </a:p>
        </p:txBody>
      </p:sp>
    </p:spTree>
    <p:extLst>
      <p:ext uri="{BB962C8B-B14F-4D97-AF65-F5344CB8AC3E}">
        <p14:creationId xmlns:p14="http://schemas.microsoft.com/office/powerpoint/2010/main" val="13770345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FF7DB8-52F6-FA3C-92A3-D46F268687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63B4BF-3A9B-118F-3280-324E7B4F0E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AACCA1-223E-6282-F45E-3F767EF5C32F}"/>
              </a:ext>
            </a:extLst>
          </p:cNvPr>
          <p:cNvSpPr>
            <a:spLocks noGrp="1"/>
          </p:cNvSpPr>
          <p:nvPr>
            <p:ph type="body" idx="1"/>
          </p:nvPr>
        </p:nvSpPr>
        <p:spPr/>
        <p:txBody>
          <a:bodyPr/>
          <a:lstStyle/>
          <a:p>
            <a:r>
              <a:rPr lang="cs-CZ" dirty="0">
                <a:effectLst/>
              </a:rPr>
              <a:t>Christmas Duet</a:t>
            </a:r>
            <a:endParaRPr lang="en-US" dirty="0"/>
          </a:p>
        </p:txBody>
      </p:sp>
      <p:sp>
        <p:nvSpPr>
          <p:cNvPr id="4" name="Slide Number Placeholder 3">
            <a:extLst>
              <a:ext uri="{FF2B5EF4-FFF2-40B4-BE49-F238E27FC236}">
                <a16:creationId xmlns:a16="http://schemas.microsoft.com/office/drawing/2014/main" id="{FDAFEB05-8337-747E-71F1-D024185C75D4}"/>
              </a:ext>
            </a:extLst>
          </p:cNvPr>
          <p:cNvSpPr>
            <a:spLocks noGrp="1"/>
          </p:cNvSpPr>
          <p:nvPr>
            <p:ph type="sldNum" sz="quarter" idx="5"/>
          </p:nvPr>
        </p:nvSpPr>
        <p:spPr/>
        <p:txBody>
          <a:bodyPr/>
          <a:lstStyle/>
          <a:p>
            <a:fld id="{5FEF3203-849B-4784-BD5D-A210CDCB2B30}" type="slidenum">
              <a:rPr lang="en-US" smtClean="0"/>
              <a:t>5</a:t>
            </a:fld>
            <a:endParaRPr lang="en-US"/>
          </a:p>
        </p:txBody>
      </p:sp>
    </p:spTree>
    <p:extLst>
      <p:ext uri="{BB962C8B-B14F-4D97-AF65-F5344CB8AC3E}">
        <p14:creationId xmlns:p14="http://schemas.microsoft.com/office/powerpoint/2010/main" val="2585970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3FCEC3-8BB3-C05E-854A-7F988372E5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56CCFA-1A66-5A59-8B7B-0D05581E9E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3F5D4D-6D12-C8DF-E852-820746171969}"/>
              </a:ext>
            </a:extLst>
          </p:cNvPr>
          <p:cNvSpPr>
            <a:spLocks noGrp="1"/>
          </p:cNvSpPr>
          <p:nvPr>
            <p:ph type="body" idx="1"/>
          </p:nvPr>
        </p:nvSpPr>
        <p:spPr/>
        <p:txBody>
          <a:bodyPr/>
          <a:lstStyle/>
          <a:p>
            <a:r>
              <a:rPr lang="cs-CZ" dirty="0">
                <a:effectLst/>
              </a:rPr>
              <a:t>Christmas Cake Suprise</a:t>
            </a:r>
            <a:endParaRPr lang="en-US" dirty="0"/>
          </a:p>
        </p:txBody>
      </p:sp>
      <p:sp>
        <p:nvSpPr>
          <p:cNvPr id="4" name="Slide Number Placeholder 3">
            <a:extLst>
              <a:ext uri="{FF2B5EF4-FFF2-40B4-BE49-F238E27FC236}">
                <a16:creationId xmlns:a16="http://schemas.microsoft.com/office/drawing/2014/main" id="{0A8E1D55-87BA-EFE1-E878-BA08A84D9C5B}"/>
              </a:ext>
            </a:extLst>
          </p:cNvPr>
          <p:cNvSpPr>
            <a:spLocks noGrp="1"/>
          </p:cNvSpPr>
          <p:nvPr>
            <p:ph type="sldNum" sz="quarter" idx="5"/>
          </p:nvPr>
        </p:nvSpPr>
        <p:spPr/>
        <p:txBody>
          <a:bodyPr/>
          <a:lstStyle/>
          <a:p>
            <a:fld id="{5FEF3203-849B-4784-BD5D-A210CDCB2B30}" type="slidenum">
              <a:rPr lang="en-US" smtClean="0"/>
              <a:t>6</a:t>
            </a:fld>
            <a:endParaRPr lang="en-US"/>
          </a:p>
        </p:txBody>
      </p:sp>
    </p:spTree>
    <p:extLst>
      <p:ext uri="{BB962C8B-B14F-4D97-AF65-F5344CB8AC3E}">
        <p14:creationId xmlns:p14="http://schemas.microsoft.com/office/powerpoint/2010/main" val="16685203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C826F1-8EDC-9D06-0805-12384859E0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5C3221-D2CF-C411-7C17-2BEEB86009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AA35BD-A72D-9105-8BCF-F391BB7B07AD}"/>
              </a:ext>
            </a:extLst>
          </p:cNvPr>
          <p:cNvSpPr>
            <a:spLocks noGrp="1"/>
          </p:cNvSpPr>
          <p:nvPr>
            <p:ph type="body" idx="1"/>
          </p:nvPr>
        </p:nvSpPr>
        <p:spPr/>
        <p:txBody>
          <a:bodyPr/>
          <a:lstStyle/>
          <a:p>
            <a:r>
              <a:rPr lang="cs-CZ" dirty="0"/>
              <a:t>Birthday Message</a:t>
            </a:r>
            <a:endParaRPr lang="en-US" dirty="0"/>
          </a:p>
        </p:txBody>
      </p:sp>
      <p:sp>
        <p:nvSpPr>
          <p:cNvPr id="4" name="Slide Number Placeholder 3">
            <a:extLst>
              <a:ext uri="{FF2B5EF4-FFF2-40B4-BE49-F238E27FC236}">
                <a16:creationId xmlns:a16="http://schemas.microsoft.com/office/drawing/2014/main" id="{D9AD270E-F3D0-B1EB-48FE-EFF708523A92}"/>
              </a:ext>
            </a:extLst>
          </p:cNvPr>
          <p:cNvSpPr>
            <a:spLocks noGrp="1"/>
          </p:cNvSpPr>
          <p:nvPr>
            <p:ph type="sldNum" sz="quarter" idx="5"/>
          </p:nvPr>
        </p:nvSpPr>
        <p:spPr/>
        <p:txBody>
          <a:bodyPr/>
          <a:lstStyle/>
          <a:p>
            <a:fld id="{5FEF3203-849B-4784-BD5D-A210CDCB2B30}" type="slidenum">
              <a:rPr lang="en-US" smtClean="0"/>
              <a:t>7</a:t>
            </a:fld>
            <a:endParaRPr lang="en-US"/>
          </a:p>
        </p:txBody>
      </p:sp>
    </p:spTree>
    <p:extLst>
      <p:ext uri="{BB962C8B-B14F-4D97-AF65-F5344CB8AC3E}">
        <p14:creationId xmlns:p14="http://schemas.microsoft.com/office/powerpoint/2010/main" val="4010621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CB3B23-A024-15BF-27DF-AF46D9D9E1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AB05ED-B8EB-F48A-2B46-AEABB96CC0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F714BD-2847-43E5-AE9D-9E3381C43F63}"/>
              </a:ext>
            </a:extLst>
          </p:cNvPr>
          <p:cNvSpPr>
            <a:spLocks noGrp="1"/>
          </p:cNvSpPr>
          <p:nvPr>
            <p:ph type="body" idx="1"/>
          </p:nvPr>
        </p:nvSpPr>
        <p:spPr/>
        <p:txBody>
          <a:bodyPr/>
          <a:lstStyle/>
          <a:p>
            <a:r>
              <a:rPr lang="en-US" dirty="0"/>
              <a:t>Valentine Message</a:t>
            </a:r>
          </a:p>
        </p:txBody>
      </p:sp>
      <p:sp>
        <p:nvSpPr>
          <p:cNvPr id="4" name="Slide Number Placeholder 3">
            <a:extLst>
              <a:ext uri="{FF2B5EF4-FFF2-40B4-BE49-F238E27FC236}">
                <a16:creationId xmlns:a16="http://schemas.microsoft.com/office/drawing/2014/main" id="{7228CF1B-EFB1-620D-0ABB-966557AAEE08}"/>
              </a:ext>
            </a:extLst>
          </p:cNvPr>
          <p:cNvSpPr>
            <a:spLocks noGrp="1"/>
          </p:cNvSpPr>
          <p:nvPr>
            <p:ph type="sldNum" sz="quarter" idx="5"/>
          </p:nvPr>
        </p:nvSpPr>
        <p:spPr/>
        <p:txBody>
          <a:bodyPr/>
          <a:lstStyle/>
          <a:p>
            <a:fld id="{5FEF3203-849B-4784-BD5D-A210CDCB2B30}" type="slidenum">
              <a:rPr lang="en-US" smtClean="0"/>
              <a:t>8</a:t>
            </a:fld>
            <a:endParaRPr lang="en-US"/>
          </a:p>
        </p:txBody>
      </p:sp>
    </p:spTree>
    <p:extLst>
      <p:ext uri="{BB962C8B-B14F-4D97-AF65-F5344CB8AC3E}">
        <p14:creationId xmlns:p14="http://schemas.microsoft.com/office/powerpoint/2010/main" val="39915962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Koncept - Širší">
    <p:spTree>
      <p:nvGrpSpPr>
        <p:cNvPr id="1" name=""/>
        <p:cNvGrpSpPr/>
        <p:nvPr/>
      </p:nvGrpSpPr>
      <p:grpSpPr>
        <a:xfrm>
          <a:off x="0" y="0"/>
          <a:ext cx="0" cy="0"/>
          <a:chOff x="0" y="0"/>
          <a:chExt cx="0" cy="0"/>
        </a:xfrm>
      </p:grpSpPr>
      <p:sp>
        <p:nvSpPr>
          <p:cNvPr id="2" name="Title 1"/>
          <p:cNvSpPr>
            <a:spLocks noGrp="1"/>
          </p:cNvSpPr>
          <p:nvPr>
            <p:ph type="title"/>
          </p:nvPr>
        </p:nvSpPr>
        <p:spPr>
          <a:xfrm>
            <a:off x="225288" y="357050"/>
            <a:ext cx="6361042" cy="922506"/>
          </a:xfrm>
        </p:spPr>
        <p:txBody>
          <a:bodyPr/>
          <a:lstStyle/>
          <a:p>
            <a:r>
              <a:rPr lang="en-US" dirty="0"/>
              <a:t>Click to edit Master title style</a:t>
            </a:r>
          </a:p>
        </p:txBody>
      </p:sp>
      <p:sp>
        <p:nvSpPr>
          <p:cNvPr id="4" name="Text Placeholder 3">
            <a:extLst>
              <a:ext uri="{FF2B5EF4-FFF2-40B4-BE49-F238E27FC236}">
                <a16:creationId xmlns:a16="http://schemas.microsoft.com/office/drawing/2014/main" id="{3371AA04-A0F8-87B9-B272-01F3327D49CB}"/>
              </a:ext>
            </a:extLst>
          </p:cNvPr>
          <p:cNvSpPr>
            <a:spLocks noGrp="1"/>
          </p:cNvSpPr>
          <p:nvPr>
            <p:ph type="body" sz="quarter" idx="10"/>
          </p:nvPr>
        </p:nvSpPr>
        <p:spPr>
          <a:xfrm>
            <a:off x="225288" y="1279525"/>
            <a:ext cx="6361042" cy="9255953"/>
          </a:xfrm>
        </p:spPr>
        <p:txBody>
          <a:bodyPr>
            <a:normAutofit/>
          </a:bodyPr>
          <a:lstStyle>
            <a:lvl1pPr>
              <a:defRPr sz="3600"/>
            </a:lvl1pPr>
            <a:lvl2pPr>
              <a:defRPr sz="3600"/>
            </a:lvl2pPr>
            <a:lvl3pPr>
              <a:defRPr sz="3600"/>
            </a:lvl3pPr>
            <a:lvl4pPr>
              <a:defRPr sz="3600"/>
            </a:lvl4pPr>
            <a:lvl5pPr>
              <a:defRPr sz="3600"/>
            </a:lvl5pPr>
          </a:lstStyle>
          <a:p>
            <a:pPr lvl="0"/>
            <a:r>
              <a:rPr lang="en-US" dirty="0"/>
              <a:t>Click to edit Master text styles</a:t>
            </a:r>
          </a:p>
          <a:p>
            <a:pPr lvl="1"/>
            <a:r>
              <a:rPr lang="en-US" dirty="0"/>
              <a:t>Second level</a:t>
            </a:r>
          </a:p>
        </p:txBody>
      </p:sp>
    </p:spTree>
    <p:extLst>
      <p:ext uri="{BB962C8B-B14F-4D97-AF65-F5344CB8AC3E}">
        <p14:creationId xmlns:p14="http://schemas.microsoft.com/office/powerpoint/2010/main" val="9543878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Koncept Užší">
    <p:spTree>
      <p:nvGrpSpPr>
        <p:cNvPr id="1" name=""/>
        <p:cNvGrpSpPr/>
        <p:nvPr/>
      </p:nvGrpSpPr>
      <p:grpSpPr>
        <a:xfrm>
          <a:off x="0" y="0"/>
          <a:ext cx="0" cy="0"/>
          <a:chOff x="0" y="0"/>
          <a:chExt cx="0" cy="0"/>
        </a:xfrm>
      </p:grpSpPr>
      <p:sp>
        <p:nvSpPr>
          <p:cNvPr id="2" name="Title 1"/>
          <p:cNvSpPr>
            <a:spLocks noGrp="1"/>
          </p:cNvSpPr>
          <p:nvPr>
            <p:ph type="title"/>
          </p:nvPr>
        </p:nvSpPr>
        <p:spPr>
          <a:xfrm>
            <a:off x="384312" y="357050"/>
            <a:ext cx="6069497" cy="922506"/>
          </a:xfrm>
        </p:spPr>
        <p:txBody>
          <a:bodyPr/>
          <a:lstStyle/>
          <a:p>
            <a:r>
              <a:rPr lang="en-US" dirty="0"/>
              <a:t>Click to edit Master title style</a:t>
            </a:r>
          </a:p>
        </p:txBody>
      </p:sp>
      <p:sp>
        <p:nvSpPr>
          <p:cNvPr id="4" name="Text Placeholder 3">
            <a:extLst>
              <a:ext uri="{FF2B5EF4-FFF2-40B4-BE49-F238E27FC236}">
                <a16:creationId xmlns:a16="http://schemas.microsoft.com/office/drawing/2014/main" id="{3371AA04-A0F8-87B9-B272-01F3327D49CB}"/>
              </a:ext>
            </a:extLst>
          </p:cNvPr>
          <p:cNvSpPr>
            <a:spLocks noGrp="1"/>
          </p:cNvSpPr>
          <p:nvPr>
            <p:ph type="body" sz="quarter" idx="10"/>
          </p:nvPr>
        </p:nvSpPr>
        <p:spPr>
          <a:xfrm>
            <a:off x="384312" y="1279525"/>
            <a:ext cx="6069497" cy="9255953"/>
          </a:xfrm>
        </p:spPr>
        <p:txBody>
          <a:bodyPr>
            <a:normAutofit/>
          </a:bodyPr>
          <a:lstStyle>
            <a:lvl1pPr>
              <a:defRPr sz="3600"/>
            </a:lvl1pPr>
            <a:lvl2pPr>
              <a:defRPr sz="3600"/>
            </a:lvl2pPr>
            <a:lvl3pPr>
              <a:defRPr sz="3600"/>
            </a:lvl3pPr>
            <a:lvl4pPr>
              <a:defRPr sz="3600"/>
            </a:lvl4pPr>
            <a:lvl5pPr>
              <a:defRPr sz="3600"/>
            </a:lvl5pPr>
          </a:lstStyle>
          <a:p>
            <a:pPr lvl="0"/>
            <a:r>
              <a:rPr lang="en-US" dirty="0"/>
              <a:t>Click to edit Master text styles</a:t>
            </a:r>
          </a:p>
          <a:p>
            <a:pPr lvl="1"/>
            <a:r>
              <a:rPr lang="en-US" dirty="0"/>
              <a:t>Second level</a:t>
            </a:r>
          </a:p>
        </p:txBody>
      </p:sp>
    </p:spTree>
    <p:extLst>
      <p:ext uri="{BB962C8B-B14F-4D97-AF65-F5344CB8AC3E}">
        <p14:creationId xmlns:p14="http://schemas.microsoft.com/office/powerpoint/2010/main" val="36733643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dea">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371AA04-A0F8-87B9-B272-01F3327D49CB}"/>
              </a:ext>
            </a:extLst>
          </p:cNvPr>
          <p:cNvSpPr>
            <a:spLocks noGrp="1"/>
          </p:cNvSpPr>
          <p:nvPr>
            <p:ph type="body" sz="quarter" idx="10"/>
          </p:nvPr>
        </p:nvSpPr>
        <p:spPr>
          <a:xfrm>
            <a:off x="119270" y="357809"/>
            <a:ext cx="6626087" cy="10177669"/>
          </a:xfrm>
        </p:spPr>
        <p:txBody>
          <a:bodyPr anchor="ctr">
            <a:normAutofit/>
          </a:bodyPr>
          <a:lstStyle>
            <a:lvl1pPr algn="ctr">
              <a:lnSpc>
                <a:spcPct val="100000"/>
              </a:lnSpc>
              <a:spcBef>
                <a:spcPts val="0"/>
              </a:spcBef>
              <a:defRPr sz="6600"/>
            </a:lvl1pPr>
            <a:lvl2pPr>
              <a:defRPr sz="4000"/>
            </a:lvl2pPr>
            <a:lvl3pPr>
              <a:defRPr sz="3600"/>
            </a:lvl3pPr>
            <a:lvl4pPr>
              <a:defRPr sz="3600"/>
            </a:lvl4pPr>
            <a:lvl5pPr>
              <a:defRPr sz="3600"/>
            </a:lvl5pPr>
          </a:lstStyle>
          <a:p>
            <a:pPr lvl="0"/>
            <a:r>
              <a:rPr lang="en-US" dirty="0"/>
              <a:t>Click to edit Master text styles</a:t>
            </a:r>
          </a:p>
        </p:txBody>
      </p:sp>
    </p:spTree>
    <p:extLst>
      <p:ext uri="{BB962C8B-B14F-4D97-AF65-F5344CB8AC3E}">
        <p14:creationId xmlns:p14="http://schemas.microsoft.com/office/powerpoint/2010/main" val="95777005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357050"/>
            <a:ext cx="5915025" cy="922506"/>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71488" y="1444488"/>
            <a:ext cx="5915025" cy="8998226"/>
          </a:xfrm>
          <a:prstGeom prst="rect">
            <a:avLst/>
          </a:prstGeom>
        </p:spPr>
        <p:txBody>
          <a:bodyPr vert="horz" lIns="91440" tIns="45720" rIns="91440" bIns="45720" rtlCol="0">
            <a:normAutofit/>
          </a:bodyPr>
          <a:lstStyle/>
          <a:p>
            <a:pPr lvl="0"/>
            <a:r>
              <a:rPr lang="en-US" dirty="0"/>
              <a:t>Click to edit Master text styles</a:t>
            </a:r>
          </a:p>
        </p:txBody>
      </p:sp>
    </p:spTree>
    <p:extLst>
      <p:ext uri="{BB962C8B-B14F-4D97-AF65-F5344CB8AC3E}">
        <p14:creationId xmlns:p14="http://schemas.microsoft.com/office/powerpoint/2010/main" val="3736371093"/>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Lst>
  <p:txStyles>
    <p:titleStyle>
      <a:lvl1pPr algn="l" defTabSz="685800" rtl="0" eaLnBrk="1" latinLnBrk="0" hangingPunct="1">
        <a:lnSpc>
          <a:spcPct val="90000"/>
        </a:lnSpc>
        <a:spcBef>
          <a:spcPct val="0"/>
        </a:spcBef>
        <a:buNone/>
        <a:defRPr sz="3600" kern="1200">
          <a:solidFill>
            <a:schemeClr val="tx1"/>
          </a:solidFill>
          <a:latin typeface="+mn-lt"/>
          <a:ea typeface="+mj-ea"/>
          <a:cs typeface="+mj-cs"/>
        </a:defRPr>
      </a:lvl1pPr>
    </p:titleStyle>
    <p:bodyStyle>
      <a:lvl1pPr marL="0" indent="0" algn="l" defTabSz="685800" rtl="0" eaLnBrk="1" latinLnBrk="0" hangingPunct="1">
        <a:lnSpc>
          <a:spcPct val="90000"/>
        </a:lnSpc>
        <a:spcBef>
          <a:spcPts val="750"/>
        </a:spcBef>
        <a:buFontTx/>
        <a:buNone/>
        <a:defRPr sz="3600" kern="1200">
          <a:solidFill>
            <a:schemeClr val="tx1"/>
          </a:solidFill>
          <a:latin typeface="+mn-lt"/>
          <a:ea typeface="+mn-ea"/>
          <a:cs typeface="+mn-cs"/>
        </a:defRPr>
      </a:lvl1pPr>
      <a:lvl2pPr marL="342900" indent="0" algn="l" defTabSz="685800" rtl="0" eaLnBrk="1" latinLnBrk="0" hangingPunct="1">
        <a:lnSpc>
          <a:spcPct val="90000"/>
        </a:lnSpc>
        <a:spcBef>
          <a:spcPts val="375"/>
        </a:spcBef>
        <a:buFontTx/>
        <a:buNone/>
        <a:defRPr sz="1800" kern="1200">
          <a:solidFill>
            <a:schemeClr val="tx1"/>
          </a:solidFill>
          <a:latin typeface="+mn-lt"/>
          <a:ea typeface="+mn-ea"/>
          <a:cs typeface="+mn-cs"/>
        </a:defRPr>
      </a:lvl2pPr>
      <a:lvl3pPr marL="685800" indent="0" algn="l" defTabSz="685800" rtl="0" eaLnBrk="1" latinLnBrk="0" hangingPunct="1">
        <a:lnSpc>
          <a:spcPct val="90000"/>
        </a:lnSpc>
        <a:spcBef>
          <a:spcPts val="375"/>
        </a:spcBef>
        <a:buFontTx/>
        <a:buNone/>
        <a:defRPr sz="1500"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Tx/>
        <a:buNone/>
        <a:defRPr sz="135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Tx/>
        <a:buNone/>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013BE9-9922-5FC6-B345-324C4730EE01}"/>
              </a:ext>
            </a:extLst>
          </p:cNvPr>
          <p:cNvSpPr>
            <a:spLocks noGrp="1"/>
          </p:cNvSpPr>
          <p:nvPr>
            <p:ph type="title"/>
          </p:nvPr>
        </p:nvSpPr>
        <p:spPr>
          <a:xfrm>
            <a:off x="188843" y="125221"/>
            <a:ext cx="6351105" cy="922506"/>
          </a:xfrm>
        </p:spPr>
        <p:txBody>
          <a:bodyPr>
            <a:noAutofit/>
          </a:bodyPr>
          <a:lstStyle/>
          <a:p>
            <a:r>
              <a:rPr lang="en-US" sz="2800" dirty="0"/>
              <a:t>Imagine that  a </a:t>
            </a:r>
            <a:r>
              <a:rPr lang="en-US" sz="2800" b="1" u="sng" dirty="0"/>
              <a:t>new </a:t>
            </a:r>
            <a:r>
              <a:rPr lang="en-US" sz="2800" b="1" u="sng" dirty="0" err="1"/>
              <a:t>personalised</a:t>
            </a:r>
            <a:r>
              <a:rPr lang="en-US" sz="2800" b="1" u="sng" dirty="0"/>
              <a:t> </a:t>
            </a:r>
            <a:r>
              <a:rPr lang="en-US" sz="2800" dirty="0"/>
              <a:t>video scratchcard has been launched:</a:t>
            </a:r>
            <a:endParaRPr lang="cs-CZ" sz="2800" dirty="0"/>
          </a:p>
        </p:txBody>
      </p:sp>
      <p:sp>
        <p:nvSpPr>
          <p:cNvPr id="3" name="Text Placeholder 2">
            <a:extLst>
              <a:ext uri="{FF2B5EF4-FFF2-40B4-BE49-F238E27FC236}">
                <a16:creationId xmlns:a16="http://schemas.microsoft.com/office/drawing/2014/main" id="{20508380-EBBD-4C06-2DA1-D8241EF551A5}"/>
              </a:ext>
            </a:extLst>
          </p:cNvPr>
          <p:cNvSpPr>
            <a:spLocks noGrp="1"/>
          </p:cNvSpPr>
          <p:nvPr>
            <p:ph type="body" sz="quarter" idx="10"/>
          </p:nvPr>
        </p:nvSpPr>
        <p:spPr>
          <a:xfrm>
            <a:off x="188843" y="1279525"/>
            <a:ext cx="6500191" cy="6842591"/>
          </a:xfrm>
        </p:spPr>
        <p:txBody>
          <a:bodyPr>
            <a:normAutofit lnSpcReduction="10000"/>
          </a:bodyPr>
          <a:lstStyle/>
          <a:p>
            <a:pPr>
              <a:lnSpc>
                <a:spcPct val="110000"/>
              </a:lnSpc>
              <a:spcBef>
                <a:spcPts val="600"/>
              </a:spcBef>
              <a:spcAft>
                <a:spcPts val="600"/>
              </a:spcAft>
              <a:buNone/>
            </a:pPr>
            <a:r>
              <a:rPr lang="cs-CZ" sz="2400" dirty="0"/>
              <a:t>🎁 </a:t>
            </a:r>
            <a:r>
              <a:rPr lang="en-US" sz="2400" dirty="0">
                <a:effectLst/>
              </a:rPr>
              <a:t>This Christmas-themed scratchcard was designed with a unique feature for gifting during the holidays. It retails for $10 and comes with a guaranteed win for the recipient. </a:t>
            </a:r>
          </a:p>
          <a:p>
            <a:pPr>
              <a:lnSpc>
                <a:spcPct val="110000"/>
              </a:lnSpc>
              <a:spcBef>
                <a:spcPts val="600"/>
              </a:spcBef>
              <a:spcAft>
                <a:spcPts val="600"/>
              </a:spcAft>
              <a:buNone/>
            </a:pPr>
            <a:r>
              <a:rPr lang="en-US" sz="2400" dirty="0">
                <a:effectLst/>
              </a:rPr>
              <a:t>On the front of the main scratchcard, </a:t>
            </a:r>
            <a:br>
              <a:rPr lang="cs-CZ" sz="2400" dirty="0">
                <a:effectLst/>
              </a:rPr>
            </a:br>
            <a:r>
              <a:rPr lang="en-US" sz="2400" dirty="0">
                <a:effectLst/>
              </a:rPr>
              <a:t>there is a QR code, which you can scan with your phone. When you scan the code, you can then record a short video of yourself wishing the person you are gifting it to a Merry Christmas. </a:t>
            </a:r>
            <a:br>
              <a:rPr lang="cs-CZ" sz="2400" dirty="0">
                <a:effectLst/>
              </a:rPr>
            </a:br>
            <a:r>
              <a:rPr lang="en-US" sz="2400" dirty="0">
                <a:effectLst/>
              </a:rPr>
              <a:t>After recording the message, a Christmas filter is added over the top, with a festive design. </a:t>
            </a:r>
          </a:p>
          <a:p>
            <a:pPr>
              <a:lnSpc>
                <a:spcPct val="110000"/>
              </a:lnSpc>
              <a:spcBef>
                <a:spcPts val="600"/>
              </a:spcBef>
              <a:spcAft>
                <a:spcPts val="600"/>
              </a:spcAft>
              <a:buNone/>
            </a:pPr>
            <a:r>
              <a:rPr lang="cs-CZ" sz="2400" dirty="0"/>
              <a:t>🎄 </a:t>
            </a:r>
            <a:r>
              <a:rPr lang="en-US" sz="2400" dirty="0">
                <a:effectLst/>
              </a:rPr>
              <a:t>Once the scratchcard has been gifted, the receiver can play the scratchcard, uncover their win, and then scan the QR code. The personal festive message you recorded for them will then appear over the scratchcard, brought to life using augmented reality and fun digital animations. </a:t>
            </a:r>
          </a:p>
        </p:txBody>
      </p:sp>
      <p:pic>
        <p:nvPicPr>
          <p:cNvPr id="9" name="Picture 8" descr="A hand holding a cell phone with a picture of a family&#10;&#10;AI-generated content may be incorrect.">
            <a:extLst>
              <a:ext uri="{FF2B5EF4-FFF2-40B4-BE49-F238E27FC236}">
                <a16:creationId xmlns:a16="http://schemas.microsoft.com/office/drawing/2014/main" id="{161D5C73-4955-21AD-7364-C934BE3A5C7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58336" y="8122115"/>
            <a:ext cx="2203283" cy="2684771"/>
          </a:xfrm>
          <a:prstGeom prst="rect">
            <a:avLst/>
          </a:prstGeom>
        </p:spPr>
      </p:pic>
      <p:pic>
        <p:nvPicPr>
          <p:cNvPr id="11" name="Picture 10" descr="A christmas card on a table&#10;&#10;AI-generated content may be incorrect.">
            <a:extLst>
              <a:ext uri="{FF2B5EF4-FFF2-40B4-BE49-F238E27FC236}">
                <a16:creationId xmlns:a16="http://schemas.microsoft.com/office/drawing/2014/main" id="{193FABA1-6ABF-1D88-A175-C8F305BF983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0258" y="8122116"/>
            <a:ext cx="2150865" cy="2672177"/>
          </a:xfrm>
          <a:prstGeom prst="rect">
            <a:avLst/>
          </a:prstGeom>
        </p:spPr>
      </p:pic>
      <p:pic>
        <p:nvPicPr>
          <p:cNvPr id="13" name="Picture 12" descr="A hand holding a phone with a screen showing a christmas tree&#10;&#10;AI-generated content may be incorrect.">
            <a:extLst>
              <a:ext uri="{FF2B5EF4-FFF2-40B4-BE49-F238E27FC236}">
                <a16:creationId xmlns:a16="http://schemas.microsoft.com/office/drawing/2014/main" id="{8A2666C6-5073-7B79-56AC-1EA5FDE7D70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159024" y="8122116"/>
            <a:ext cx="2390895" cy="2672177"/>
          </a:xfrm>
          <a:prstGeom prst="rect">
            <a:avLst/>
          </a:prstGeom>
        </p:spPr>
      </p:pic>
      <p:sp>
        <p:nvSpPr>
          <p:cNvPr id="4" name="TextBox 3">
            <a:extLst>
              <a:ext uri="{FF2B5EF4-FFF2-40B4-BE49-F238E27FC236}">
                <a16:creationId xmlns:a16="http://schemas.microsoft.com/office/drawing/2014/main" id="{89FF68C2-AA5C-CBE0-F0B1-AB8AE80E0F10}"/>
              </a:ext>
            </a:extLst>
          </p:cNvPr>
          <p:cNvSpPr txBox="1"/>
          <p:nvPr/>
        </p:nvSpPr>
        <p:spPr>
          <a:xfrm>
            <a:off x="-50354" y="0"/>
            <a:ext cx="4418756" cy="369332"/>
          </a:xfrm>
          <a:prstGeom prst="rect">
            <a:avLst/>
          </a:prstGeom>
          <a:noFill/>
        </p:spPr>
        <p:txBody>
          <a:bodyPr wrap="square">
            <a:spAutoFit/>
          </a:bodyPr>
          <a:lstStyle/>
          <a:p>
            <a:r>
              <a:rPr lang="cs-CZ" b="1" dirty="0" err="1"/>
              <a:t>Christmas</a:t>
            </a:r>
            <a:r>
              <a:rPr lang="cs-CZ" b="1" dirty="0"/>
              <a:t> AR </a:t>
            </a:r>
            <a:r>
              <a:rPr lang="cs-CZ" b="1" dirty="0" err="1"/>
              <a:t>Message</a:t>
            </a:r>
            <a:endParaRPr lang="cs-CZ" b="1" dirty="0"/>
          </a:p>
        </p:txBody>
      </p:sp>
    </p:spTree>
    <p:extLst>
      <p:ext uri="{BB962C8B-B14F-4D97-AF65-F5344CB8AC3E}">
        <p14:creationId xmlns:p14="http://schemas.microsoft.com/office/powerpoint/2010/main" val="15234221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7CB145-674B-6AC8-5427-005B7D811B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092C3C-3092-3722-47E1-180CEF5B2F99}"/>
              </a:ext>
            </a:extLst>
          </p:cNvPr>
          <p:cNvSpPr>
            <a:spLocks noGrp="1"/>
          </p:cNvSpPr>
          <p:nvPr>
            <p:ph type="title"/>
          </p:nvPr>
        </p:nvSpPr>
        <p:spPr>
          <a:xfrm>
            <a:off x="253447" y="273149"/>
            <a:ext cx="6351105" cy="922506"/>
          </a:xfrm>
        </p:spPr>
        <p:txBody>
          <a:bodyPr>
            <a:noAutofit/>
          </a:bodyPr>
          <a:lstStyle/>
          <a:p>
            <a:r>
              <a:rPr lang="en-US" sz="2800" noProof="1"/>
              <a:t>Imagine that a fun new themed </a:t>
            </a:r>
            <a:r>
              <a:rPr lang="en-US" sz="2800" b="1" u="sng" noProof="1"/>
              <a:t>augmented reality </a:t>
            </a:r>
            <a:r>
              <a:rPr lang="en-US" sz="2800" noProof="1"/>
              <a:t>scratchcard </a:t>
            </a:r>
            <a:br>
              <a:rPr lang="cs-CZ" sz="2800" noProof="1"/>
            </a:br>
            <a:r>
              <a:rPr lang="en-US" sz="2800" noProof="1"/>
              <a:t>has been launched</a:t>
            </a:r>
            <a:r>
              <a:rPr lang="cs-CZ" sz="2800" noProof="1"/>
              <a:t>:</a:t>
            </a:r>
            <a:endParaRPr lang="cs-CZ" sz="2800" b="1" u="sng" dirty="0"/>
          </a:p>
        </p:txBody>
      </p:sp>
      <p:sp>
        <p:nvSpPr>
          <p:cNvPr id="3" name="Text Placeholder 2">
            <a:extLst>
              <a:ext uri="{FF2B5EF4-FFF2-40B4-BE49-F238E27FC236}">
                <a16:creationId xmlns:a16="http://schemas.microsoft.com/office/drawing/2014/main" id="{11FF3B95-B4A4-2936-19BA-CAE3E30D4147}"/>
              </a:ext>
            </a:extLst>
          </p:cNvPr>
          <p:cNvSpPr>
            <a:spLocks noGrp="1"/>
          </p:cNvSpPr>
          <p:nvPr>
            <p:ph type="body" sz="quarter" idx="10"/>
          </p:nvPr>
        </p:nvSpPr>
        <p:spPr>
          <a:xfrm>
            <a:off x="188843" y="1521384"/>
            <a:ext cx="6500191" cy="9094304"/>
          </a:xfrm>
        </p:spPr>
        <p:txBody>
          <a:bodyPr>
            <a:normAutofit/>
          </a:bodyPr>
          <a:lstStyle/>
          <a:p>
            <a:pPr>
              <a:spcBef>
                <a:spcPts val="600"/>
              </a:spcBef>
              <a:spcAft>
                <a:spcPts val="600"/>
              </a:spcAft>
              <a:buNone/>
            </a:pPr>
            <a:r>
              <a:rPr lang="cs-CZ" sz="2300" dirty="0"/>
              <a:t>🎁 </a:t>
            </a:r>
            <a:r>
              <a:rPr lang="en-US" sz="2300" dirty="0">
                <a:effectLst/>
              </a:rPr>
              <a:t>This Christmas-themed scratchcard was designed with a unique feature for gifting during the holidays. </a:t>
            </a:r>
            <a:br>
              <a:rPr lang="cs-CZ" sz="2300" dirty="0">
                <a:effectLst/>
              </a:rPr>
            </a:br>
            <a:r>
              <a:rPr lang="en-US" sz="2300" dirty="0">
                <a:effectLst/>
              </a:rPr>
              <a:t>It retails for $10 and comes with a guaranteed win </a:t>
            </a:r>
            <a:br>
              <a:rPr lang="cs-CZ" sz="2300" dirty="0">
                <a:effectLst/>
              </a:rPr>
            </a:br>
            <a:r>
              <a:rPr lang="en-US" sz="2300" dirty="0">
                <a:effectLst/>
              </a:rPr>
              <a:t>for the recipient.  </a:t>
            </a:r>
          </a:p>
          <a:p>
            <a:pPr>
              <a:spcBef>
                <a:spcPts val="600"/>
              </a:spcBef>
              <a:spcAft>
                <a:spcPts val="600"/>
              </a:spcAft>
              <a:buNone/>
            </a:pPr>
            <a:r>
              <a:rPr lang="en-US" sz="2300" dirty="0">
                <a:effectLst/>
              </a:rPr>
              <a:t>On the front of the scratchcard, there is a QR code. When scanned you can write a short Merry Christmas message to the person you are gifting the scratchcard to. </a:t>
            </a:r>
            <a:br>
              <a:rPr lang="cs-CZ" sz="2300" dirty="0"/>
            </a:br>
            <a:r>
              <a:rPr lang="en-US" sz="2300" dirty="0">
                <a:effectLst/>
              </a:rPr>
              <a:t>You can then upload a picture or take a selfie which is projected onto dancing elf bodies, creating a fun </a:t>
            </a:r>
            <a:r>
              <a:rPr lang="en-US" sz="2300" dirty="0" err="1">
                <a:effectLst/>
              </a:rPr>
              <a:t>personalised</a:t>
            </a:r>
            <a:r>
              <a:rPr lang="en-US" sz="2300" dirty="0">
                <a:effectLst/>
              </a:rPr>
              <a:t> festive video with festive music, similar to the hit social media trend “Elf Yourself”.</a:t>
            </a:r>
          </a:p>
          <a:p>
            <a:pPr>
              <a:spcBef>
                <a:spcPts val="600"/>
              </a:spcBef>
              <a:spcAft>
                <a:spcPts val="600"/>
              </a:spcAft>
              <a:buNone/>
            </a:pPr>
            <a:r>
              <a:rPr lang="cs-CZ" sz="2300" dirty="0"/>
              <a:t>🎄</a:t>
            </a:r>
            <a:r>
              <a:rPr lang="en-US" sz="2300" dirty="0">
                <a:effectLst/>
              </a:rPr>
              <a:t>Once the scratchcard has been gifted, the receiver can play the scratchcard, uncover their win, and then scan the QR code. </a:t>
            </a:r>
            <a:endParaRPr lang="cs-CZ" sz="2300" dirty="0">
              <a:effectLst/>
            </a:endParaRPr>
          </a:p>
          <a:p>
            <a:pPr>
              <a:spcBef>
                <a:spcPts val="600"/>
              </a:spcBef>
              <a:spcAft>
                <a:spcPts val="600"/>
              </a:spcAft>
              <a:buNone/>
            </a:pPr>
            <a:r>
              <a:rPr lang="en-US" sz="2300" dirty="0">
                <a:effectLst/>
              </a:rPr>
              <a:t>The personal festive message you recorded for them will then appear over the scratchcard showing your Christmas message in a decorative design followed by the fun </a:t>
            </a:r>
            <a:r>
              <a:rPr lang="en-US" sz="2300" dirty="0" err="1">
                <a:effectLst/>
              </a:rPr>
              <a:t>personalised</a:t>
            </a:r>
            <a:r>
              <a:rPr lang="en-US" sz="2300" dirty="0">
                <a:effectLst/>
              </a:rPr>
              <a:t> elf video. </a:t>
            </a:r>
          </a:p>
          <a:p>
            <a:pPr>
              <a:spcBef>
                <a:spcPts val="600"/>
              </a:spcBef>
              <a:spcAft>
                <a:spcPts val="600"/>
              </a:spcAft>
            </a:pPr>
            <a:endParaRPr lang="cs-CZ" sz="2300" dirty="0"/>
          </a:p>
        </p:txBody>
      </p:sp>
      <p:pic>
        <p:nvPicPr>
          <p:cNvPr id="5" name="Picture 4" descr="A hand holding a phone&#10;&#10;AI-generated content may be incorrect.">
            <a:extLst>
              <a:ext uri="{FF2B5EF4-FFF2-40B4-BE49-F238E27FC236}">
                <a16:creationId xmlns:a16="http://schemas.microsoft.com/office/drawing/2014/main" id="{8240E02F-3EA3-6BA5-99B9-A365142E73A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56785" y="8228317"/>
            <a:ext cx="2084114" cy="2571445"/>
          </a:xfrm>
          <a:prstGeom prst="rect">
            <a:avLst/>
          </a:prstGeom>
        </p:spPr>
      </p:pic>
      <p:pic>
        <p:nvPicPr>
          <p:cNvPr id="7" name="Picture 6" descr="A hand holding a cell phone with a cartoon character on the screen&#10;&#10;AI-generated content may be incorrect.">
            <a:extLst>
              <a:ext uri="{FF2B5EF4-FFF2-40B4-BE49-F238E27FC236}">
                <a16:creationId xmlns:a16="http://schemas.microsoft.com/office/drawing/2014/main" id="{69F7224C-7216-1558-A249-B4C54A593C6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87441" y="8228317"/>
            <a:ext cx="2158178" cy="2571446"/>
          </a:xfrm>
          <a:prstGeom prst="rect">
            <a:avLst/>
          </a:prstGeom>
        </p:spPr>
      </p:pic>
      <p:pic>
        <p:nvPicPr>
          <p:cNvPr id="9" name="Picture 8" descr="A hand holding a phone with a screen showing a christmas tree&#10;&#10;AI-generated content may be incorrect.">
            <a:extLst>
              <a:ext uri="{FF2B5EF4-FFF2-40B4-BE49-F238E27FC236}">
                <a16:creationId xmlns:a16="http://schemas.microsoft.com/office/drawing/2014/main" id="{81A4E02E-3921-4DF8-EF77-1CD27EA761C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477" y="8228319"/>
            <a:ext cx="2300765" cy="2571443"/>
          </a:xfrm>
          <a:prstGeom prst="rect">
            <a:avLst/>
          </a:prstGeom>
        </p:spPr>
      </p:pic>
      <p:sp>
        <p:nvSpPr>
          <p:cNvPr id="4" name="TextBox 3">
            <a:extLst>
              <a:ext uri="{FF2B5EF4-FFF2-40B4-BE49-F238E27FC236}">
                <a16:creationId xmlns:a16="http://schemas.microsoft.com/office/drawing/2014/main" id="{69AE33AC-13FC-4021-5302-1657F63184E5}"/>
              </a:ext>
            </a:extLst>
          </p:cNvPr>
          <p:cNvSpPr txBox="1"/>
          <p:nvPr/>
        </p:nvSpPr>
        <p:spPr>
          <a:xfrm>
            <a:off x="-50354" y="0"/>
            <a:ext cx="4418756" cy="369332"/>
          </a:xfrm>
          <a:prstGeom prst="rect">
            <a:avLst/>
          </a:prstGeom>
          <a:noFill/>
        </p:spPr>
        <p:txBody>
          <a:bodyPr wrap="square">
            <a:spAutoFit/>
          </a:bodyPr>
          <a:lstStyle/>
          <a:p>
            <a:r>
              <a:rPr lang="cs-CZ" b="1" dirty="0"/>
              <a:t>Elf </a:t>
            </a:r>
            <a:r>
              <a:rPr lang="cs-CZ" b="1" dirty="0" err="1"/>
              <a:t>Yourself</a:t>
            </a:r>
            <a:endParaRPr lang="cs-CZ" b="1" dirty="0"/>
          </a:p>
        </p:txBody>
      </p:sp>
    </p:spTree>
    <p:extLst>
      <p:ext uri="{BB962C8B-B14F-4D97-AF65-F5344CB8AC3E}">
        <p14:creationId xmlns:p14="http://schemas.microsoft.com/office/powerpoint/2010/main" val="26570970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E3309A-B641-018D-7975-7C7061CD7A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FBA029-F31B-DD6C-CA72-33408696EB27}"/>
              </a:ext>
            </a:extLst>
          </p:cNvPr>
          <p:cNvSpPr>
            <a:spLocks noGrp="1"/>
          </p:cNvSpPr>
          <p:nvPr>
            <p:ph type="title"/>
          </p:nvPr>
        </p:nvSpPr>
        <p:spPr>
          <a:xfrm>
            <a:off x="304800" y="237112"/>
            <a:ext cx="6384234" cy="922506"/>
          </a:xfrm>
        </p:spPr>
        <p:txBody>
          <a:bodyPr>
            <a:noAutofit/>
          </a:bodyPr>
          <a:lstStyle/>
          <a:p>
            <a:r>
              <a:rPr lang="en-US" sz="2800" dirty="0"/>
              <a:t>Imagine that a new </a:t>
            </a:r>
            <a:br>
              <a:rPr lang="cs-CZ" sz="2800" dirty="0"/>
            </a:br>
            <a:r>
              <a:rPr lang="en-US" sz="2800" b="1" u="sng" dirty="0"/>
              <a:t>Augmented Reality minigame</a:t>
            </a:r>
            <a:r>
              <a:rPr lang="en-US" sz="2800" dirty="0"/>
              <a:t> </a:t>
            </a:r>
            <a:br>
              <a:rPr lang="cs-CZ" sz="2800" dirty="0"/>
            </a:br>
            <a:r>
              <a:rPr lang="en-US" sz="2800" dirty="0"/>
              <a:t>can be played on your scratchcard</a:t>
            </a:r>
            <a:endParaRPr lang="cs-CZ" sz="2800" b="1" u="sng" dirty="0"/>
          </a:p>
        </p:txBody>
      </p:sp>
      <p:sp>
        <p:nvSpPr>
          <p:cNvPr id="3" name="Text Placeholder 2">
            <a:extLst>
              <a:ext uri="{FF2B5EF4-FFF2-40B4-BE49-F238E27FC236}">
                <a16:creationId xmlns:a16="http://schemas.microsoft.com/office/drawing/2014/main" id="{1BE5FDD3-6C55-0DAD-2A43-202A38AF04D0}"/>
              </a:ext>
            </a:extLst>
          </p:cNvPr>
          <p:cNvSpPr>
            <a:spLocks noGrp="1"/>
          </p:cNvSpPr>
          <p:nvPr>
            <p:ph type="body" sz="quarter" idx="10"/>
          </p:nvPr>
        </p:nvSpPr>
        <p:spPr>
          <a:xfrm>
            <a:off x="188843" y="1391820"/>
            <a:ext cx="6500191" cy="6800530"/>
          </a:xfrm>
        </p:spPr>
        <p:txBody>
          <a:bodyPr>
            <a:normAutofit/>
          </a:bodyPr>
          <a:lstStyle/>
          <a:p>
            <a:pPr marL="0" indent="0">
              <a:spcBef>
                <a:spcPts val="600"/>
              </a:spcBef>
              <a:spcAft>
                <a:spcPts val="600"/>
              </a:spcAft>
              <a:buNone/>
            </a:pPr>
            <a:r>
              <a:rPr lang="cs-CZ" sz="2200" dirty="0"/>
              <a:t>🎁 </a:t>
            </a:r>
            <a:r>
              <a:rPr lang="en-US" sz="2200" dirty="0"/>
              <a:t>This Christmas-themed scratchcard was designed with a unique feature for gifting during the holidays. </a:t>
            </a:r>
            <a:br>
              <a:rPr lang="cs-CZ" sz="2200" dirty="0"/>
            </a:br>
            <a:r>
              <a:rPr lang="en-US" sz="2200" dirty="0"/>
              <a:t>It retails for $10 and comes with a guaranteed win </a:t>
            </a:r>
            <a:br>
              <a:rPr lang="cs-CZ" sz="2200" dirty="0"/>
            </a:br>
            <a:r>
              <a:rPr lang="en-US" sz="2200" dirty="0"/>
              <a:t>for the recipient. </a:t>
            </a:r>
          </a:p>
          <a:p>
            <a:pPr>
              <a:spcBef>
                <a:spcPts val="600"/>
              </a:spcBef>
              <a:spcAft>
                <a:spcPts val="600"/>
              </a:spcAft>
              <a:buNone/>
            </a:pPr>
            <a:r>
              <a:rPr lang="en-US" sz="2200" dirty="0"/>
              <a:t>On the front of the scratchcard, there is a QR code, which you can scan with your phone. When you scan the code, you can write a short Christmas message to the person you are gifting the scratchcard to and upload a photo or a selfie. </a:t>
            </a:r>
          </a:p>
          <a:p>
            <a:pPr>
              <a:spcBef>
                <a:spcPts val="600"/>
              </a:spcBef>
              <a:spcAft>
                <a:spcPts val="600"/>
              </a:spcAft>
              <a:buNone/>
            </a:pPr>
            <a:r>
              <a:rPr lang="cs-CZ" sz="2200" dirty="0"/>
              <a:t>🎄 </a:t>
            </a:r>
            <a:r>
              <a:rPr lang="en-US" sz="2200" dirty="0"/>
              <a:t>Once the scratchcard has been gifted, the receiver can play the scratchcard, uncover their win, and then scan the same QR code to play an additional digital mini-game. </a:t>
            </a:r>
          </a:p>
          <a:p>
            <a:pPr>
              <a:spcBef>
                <a:spcPts val="600"/>
              </a:spcBef>
              <a:spcAft>
                <a:spcPts val="600"/>
              </a:spcAft>
              <a:buNone/>
            </a:pPr>
            <a:r>
              <a:rPr lang="en-US" sz="2200" dirty="0"/>
              <a:t>The recipient holds up their phone and takes a photo </a:t>
            </a:r>
            <a:br>
              <a:rPr lang="cs-CZ" sz="2200" dirty="0"/>
            </a:br>
            <a:r>
              <a:rPr lang="en-US" sz="2200" dirty="0"/>
              <a:t>of their environment. Augmented reality overlays an animation of a holiday-themed snowball fight, complete with snowbanks, walls, and a playful animated character opponent that pops up to throw snowballs at you. You win by flicking snowballs back and hitting your opponent.</a:t>
            </a:r>
          </a:p>
        </p:txBody>
      </p:sp>
      <p:pic>
        <p:nvPicPr>
          <p:cNvPr id="5" name="Picture 4" descr="A hand holding a cell phone&#10;&#10;AI-generated content may be incorrect.">
            <a:extLst>
              <a:ext uri="{FF2B5EF4-FFF2-40B4-BE49-F238E27FC236}">
                <a16:creationId xmlns:a16="http://schemas.microsoft.com/office/drawing/2014/main" id="{06F72B6D-3C3A-3CB9-6B55-2F1529DE76F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76070" y="8080055"/>
            <a:ext cx="2121007" cy="2719708"/>
          </a:xfrm>
          <a:prstGeom prst="rect">
            <a:avLst/>
          </a:prstGeom>
        </p:spPr>
      </p:pic>
      <p:pic>
        <p:nvPicPr>
          <p:cNvPr id="7" name="Picture 6" descr="A hand holding a phone with a screen showing a person and a snowball fight&#10;&#10;AI-generated content may be incorrect.">
            <a:extLst>
              <a:ext uri="{FF2B5EF4-FFF2-40B4-BE49-F238E27FC236}">
                <a16:creationId xmlns:a16="http://schemas.microsoft.com/office/drawing/2014/main" id="{4605C89C-0DF2-4A0E-CAEE-69009B80E8F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19934" y="8080055"/>
            <a:ext cx="2179649" cy="2713662"/>
          </a:xfrm>
          <a:prstGeom prst="rect">
            <a:avLst/>
          </a:prstGeom>
        </p:spPr>
      </p:pic>
      <p:pic>
        <p:nvPicPr>
          <p:cNvPr id="8" name="Picture 7" descr="A hand holding a phone with a screen showing a christmas tree&#10;&#10;AI-generated content may be incorrect.">
            <a:extLst>
              <a:ext uri="{FF2B5EF4-FFF2-40B4-BE49-F238E27FC236}">
                <a16:creationId xmlns:a16="http://schemas.microsoft.com/office/drawing/2014/main" id="{A184BCD5-2CB9-0D57-8640-2C731CD38F5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0210" y="8080055"/>
            <a:ext cx="2433423" cy="2719708"/>
          </a:xfrm>
          <a:prstGeom prst="rect">
            <a:avLst/>
          </a:prstGeom>
        </p:spPr>
      </p:pic>
      <p:sp>
        <p:nvSpPr>
          <p:cNvPr id="4" name="TextBox 3">
            <a:extLst>
              <a:ext uri="{FF2B5EF4-FFF2-40B4-BE49-F238E27FC236}">
                <a16:creationId xmlns:a16="http://schemas.microsoft.com/office/drawing/2014/main" id="{4A120922-AD59-D1CE-7B21-C00AE33DC9E5}"/>
              </a:ext>
            </a:extLst>
          </p:cNvPr>
          <p:cNvSpPr txBox="1"/>
          <p:nvPr/>
        </p:nvSpPr>
        <p:spPr>
          <a:xfrm>
            <a:off x="-50354" y="0"/>
            <a:ext cx="4418756" cy="369332"/>
          </a:xfrm>
          <a:prstGeom prst="rect">
            <a:avLst/>
          </a:prstGeom>
          <a:noFill/>
        </p:spPr>
        <p:txBody>
          <a:bodyPr wrap="square">
            <a:spAutoFit/>
          </a:bodyPr>
          <a:lstStyle/>
          <a:p>
            <a:r>
              <a:rPr lang="cs-CZ" b="1" dirty="0"/>
              <a:t>AR </a:t>
            </a:r>
            <a:r>
              <a:rPr lang="cs-CZ" b="1" dirty="0" err="1"/>
              <a:t>Christmas</a:t>
            </a:r>
            <a:r>
              <a:rPr lang="cs-CZ" b="1" dirty="0"/>
              <a:t> Mini Game</a:t>
            </a:r>
          </a:p>
        </p:txBody>
      </p:sp>
    </p:spTree>
    <p:extLst>
      <p:ext uri="{BB962C8B-B14F-4D97-AF65-F5344CB8AC3E}">
        <p14:creationId xmlns:p14="http://schemas.microsoft.com/office/powerpoint/2010/main" val="41171345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5A7480-2230-62C5-9B95-13580CEF08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7E6D62-92F5-EBBD-4C0E-50AECE62D30A}"/>
              </a:ext>
            </a:extLst>
          </p:cNvPr>
          <p:cNvSpPr>
            <a:spLocks noGrp="1"/>
          </p:cNvSpPr>
          <p:nvPr>
            <p:ph type="title"/>
          </p:nvPr>
        </p:nvSpPr>
        <p:spPr>
          <a:xfrm>
            <a:off x="263385" y="233422"/>
            <a:ext cx="6351105" cy="922506"/>
          </a:xfrm>
        </p:spPr>
        <p:txBody>
          <a:bodyPr>
            <a:noAutofit/>
          </a:bodyPr>
          <a:lstStyle/>
          <a:p>
            <a:r>
              <a:rPr lang="en-US" sz="2800" dirty="0"/>
              <a:t>Imagine your scratchcard comes </a:t>
            </a:r>
            <a:br>
              <a:rPr lang="cs-CZ" sz="2800" dirty="0"/>
            </a:br>
            <a:r>
              <a:rPr lang="en-US" sz="2800" dirty="0"/>
              <a:t>with a new </a:t>
            </a:r>
            <a:r>
              <a:rPr lang="en-US" sz="2800" b="1" u="sng" dirty="0"/>
              <a:t>lip-synching experience</a:t>
            </a:r>
            <a:r>
              <a:rPr lang="en-US" sz="2800" dirty="0"/>
              <a:t>:</a:t>
            </a:r>
            <a:endParaRPr lang="cs-CZ" sz="2800" b="1" u="sng" dirty="0"/>
          </a:p>
        </p:txBody>
      </p:sp>
      <p:sp>
        <p:nvSpPr>
          <p:cNvPr id="3" name="Text Placeholder 2">
            <a:extLst>
              <a:ext uri="{FF2B5EF4-FFF2-40B4-BE49-F238E27FC236}">
                <a16:creationId xmlns:a16="http://schemas.microsoft.com/office/drawing/2014/main" id="{93E73553-AF49-C849-8FDD-ED3874C9D289}"/>
              </a:ext>
            </a:extLst>
          </p:cNvPr>
          <p:cNvSpPr>
            <a:spLocks noGrp="1"/>
          </p:cNvSpPr>
          <p:nvPr>
            <p:ph type="body" sz="quarter" idx="10"/>
          </p:nvPr>
        </p:nvSpPr>
        <p:spPr>
          <a:xfrm>
            <a:off x="188843" y="1291837"/>
            <a:ext cx="6500191" cy="6974206"/>
          </a:xfrm>
        </p:spPr>
        <p:txBody>
          <a:bodyPr>
            <a:noAutofit/>
          </a:bodyPr>
          <a:lstStyle/>
          <a:p>
            <a:pPr>
              <a:lnSpc>
                <a:spcPct val="100000"/>
              </a:lnSpc>
              <a:spcBef>
                <a:spcPts val="1200"/>
              </a:spcBef>
              <a:spcAft>
                <a:spcPts val="600"/>
              </a:spcAft>
              <a:buNone/>
            </a:pPr>
            <a:r>
              <a:rPr lang="cs-CZ" sz="2300" dirty="0"/>
              <a:t>🎁 </a:t>
            </a:r>
            <a:r>
              <a:rPr lang="en-US" sz="2300" dirty="0"/>
              <a:t>This Christmas-themed scratchcard was designed with a unique feature for gifting during the holidays. It retails for $10 an comes </a:t>
            </a:r>
            <a:br>
              <a:rPr lang="cs-CZ" sz="2300" dirty="0"/>
            </a:br>
            <a:r>
              <a:rPr lang="en-US" sz="2300" dirty="0"/>
              <a:t>with a guaranteed win for the recipient. </a:t>
            </a:r>
          </a:p>
          <a:p>
            <a:pPr>
              <a:lnSpc>
                <a:spcPct val="100000"/>
              </a:lnSpc>
              <a:spcBef>
                <a:spcPts val="1200"/>
              </a:spcBef>
              <a:spcAft>
                <a:spcPts val="600"/>
              </a:spcAft>
              <a:buNone/>
            </a:pPr>
            <a:r>
              <a:rPr lang="en-US" sz="2300" dirty="0"/>
              <a:t>On the front of the scratchcard, there is a QR code, which you can scan with your phone, record a quick video wishing the recipient Merry Christmas, choose a festive filter and your favorite Christmas carol which you can lips-sync to. </a:t>
            </a:r>
          </a:p>
          <a:p>
            <a:pPr>
              <a:lnSpc>
                <a:spcPct val="100000"/>
              </a:lnSpc>
              <a:spcBef>
                <a:spcPts val="1200"/>
              </a:spcBef>
              <a:spcAft>
                <a:spcPts val="600"/>
              </a:spcAft>
              <a:buNone/>
            </a:pPr>
            <a:r>
              <a:rPr lang="cs-CZ" sz="2300" dirty="0"/>
              <a:t>🎄 </a:t>
            </a:r>
            <a:r>
              <a:rPr lang="en-US" sz="2300" dirty="0"/>
              <a:t>Once the scratchcard has been gifted, the receiver can play the scratchcard, uncover their win, and then scan the QR code for a festive message. </a:t>
            </a:r>
            <a:br>
              <a:rPr lang="cs-CZ" sz="2300" dirty="0"/>
            </a:br>
            <a:r>
              <a:rPr lang="en-US" sz="2300" dirty="0"/>
              <a:t>The personal Christmas video you recorded for them will then appear, with the festive overlay showing you lip-syncing your heart out with the holiday tune, and the words playing at the bottom of the screen for the receiver to join in. </a:t>
            </a:r>
            <a:endParaRPr lang="cs-CZ" sz="2300" dirty="0">
              <a:ea typeface="Calibri" panose="020F0502020204030204" pitchFamily="34" charset="0"/>
              <a:cs typeface="Times New Roman" panose="02020603050405020304" pitchFamily="18" charset="0"/>
            </a:endParaRPr>
          </a:p>
        </p:txBody>
      </p:sp>
      <p:pic>
        <p:nvPicPr>
          <p:cNvPr id="4" name="Picture 3" descr="A christmas card on a table&#10;&#10;AI-generated content may be incorrect.">
            <a:extLst>
              <a:ext uri="{FF2B5EF4-FFF2-40B4-BE49-F238E27FC236}">
                <a16:creationId xmlns:a16="http://schemas.microsoft.com/office/drawing/2014/main" id="{344AC2CA-17AF-B1BD-90A6-9ED61E2F80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8201875"/>
            <a:ext cx="2091069" cy="2597888"/>
          </a:xfrm>
          <a:prstGeom prst="rect">
            <a:avLst/>
          </a:prstGeom>
        </p:spPr>
      </p:pic>
      <p:pic>
        <p:nvPicPr>
          <p:cNvPr id="5" name="Picture 4" descr="A hand holding a phone with a screen showing a christmas tree&#10;&#10;AI-generated content may be incorrect.">
            <a:extLst>
              <a:ext uri="{FF2B5EF4-FFF2-40B4-BE49-F238E27FC236}">
                <a16:creationId xmlns:a16="http://schemas.microsoft.com/office/drawing/2014/main" id="{4DFC7FDA-3885-4048-EDD5-F123E0A920B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46722" y="8201875"/>
            <a:ext cx="2324426" cy="2597888"/>
          </a:xfrm>
          <a:prstGeom prst="rect">
            <a:avLst/>
          </a:prstGeom>
        </p:spPr>
      </p:pic>
      <p:pic>
        <p:nvPicPr>
          <p:cNvPr id="7" name="Picture 6" descr="A hand holding a cell phone with a person wearing a santa hat&#10;&#10;AI-generated content may be incorrect.">
            <a:extLst>
              <a:ext uri="{FF2B5EF4-FFF2-40B4-BE49-F238E27FC236}">
                <a16:creationId xmlns:a16="http://schemas.microsoft.com/office/drawing/2014/main" id="{E57FD9A5-0A67-8132-826F-55F93FF77E9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726801" y="8201875"/>
            <a:ext cx="2123005" cy="2597888"/>
          </a:xfrm>
          <a:prstGeom prst="rect">
            <a:avLst/>
          </a:prstGeom>
        </p:spPr>
      </p:pic>
      <p:sp>
        <p:nvSpPr>
          <p:cNvPr id="6" name="TextBox 5">
            <a:extLst>
              <a:ext uri="{FF2B5EF4-FFF2-40B4-BE49-F238E27FC236}">
                <a16:creationId xmlns:a16="http://schemas.microsoft.com/office/drawing/2014/main" id="{386BF877-1886-1F6B-060A-A8985D219C70}"/>
              </a:ext>
            </a:extLst>
          </p:cNvPr>
          <p:cNvSpPr txBox="1"/>
          <p:nvPr/>
        </p:nvSpPr>
        <p:spPr>
          <a:xfrm>
            <a:off x="-50354" y="0"/>
            <a:ext cx="4418756" cy="369332"/>
          </a:xfrm>
          <a:prstGeom prst="rect">
            <a:avLst/>
          </a:prstGeom>
          <a:noFill/>
        </p:spPr>
        <p:txBody>
          <a:bodyPr wrap="square">
            <a:spAutoFit/>
          </a:bodyPr>
          <a:lstStyle/>
          <a:p>
            <a:r>
              <a:rPr lang="en-GB" b="1" dirty="0"/>
              <a:t>Christmas Lip Sync</a:t>
            </a:r>
            <a:endParaRPr lang="cs-CZ" b="1" dirty="0"/>
          </a:p>
        </p:txBody>
      </p:sp>
    </p:spTree>
    <p:extLst>
      <p:ext uri="{BB962C8B-B14F-4D97-AF65-F5344CB8AC3E}">
        <p14:creationId xmlns:p14="http://schemas.microsoft.com/office/powerpoint/2010/main" val="1163646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C6DDCF-5044-8CEC-630A-7238E835D1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883107-7CBE-E30D-8188-6AAEE76BF9A8}"/>
              </a:ext>
            </a:extLst>
          </p:cNvPr>
          <p:cNvSpPr>
            <a:spLocks noGrp="1"/>
          </p:cNvSpPr>
          <p:nvPr>
            <p:ph type="title"/>
          </p:nvPr>
        </p:nvSpPr>
        <p:spPr>
          <a:xfrm>
            <a:off x="253447" y="264285"/>
            <a:ext cx="6351105" cy="922506"/>
          </a:xfrm>
        </p:spPr>
        <p:txBody>
          <a:bodyPr>
            <a:noAutofit/>
          </a:bodyPr>
          <a:lstStyle/>
          <a:p>
            <a:r>
              <a:rPr lang="en-US" sz="2800" dirty="0"/>
              <a:t>Imagine that  a new scratchcard </a:t>
            </a:r>
            <a:br>
              <a:rPr lang="cs-CZ" sz="2800" dirty="0"/>
            </a:br>
            <a:r>
              <a:rPr lang="en-US" sz="2800" dirty="0"/>
              <a:t>with </a:t>
            </a:r>
            <a:r>
              <a:rPr lang="en-US" sz="2800" b="1" u="sng" dirty="0"/>
              <a:t>duet lip-syncing</a:t>
            </a:r>
            <a:r>
              <a:rPr lang="en-US" sz="2800" dirty="0"/>
              <a:t> has been launched</a:t>
            </a:r>
            <a:r>
              <a:rPr lang="cs-CZ" sz="2800" noProof="0" dirty="0"/>
              <a:t>:</a:t>
            </a:r>
            <a:endParaRPr lang="cs-CZ" sz="2800" dirty="0"/>
          </a:p>
        </p:txBody>
      </p:sp>
      <p:sp>
        <p:nvSpPr>
          <p:cNvPr id="3" name="Text Placeholder 2">
            <a:extLst>
              <a:ext uri="{FF2B5EF4-FFF2-40B4-BE49-F238E27FC236}">
                <a16:creationId xmlns:a16="http://schemas.microsoft.com/office/drawing/2014/main" id="{C67A2A6F-3200-5ADF-8480-0888F48E35C2}"/>
              </a:ext>
            </a:extLst>
          </p:cNvPr>
          <p:cNvSpPr>
            <a:spLocks noGrp="1"/>
          </p:cNvSpPr>
          <p:nvPr>
            <p:ph type="body" sz="quarter" idx="10"/>
          </p:nvPr>
        </p:nvSpPr>
        <p:spPr>
          <a:xfrm>
            <a:off x="188843" y="1295568"/>
            <a:ext cx="6500191" cy="6895924"/>
          </a:xfrm>
        </p:spPr>
        <p:txBody>
          <a:bodyPr>
            <a:noAutofit/>
          </a:bodyPr>
          <a:lstStyle/>
          <a:p>
            <a:pPr>
              <a:lnSpc>
                <a:spcPct val="100000"/>
              </a:lnSpc>
              <a:spcBef>
                <a:spcPts val="1200"/>
              </a:spcBef>
              <a:spcAft>
                <a:spcPts val="600"/>
              </a:spcAft>
              <a:buNone/>
            </a:pPr>
            <a:r>
              <a:rPr lang="cs-CZ" sz="2300" dirty="0"/>
              <a:t>🎁 </a:t>
            </a:r>
            <a:r>
              <a:rPr lang="en-US" sz="2300" dirty="0"/>
              <a:t>This Christmas-themed scratchcard was designed with a unique feature for gifting during the holidays. It retails for $10 and comes </a:t>
            </a:r>
            <a:br>
              <a:rPr lang="cs-CZ" sz="2300" dirty="0"/>
            </a:br>
            <a:r>
              <a:rPr lang="en-US" sz="2300" dirty="0"/>
              <a:t>with a guaranteed win for the recipient. </a:t>
            </a:r>
          </a:p>
          <a:p>
            <a:pPr>
              <a:lnSpc>
                <a:spcPct val="100000"/>
              </a:lnSpc>
              <a:spcBef>
                <a:spcPts val="1200"/>
              </a:spcBef>
              <a:spcAft>
                <a:spcPts val="600"/>
              </a:spcAft>
              <a:buNone/>
            </a:pPr>
            <a:r>
              <a:rPr lang="en-US" sz="2300" dirty="0"/>
              <a:t>On the front of the scratchcard, there is a QR code, which you can scan with your phone, record a quick video wishing the recipient Merry Christmas, choose a festive filter and your favorite Christmas carol which you can lip-sync to. </a:t>
            </a:r>
          </a:p>
          <a:p>
            <a:pPr>
              <a:lnSpc>
                <a:spcPct val="100000"/>
              </a:lnSpc>
              <a:spcBef>
                <a:spcPts val="1200"/>
              </a:spcBef>
              <a:spcAft>
                <a:spcPts val="600"/>
              </a:spcAft>
              <a:buNone/>
            </a:pPr>
            <a:r>
              <a:rPr lang="cs-CZ" sz="2300" dirty="0"/>
              <a:t>🎄 </a:t>
            </a:r>
            <a:r>
              <a:rPr lang="en-US" sz="2300" dirty="0"/>
              <a:t>Once the scratchcard has been gifted, the receiver can play the scratchcard, uncover their win, and then scan the QR code for a festive message. </a:t>
            </a:r>
            <a:br>
              <a:rPr lang="cs-CZ" sz="2300" dirty="0"/>
            </a:br>
            <a:r>
              <a:rPr lang="en-US" sz="2300" dirty="0"/>
              <a:t>The personal Christmas video you recorded for them will then  appear, and they can record themselves lip-syncing along with you. </a:t>
            </a:r>
            <a:br>
              <a:rPr lang="cs-CZ" sz="2300" dirty="0"/>
            </a:br>
            <a:r>
              <a:rPr lang="en-US" sz="2300" dirty="0"/>
              <a:t>The final duet will then be available for them to share on messaging apps or social media. </a:t>
            </a:r>
            <a:endParaRPr lang="cs-CZ" sz="2300" noProof="0" dirty="0"/>
          </a:p>
        </p:txBody>
      </p:sp>
      <p:pic>
        <p:nvPicPr>
          <p:cNvPr id="4" name="Picture 3" descr="A christmas card on a table&#10;&#10;AI-generated content may be incorrect.">
            <a:extLst>
              <a:ext uri="{FF2B5EF4-FFF2-40B4-BE49-F238E27FC236}">
                <a16:creationId xmlns:a16="http://schemas.microsoft.com/office/drawing/2014/main" id="{C2AB8986-4C30-7DB4-6CE6-D4E035B3C02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8175449"/>
            <a:ext cx="2110864" cy="2622481"/>
          </a:xfrm>
          <a:prstGeom prst="rect">
            <a:avLst/>
          </a:prstGeom>
        </p:spPr>
      </p:pic>
      <p:pic>
        <p:nvPicPr>
          <p:cNvPr id="5" name="Picture 4" descr="A hand holding a phone with a screen showing a christmas tree&#10;&#10;AI-generated content may be incorrect.">
            <a:extLst>
              <a:ext uri="{FF2B5EF4-FFF2-40B4-BE49-F238E27FC236}">
                <a16:creationId xmlns:a16="http://schemas.microsoft.com/office/drawing/2014/main" id="{752F3EC1-3116-776A-A711-7C0F3CBFFAE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13875" y="8175449"/>
            <a:ext cx="2346431" cy="2622481"/>
          </a:xfrm>
          <a:prstGeom prst="rect">
            <a:avLst/>
          </a:prstGeom>
        </p:spPr>
      </p:pic>
      <p:pic>
        <p:nvPicPr>
          <p:cNvPr id="7" name="Picture 6" descr="A hand holding a cell phone with a screen showing a group of men&#10;&#10;AI-generated content may be incorrect.">
            <a:extLst>
              <a:ext uri="{FF2B5EF4-FFF2-40B4-BE49-F238E27FC236}">
                <a16:creationId xmlns:a16="http://schemas.microsoft.com/office/drawing/2014/main" id="{9DEE579A-0A25-13BB-C550-1285E7093C7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863316" y="8177282"/>
            <a:ext cx="1998756" cy="2622481"/>
          </a:xfrm>
          <a:prstGeom prst="rect">
            <a:avLst/>
          </a:prstGeom>
        </p:spPr>
      </p:pic>
      <p:sp>
        <p:nvSpPr>
          <p:cNvPr id="6" name="TextBox 5">
            <a:extLst>
              <a:ext uri="{FF2B5EF4-FFF2-40B4-BE49-F238E27FC236}">
                <a16:creationId xmlns:a16="http://schemas.microsoft.com/office/drawing/2014/main" id="{A3ABA76B-78DF-0D03-2E80-14B4709137DE}"/>
              </a:ext>
            </a:extLst>
          </p:cNvPr>
          <p:cNvSpPr txBox="1"/>
          <p:nvPr/>
        </p:nvSpPr>
        <p:spPr>
          <a:xfrm>
            <a:off x="-50354" y="0"/>
            <a:ext cx="4418756" cy="369332"/>
          </a:xfrm>
          <a:prstGeom prst="rect">
            <a:avLst/>
          </a:prstGeom>
          <a:noFill/>
        </p:spPr>
        <p:txBody>
          <a:bodyPr wrap="square">
            <a:spAutoFit/>
          </a:bodyPr>
          <a:lstStyle/>
          <a:p>
            <a:r>
              <a:rPr lang="cs-CZ" b="1" dirty="0" err="1"/>
              <a:t>Christmas</a:t>
            </a:r>
            <a:r>
              <a:rPr lang="cs-CZ" b="1" dirty="0"/>
              <a:t> Duet</a:t>
            </a:r>
          </a:p>
        </p:txBody>
      </p:sp>
    </p:spTree>
    <p:extLst>
      <p:ext uri="{BB962C8B-B14F-4D97-AF65-F5344CB8AC3E}">
        <p14:creationId xmlns:p14="http://schemas.microsoft.com/office/powerpoint/2010/main" val="26789509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670EF2-F025-044C-2CDF-1E8E13F8A8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2CB002-3F5A-39B1-37DD-C3E496E0E3E9}"/>
              </a:ext>
            </a:extLst>
          </p:cNvPr>
          <p:cNvSpPr>
            <a:spLocks noGrp="1"/>
          </p:cNvSpPr>
          <p:nvPr>
            <p:ph type="title"/>
          </p:nvPr>
        </p:nvSpPr>
        <p:spPr>
          <a:xfrm>
            <a:off x="287735" y="264285"/>
            <a:ext cx="6351105" cy="922506"/>
          </a:xfrm>
        </p:spPr>
        <p:txBody>
          <a:bodyPr>
            <a:noAutofit/>
          </a:bodyPr>
          <a:lstStyle/>
          <a:p>
            <a:r>
              <a:rPr lang="en-US" sz="2800" dirty="0"/>
              <a:t>Imagine adding </a:t>
            </a:r>
            <a:r>
              <a:rPr lang="en-US" sz="2800" b="1" u="sng" dirty="0"/>
              <a:t>a </a:t>
            </a:r>
            <a:r>
              <a:rPr lang="en-US" sz="2800" b="1" u="sng" dirty="0" err="1"/>
              <a:t>personalised</a:t>
            </a:r>
            <a:r>
              <a:rPr lang="en-US" sz="2800" b="1" u="sng" dirty="0"/>
              <a:t> surprise </a:t>
            </a:r>
            <a:br>
              <a:rPr lang="cs-CZ" sz="2800" b="1" u="sng" dirty="0"/>
            </a:br>
            <a:r>
              <a:rPr lang="en-US" sz="2800" dirty="0"/>
              <a:t>to your Christmas scratchcard:</a:t>
            </a:r>
            <a:endParaRPr lang="cs-CZ" sz="2800" b="1" u="sng" dirty="0"/>
          </a:p>
        </p:txBody>
      </p:sp>
      <p:sp>
        <p:nvSpPr>
          <p:cNvPr id="3" name="Text Placeholder 2">
            <a:extLst>
              <a:ext uri="{FF2B5EF4-FFF2-40B4-BE49-F238E27FC236}">
                <a16:creationId xmlns:a16="http://schemas.microsoft.com/office/drawing/2014/main" id="{024448EB-1F88-BAF0-4022-2B1C541766C7}"/>
              </a:ext>
            </a:extLst>
          </p:cNvPr>
          <p:cNvSpPr>
            <a:spLocks noGrp="1"/>
          </p:cNvSpPr>
          <p:nvPr>
            <p:ph type="body" sz="quarter" idx="10"/>
          </p:nvPr>
        </p:nvSpPr>
        <p:spPr>
          <a:xfrm>
            <a:off x="188843" y="1279525"/>
            <a:ext cx="6500191" cy="6661317"/>
          </a:xfrm>
        </p:spPr>
        <p:txBody>
          <a:bodyPr>
            <a:noAutofit/>
          </a:bodyPr>
          <a:lstStyle/>
          <a:p>
            <a:pPr>
              <a:spcBef>
                <a:spcPts val="1200"/>
              </a:spcBef>
              <a:spcAft>
                <a:spcPts val="600"/>
              </a:spcAft>
            </a:pPr>
            <a:r>
              <a:rPr lang="cs-CZ" sz="2300" dirty="0"/>
              <a:t>🎁 </a:t>
            </a:r>
            <a:r>
              <a:rPr lang="en-US" sz="2300" dirty="0"/>
              <a:t>This Christmas-themed scratchcard was designed with a unique feature for gifting during the holidays. It retails for $10 and comes </a:t>
            </a:r>
            <a:br>
              <a:rPr lang="cs-CZ" sz="2300" dirty="0"/>
            </a:br>
            <a:r>
              <a:rPr lang="en-US" sz="2300" dirty="0"/>
              <a:t>with a guaranteed win for the recipient.  </a:t>
            </a:r>
          </a:p>
          <a:p>
            <a:pPr>
              <a:spcBef>
                <a:spcPts val="1200"/>
              </a:spcBef>
              <a:spcAft>
                <a:spcPts val="600"/>
              </a:spcAft>
            </a:pPr>
            <a:r>
              <a:rPr lang="en-US" sz="2300" dirty="0"/>
              <a:t>On the front of the scratchcard, there is a QR code, which you can scan with your phone. As the ticket purchaser once you scan the code, you can upload a picture or take a selfie and choose a festive character (Santa, elf, reindeer). </a:t>
            </a:r>
          </a:p>
          <a:p>
            <a:pPr>
              <a:spcBef>
                <a:spcPts val="1200"/>
              </a:spcBef>
              <a:spcAft>
                <a:spcPts val="600"/>
              </a:spcAft>
            </a:pPr>
            <a:r>
              <a:rPr lang="cs-CZ" sz="2300" dirty="0"/>
              <a:t>🎄 </a:t>
            </a:r>
            <a:r>
              <a:rPr lang="en-US" sz="2300" dirty="0"/>
              <a:t>Once the scratchcard has been gifted, the receiver can play the scratchcard, uncover their win, and then scan the same QR code which will prompt them to place a cake using space tracking and then be told to look closer…their friend will then burst out of the cake dressed as a Christmas character. </a:t>
            </a:r>
            <a:br>
              <a:rPr lang="cs-CZ" sz="2300" dirty="0"/>
            </a:br>
            <a:r>
              <a:rPr lang="en-US" sz="2300" dirty="0"/>
              <a:t>The receiver's reaction will then be recorded and the whole event will then be played back </a:t>
            </a:r>
            <a:br>
              <a:rPr lang="cs-CZ" sz="2300" dirty="0"/>
            </a:br>
            <a:r>
              <a:rPr lang="en-US" sz="2300" dirty="0"/>
              <a:t>as a shareable video with a Christmas message.</a:t>
            </a:r>
          </a:p>
        </p:txBody>
      </p:sp>
      <p:pic>
        <p:nvPicPr>
          <p:cNvPr id="5" name="Picture 4">
            <a:extLst>
              <a:ext uri="{FF2B5EF4-FFF2-40B4-BE49-F238E27FC236}">
                <a16:creationId xmlns:a16="http://schemas.microsoft.com/office/drawing/2014/main" id="{24C9E067-CC51-E5A1-62BA-A972D364D800}"/>
              </a:ext>
            </a:extLst>
          </p:cNvPr>
          <p:cNvPicPr>
            <a:picLocks noChangeAspect="1"/>
          </p:cNvPicPr>
          <p:nvPr/>
        </p:nvPicPr>
        <p:blipFill>
          <a:blip r:embed="rId3"/>
          <a:stretch>
            <a:fillRect/>
          </a:stretch>
        </p:blipFill>
        <p:spPr>
          <a:xfrm>
            <a:off x="4761677" y="8102195"/>
            <a:ext cx="2096896" cy="2697568"/>
          </a:xfrm>
          <a:prstGeom prst="rect">
            <a:avLst/>
          </a:prstGeom>
        </p:spPr>
      </p:pic>
      <p:pic>
        <p:nvPicPr>
          <p:cNvPr id="6" name="Picture 5" descr="A christmas card on a table&#10;&#10;AI-generated content may be incorrect.">
            <a:extLst>
              <a:ext uri="{FF2B5EF4-FFF2-40B4-BE49-F238E27FC236}">
                <a16:creationId xmlns:a16="http://schemas.microsoft.com/office/drawing/2014/main" id="{20BC2BD6-7891-0310-F371-53FF71304C9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2294" y="8102195"/>
            <a:ext cx="2171303" cy="2697568"/>
          </a:xfrm>
          <a:prstGeom prst="rect">
            <a:avLst/>
          </a:prstGeom>
        </p:spPr>
      </p:pic>
      <p:pic>
        <p:nvPicPr>
          <p:cNvPr id="7" name="Picture 6" descr="A hand holding a phone with a screen showing a christmas tree&#10;&#10;AI-generated content may be incorrect.">
            <a:extLst>
              <a:ext uri="{FF2B5EF4-FFF2-40B4-BE49-F238E27FC236}">
                <a16:creationId xmlns:a16="http://schemas.microsoft.com/office/drawing/2014/main" id="{38E2725D-3AD7-73B1-A906-C26E2FB76C4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203536" y="8102194"/>
            <a:ext cx="2413614" cy="2697569"/>
          </a:xfrm>
          <a:prstGeom prst="rect">
            <a:avLst/>
          </a:prstGeom>
        </p:spPr>
      </p:pic>
      <p:sp>
        <p:nvSpPr>
          <p:cNvPr id="4" name="TextBox 3">
            <a:extLst>
              <a:ext uri="{FF2B5EF4-FFF2-40B4-BE49-F238E27FC236}">
                <a16:creationId xmlns:a16="http://schemas.microsoft.com/office/drawing/2014/main" id="{6D3AF1FD-8363-423B-68F0-480A6A31AC71}"/>
              </a:ext>
            </a:extLst>
          </p:cNvPr>
          <p:cNvSpPr txBox="1"/>
          <p:nvPr/>
        </p:nvSpPr>
        <p:spPr>
          <a:xfrm>
            <a:off x="-50354" y="0"/>
            <a:ext cx="4418756" cy="369332"/>
          </a:xfrm>
          <a:prstGeom prst="rect">
            <a:avLst/>
          </a:prstGeom>
          <a:noFill/>
        </p:spPr>
        <p:txBody>
          <a:bodyPr wrap="square">
            <a:spAutoFit/>
          </a:bodyPr>
          <a:lstStyle/>
          <a:p>
            <a:r>
              <a:rPr lang="en-GB" b="1" dirty="0"/>
              <a:t>Christmas Cake Suprise</a:t>
            </a:r>
            <a:endParaRPr lang="cs-CZ" b="1" dirty="0"/>
          </a:p>
        </p:txBody>
      </p:sp>
    </p:spTree>
    <p:extLst>
      <p:ext uri="{BB962C8B-B14F-4D97-AF65-F5344CB8AC3E}">
        <p14:creationId xmlns:p14="http://schemas.microsoft.com/office/powerpoint/2010/main" val="7908495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E1FAAB-956A-78C4-202E-BCA34415C0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7EC3A0-2258-0403-A3BB-1AC8F74205B4}"/>
              </a:ext>
            </a:extLst>
          </p:cNvPr>
          <p:cNvSpPr>
            <a:spLocks noGrp="1"/>
          </p:cNvSpPr>
          <p:nvPr>
            <p:ph type="title"/>
          </p:nvPr>
        </p:nvSpPr>
        <p:spPr>
          <a:xfrm>
            <a:off x="320842" y="376578"/>
            <a:ext cx="6368192" cy="1019485"/>
          </a:xfrm>
        </p:spPr>
        <p:txBody>
          <a:bodyPr>
            <a:noAutofit/>
          </a:bodyPr>
          <a:lstStyle/>
          <a:p>
            <a:r>
              <a:rPr lang="en-US" sz="2800" dirty="0"/>
              <a:t>Imagine adding </a:t>
            </a:r>
            <a:r>
              <a:rPr lang="en-US" sz="2800" b="1" u="sng" dirty="0"/>
              <a:t>a </a:t>
            </a:r>
            <a:r>
              <a:rPr lang="en-US" sz="2800" b="1" u="sng" dirty="0" err="1"/>
              <a:t>personalised</a:t>
            </a:r>
            <a:r>
              <a:rPr lang="en-US" sz="2800" b="1" u="sng" dirty="0"/>
              <a:t> </a:t>
            </a:r>
            <a:br>
              <a:rPr lang="cs-CZ" sz="2800" b="1" u="sng" dirty="0"/>
            </a:br>
            <a:r>
              <a:rPr lang="en-US" sz="2800" b="1" u="sng" dirty="0"/>
              <a:t>video message</a:t>
            </a:r>
            <a:r>
              <a:rPr lang="en-US" sz="2800" dirty="0"/>
              <a:t> to a scratchcard </a:t>
            </a:r>
            <a:br>
              <a:rPr lang="cs-CZ" sz="2800" dirty="0"/>
            </a:br>
            <a:r>
              <a:rPr lang="en-US" sz="2800" dirty="0"/>
              <a:t>for a friend's birthday:</a:t>
            </a:r>
          </a:p>
        </p:txBody>
      </p:sp>
      <p:sp>
        <p:nvSpPr>
          <p:cNvPr id="3" name="Text Placeholder 2">
            <a:extLst>
              <a:ext uri="{FF2B5EF4-FFF2-40B4-BE49-F238E27FC236}">
                <a16:creationId xmlns:a16="http://schemas.microsoft.com/office/drawing/2014/main" id="{1C39F049-D047-43E1-FCC9-C1A49D38719D}"/>
              </a:ext>
            </a:extLst>
          </p:cNvPr>
          <p:cNvSpPr>
            <a:spLocks noGrp="1"/>
          </p:cNvSpPr>
          <p:nvPr>
            <p:ph type="body" sz="quarter" idx="10"/>
          </p:nvPr>
        </p:nvSpPr>
        <p:spPr>
          <a:xfrm>
            <a:off x="188843" y="1696618"/>
            <a:ext cx="6500191" cy="6516937"/>
          </a:xfrm>
        </p:spPr>
        <p:txBody>
          <a:bodyPr>
            <a:normAutofit/>
          </a:bodyPr>
          <a:lstStyle/>
          <a:p>
            <a:pPr>
              <a:lnSpc>
                <a:spcPct val="100000"/>
              </a:lnSpc>
              <a:spcBef>
                <a:spcPts val="1200"/>
              </a:spcBef>
              <a:spcAft>
                <a:spcPts val="600"/>
              </a:spcAft>
              <a:buNone/>
            </a:pPr>
            <a:r>
              <a:rPr lang="cs-CZ" sz="2400" dirty="0"/>
              <a:t>🎁 </a:t>
            </a:r>
            <a:r>
              <a:rPr lang="en-US" sz="2400" dirty="0">
                <a:effectLst/>
              </a:rPr>
              <a:t>This themed scratchcard was designed </a:t>
            </a:r>
            <a:br>
              <a:rPr lang="cs-CZ" sz="2400" dirty="0">
                <a:effectLst/>
              </a:rPr>
            </a:br>
            <a:r>
              <a:rPr lang="en-US" sz="2400" dirty="0">
                <a:effectLst/>
              </a:rPr>
              <a:t>with a unique feature for gifting. It retails for $10 and comes with a guaranteed win for the recipient. </a:t>
            </a:r>
          </a:p>
          <a:p>
            <a:pPr>
              <a:lnSpc>
                <a:spcPct val="100000"/>
              </a:lnSpc>
              <a:spcBef>
                <a:spcPts val="1200"/>
              </a:spcBef>
              <a:spcAft>
                <a:spcPts val="600"/>
              </a:spcAft>
              <a:buNone/>
            </a:pPr>
            <a:r>
              <a:rPr lang="en-US" sz="2400" dirty="0">
                <a:effectLst/>
              </a:rPr>
              <a:t>On the front of the scratchcard, there is a QR code, which you can scan with your phone. </a:t>
            </a:r>
            <a:br>
              <a:rPr lang="cs-CZ" sz="2400" dirty="0">
                <a:effectLst/>
              </a:rPr>
            </a:br>
            <a:r>
              <a:rPr lang="en-US" sz="2400" dirty="0">
                <a:effectLst/>
              </a:rPr>
              <a:t>As the ticket purchaser once you scan the code, you record a happy birthday message, to a friend that you are going to give the scratchcard to. </a:t>
            </a:r>
            <a:endParaRPr lang="cs-CZ" sz="2400" dirty="0"/>
          </a:p>
          <a:p>
            <a:pPr>
              <a:lnSpc>
                <a:spcPct val="100000"/>
              </a:lnSpc>
              <a:spcBef>
                <a:spcPts val="1200"/>
              </a:spcBef>
              <a:spcAft>
                <a:spcPts val="600"/>
              </a:spcAft>
              <a:buNone/>
            </a:pPr>
            <a:r>
              <a:rPr lang="cs-CZ" sz="2400" dirty="0"/>
              <a:t>🎉 </a:t>
            </a:r>
            <a:r>
              <a:rPr lang="en-US" sz="2400" dirty="0">
                <a:effectLst/>
              </a:rPr>
              <a:t>Once the scratchcard has been gifted, the receiver can play the scratchcard, uncover their win, and then scan the QR code. </a:t>
            </a:r>
            <a:endParaRPr lang="cs-CZ" sz="2400" dirty="0">
              <a:effectLst/>
            </a:endParaRPr>
          </a:p>
          <a:p>
            <a:pPr>
              <a:lnSpc>
                <a:spcPct val="100000"/>
              </a:lnSpc>
              <a:spcBef>
                <a:spcPts val="1200"/>
              </a:spcBef>
              <a:spcAft>
                <a:spcPts val="600"/>
              </a:spcAft>
              <a:buNone/>
            </a:pPr>
            <a:r>
              <a:rPr lang="en-US" sz="2400" dirty="0">
                <a:effectLst/>
              </a:rPr>
              <a:t>The personal message you recorded for them will then appear over the scratchcard, brought to life using augmented reality. </a:t>
            </a:r>
          </a:p>
          <a:p>
            <a:pPr algn="just">
              <a:lnSpc>
                <a:spcPct val="100000"/>
              </a:lnSpc>
              <a:spcBef>
                <a:spcPts val="1200"/>
              </a:spcBef>
              <a:spcAft>
                <a:spcPts val="600"/>
              </a:spcAft>
            </a:pPr>
            <a:endParaRPr lang="cs-CZ" sz="2400" dirty="0">
              <a:ea typeface="Calibri" panose="020F0502020204030204" pitchFamily="34" charset="0"/>
              <a:cs typeface="Times New Roman" panose="02020603050405020304" pitchFamily="18" charset="0"/>
            </a:endParaRPr>
          </a:p>
          <a:p>
            <a:pPr algn="just">
              <a:lnSpc>
                <a:spcPct val="100000"/>
              </a:lnSpc>
              <a:spcBef>
                <a:spcPts val="1200"/>
              </a:spcBef>
              <a:spcAft>
                <a:spcPts val="600"/>
              </a:spcAft>
            </a:pPr>
            <a:endParaRPr lang="cs-CZ" sz="2400" dirty="0"/>
          </a:p>
        </p:txBody>
      </p:sp>
      <p:pic>
        <p:nvPicPr>
          <p:cNvPr id="7" name="Picture 6" descr="A birthday card on a table&#10;&#10;AI-generated content may be incorrect.">
            <a:extLst>
              <a:ext uri="{FF2B5EF4-FFF2-40B4-BE49-F238E27FC236}">
                <a16:creationId xmlns:a16="http://schemas.microsoft.com/office/drawing/2014/main" id="{4E658903-7FFF-2B01-2877-8DED2EC07F9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8016806"/>
            <a:ext cx="1729543" cy="2782957"/>
          </a:xfrm>
          <a:prstGeom prst="rect">
            <a:avLst/>
          </a:prstGeom>
        </p:spPr>
      </p:pic>
      <p:pic>
        <p:nvPicPr>
          <p:cNvPr id="9" name="Picture 8" descr="A hand holding a phone&#10;&#10;AI-generated content may be incorrect.">
            <a:extLst>
              <a:ext uri="{FF2B5EF4-FFF2-40B4-BE49-F238E27FC236}">
                <a16:creationId xmlns:a16="http://schemas.microsoft.com/office/drawing/2014/main" id="{477BB094-E9A4-A1E1-E17F-288BDB1F441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87529" y="8016807"/>
            <a:ext cx="2518991" cy="2782956"/>
          </a:xfrm>
          <a:prstGeom prst="rect">
            <a:avLst/>
          </a:prstGeom>
        </p:spPr>
      </p:pic>
      <p:pic>
        <p:nvPicPr>
          <p:cNvPr id="13" name="Picture 12" descr="A hand holding a phone with a picture of a couple in sunglasses&#10;&#10;AI-generated content may be incorrect.">
            <a:extLst>
              <a:ext uri="{FF2B5EF4-FFF2-40B4-BE49-F238E27FC236}">
                <a16:creationId xmlns:a16="http://schemas.microsoft.com/office/drawing/2014/main" id="{622AC646-A781-2279-946A-44A59F002C1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764505" y="8028738"/>
            <a:ext cx="2093495" cy="2771026"/>
          </a:xfrm>
          <a:prstGeom prst="rect">
            <a:avLst/>
          </a:prstGeom>
        </p:spPr>
      </p:pic>
      <p:sp>
        <p:nvSpPr>
          <p:cNvPr id="4" name="TextBox 3">
            <a:extLst>
              <a:ext uri="{FF2B5EF4-FFF2-40B4-BE49-F238E27FC236}">
                <a16:creationId xmlns:a16="http://schemas.microsoft.com/office/drawing/2014/main" id="{7FFB8518-C5D8-02E9-8E4B-5313BAC784A3}"/>
              </a:ext>
            </a:extLst>
          </p:cNvPr>
          <p:cNvSpPr txBox="1"/>
          <p:nvPr/>
        </p:nvSpPr>
        <p:spPr>
          <a:xfrm>
            <a:off x="-50354" y="0"/>
            <a:ext cx="4418756" cy="369332"/>
          </a:xfrm>
          <a:prstGeom prst="rect">
            <a:avLst/>
          </a:prstGeom>
          <a:noFill/>
        </p:spPr>
        <p:txBody>
          <a:bodyPr wrap="square">
            <a:spAutoFit/>
          </a:bodyPr>
          <a:lstStyle/>
          <a:p>
            <a:r>
              <a:rPr lang="en-GB" b="1" dirty="0"/>
              <a:t>Christmas Cake Suprise</a:t>
            </a:r>
            <a:endParaRPr lang="cs-CZ" b="1" dirty="0"/>
          </a:p>
        </p:txBody>
      </p:sp>
    </p:spTree>
    <p:extLst>
      <p:ext uri="{BB962C8B-B14F-4D97-AF65-F5344CB8AC3E}">
        <p14:creationId xmlns:p14="http://schemas.microsoft.com/office/powerpoint/2010/main" val="6979538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3E573C-FCD3-4B2A-6DA2-8762BA1964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D3B3F0-558C-C1CC-EB01-9F890EC1A001}"/>
              </a:ext>
            </a:extLst>
          </p:cNvPr>
          <p:cNvSpPr>
            <a:spLocks noGrp="1"/>
          </p:cNvSpPr>
          <p:nvPr>
            <p:ph type="title"/>
          </p:nvPr>
        </p:nvSpPr>
        <p:spPr>
          <a:xfrm>
            <a:off x="188843" y="264285"/>
            <a:ext cx="6351105" cy="922506"/>
          </a:xfrm>
        </p:spPr>
        <p:txBody>
          <a:bodyPr>
            <a:noAutofit/>
          </a:bodyPr>
          <a:lstStyle/>
          <a:p>
            <a:r>
              <a:rPr lang="en-US" sz="2800" dirty="0"/>
              <a:t>Imagine a </a:t>
            </a:r>
            <a:r>
              <a:rPr lang="en-US" sz="2800" dirty="0" err="1"/>
              <a:t>personalised</a:t>
            </a:r>
            <a:r>
              <a:rPr lang="en-US" sz="2800" dirty="0"/>
              <a:t> </a:t>
            </a:r>
            <a:r>
              <a:rPr lang="en-US" sz="2800" b="1" u="sng" dirty="0"/>
              <a:t>digital Valentine's Day card</a:t>
            </a:r>
            <a:r>
              <a:rPr lang="en-US" sz="2800" dirty="0"/>
              <a:t> attached to a scratchcard.</a:t>
            </a:r>
          </a:p>
        </p:txBody>
      </p:sp>
      <p:sp>
        <p:nvSpPr>
          <p:cNvPr id="3" name="Text Placeholder 2">
            <a:extLst>
              <a:ext uri="{FF2B5EF4-FFF2-40B4-BE49-F238E27FC236}">
                <a16:creationId xmlns:a16="http://schemas.microsoft.com/office/drawing/2014/main" id="{0234B5EC-8CE6-A834-82E8-00CB4328E165}"/>
              </a:ext>
            </a:extLst>
          </p:cNvPr>
          <p:cNvSpPr>
            <a:spLocks noGrp="1"/>
          </p:cNvSpPr>
          <p:nvPr>
            <p:ph type="body" sz="quarter" idx="10"/>
          </p:nvPr>
        </p:nvSpPr>
        <p:spPr>
          <a:xfrm>
            <a:off x="188843" y="1327651"/>
            <a:ext cx="6500191" cy="6516937"/>
          </a:xfrm>
        </p:spPr>
        <p:txBody>
          <a:bodyPr>
            <a:noAutofit/>
          </a:bodyPr>
          <a:lstStyle/>
          <a:p>
            <a:pPr>
              <a:lnSpc>
                <a:spcPct val="110000"/>
              </a:lnSpc>
              <a:spcBef>
                <a:spcPts val="600"/>
              </a:spcBef>
              <a:spcAft>
                <a:spcPts val="600"/>
              </a:spcAft>
              <a:buNone/>
            </a:pPr>
            <a:r>
              <a:rPr lang="cs-CZ" sz="2400" dirty="0"/>
              <a:t>🎁 </a:t>
            </a:r>
            <a:r>
              <a:rPr lang="en-US" sz="2400" dirty="0">
                <a:effectLst/>
              </a:rPr>
              <a:t>This themed scratchcard was designed </a:t>
            </a:r>
            <a:br>
              <a:rPr lang="cs-CZ" sz="2400" dirty="0">
                <a:effectLst/>
              </a:rPr>
            </a:br>
            <a:r>
              <a:rPr lang="en-US" sz="2400" dirty="0">
                <a:effectLst/>
              </a:rPr>
              <a:t>with a unique feature for gifting to your loved one. It retails for $10 and comes with a guaranteed win for the recipient.</a:t>
            </a:r>
          </a:p>
          <a:p>
            <a:pPr>
              <a:lnSpc>
                <a:spcPct val="110000"/>
              </a:lnSpc>
              <a:spcBef>
                <a:spcPts val="600"/>
              </a:spcBef>
              <a:spcAft>
                <a:spcPts val="600"/>
              </a:spcAft>
              <a:buNone/>
            </a:pPr>
            <a:r>
              <a:rPr lang="en-US" sz="2400" dirty="0">
                <a:effectLst/>
              </a:rPr>
              <a:t>On the front of the scratchcard, there is a QR code, which you can scan with your phone. As the ticket purchaser, once you scan the code, you record a personal message for the receiver, to a friend that you are going to give the scratchcard to. </a:t>
            </a:r>
            <a:endParaRPr lang="cs-CZ" sz="2400" dirty="0">
              <a:effectLst/>
            </a:endParaRPr>
          </a:p>
          <a:p>
            <a:pPr>
              <a:lnSpc>
                <a:spcPct val="110000"/>
              </a:lnSpc>
              <a:spcBef>
                <a:spcPts val="600"/>
              </a:spcBef>
              <a:spcAft>
                <a:spcPts val="600"/>
              </a:spcAft>
              <a:buNone/>
            </a:pPr>
            <a:r>
              <a:rPr lang="cs-CZ" sz="2400" dirty="0"/>
              <a:t>🎉</a:t>
            </a:r>
            <a:r>
              <a:rPr lang="en-US" sz="2400" dirty="0"/>
              <a:t>Once the scratchcard has been gifted, the receiver can play the scratchcard, uncover their win, and then scan the QR code. </a:t>
            </a:r>
            <a:br>
              <a:rPr lang="cs-CZ" sz="2400" dirty="0"/>
            </a:br>
            <a:r>
              <a:rPr lang="en-US" sz="2400" dirty="0"/>
              <a:t>The personal message you recorded for them will then appear over the scratchcard, brought to life using augmented reality. </a:t>
            </a:r>
          </a:p>
          <a:p>
            <a:pPr>
              <a:lnSpc>
                <a:spcPct val="110000"/>
              </a:lnSpc>
              <a:spcBef>
                <a:spcPts val="600"/>
              </a:spcBef>
              <a:spcAft>
                <a:spcPts val="600"/>
              </a:spcAft>
              <a:buNone/>
            </a:pPr>
            <a:endParaRPr lang="cs-CZ" sz="2400" dirty="0"/>
          </a:p>
        </p:txBody>
      </p:sp>
      <p:pic>
        <p:nvPicPr>
          <p:cNvPr id="5" name="Picture 4" descr="A person taking a picture of a card&#10;&#10;AI-generated content may be incorrect.">
            <a:extLst>
              <a:ext uri="{FF2B5EF4-FFF2-40B4-BE49-F238E27FC236}">
                <a16:creationId xmlns:a16="http://schemas.microsoft.com/office/drawing/2014/main" id="{DBDAE58F-B13B-012A-9403-E77E8839FC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00196" y="8058434"/>
            <a:ext cx="2474035" cy="2741329"/>
          </a:xfrm>
          <a:prstGeom prst="rect">
            <a:avLst/>
          </a:prstGeom>
        </p:spPr>
      </p:pic>
      <p:pic>
        <p:nvPicPr>
          <p:cNvPr id="7" name="Picture 6" descr="A person taking a picture of a person's face on a cellphone&#10;&#10;AI-generated content may be incorrect.">
            <a:extLst>
              <a:ext uri="{FF2B5EF4-FFF2-40B4-BE49-F238E27FC236}">
                <a16:creationId xmlns:a16="http://schemas.microsoft.com/office/drawing/2014/main" id="{B9D0AFEC-CBE8-C87F-7753-926D6221C23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89333" y="8058434"/>
            <a:ext cx="2260121" cy="2741329"/>
          </a:xfrm>
          <a:prstGeom prst="rect">
            <a:avLst/>
          </a:prstGeom>
        </p:spPr>
      </p:pic>
      <p:pic>
        <p:nvPicPr>
          <p:cNvPr id="9" name="Picture 8" descr="A pink card with a pink design on it&#10;&#10;AI-generated content may be incorrect.">
            <a:extLst>
              <a:ext uri="{FF2B5EF4-FFF2-40B4-BE49-F238E27FC236}">
                <a16:creationId xmlns:a16="http://schemas.microsoft.com/office/drawing/2014/main" id="{4110A59E-9C3F-3738-676D-EC7980A5A92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99" y="8058434"/>
            <a:ext cx="1878495" cy="2741329"/>
          </a:xfrm>
          <a:prstGeom prst="rect">
            <a:avLst/>
          </a:prstGeom>
        </p:spPr>
      </p:pic>
      <p:sp>
        <p:nvSpPr>
          <p:cNvPr id="4" name="TextBox 3">
            <a:extLst>
              <a:ext uri="{FF2B5EF4-FFF2-40B4-BE49-F238E27FC236}">
                <a16:creationId xmlns:a16="http://schemas.microsoft.com/office/drawing/2014/main" id="{FD2EECC5-AC69-7213-FA77-A9DB5C3A7622}"/>
              </a:ext>
            </a:extLst>
          </p:cNvPr>
          <p:cNvSpPr txBox="1"/>
          <p:nvPr/>
        </p:nvSpPr>
        <p:spPr>
          <a:xfrm>
            <a:off x="-50354" y="0"/>
            <a:ext cx="4418756" cy="369332"/>
          </a:xfrm>
          <a:prstGeom prst="rect">
            <a:avLst/>
          </a:prstGeom>
          <a:noFill/>
        </p:spPr>
        <p:txBody>
          <a:bodyPr wrap="square">
            <a:spAutoFit/>
          </a:bodyPr>
          <a:lstStyle/>
          <a:p>
            <a:r>
              <a:rPr lang="cs-CZ" b="1" dirty="0"/>
              <a:t>Valentine </a:t>
            </a:r>
            <a:r>
              <a:rPr lang="cs-CZ" b="1" dirty="0" err="1"/>
              <a:t>Message</a:t>
            </a:r>
            <a:endParaRPr lang="cs-CZ" b="1" dirty="0"/>
          </a:p>
        </p:txBody>
      </p:sp>
    </p:spTree>
    <p:extLst>
      <p:ext uri="{BB962C8B-B14F-4D97-AF65-F5344CB8AC3E}">
        <p14:creationId xmlns:p14="http://schemas.microsoft.com/office/powerpoint/2010/main" val="301253591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XCLUDEHIDDENSLIDES" val="False"/>
  <p:tag name="NUMBEROFPAGES" val="8"/>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3741da7a-79c1-417c-b408-16c0bfe99fca}" enabled="1" method="Standard" siteId="{1e355c04-e0a4-42ed-8e2d-7351591f0ef1}" contentBits="0" removed="0"/>
</clbl:labelList>
</file>

<file path=docProps/app.xml><?xml version="1.0" encoding="utf-8"?>
<Properties xmlns="http://schemas.openxmlformats.org/officeDocument/2006/extended-properties" xmlns:vt="http://schemas.openxmlformats.org/officeDocument/2006/docPropsVTypes">
  <Template>Office Theme</Template>
  <TotalTime>649</TotalTime>
  <Words>1381</Words>
  <Application>Microsoft Office PowerPoint</Application>
  <PresentationFormat>Custom</PresentationFormat>
  <Paragraphs>59</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Aptos</vt:lpstr>
      <vt:lpstr>Arial</vt:lpstr>
      <vt:lpstr>Calibri</vt:lpstr>
      <vt:lpstr>Office Theme</vt:lpstr>
      <vt:lpstr>Imagine that  a new personalised video scratchcard has been launched:</vt:lpstr>
      <vt:lpstr>Imagine that a fun new themed augmented reality scratchcard  has been launched:</vt:lpstr>
      <vt:lpstr>Imagine that a new  Augmented Reality minigame  can be played on your scratchcard</vt:lpstr>
      <vt:lpstr>Imagine your scratchcard comes  with a new lip-synching experience:</vt:lpstr>
      <vt:lpstr>Imagine that  a new scratchcard  with duet lip-syncing has been launched:</vt:lpstr>
      <vt:lpstr>Imagine adding a personalised surprise  to your Christmas scratchcard:</vt:lpstr>
      <vt:lpstr>Imagine adding a personalised  video message to a scratchcard  for a friend's birthday:</vt:lpstr>
      <vt:lpstr>Imagine a personalised digital Valentine's Day card attached to a scratchcard.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Rajsnerová, Jana (KTPRG)</dc:creator>
  <cp:lastModifiedBy>Peter Javornický</cp:lastModifiedBy>
  <cp:revision>34</cp:revision>
  <dcterms:created xsi:type="dcterms:W3CDTF">2022-11-09T07:36:23Z</dcterms:created>
  <dcterms:modified xsi:type="dcterms:W3CDTF">2025-12-16T08:44:45Z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3741da7a-79c1-417c-b408-16c0bfe99fca_Enabled">
    <vt:lpwstr>true</vt:lpwstr>
  </property>
  <property fmtid="{D5CDD505-2E9C-101B-9397-08002B2CF9AE}" pid="3" name="MSIP_Label_3741da7a-79c1-417c-b408-16c0bfe99fca_SetDate">
    <vt:lpwstr>2023-03-30T08:52:17Z</vt:lpwstr>
  </property>
  <property fmtid="{D5CDD505-2E9C-101B-9397-08002B2CF9AE}" pid="4" name="MSIP_Label_3741da7a-79c1-417c-b408-16c0bfe99fca_Method">
    <vt:lpwstr>Standard</vt:lpwstr>
  </property>
  <property fmtid="{D5CDD505-2E9C-101B-9397-08002B2CF9AE}" pid="5" name="MSIP_Label_3741da7a-79c1-417c-b408-16c0bfe99fca_Name">
    <vt:lpwstr>Internal Only - Amber</vt:lpwstr>
  </property>
  <property fmtid="{D5CDD505-2E9C-101B-9397-08002B2CF9AE}" pid="6" name="MSIP_Label_3741da7a-79c1-417c-b408-16c0bfe99fca_SiteId">
    <vt:lpwstr>1e355c04-e0a4-42ed-8e2d-7351591f0ef1</vt:lpwstr>
  </property>
  <property fmtid="{D5CDD505-2E9C-101B-9397-08002B2CF9AE}" pid="7" name="MSIP_Label_3741da7a-79c1-417c-b408-16c0bfe99fca_ActionId">
    <vt:lpwstr>5b4cd54c-153d-4cdd-b8e7-de533e844d37</vt:lpwstr>
  </property>
  <property fmtid="{D5CDD505-2E9C-101B-9397-08002B2CF9AE}" pid="8" name="MSIP_Label_3741da7a-79c1-417c-b408-16c0bfe99fca_ContentBits">
    <vt:lpwstr>0</vt:lpwstr>
  </property>
</Properties>
</file>