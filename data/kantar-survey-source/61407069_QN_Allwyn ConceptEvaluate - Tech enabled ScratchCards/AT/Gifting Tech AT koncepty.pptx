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71" r:id="rId2"/>
    <p:sldId id="272" r:id="rId3"/>
    <p:sldId id="273" r:id="rId4"/>
    <p:sldId id="274" r:id="rId5"/>
    <p:sldId id="275" r:id="rId6"/>
    <p:sldId id="276" r:id="rId7"/>
    <p:sldId id="277" r:id="rId8"/>
    <p:sldId id="278" r:id="rId9"/>
  </p:sldIdLst>
  <p:sldSz cx="6858000" cy="10799763"/>
  <p:notesSz cx="6858000" cy="9144000"/>
  <p:custDataLst>
    <p:tags r:id="rId1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340C67-34E6-4D9C-B9D0-AF6206EBCC50}" v="8" dt="2025-12-16T08:44:32.8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4" autoAdjust="0"/>
    <p:restoredTop sz="94660"/>
  </p:normalViewPr>
  <p:slideViewPr>
    <p:cSldViewPr snapToGrid="0">
      <p:cViewPr varScale="1">
        <p:scale>
          <a:sx n="65" d="100"/>
          <a:sy n="65" d="100"/>
        </p:scale>
        <p:origin x="334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Javornický" userId="3b98f8e0-d449-4f6e-b57d-5f9bfb7a5c2c" providerId="ADAL" clId="{88A10E76-C547-4713-B92A-3B48010D5CF0}"/>
    <pc:docChg chg="modSld">
      <pc:chgData name="Peter Javornický" userId="3b98f8e0-d449-4f6e-b57d-5f9bfb7a5c2c" providerId="ADAL" clId="{88A10E76-C547-4713-B92A-3B48010D5CF0}" dt="2025-12-16T08:44:32.867" v="7"/>
      <pc:docMkLst>
        <pc:docMk/>
      </pc:docMkLst>
      <pc:sldChg chg="addSp modSp">
        <pc:chgData name="Peter Javornický" userId="3b98f8e0-d449-4f6e-b57d-5f9bfb7a5c2c" providerId="ADAL" clId="{88A10E76-C547-4713-B92A-3B48010D5CF0}" dt="2025-12-16T08:41:27.664" v="0"/>
        <pc:sldMkLst>
          <pc:docMk/>
          <pc:sldMk cId="1475714791" sldId="271"/>
        </pc:sldMkLst>
        <pc:spChg chg="add mod">
          <ac:chgData name="Peter Javornický" userId="3b98f8e0-d449-4f6e-b57d-5f9bfb7a5c2c" providerId="ADAL" clId="{88A10E76-C547-4713-B92A-3B48010D5CF0}" dt="2025-12-16T08:41:27.664" v="0"/>
          <ac:spMkLst>
            <pc:docMk/>
            <pc:sldMk cId="1475714791" sldId="271"/>
            <ac:spMk id="5" creationId="{2304B761-95F1-A918-2D62-0F2580926A52}"/>
          </ac:spMkLst>
        </pc:spChg>
      </pc:sldChg>
      <pc:sldChg chg="addSp modSp">
        <pc:chgData name="Peter Javornický" userId="3b98f8e0-d449-4f6e-b57d-5f9bfb7a5c2c" providerId="ADAL" clId="{88A10E76-C547-4713-B92A-3B48010D5CF0}" dt="2025-12-16T08:41:51.733" v="1"/>
        <pc:sldMkLst>
          <pc:docMk/>
          <pc:sldMk cId="2657097092" sldId="272"/>
        </pc:sldMkLst>
        <pc:spChg chg="add mod">
          <ac:chgData name="Peter Javornický" userId="3b98f8e0-d449-4f6e-b57d-5f9bfb7a5c2c" providerId="ADAL" clId="{88A10E76-C547-4713-B92A-3B48010D5CF0}" dt="2025-12-16T08:41:51.733" v="1"/>
          <ac:spMkLst>
            <pc:docMk/>
            <pc:sldMk cId="2657097092" sldId="272"/>
            <ac:spMk id="5" creationId="{F9D37AA1-2248-8977-4902-404EB50EE450}"/>
          </ac:spMkLst>
        </pc:spChg>
      </pc:sldChg>
      <pc:sldChg chg="addSp modSp">
        <pc:chgData name="Peter Javornický" userId="3b98f8e0-d449-4f6e-b57d-5f9bfb7a5c2c" providerId="ADAL" clId="{88A10E76-C547-4713-B92A-3B48010D5CF0}" dt="2025-12-16T08:42:20.743" v="2"/>
        <pc:sldMkLst>
          <pc:docMk/>
          <pc:sldMk cId="4117134501" sldId="273"/>
        </pc:sldMkLst>
        <pc:spChg chg="add mod">
          <ac:chgData name="Peter Javornický" userId="3b98f8e0-d449-4f6e-b57d-5f9bfb7a5c2c" providerId="ADAL" clId="{88A10E76-C547-4713-B92A-3B48010D5CF0}" dt="2025-12-16T08:42:20.743" v="2"/>
          <ac:spMkLst>
            <pc:docMk/>
            <pc:sldMk cId="4117134501" sldId="273"/>
            <ac:spMk id="5" creationId="{6593F08A-E965-AFF5-0636-2C5ED9B402B9}"/>
          </ac:spMkLst>
        </pc:spChg>
      </pc:sldChg>
      <pc:sldChg chg="addSp modSp">
        <pc:chgData name="Peter Javornický" userId="3b98f8e0-d449-4f6e-b57d-5f9bfb7a5c2c" providerId="ADAL" clId="{88A10E76-C547-4713-B92A-3B48010D5CF0}" dt="2025-12-16T08:42:48.539" v="3"/>
        <pc:sldMkLst>
          <pc:docMk/>
          <pc:sldMk cId="116364638" sldId="274"/>
        </pc:sldMkLst>
        <pc:spChg chg="add mod">
          <ac:chgData name="Peter Javornický" userId="3b98f8e0-d449-4f6e-b57d-5f9bfb7a5c2c" providerId="ADAL" clId="{88A10E76-C547-4713-B92A-3B48010D5CF0}" dt="2025-12-16T08:42:48.539" v="3"/>
          <ac:spMkLst>
            <pc:docMk/>
            <pc:sldMk cId="116364638" sldId="274"/>
            <ac:spMk id="4" creationId="{2E37FDCC-F545-F00D-DEB5-4261F12DAD67}"/>
          </ac:spMkLst>
        </pc:spChg>
      </pc:sldChg>
      <pc:sldChg chg="addSp modSp">
        <pc:chgData name="Peter Javornický" userId="3b98f8e0-d449-4f6e-b57d-5f9bfb7a5c2c" providerId="ADAL" clId="{88A10E76-C547-4713-B92A-3B48010D5CF0}" dt="2025-12-16T08:43:18.586" v="4"/>
        <pc:sldMkLst>
          <pc:docMk/>
          <pc:sldMk cId="2678950995" sldId="275"/>
        </pc:sldMkLst>
        <pc:spChg chg="add mod">
          <ac:chgData name="Peter Javornický" userId="3b98f8e0-d449-4f6e-b57d-5f9bfb7a5c2c" providerId="ADAL" clId="{88A10E76-C547-4713-B92A-3B48010D5CF0}" dt="2025-12-16T08:43:18.586" v="4"/>
          <ac:spMkLst>
            <pc:docMk/>
            <pc:sldMk cId="2678950995" sldId="275"/>
            <ac:spMk id="4" creationId="{ACA46336-3686-E82B-478E-C2A4126E7AEF}"/>
          </ac:spMkLst>
        </pc:spChg>
      </pc:sldChg>
      <pc:sldChg chg="addSp modSp">
        <pc:chgData name="Peter Javornický" userId="3b98f8e0-d449-4f6e-b57d-5f9bfb7a5c2c" providerId="ADAL" clId="{88A10E76-C547-4713-B92A-3B48010D5CF0}" dt="2025-12-16T08:43:42.970" v="5"/>
        <pc:sldMkLst>
          <pc:docMk/>
          <pc:sldMk cId="790849571" sldId="276"/>
        </pc:sldMkLst>
        <pc:spChg chg="add mod">
          <ac:chgData name="Peter Javornický" userId="3b98f8e0-d449-4f6e-b57d-5f9bfb7a5c2c" providerId="ADAL" clId="{88A10E76-C547-4713-B92A-3B48010D5CF0}" dt="2025-12-16T08:43:42.970" v="5"/>
          <ac:spMkLst>
            <pc:docMk/>
            <pc:sldMk cId="790849571" sldId="276"/>
            <ac:spMk id="5" creationId="{CFA9A7AF-C870-0ACF-BEA9-C7ED296ACB5F}"/>
          </ac:spMkLst>
        </pc:spChg>
      </pc:sldChg>
      <pc:sldChg chg="addSp modSp">
        <pc:chgData name="Peter Javornický" userId="3b98f8e0-d449-4f6e-b57d-5f9bfb7a5c2c" providerId="ADAL" clId="{88A10E76-C547-4713-B92A-3B48010D5CF0}" dt="2025-12-16T08:44:09.314" v="6"/>
        <pc:sldMkLst>
          <pc:docMk/>
          <pc:sldMk cId="697953841" sldId="277"/>
        </pc:sldMkLst>
        <pc:spChg chg="add mod">
          <ac:chgData name="Peter Javornický" userId="3b98f8e0-d449-4f6e-b57d-5f9bfb7a5c2c" providerId="ADAL" clId="{88A10E76-C547-4713-B92A-3B48010D5CF0}" dt="2025-12-16T08:44:09.314" v="6"/>
          <ac:spMkLst>
            <pc:docMk/>
            <pc:sldMk cId="697953841" sldId="277"/>
            <ac:spMk id="5" creationId="{1A93814D-9B8C-C7A3-56BE-1DEEFE99D304}"/>
          </ac:spMkLst>
        </pc:spChg>
      </pc:sldChg>
      <pc:sldChg chg="addSp modSp">
        <pc:chgData name="Peter Javornický" userId="3b98f8e0-d449-4f6e-b57d-5f9bfb7a5c2c" providerId="ADAL" clId="{88A10E76-C547-4713-B92A-3B48010D5CF0}" dt="2025-12-16T08:44:32.867" v="7"/>
        <pc:sldMkLst>
          <pc:docMk/>
          <pc:sldMk cId="3012535913" sldId="278"/>
        </pc:sldMkLst>
        <pc:spChg chg="add mod">
          <ac:chgData name="Peter Javornický" userId="3b98f8e0-d449-4f6e-b57d-5f9bfb7a5c2c" providerId="ADAL" clId="{88A10E76-C547-4713-B92A-3B48010D5CF0}" dt="2025-12-16T08:44:32.867" v="7"/>
          <ac:spMkLst>
            <pc:docMk/>
            <pc:sldMk cId="3012535913" sldId="278"/>
            <ac:spMk id="5" creationId="{33BB15C8-1B09-8F6C-EEFC-C1A991CD57A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8FD2F1-A3F8-4D2F-A732-36209F258435}" type="datetimeFigureOut">
              <a:rPr lang="en-US" smtClean="0"/>
              <a:t>12/16/2025</a:t>
            </a:fld>
            <a:endParaRPr lang="en-US"/>
          </a:p>
        </p:txBody>
      </p:sp>
      <p:sp>
        <p:nvSpPr>
          <p:cNvPr id="4" name="Slide Image Placeholder 3"/>
          <p:cNvSpPr>
            <a:spLocks noGrp="1" noRot="1" noChangeAspect="1"/>
          </p:cNvSpPr>
          <p:nvPr>
            <p:ph type="sldImg" idx="2"/>
          </p:nvPr>
        </p:nvSpPr>
        <p:spPr>
          <a:xfrm>
            <a:off x="2449513" y="1143000"/>
            <a:ext cx="19589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4B9DD6-A685-4D30-9A3F-71203410716A}" type="slidenum">
              <a:rPr lang="en-US" smtClean="0"/>
              <a:t>‹#›</a:t>
            </a:fld>
            <a:endParaRPr lang="en-US"/>
          </a:p>
        </p:txBody>
      </p:sp>
    </p:spTree>
    <p:extLst>
      <p:ext uri="{BB962C8B-B14F-4D97-AF65-F5344CB8AC3E}">
        <p14:creationId xmlns:p14="http://schemas.microsoft.com/office/powerpoint/2010/main" val="2068454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Christmas AR Message</a:t>
            </a:r>
            <a:endParaRPr lang="en-US" dirty="0"/>
          </a:p>
        </p:txBody>
      </p:sp>
      <p:sp>
        <p:nvSpPr>
          <p:cNvPr id="4" name="Slide Number Placeholder 3"/>
          <p:cNvSpPr>
            <a:spLocks noGrp="1"/>
          </p:cNvSpPr>
          <p:nvPr>
            <p:ph type="sldNum" sz="quarter" idx="5"/>
          </p:nvPr>
        </p:nvSpPr>
        <p:spPr/>
        <p:txBody>
          <a:bodyPr/>
          <a:lstStyle/>
          <a:p>
            <a:fld id="{5FEF3203-849B-4784-BD5D-A210CDCB2B30}" type="slidenum">
              <a:rPr lang="en-US" smtClean="0"/>
              <a:t>1</a:t>
            </a:fld>
            <a:endParaRPr lang="en-US" dirty="0"/>
          </a:p>
        </p:txBody>
      </p:sp>
    </p:spTree>
    <p:extLst>
      <p:ext uri="{BB962C8B-B14F-4D97-AF65-F5344CB8AC3E}">
        <p14:creationId xmlns:p14="http://schemas.microsoft.com/office/powerpoint/2010/main" val="625495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4E0F-0BC9-970D-7737-AF90F5C96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765663-095D-E931-85FD-6E48B3D23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8684C-7615-B9F8-893D-916B9A635D37}"/>
              </a:ext>
            </a:extLst>
          </p:cNvPr>
          <p:cNvSpPr>
            <a:spLocks noGrp="1"/>
          </p:cNvSpPr>
          <p:nvPr>
            <p:ph type="body" idx="1"/>
          </p:nvPr>
        </p:nvSpPr>
        <p:spPr/>
        <p:txBody>
          <a:bodyPr/>
          <a:lstStyle/>
          <a:p>
            <a:r>
              <a:rPr lang="cs-CZ" dirty="0">
                <a:effectLst/>
              </a:rPr>
              <a:t>Elf Yourself</a:t>
            </a:r>
            <a:endParaRPr lang="en-US" dirty="0"/>
          </a:p>
        </p:txBody>
      </p:sp>
      <p:sp>
        <p:nvSpPr>
          <p:cNvPr id="4" name="Slide Number Placeholder 3">
            <a:extLst>
              <a:ext uri="{FF2B5EF4-FFF2-40B4-BE49-F238E27FC236}">
                <a16:creationId xmlns:a16="http://schemas.microsoft.com/office/drawing/2014/main" id="{B35BDCCD-CFB1-58A8-3E4C-A08077C21DFA}"/>
              </a:ext>
            </a:extLst>
          </p:cNvPr>
          <p:cNvSpPr>
            <a:spLocks noGrp="1"/>
          </p:cNvSpPr>
          <p:nvPr>
            <p:ph type="sldNum" sz="quarter" idx="5"/>
          </p:nvPr>
        </p:nvSpPr>
        <p:spPr/>
        <p:txBody>
          <a:bodyPr/>
          <a:lstStyle/>
          <a:p>
            <a:fld id="{5FEF3203-849B-4784-BD5D-A210CDCB2B30}" type="slidenum">
              <a:rPr lang="en-US" smtClean="0"/>
              <a:t>2</a:t>
            </a:fld>
            <a:endParaRPr lang="en-US"/>
          </a:p>
        </p:txBody>
      </p:sp>
    </p:spTree>
    <p:extLst>
      <p:ext uri="{BB962C8B-B14F-4D97-AF65-F5344CB8AC3E}">
        <p14:creationId xmlns:p14="http://schemas.microsoft.com/office/powerpoint/2010/main" val="747024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D5329-4541-42A3-2908-8CC6B0325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CFFE9F-4416-2FF7-DB0B-FDA088985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ADEEA-C1A1-3EF4-9872-C6C0967D540F}"/>
              </a:ext>
            </a:extLst>
          </p:cNvPr>
          <p:cNvSpPr>
            <a:spLocks noGrp="1"/>
          </p:cNvSpPr>
          <p:nvPr>
            <p:ph type="body" idx="1"/>
          </p:nvPr>
        </p:nvSpPr>
        <p:spPr/>
        <p:txBody>
          <a:bodyPr/>
          <a:lstStyle/>
          <a:p>
            <a:r>
              <a:rPr lang="cs-CZ" dirty="0">
                <a:effectLst/>
              </a:rPr>
              <a:t>AR Christmas Mini Game</a:t>
            </a:r>
            <a:endParaRPr lang="en-US" dirty="0"/>
          </a:p>
        </p:txBody>
      </p:sp>
      <p:sp>
        <p:nvSpPr>
          <p:cNvPr id="4" name="Slide Number Placeholder 3">
            <a:extLst>
              <a:ext uri="{FF2B5EF4-FFF2-40B4-BE49-F238E27FC236}">
                <a16:creationId xmlns:a16="http://schemas.microsoft.com/office/drawing/2014/main" id="{FCCBFCED-CFBE-F058-5767-62E0AEE0F90B}"/>
              </a:ext>
            </a:extLst>
          </p:cNvPr>
          <p:cNvSpPr>
            <a:spLocks noGrp="1"/>
          </p:cNvSpPr>
          <p:nvPr>
            <p:ph type="sldNum" sz="quarter" idx="5"/>
          </p:nvPr>
        </p:nvSpPr>
        <p:spPr/>
        <p:txBody>
          <a:bodyPr/>
          <a:lstStyle/>
          <a:p>
            <a:fld id="{5FEF3203-849B-4784-BD5D-A210CDCB2B30}" type="slidenum">
              <a:rPr lang="en-US" smtClean="0"/>
              <a:t>3</a:t>
            </a:fld>
            <a:endParaRPr lang="en-US"/>
          </a:p>
        </p:txBody>
      </p:sp>
    </p:spTree>
    <p:extLst>
      <p:ext uri="{BB962C8B-B14F-4D97-AF65-F5344CB8AC3E}">
        <p14:creationId xmlns:p14="http://schemas.microsoft.com/office/powerpoint/2010/main" val="2291462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D033B-6D30-624D-09FF-B8F6AA860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2E0A1-72CE-EB7D-2BF2-856FAFFBD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68D0A-0450-B6CA-EAE0-91143215766D}"/>
              </a:ext>
            </a:extLst>
          </p:cNvPr>
          <p:cNvSpPr>
            <a:spLocks noGrp="1"/>
          </p:cNvSpPr>
          <p:nvPr>
            <p:ph type="body" idx="1"/>
          </p:nvPr>
        </p:nvSpPr>
        <p:spPr/>
        <p:txBody>
          <a:bodyPr/>
          <a:lstStyle/>
          <a:p>
            <a:r>
              <a:rPr lang="en-US" dirty="0">
                <a:effectLst/>
              </a:rPr>
              <a:t>Christmas </a:t>
            </a:r>
            <a:r>
              <a:rPr lang="cs-CZ" dirty="0">
                <a:effectLst/>
              </a:rPr>
              <a:t>Lip Sync</a:t>
            </a:r>
            <a:endParaRPr lang="en-US" dirty="0"/>
          </a:p>
        </p:txBody>
      </p:sp>
      <p:sp>
        <p:nvSpPr>
          <p:cNvPr id="4" name="Slide Number Placeholder 3">
            <a:extLst>
              <a:ext uri="{FF2B5EF4-FFF2-40B4-BE49-F238E27FC236}">
                <a16:creationId xmlns:a16="http://schemas.microsoft.com/office/drawing/2014/main" id="{79DBDE20-7355-19D4-D20F-B0B66D3116CC}"/>
              </a:ext>
            </a:extLst>
          </p:cNvPr>
          <p:cNvSpPr>
            <a:spLocks noGrp="1"/>
          </p:cNvSpPr>
          <p:nvPr>
            <p:ph type="sldNum" sz="quarter" idx="5"/>
          </p:nvPr>
        </p:nvSpPr>
        <p:spPr/>
        <p:txBody>
          <a:bodyPr/>
          <a:lstStyle/>
          <a:p>
            <a:fld id="{5FEF3203-849B-4784-BD5D-A210CDCB2B30}" type="slidenum">
              <a:rPr lang="en-US" smtClean="0"/>
              <a:t>4</a:t>
            </a:fld>
            <a:endParaRPr lang="en-US"/>
          </a:p>
        </p:txBody>
      </p:sp>
    </p:spTree>
    <p:extLst>
      <p:ext uri="{BB962C8B-B14F-4D97-AF65-F5344CB8AC3E}">
        <p14:creationId xmlns:p14="http://schemas.microsoft.com/office/powerpoint/2010/main" val="1377034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F7DB8-52F6-FA3C-92A3-D46F26868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3B4BF-3A9B-118F-3280-324E7B4F0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ACCA1-223E-6282-F45E-3F767EF5C32F}"/>
              </a:ext>
            </a:extLst>
          </p:cNvPr>
          <p:cNvSpPr>
            <a:spLocks noGrp="1"/>
          </p:cNvSpPr>
          <p:nvPr>
            <p:ph type="body" idx="1"/>
          </p:nvPr>
        </p:nvSpPr>
        <p:spPr/>
        <p:txBody>
          <a:bodyPr/>
          <a:lstStyle/>
          <a:p>
            <a:r>
              <a:rPr lang="cs-CZ" dirty="0">
                <a:effectLst/>
              </a:rPr>
              <a:t>Christmas Duet</a:t>
            </a:r>
            <a:endParaRPr lang="en-US" dirty="0"/>
          </a:p>
        </p:txBody>
      </p:sp>
      <p:sp>
        <p:nvSpPr>
          <p:cNvPr id="4" name="Slide Number Placeholder 3">
            <a:extLst>
              <a:ext uri="{FF2B5EF4-FFF2-40B4-BE49-F238E27FC236}">
                <a16:creationId xmlns:a16="http://schemas.microsoft.com/office/drawing/2014/main" id="{FDAFEB05-8337-747E-71F1-D024185C75D4}"/>
              </a:ext>
            </a:extLst>
          </p:cNvPr>
          <p:cNvSpPr>
            <a:spLocks noGrp="1"/>
          </p:cNvSpPr>
          <p:nvPr>
            <p:ph type="sldNum" sz="quarter" idx="5"/>
          </p:nvPr>
        </p:nvSpPr>
        <p:spPr/>
        <p:txBody>
          <a:bodyPr/>
          <a:lstStyle/>
          <a:p>
            <a:fld id="{5FEF3203-849B-4784-BD5D-A210CDCB2B30}" type="slidenum">
              <a:rPr lang="en-US" smtClean="0"/>
              <a:t>5</a:t>
            </a:fld>
            <a:endParaRPr lang="en-US"/>
          </a:p>
        </p:txBody>
      </p:sp>
    </p:spTree>
    <p:extLst>
      <p:ext uri="{BB962C8B-B14F-4D97-AF65-F5344CB8AC3E}">
        <p14:creationId xmlns:p14="http://schemas.microsoft.com/office/powerpoint/2010/main" val="258597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FCEC3-8BB3-C05E-854A-7F988372E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6CCFA-1A66-5A59-8B7B-0D05581E9E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F5D4D-6D12-C8DF-E852-820746171969}"/>
              </a:ext>
            </a:extLst>
          </p:cNvPr>
          <p:cNvSpPr>
            <a:spLocks noGrp="1"/>
          </p:cNvSpPr>
          <p:nvPr>
            <p:ph type="body" idx="1"/>
          </p:nvPr>
        </p:nvSpPr>
        <p:spPr/>
        <p:txBody>
          <a:bodyPr/>
          <a:lstStyle/>
          <a:p>
            <a:r>
              <a:rPr lang="cs-CZ" dirty="0">
                <a:effectLst/>
              </a:rPr>
              <a:t>Christmas Cake Suprise</a:t>
            </a:r>
            <a:endParaRPr lang="en-US" dirty="0"/>
          </a:p>
        </p:txBody>
      </p:sp>
      <p:sp>
        <p:nvSpPr>
          <p:cNvPr id="4" name="Slide Number Placeholder 3">
            <a:extLst>
              <a:ext uri="{FF2B5EF4-FFF2-40B4-BE49-F238E27FC236}">
                <a16:creationId xmlns:a16="http://schemas.microsoft.com/office/drawing/2014/main" id="{0A8E1D55-87BA-EFE1-E878-BA08A84D9C5B}"/>
              </a:ext>
            </a:extLst>
          </p:cNvPr>
          <p:cNvSpPr>
            <a:spLocks noGrp="1"/>
          </p:cNvSpPr>
          <p:nvPr>
            <p:ph type="sldNum" sz="quarter" idx="5"/>
          </p:nvPr>
        </p:nvSpPr>
        <p:spPr/>
        <p:txBody>
          <a:bodyPr/>
          <a:lstStyle/>
          <a:p>
            <a:fld id="{5FEF3203-849B-4784-BD5D-A210CDCB2B30}" type="slidenum">
              <a:rPr lang="en-US" smtClean="0"/>
              <a:t>6</a:t>
            </a:fld>
            <a:endParaRPr lang="en-US"/>
          </a:p>
        </p:txBody>
      </p:sp>
    </p:spTree>
    <p:extLst>
      <p:ext uri="{BB962C8B-B14F-4D97-AF65-F5344CB8AC3E}">
        <p14:creationId xmlns:p14="http://schemas.microsoft.com/office/powerpoint/2010/main" val="1668520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826F1-8EDC-9D06-0805-12384859E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C3221-D2CF-C411-7C17-2BEEB8600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A35BD-A72D-9105-8BCF-F391BB7B07AD}"/>
              </a:ext>
            </a:extLst>
          </p:cNvPr>
          <p:cNvSpPr>
            <a:spLocks noGrp="1"/>
          </p:cNvSpPr>
          <p:nvPr>
            <p:ph type="body" idx="1"/>
          </p:nvPr>
        </p:nvSpPr>
        <p:spPr/>
        <p:txBody>
          <a:bodyPr/>
          <a:lstStyle/>
          <a:p>
            <a:r>
              <a:rPr lang="cs-CZ" dirty="0"/>
              <a:t>Birthday Message</a:t>
            </a:r>
            <a:endParaRPr lang="en-US" dirty="0"/>
          </a:p>
        </p:txBody>
      </p:sp>
      <p:sp>
        <p:nvSpPr>
          <p:cNvPr id="4" name="Slide Number Placeholder 3">
            <a:extLst>
              <a:ext uri="{FF2B5EF4-FFF2-40B4-BE49-F238E27FC236}">
                <a16:creationId xmlns:a16="http://schemas.microsoft.com/office/drawing/2014/main" id="{D9AD270E-F3D0-B1EB-48FE-EFF708523A92}"/>
              </a:ext>
            </a:extLst>
          </p:cNvPr>
          <p:cNvSpPr>
            <a:spLocks noGrp="1"/>
          </p:cNvSpPr>
          <p:nvPr>
            <p:ph type="sldNum" sz="quarter" idx="5"/>
          </p:nvPr>
        </p:nvSpPr>
        <p:spPr/>
        <p:txBody>
          <a:bodyPr/>
          <a:lstStyle/>
          <a:p>
            <a:fld id="{5FEF3203-849B-4784-BD5D-A210CDCB2B30}" type="slidenum">
              <a:rPr lang="en-US" smtClean="0"/>
              <a:t>7</a:t>
            </a:fld>
            <a:endParaRPr lang="en-US"/>
          </a:p>
        </p:txBody>
      </p:sp>
    </p:spTree>
    <p:extLst>
      <p:ext uri="{BB962C8B-B14F-4D97-AF65-F5344CB8AC3E}">
        <p14:creationId xmlns:p14="http://schemas.microsoft.com/office/powerpoint/2010/main" val="401062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B3B23-A024-15BF-27DF-AF46D9D9E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B05ED-B8EB-F48A-2B46-AEABB96CC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714BD-2847-43E5-AE9D-9E3381C43F63}"/>
              </a:ext>
            </a:extLst>
          </p:cNvPr>
          <p:cNvSpPr>
            <a:spLocks noGrp="1"/>
          </p:cNvSpPr>
          <p:nvPr>
            <p:ph type="body" idx="1"/>
          </p:nvPr>
        </p:nvSpPr>
        <p:spPr/>
        <p:txBody>
          <a:bodyPr/>
          <a:lstStyle/>
          <a:p>
            <a:r>
              <a:rPr lang="en-US" dirty="0"/>
              <a:t>Valentine Message</a:t>
            </a:r>
          </a:p>
        </p:txBody>
      </p:sp>
      <p:sp>
        <p:nvSpPr>
          <p:cNvPr id="4" name="Slide Number Placeholder 3">
            <a:extLst>
              <a:ext uri="{FF2B5EF4-FFF2-40B4-BE49-F238E27FC236}">
                <a16:creationId xmlns:a16="http://schemas.microsoft.com/office/drawing/2014/main" id="{7228CF1B-EFB1-620D-0ABB-966557AAEE08}"/>
              </a:ext>
            </a:extLst>
          </p:cNvPr>
          <p:cNvSpPr>
            <a:spLocks noGrp="1"/>
          </p:cNvSpPr>
          <p:nvPr>
            <p:ph type="sldNum" sz="quarter" idx="5"/>
          </p:nvPr>
        </p:nvSpPr>
        <p:spPr/>
        <p:txBody>
          <a:bodyPr/>
          <a:lstStyle/>
          <a:p>
            <a:fld id="{5FEF3203-849B-4784-BD5D-A210CDCB2B30}" type="slidenum">
              <a:rPr lang="en-US" smtClean="0"/>
              <a:t>8</a:t>
            </a:fld>
            <a:endParaRPr lang="en-US"/>
          </a:p>
        </p:txBody>
      </p:sp>
    </p:spTree>
    <p:extLst>
      <p:ext uri="{BB962C8B-B14F-4D97-AF65-F5344CB8AC3E}">
        <p14:creationId xmlns:p14="http://schemas.microsoft.com/office/powerpoint/2010/main" val="3991596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oncept - Širší">
    <p:spTree>
      <p:nvGrpSpPr>
        <p:cNvPr id="1" name=""/>
        <p:cNvGrpSpPr/>
        <p:nvPr/>
      </p:nvGrpSpPr>
      <p:grpSpPr>
        <a:xfrm>
          <a:off x="0" y="0"/>
          <a:ext cx="0" cy="0"/>
          <a:chOff x="0" y="0"/>
          <a:chExt cx="0" cy="0"/>
        </a:xfrm>
      </p:grpSpPr>
      <p:sp>
        <p:nvSpPr>
          <p:cNvPr id="2" name="Title 1"/>
          <p:cNvSpPr>
            <a:spLocks noGrp="1"/>
          </p:cNvSpPr>
          <p:nvPr>
            <p:ph type="title"/>
          </p:nvPr>
        </p:nvSpPr>
        <p:spPr>
          <a:xfrm>
            <a:off x="225288" y="357050"/>
            <a:ext cx="6361042"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225288" y="1279525"/>
            <a:ext cx="6361042"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954387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oncept Užší">
    <p:spTree>
      <p:nvGrpSpPr>
        <p:cNvPr id="1" name=""/>
        <p:cNvGrpSpPr/>
        <p:nvPr/>
      </p:nvGrpSpPr>
      <p:grpSpPr>
        <a:xfrm>
          <a:off x="0" y="0"/>
          <a:ext cx="0" cy="0"/>
          <a:chOff x="0" y="0"/>
          <a:chExt cx="0" cy="0"/>
        </a:xfrm>
      </p:grpSpPr>
      <p:sp>
        <p:nvSpPr>
          <p:cNvPr id="2" name="Title 1"/>
          <p:cNvSpPr>
            <a:spLocks noGrp="1"/>
          </p:cNvSpPr>
          <p:nvPr>
            <p:ph type="title"/>
          </p:nvPr>
        </p:nvSpPr>
        <p:spPr>
          <a:xfrm>
            <a:off x="384312" y="357050"/>
            <a:ext cx="6069497"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384312" y="1279525"/>
            <a:ext cx="6069497"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67336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dea">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119270" y="357809"/>
            <a:ext cx="6626087" cy="10177669"/>
          </a:xfrm>
        </p:spPr>
        <p:txBody>
          <a:bodyPr anchor="ctr">
            <a:normAutofit/>
          </a:bodyPr>
          <a:lstStyle>
            <a:lvl1pPr algn="ctr">
              <a:lnSpc>
                <a:spcPct val="100000"/>
              </a:lnSpc>
              <a:spcBef>
                <a:spcPts val="0"/>
              </a:spcBef>
              <a:defRPr sz="6600"/>
            </a:lvl1pPr>
            <a:lvl2pPr>
              <a:defRPr sz="4000"/>
            </a:lvl2pPr>
            <a:lvl3pPr>
              <a:defRPr sz="3600"/>
            </a:lvl3pPr>
            <a:lvl4pPr>
              <a:defRPr sz="3600"/>
            </a:lvl4pPr>
            <a:lvl5pPr>
              <a:defRPr sz="3600"/>
            </a:lvl5pPr>
          </a:lstStyle>
          <a:p>
            <a:pPr lvl="0"/>
            <a:r>
              <a:rPr lang="en-US" dirty="0"/>
              <a:t>Click to edit Master text styles</a:t>
            </a:r>
          </a:p>
        </p:txBody>
      </p:sp>
    </p:spTree>
    <p:extLst>
      <p:ext uri="{BB962C8B-B14F-4D97-AF65-F5344CB8AC3E}">
        <p14:creationId xmlns:p14="http://schemas.microsoft.com/office/powerpoint/2010/main" val="9577700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357050"/>
            <a:ext cx="5915025" cy="92250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1444488"/>
            <a:ext cx="5915025" cy="8998226"/>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73637109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Lst>
  <p:txStyles>
    <p:titleStyle>
      <a:lvl1pPr algn="l" defTabSz="685800" rtl="0" eaLnBrk="1" latinLnBrk="0" hangingPunct="1">
        <a:lnSpc>
          <a:spcPct val="90000"/>
        </a:lnSpc>
        <a:spcBef>
          <a:spcPct val="0"/>
        </a:spcBef>
        <a:buNone/>
        <a:defRPr sz="3600" kern="1200">
          <a:solidFill>
            <a:schemeClr val="tx1"/>
          </a:solidFill>
          <a:latin typeface="+mn-lt"/>
          <a:ea typeface="+mj-ea"/>
          <a:cs typeface="+mj-cs"/>
        </a:defRPr>
      </a:lvl1pPr>
    </p:titleStyle>
    <p:body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13BE9-9922-5FC6-B345-324C4730EE01}"/>
              </a:ext>
            </a:extLst>
          </p:cNvPr>
          <p:cNvSpPr>
            <a:spLocks noGrp="1"/>
          </p:cNvSpPr>
          <p:nvPr>
            <p:ph type="title"/>
          </p:nvPr>
        </p:nvSpPr>
        <p:spPr>
          <a:xfrm>
            <a:off x="263385" y="264285"/>
            <a:ext cx="6351105" cy="922506"/>
          </a:xfrm>
        </p:spPr>
        <p:txBody>
          <a:bodyPr>
            <a:noAutofit/>
          </a:bodyPr>
          <a:lstStyle/>
          <a:p>
            <a:r>
              <a:rPr lang="de-DE" sz="2800" dirty="0"/>
              <a:t>Stell dir vor, ein neues </a:t>
            </a:r>
            <a:r>
              <a:rPr lang="de-DE" sz="2800" b="1" u="sng" dirty="0"/>
              <a:t>personalisiertes Video-Rubbellos</a:t>
            </a:r>
            <a:r>
              <a:rPr lang="de-DE" sz="2800" dirty="0"/>
              <a:t> ist gerade erschienen</a:t>
            </a:r>
            <a:r>
              <a:rPr lang="en-GB" sz="2800" noProof="0" dirty="0"/>
              <a:t>:</a:t>
            </a:r>
            <a:endParaRPr lang="cs-CZ" sz="2600" dirty="0"/>
          </a:p>
        </p:txBody>
      </p:sp>
      <p:sp>
        <p:nvSpPr>
          <p:cNvPr id="3" name="Text Placeholder 2">
            <a:extLst>
              <a:ext uri="{FF2B5EF4-FFF2-40B4-BE49-F238E27FC236}">
                <a16:creationId xmlns:a16="http://schemas.microsoft.com/office/drawing/2014/main" id="{20508380-EBBD-4C06-2DA1-D8241EF551A5}"/>
              </a:ext>
            </a:extLst>
          </p:cNvPr>
          <p:cNvSpPr>
            <a:spLocks noGrp="1"/>
          </p:cNvSpPr>
          <p:nvPr>
            <p:ph type="body" sz="quarter" idx="10"/>
          </p:nvPr>
        </p:nvSpPr>
        <p:spPr>
          <a:xfrm>
            <a:off x="188843" y="1361662"/>
            <a:ext cx="6500191" cy="6760454"/>
          </a:xfrm>
        </p:spPr>
        <p:txBody>
          <a:bodyPr>
            <a:noAutofit/>
          </a:bodyPr>
          <a:lstStyle/>
          <a:p>
            <a:pPr>
              <a:lnSpc>
                <a:spcPct val="100000"/>
              </a:lnSpc>
              <a:spcBef>
                <a:spcPts val="600"/>
              </a:spcBef>
              <a:spcAft>
                <a:spcPts val="600"/>
              </a:spcAft>
              <a:buNone/>
            </a:pPr>
            <a:r>
              <a:rPr lang="de-DE" sz="2300" dirty="0"/>
              <a:t>🎁 Dieses Geschenk-Rubbellos hat einen garantierten Gewinn, kostet in der Trafik 10 € und hat ein festliches Weihnachtsdesign – perfekt </a:t>
            </a:r>
            <a:br>
              <a:rPr lang="cs-CZ" sz="2300" dirty="0"/>
            </a:br>
            <a:r>
              <a:rPr lang="de-DE" sz="2300" dirty="0"/>
              <a:t>zum Verschenken.</a:t>
            </a:r>
          </a:p>
          <a:p>
            <a:pPr>
              <a:lnSpc>
                <a:spcPct val="100000"/>
              </a:lnSpc>
              <a:spcBef>
                <a:spcPts val="600"/>
              </a:spcBef>
              <a:spcAft>
                <a:spcPts val="600"/>
              </a:spcAft>
              <a:buNone/>
            </a:pPr>
            <a:r>
              <a:rPr lang="de-DE" sz="2300" dirty="0"/>
              <a:t>Auf der Vorderseite des Rubbelloses befindet sich ein QR-Code, den man mit dem Handy scannen kann. Nach dem Scannen kannst du ein kurzes Video aufnehmen, in dem du der beschenkten Person frohe Weihnachten wünschst. Danach wird ein weihnachtlicher Filter mit festlichem Design über das Video gelegt.</a:t>
            </a:r>
          </a:p>
          <a:p>
            <a:pPr>
              <a:lnSpc>
                <a:spcPct val="100000"/>
              </a:lnSpc>
              <a:spcBef>
                <a:spcPts val="600"/>
              </a:spcBef>
              <a:spcAft>
                <a:spcPts val="600"/>
              </a:spcAft>
            </a:pPr>
            <a:r>
              <a:rPr lang="de-DE" sz="2300" dirty="0"/>
              <a:t>🎄 Sobald das Rubbellos verschenkt wurde, kann die beschenkte Person es freirubbeln, den Gewinn entdecken und anschließend denselben QR-Code scannen. Deine persönliche Weihnachtsbotschaft erscheint direkt über dem Los – zum Leben erweckt durch Augmented Reality und lustige digitale Extras.</a:t>
            </a:r>
          </a:p>
          <a:p>
            <a:pPr>
              <a:lnSpc>
                <a:spcPct val="100000"/>
              </a:lnSpc>
              <a:spcBef>
                <a:spcPts val="600"/>
              </a:spcBef>
              <a:spcAft>
                <a:spcPts val="600"/>
              </a:spcAft>
            </a:pPr>
            <a:endParaRPr lang="cs-CZ" sz="2300" dirty="0"/>
          </a:p>
        </p:txBody>
      </p:sp>
      <p:pic>
        <p:nvPicPr>
          <p:cNvPr id="7" name="Picture 6" descr="A hand holding a cell phone with a picture of a person and a child&#10;&#10;AI-generated content may be incorrect.">
            <a:extLst>
              <a:ext uri="{FF2B5EF4-FFF2-40B4-BE49-F238E27FC236}">
                <a16:creationId xmlns:a16="http://schemas.microsoft.com/office/drawing/2014/main" id="{3A9D1B1E-2F81-48A8-7181-2CC6170357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2708" y="4427484"/>
            <a:ext cx="3161401" cy="3886791"/>
          </a:xfrm>
          <a:prstGeom prst="rect">
            <a:avLst/>
          </a:prstGeom>
        </p:spPr>
      </p:pic>
      <p:pic>
        <p:nvPicPr>
          <p:cNvPr id="9" name="Picture 8" descr="A hand holding a cell phone with a picture of a family&#10;&#10;AI-generated content may be incorrect.">
            <a:extLst>
              <a:ext uri="{FF2B5EF4-FFF2-40B4-BE49-F238E27FC236}">
                <a16:creationId xmlns:a16="http://schemas.microsoft.com/office/drawing/2014/main" id="{161D5C73-4955-21AD-7364-C934BE3A5C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1618" y="461686"/>
            <a:ext cx="2963583" cy="3611220"/>
          </a:xfrm>
          <a:prstGeom prst="rect">
            <a:avLst/>
          </a:prstGeom>
        </p:spPr>
      </p:pic>
      <p:pic>
        <p:nvPicPr>
          <p:cNvPr id="4" name="Picture 3" descr="A hand holding a cell phone with a picture of a family&#10;&#10;AI-generated content may be incorrect.">
            <a:extLst>
              <a:ext uri="{FF2B5EF4-FFF2-40B4-BE49-F238E27FC236}">
                <a16:creationId xmlns:a16="http://schemas.microsoft.com/office/drawing/2014/main" id="{3A1913C3-F11D-2625-6618-9D5B5AD4AB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8336" y="8122115"/>
            <a:ext cx="2203283" cy="2684771"/>
          </a:xfrm>
          <a:prstGeom prst="rect">
            <a:avLst/>
          </a:prstGeom>
        </p:spPr>
      </p:pic>
      <p:pic>
        <p:nvPicPr>
          <p:cNvPr id="6" name="Picture 5" descr="A christmas card on a table&#10;&#10;AI-generated content may be incorrect.">
            <a:extLst>
              <a:ext uri="{FF2B5EF4-FFF2-40B4-BE49-F238E27FC236}">
                <a16:creationId xmlns:a16="http://schemas.microsoft.com/office/drawing/2014/main" id="{62A2D40E-0C40-86C7-B292-7DDEA8AB93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258" y="8122116"/>
            <a:ext cx="2150865" cy="2672177"/>
          </a:xfrm>
          <a:prstGeom prst="rect">
            <a:avLst/>
          </a:prstGeom>
        </p:spPr>
      </p:pic>
      <p:pic>
        <p:nvPicPr>
          <p:cNvPr id="8" name="Picture 7" descr="A hand holding a phone with a screen showing a christmas tree&#10;&#10;AI-generated content may be incorrect.">
            <a:extLst>
              <a:ext uri="{FF2B5EF4-FFF2-40B4-BE49-F238E27FC236}">
                <a16:creationId xmlns:a16="http://schemas.microsoft.com/office/drawing/2014/main" id="{116336FA-1A37-C2C4-6CC6-463DFD58B9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59024" y="8122116"/>
            <a:ext cx="2390895" cy="2672177"/>
          </a:xfrm>
          <a:prstGeom prst="rect">
            <a:avLst/>
          </a:prstGeom>
        </p:spPr>
      </p:pic>
      <p:sp>
        <p:nvSpPr>
          <p:cNvPr id="5" name="TextBox 4">
            <a:extLst>
              <a:ext uri="{FF2B5EF4-FFF2-40B4-BE49-F238E27FC236}">
                <a16:creationId xmlns:a16="http://schemas.microsoft.com/office/drawing/2014/main" id="{2304B761-95F1-A918-2D62-0F2580926A52}"/>
              </a:ext>
            </a:extLst>
          </p:cNvPr>
          <p:cNvSpPr txBox="1"/>
          <p:nvPr/>
        </p:nvSpPr>
        <p:spPr>
          <a:xfrm>
            <a:off x="-50354" y="0"/>
            <a:ext cx="4418756" cy="369332"/>
          </a:xfrm>
          <a:prstGeom prst="rect">
            <a:avLst/>
          </a:prstGeom>
          <a:noFill/>
        </p:spPr>
        <p:txBody>
          <a:bodyPr wrap="square">
            <a:spAutoFit/>
          </a:bodyPr>
          <a:lstStyle/>
          <a:p>
            <a:r>
              <a:rPr lang="cs-CZ" b="1" dirty="0" err="1"/>
              <a:t>Christmas</a:t>
            </a:r>
            <a:r>
              <a:rPr lang="cs-CZ" b="1" dirty="0"/>
              <a:t> AR </a:t>
            </a:r>
            <a:r>
              <a:rPr lang="cs-CZ" b="1" dirty="0" err="1"/>
              <a:t>Message</a:t>
            </a:r>
            <a:endParaRPr lang="cs-CZ" b="1" dirty="0"/>
          </a:p>
        </p:txBody>
      </p:sp>
    </p:spTree>
    <p:extLst>
      <p:ext uri="{BB962C8B-B14F-4D97-AF65-F5344CB8AC3E}">
        <p14:creationId xmlns:p14="http://schemas.microsoft.com/office/powerpoint/2010/main" val="1475714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CB145-674B-6AC8-5427-005B7D811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92C3C-3092-3722-47E1-180CEF5B2F99}"/>
              </a:ext>
            </a:extLst>
          </p:cNvPr>
          <p:cNvSpPr>
            <a:spLocks noGrp="1"/>
          </p:cNvSpPr>
          <p:nvPr>
            <p:ph type="title"/>
          </p:nvPr>
        </p:nvSpPr>
        <p:spPr>
          <a:xfrm>
            <a:off x="188843" y="260247"/>
            <a:ext cx="6500191" cy="922506"/>
          </a:xfrm>
        </p:spPr>
        <p:txBody>
          <a:bodyPr>
            <a:noAutofit/>
          </a:bodyPr>
          <a:lstStyle/>
          <a:p>
            <a:pPr>
              <a:spcAft>
                <a:spcPts val="600"/>
              </a:spcAft>
            </a:pPr>
            <a:r>
              <a:rPr lang="de-DE" sz="2800" dirty="0"/>
              <a:t>Stell dir vor, ein neues, lustiges Rubbellos mit </a:t>
            </a:r>
            <a:r>
              <a:rPr lang="de-DE" sz="2800" b="1" u="sng" dirty="0"/>
              <a:t>Augmented-Reality-Thema</a:t>
            </a:r>
            <a:r>
              <a:rPr lang="de-DE" sz="2800" dirty="0"/>
              <a:t> wurde eingeführt </a:t>
            </a:r>
            <a:r>
              <a:rPr lang="en-GB" sz="2800" noProof="0" dirty="0"/>
              <a:t>:</a:t>
            </a:r>
            <a:endParaRPr lang="cs-CZ" sz="2600" u="sng" dirty="0"/>
          </a:p>
        </p:txBody>
      </p:sp>
      <p:pic>
        <p:nvPicPr>
          <p:cNvPr id="8" name="Picture 7" descr="A christmas card on a table&#10;&#10;AI-generated content may be incorrect.">
            <a:extLst>
              <a:ext uri="{FF2B5EF4-FFF2-40B4-BE49-F238E27FC236}">
                <a16:creationId xmlns:a16="http://schemas.microsoft.com/office/drawing/2014/main" id="{869CC918-C264-2599-FB89-703D7CA0FA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6931" y="3005724"/>
            <a:ext cx="2939572" cy="3652045"/>
          </a:xfrm>
          <a:prstGeom prst="rect">
            <a:avLst/>
          </a:prstGeom>
        </p:spPr>
      </p:pic>
      <p:pic>
        <p:nvPicPr>
          <p:cNvPr id="4" name="Picture 3" descr="A hand holding a phone&#10;&#10;AI-generated content may be incorrect.">
            <a:extLst>
              <a:ext uri="{FF2B5EF4-FFF2-40B4-BE49-F238E27FC236}">
                <a16:creationId xmlns:a16="http://schemas.microsoft.com/office/drawing/2014/main" id="{812BA0F4-4756-7F83-FEBC-AC433096AA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56785" y="8228317"/>
            <a:ext cx="2084114" cy="2571445"/>
          </a:xfrm>
          <a:prstGeom prst="rect">
            <a:avLst/>
          </a:prstGeom>
        </p:spPr>
      </p:pic>
      <p:pic>
        <p:nvPicPr>
          <p:cNvPr id="6" name="Picture 5" descr="A hand holding a cell phone with a cartoon character on the screen&#10;&#10;AI-generated content may be incorrect.">
            <a:extLst>
              <a:ext uri="{FF2B5EF4-FFF2-40B4-BE49-F238E27FC236}">
                <a16:creationId xmlns:a16="http://schemas.microsoft.com/office/drawing/2014/main" id="{245A947D-6F89-6CA9-E2E9-D34E53204C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87441" y="8228317"/>
            <a:ext cx="2158178" cy="2571446"/>
          </a:xfrm>
          <a:prstGeom prst="rect">
            <a:avLst/>
          </a:prstGeom>
        </p:spPr>
      </p:pic>
      <p:pic>
        <p:nvPicPr>
          <p:cNvPr id="10" name="Picture 9" descr="A hand holding a phone with a screen showing a christmas tree&#10;&#10;AI-generated content may be incorrect.">
            <a:extLst>
              <a:ext uri="{FF2B5EF4-FFF2-40B4-BE49-F238E27FC236}">
                <a16:creationId xmlns:a16="http://schemas.microsoft.com/office/drawing/2014/main" id="{25D4C944-B9F0-F47D-9B79-30EBAC3F6C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77" y="8228319"/>
            <a:ext cx="2300765" cy="2571443"/>
          </a:xfrm>
          <a:prstGeom prst="rect">
            <a:avLst/>
          </a:prstGeom>
        </p:spPr>
      </p:pic>
      <p:sp>
        <p:nvSpPr>
          <p:cNvPr id="3" name="Text Placeholder 2">
            <a:extLst>
              <a:ext uri="{FF2B5EF4-FFF2-40B4-BE49-F238E27FC236}">
                <a16:creationId xmlns:a16="http://schemas.microsoft.com/office/drawing/2014/main" id="{11FF3B95-B4A4-2936-19BA-CAE3E30D4147}"/>
              </a:ext>
            </a:extLst>
          </p:cNvPr>
          <p:cNvSpPr>
            <a:spLocks noGrp="1"/>
          </p:cNvSpPr>
          <p:nvPr>
            <p:ph type="body" sz="quarter" idx="10"/>
          </p:nvPr>
        </p:nvSpPr>
        <p:spPr>
          <a:xfrm>
            <a:off x="188843" y="1461052"/>
            <a:ext cx="6500191" cy="6767265"/>
          </a:xfrm>
        </p:spPr>
        <p:txBody>
          <a:bodyPr>
            <a:normAutofit/>
          </a:bodyPr>
          <a:lstStyle/>
          <a:p>
            <a:pPr>
              <a:spcBef>
                <a:spcPts val="600"/>
              </a:spcBef>
              <a:buNone/>
            </a:pPr>
            <a:r>
              <a:rPr lang="en-US" sz="2200" dirty="0"/>
              <a:t>🎁 </a:t>
            </a:r>
            <a:r>
              <a:rPr lang="de-DE" sz="2200" dirty="0"/>
              <a:t>Diese</a:t>
            </a:r>
            <a:r>
              <a:rPr lang="cs-CZ" sz="2200" dirty="0"/>
              <a:t>s</a:t>
            </a:r>
            <a:r>
              <a:rPr lang="de-DE" sz="2200" dirty="0"/>
              <a:t> Geschenk-Rubbellos hat einen garantierten Gewinn, kostet in der Trafik 10 € und hat ein weihnachtliches Design – perfekt zum Verschenken </a:t>
            </a:r>
            <a:br>
              <a:rPr lang="cs-CZ" sz="2200" dirty="0"/>
            </a:br>
            <a:r>
              <a:rPr lang="de-DE" sz="2200" dirty="0"/>
              <a:t>zu Weihnachten.</a:t>
            </a:r>
          </a:p>
          <a:p>
            <a:pPr>
              <a:spcBef>
                <a:spcPts val="600"/>
              </a:spcBef>
              <a:buNone/>
            </a:pPr>
            <a:r>
              <a:rPr lang="de-DE" sz="2200" dirty="0"/>
              <a:t>Auf der Vorderseite des Rubbelloses befindet sich </a:t>
            </a:r>
            <a:br>
              <a:rPr lang="cs-CZ" sz="2200" dirty="0"/>
            </a:br>
            <a:r>
              <a:rPr lang="de-DE" sz="2200" dirty="0"/>
              <a:t>ein QR-Code. Wenn man diesen scannt, kann man eine kurze, fröhliche Weihnachtsnachricht für die beschenkte Person verfassen. </a:t>
            </a:r>
            <a:br>
              <a:rPr lang="cs-CZ" sz="2200" dirty="0"/>
            </a:br>
            <a:r>
              <a:rPr lang="de-DE" sz="2200" dirty="0"/>
              <a:t>Danach kann man ein Foto hochladen oder ein Selfie aufnehmen, das auf tanzende Elfenkörper projiziert wird – daraus entsteht ein lustiges, personalisiertes Weihnachtsvideo mit festlicher Musik, ähnlich dem beliebten Social-Media-Trend „Elf Yourself“.</a:t>
            </a:r>
          </a:p>
          <a:p>
            <a:pPr>
              <a:spcBef>
                <a:spcPts val="600"/>
              </a:spcBef>
              <a:buNone/>
            </a:pPr>
            <a:r>
              <a:rPr lang="en-US" sz="2200" dirty="0"/>
              <a:t>🎄</a:t>
            </a:r>
            <a:r>
              <a:rPr lang="de-DE" sz="2200" dirty="0"/>
              <a:t>Sobald das Rubbellos verschenkt wurde, kann die beschenkte Person es freirubbeln, den Gewinn entdecken und anschließend denselben QR-Code scannen.</a:t>
            </a:r>
          </a:p>
          <a:p>
            <a:pPr>
              <a:spcBef>
                <a:spcPts val="600"/>
              </a:spcBef>
            </a:pPr>
            <a:r>
              <a:rPr lang="de-DE" sz="2200" dirty="0"/>
              <a:t>Die persönliche Weihnachtsbotschaft, die du aufgenommen hast, wird dann über dem Rubbellos angezeigt – dekorativ gestaltet mit deiner Nachricht, gefolgt von dem lustigen, personalisierten Elfen-Video.</a:t>
            </a:r>
          </a:p>
          <a:p>
            <a:pPr marL="0" indent="0" algn="just">
              <a:spcBef>
                <a:spcPts val="600"/>
              </a:spcBef>
              <a:buNone/>
            </a:pPr>
            <a:endParaRPr lang="en-GB" sz="2200" dirty="0">
              <a:ea typeface="Calibri" panose="020F0502020204030204" pitchFamily="34" charset="0"/>
              <a:cs typeface="Times New Roman" panose="02020603050405020304" pitchFamily="18" charset="0"/>
            </a:endParaRPr>
          </a:p>
          <a:p>
            <a:pPr algn="just">
              <a:spcBef>
                <a:spcPts val="600"/>
              </a:spcBef>
            </a:pPr>
            <a:endParaRPr lang="en-GB" sz="2200" dirty="0">
              <a:ea typeface="Calibri" panose="020F0502020204030204" pitchFamily="34" charset="0"/>
              <a:cs typeface="Times New Roman" panose="02020603050405020304" pitchFamily="18" charset="0"/>
            </a:endParaRPr>
          </a:p>
          <a:p>
            <a:pPr algn="just">
              <a:spcBef>
                <a:spcPts val="600"/>
              </a:spcBef>
            </a:pPr>
            <a:endParaRPr lang="en-GB" sz="2200" noProof="0" dirty="0"/>
          </a:p>
        </p:txBody>
      </p:sp>
      <p:sp>
        <p:nvSpPr>
          <p:cNvPr id="5" name="TextBox 4">
            <a:extLst>
              <a:ext uri="{FF2B5EF4-FFF2-40B4-BE49-F238E27FC236}">
                <a16:creationId xmlns:a16="http://schemas.microsoft.com/office/drawing/2014/main" id="{F9D37AA1-2248-8977-4902-404EB50EE450}"/>
              </a:ext>
            </a:extLst>
          </p:cNvPr>
          <p:cNvSpPr txBox="1"/>
          <p:nvPr/>
        </p:nvSpPr>
        <p:spPr>
          <a:xfrm>
            <a:off x="-50354" y="0"/>
            <a:ext cx="4418756" cy="369332"/>
          </a:xfrm>
          <a:prstGeom prst="rect">
            <a:avLst/>
          </a:prstGeom>
          <a:noFill/>
        </p:spPr>
        <p:txBody>
          <a:bodyPr wrap="square">
            <a:spAutoFit/>
          </a:bodyPr>
          <a:lstStyle/>
          <a:p>
            <a:r>
              <a:rPr lang="cs-CZ" b="1" dirty="0"/>
              <a:t>Elf </a:t>
            </a:r>
            <a:r>
              <a:rPr lang="cs-CZ" b="1" dirty="0" err="1"/>
              <a:t>Yourself</a:t>
            </a:r>
            <a:endParaRPr lang="cs-CZ" b="1" dirty="0"/>
          </a:p>
        </p:txBody>
      </p:sp>
    </p:spTree>
    <p:extLst>
      <p:ext uri="{BB962C8B-B14F-4D97-AF65-F5344CB8AC3E}">
        <p14:creationId xmlns:p14="http://schemas.microsoft.com/office/powerpoint/2010/main" val="2657097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3309A-B641-018D-7975-7C7061CD7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BA029-F31B-DD6C-CA72-33408696EB27}"/>
              </a:ext>
            </a:extLst>
          </p:cNvPr>
          <p:cNvSpPr>
            <a:spLocks noGrp="1"/>
          </p:cNvSpPr>
          <p:nvPr>
            <p:ph type="title"/>
          </p:nvPr>
        </p:nvSpPr>
        <p:spPr>
          <a:xfrm>
            <a:off x="188843" y="138691"/>
            <a:ext cx="6351105" cy="922506"/>
          </a:xfrm>
        </p:spPr>
        <p:txBody>
          <a:bodyPr>
            <a:noAutofit/>
          </a:bodyPr>
          <a:lstStyle/>
          <a:p>
            <a:r>
              <a:rPr lang="de-DE" sz="2800" dirty="0"/>
              <a:t>Stell dir vor, ein neues </a:t>
            </a:r>
            <a:r>
              <a:rPr lang="de-DE" sz="2800" b="1" u="sng" dirty="0"/>
              <a:t>AR-Minispiel</a:t>
            </a:r>
            <a:r>
              <a:rPr lang="de-DE" sz="2800" dirty="0"/>
              <a:t> kann auf deinem Rubbellos gespielt werden</a:t>
            </a:r>
            <a:r>
              <a:rPr lang="en-GB" sz="2800" noProof="0" dirty="0"/>
              <a:t>:</a:t>
            </a:r>
            <a:endParaRPr lang="cs-CZ" sz="2600" u="sng" dirty="0"/>
          </a:p>
        </p:txBody>
      </p:sp>
      <p:sp>
        <p:nvSpPr>
          <p:cNvPr id="3" name="Text Placeholder 2">
            <a:extLst>
              <a:ext uri="{FF2B5EF4-FFF2-40B4-BE49-F238E27FC236}">
                <a16:creationId xmlns:a16="http://schemas.microsoft.com/office/drawing/2014/main" id="{1BE5FDD3-6C55-0DAD-2A43-202A38AF04D0}"/>
              </a:ext>
            </a:extLst>
          </p:cNvPr>
          <p:cNvSpPr>
            <a:spLocks noGrp="1"/>
          </p:cNvSpPr>
          <p:nvPr>
            <p:ph type="body" sz="quarter" idx="10"/>
          </p:nvPr>
        </p:nvSpPr>
        <p:spPr>
          <a:xfrm>
            <a:off x="188843" y="1061197"/>
            <a:ext cx="6500191" cy="7018859"/>
          </a:xfrm>
        </p:spPr>
        <p:txBody>
          <a:bodyPr>
            <a:noAutofit/>
          </a:bodyPr>
          <a:lstStyle/>
          <a:p>
            <a:pPr>
              <a:lnSpc>
                <a:spcPct val="100000"/>
              </a:lnSpc>
              <a:spcBef>
                <a:spcPts val="600"/>
              </a:spcBef>
              <a:spcAft>
                <a:spcPts val="600"/>
              </a:spcAft>
              <a:buNone/>
            </a:pPr>
            <a:r>
              <a:rPr lang="en-US" sz="2000" dirty="0"/>
              <a:t>🎁 </a:t>
            </a:r>
            <a:r>
              <a:rPr lang="de-DE" sz="2000" dirty="0"/>
              <a:t>Dieses Geschenk-Rubbellos hat einen garantierten Gewinn, kostet in der Trafik 10 € und hat ein weihnachtliches Design – ideal zum Verschenken zu Weihnachten.</a:t>
            </a:r>
          </a:p>
          <a:p>
            <a:pPr>
              <a:lnSpc>
                <a:spcPct val="100000"/>
              </a:lnSpc>
              <a:spcBef>
                <a:spcPts val="600"/>
              </a:spcBef>
              <a:spcAft>
                <a:spcPts val="600"/>
              </a:spcAft>
              <a:buNone/>
            </a:pPr>
            <a:r>
              <a:rPr lang="de-DE" sz="2000" dirty="0"/>
              <a:t>Auf der Vorderseite des Rubbelloses befindet sich </a:t>
            </a:r>
            <a:br>
              <a:rPr lang="cs-CZ" sz="2000" dirty="0"/>
            </a:br>
            <a:r>
              <a:rPr lang="de-DE" sz="2000" dirty="0"/>
              <a:t>ein QR-Code, den man mit dem Handy scannen kann. </a:t>
            </a:r>
            <a:br>
              <a:rPr lang="cs-CZ" sz="2000" dirty="0"/>
            </a:br>
            <a:r>
              <a:rPr lang="de-DE" sz="2000" dirty="0"/>
              <a:t>Wenn man den Code scannt, kann man eine kurze Weihnachtsnachricht an die beschenkte Person schreiben und ein Foto oder Selfie hochladen.</a:t>
            </a:r>
          </a:p>
          <a:p>
            <a:pPr>
              <a:lnSpc>
                <a:spcPct val="100000"/>
              </a:lnSpc>
              <a:spcBef>
                <a:spcPts val="600"/>
              </a:spcBef>
              <a:spcAft>
                <a:spcPts val="600"/>
              </a:spcAft>
              <a:buNone/>
            </a:pPr>
            <a:r>
              <a:rPr lang="en-US" sz="2000" dirty="0"/>
              <a:t>🎄</a:t>
            </a:r>
            <a:r>
              <a:rPr lang="de-DE" sz="2000" dirty="0"/>
              <a:t>Sobald das Rubbellos verschenkt wurde, kann die beschenkte Person es freirubbeln, den Gewinn entdecken und anschließend denselben QR-Code scannen, </a:t>
            </a:r>
            <a:br>
              <a:rPr lang="cs-CZ" sz="2000" dirty="0"/>
            </a:br>
            <a:r>
              <a:rPr lang="de-DE" sz="2000" dirty="0"/>
              <a:t>um ein zusätzliches digitales Minispiel zu spielen.</a:t>
            </a:r>
          </a:p>
          <a:p>
            <a:pPr>
              <a:lnSpc>
                <a:spcPct val="100000"/>
              </a:lnSpc>
              <a:spcBef>
                <a:spcPts val="600"/>
              </a:spcBef>
              <a:spcAft>
                <a:spcPts val="600"/>
              </a:spcAft>
            </a:pPr>
            <a:r>
              <a:rPr lang="de-DE" sz="2000" dirty="0"/>
              <a:t>Wenn die beschenkte Person das Handy hochhält, erscheint eine schneebedeckte Szenerie, die sich mithilfe von World-Tracking über die reale Umgebung legt – inklusive Schneehügeln, Schubkarren und Mauern. </a:t>
            </a:r>
            <a:br>
              <a:rPr lang="cs-CZ" sz="2000" dirty="0"/>
            </a:br>
            <a:r>
              <a:rPr lang="de-DE" sz="2000" dirty="0"/>
              <a:t>Das zuvor hochgeladene Foto des Schenkenden wird dabei auf eine verspielte 3D-Figur projiziert, die hinter Hindernissen hervorspringt und virtuelle Schneebälle wirft. Die beschenkte Person kann Schneebälle zurückwerfen und versuchen, das Gegenüber zu treffen, um zu gewinnen.</a:t>
            </a:r>
          </a:p>
          <a:p>
            <a:pPr marL="0" indent="0" algn="just">
              <a:lnSpc>
                <a:spcPct val="100000"/>
              </a:lnSpc>
              <a:spcBef>
                <a:spcPts val="600"/>
              </a:spcBef>
              <a:spcAft>
                <a:spcPts val="600"/>
              </a:spcAft>
              <a:buNone/>
            </a:pPr>
            <a:endParaRPr lang="en-GB" sz="2000" i="0" u="none" strike="noStrike" dirty="0">
              <a:solidFill>
                <a:srgbClr val="000000"/>
              </a:solidFill>
              <a:effectLst/>
              <a:cs typeface="Calibri" panose="020F0502020204030204" pitchFamily="34" charset="0"/>
            </a:endParaRPr>
          </a:p>
          <a:p>
            <a:pPr marL="0" indent="0" algn="just">
              <a:lnSpc>
                <a:spcPct val="100000"/>
              </a:lnSpc>
              <a:spcBef>
                <a:spcPts val="600"/>
              </a:spcBef>
              <a:spcAft>
                <a:spcPts val="600"/>
              </a:spcAft>
              <a:buNone/>
            </a:pPr>
            <a:endParaRPr lang="en-GB" sz="2000" i="0" u="none" strike="noStrike" dirty="0">
              <a:solidFill>
                <a:srgbClr val="000000"/>
              </a:solidFill>
              <a:effectLst/>
              <a:cs typeface="Calibri" panose="020F0502020204030204" pitchFamily="34" charset="0"/>
            </a:endParaRPr>
          </a:p>
          <a:p>
            <a:pPr marL="0" indent="0" algn="just">
              <a:lnSpc>
                <a:spcPct val="100000"/>
              </a:lnSpc>
              <a:spcBef>
                <a:spcPts val="600"/>
              </a:spcBef>
              <a:spcAft>
                <a:spcPts val="600"/>
              </a:spcAft>
              <a:buNone/>
            </a:pPr>
            <a:endParaRPr lang="en-GB" sz="2000" dirty="0">
              <a:ea typeface="Calibri" panose="020F0502020204030204" pitchFamily="34" charset="0"/>
              <a:cs typeface="Calibri" panose="020F0502020204030204" pitchFamily="34" charset="0"/>
            </a:endParaRPr>
          </a:p>
          <a:p>
            <a:pPr marL="0" indent="0" algn="just">
              <a:lnSpc>
                <a:spcPct val="100000"/>
              </a:lnSpc>
              <a:spcBef>
                <a:spcPts val="600"/>
              </a:spcBef>
              <a:spcAft>
                <a:spcPts val="600"/>
              </a:spcAft>
              <a:buNone/>
            </a:pPr>
            <a:endParaRPr lang="en-GB" sz="2000" noProof="0" dirty="0">
              <a:ea typeface="Calibri" panose="020F0502020204030204" pitchFamily="34" charset="0"/>
              <a:cs typeface="Times New Roman" panose="02020603050405020304" pitchFamily="18" charset="0"/>
            </a:endParaRPr>
          </a:p>
          <a:p>
            <a:pPr marL="0" indent="0" algn="just">
              <a:lnSpc>
                <a:spcPct val="100000"/>
              </a:lnSpc>
              <a:spcBef>
                <a:spcPts val="600"/>
              </a:spcBef>
              <a:spcAft>
                <a:spcPts val="600"/>
              </a:spcAft>
              <a:buNone/>
            </a:pPr>
            <a:endParaRPr lang="en-GB" sz="2000" noProof="0" dirty="0">
              <a:ea typeface="Calibri" panose="020F0502020204030204" pitchFamily="34" charset="0"/>
              <a:cs typeface="Times New Roman" panose="02020603050405020304" pitchFamily="18" charset="0"/>
            </a:endParaRPr>
          </a:p>
          <a:p>
            <a:pPr algn="just">
              <a:lnSpc>
                <a:spcPct val="100000"/>
              </a:lnSpc>
              <a:spcBef>
                <a:spcPts val="600"/>
              </a:spcBef>
              <a:spcAft>
                <a:spcPts val="600"/>
              </a:spcAft>
            </a:pPr>
            <a:endParaRPr lang="en-GB" sz="2000" noProof="0" dirty="0"/>
          </a:p>
        </p:txBody>
      </p:sp>
      <p:pic>
        <p:nvPicPr>
          <p:cNvPr id="9" name="Picture 8" descr="A christmas card on a table&#10;&#10;AI-generated content may be incorrect.">
            <a:extLst>
              <a:ext uri="{FF2B5EF4-FFF2-40B4-BE49-F238E27FC236}">
                <a16:creationId xmlns:a16="http://schemas.microsoft.com/office/drawing/2014/main" id="{43BCCB8A-F395-8540-8243-FE4F70BE4F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6931" y="3005724"/>
            <a:ext cx="2939572" cy="3652045"/>
          </a:xfrm>
          <a:prstGeom prst="rect">
            <a:avLst/>
          </a:prstGeom>
        </p:spPr>
      </p:pic>
      <p:pic>
        <p:nvPicPr>
          <p:cNvPr id="4" name="Picture 3" descr="A hand holding a cell phone&#10;&#10;AI-generated content may be incorrect.">
            <a:extLst>
              <a:ext uri="{FF2B5EF4-FFF2-40B4-BE49-F238E27FC236}">
                <a16:creationId xmlns:a16="http://schemas.microsoft.com/office/drawing/2014/main" id="{53657B36-32C0-EA3A-D334-A5CD726B65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6070" y="8080055"/>
            <a:ext cx="2121007" cy="2719708"/>
          </a:xfrm>
          <a:prstGeom prst="rect">
            <a:avLst/>
          </a:prstGeom>
        </p:spPr>
      </p:pic>
      <p:pic>
        <p:nvPicPr>
          <p:cNvPr id="6" name="Picture 5" descr="A hand holding a phone with a screen showing a person and a snowball fight&#10;&#10;AI-generated content may be incorrect.">
            <a:extLst>
              <a:ext uri="{FF2B5EF4-FFF2-40B4-BE49-F238E27FC236}">
                <a16:creationId xmlns:a16="http://schemas.microsoft.com/office/drawing/2014/main" id="{7442A783-C694-29E4-293E-A45FA4C906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19934" y="8080055"/>
            <a:ext cx="2179649" cy="2713662"/>
          </a:xfrm>
          <a:prstGeom prst="rect">
            <a:avLst/>
          </a:prstGeom>
        </p:spPr>
      </p:pic>
      <p:pic>
        <p:nvPicPr>
          <p:cNvPr id="10" name="Picture 9" descr="A hand holding a phone with a screen showing a christmas tree&#10;&#10;AI-generated content may be incorrect.">
            <a:extLst>
              <a:ext uri="{FF2B5EF4-FFF2-40B4-BE49-F238E27FC236}">
                <a16:creationId xmlns:a16="http://schemas.microsoft.com/office/drawing/2014/main" id="{50BCAA8A-373B-0CB5-B916-C1F79A44E15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210" y="8080055"/>
            <a:ext cx="2433423" cy="2719708"/>
          </a:xfrm>
          <a:prstGeom prst="rect">
            <a:avLst/>
          </a:prstGeom>
        </p:spPr>
      </p:pic>
      <p:sp>
        <p:nvSpPr>
          <p:cNvPr id="5" name="TextBox 4">
            <a:extLst>
              <a:ext uri="{FF2B5EF4-FFF2-40B4-BE49-F238E27FC236}">
                <a16:creationId xmlns:a16="http://schemas.microsoft.com/office/drawing/2014/main" id="{6593F08A-E965-AFF5-0636-2C5ED9B402B9}"/>
              </a:ext>
            </a:extLst>
          </p:cNvPr>
          <p:cNvSpPr txBox="1"/>
          <p:nvPr/>
        </p:nvSpPr>
        <p:spPr>
          <a:xfrm>
            <a:off x="-50354" y="0"/>
            <a:ext cx="4418756" cy="369332"/>
          </a:xfrm>
          <a:prstGeom prst="rect">
            <a:avLst/>
          </a:prstGeom>
          <a:noFill/>
        </p:spPr>
        <p:txBody>
          <a:bodyPr wrap="square">
            <a:spAutoFit/>
          </a:bodyPr>
          <a:lstStyle/>
          <a:p>
            <a:r>
              <a:rPr lang="cs-CZ" b="1" dirty="0"/>
              <a:t>AR </a:t>
            </a:r>
            <a:r>
              <a:rPr lang="cs-CZ" b="1" dirty="0" err="1"/>
              <a:t>Christmas</a:t>
            </a:r>
            <a:r>
              <a:rPr lang="cs-CZ" b="1" dirty="0"/>
              <a:t> Mini Game</a:t>
            </a:r>
          </a:p>
        </p:txBody>
      </p:sp>
    </p:spTree>
    <p:extLst>
      <p:ext uri="{BB962C8B-B14F-4D97-AF65-F5344CB8AC3E}">
        <p14:creationId xmlns:p14="http://schemas.microsoft.com/office/powerpoint/2010/main" val="4117134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A7480-2230-62C5-9B95-13580CEF0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E6D62-92F5-EBBD-4C0E-50AECE62D30A}"/>
              </a:ext>
            </a:extLst>
          </p:cNvPr>
          <p:cNvSpPr>
            <a:spLocks noGrp="1"/>
          </p:cNvSpPr>
          <p:nvPr>
            <p:ph type="title"/>
          </p:nvPr>
        </p:nvSpPr>
        <p:spPr>
          <a:xfrm>
            <a:off x="234413" y="200117"/>
            <a:ext cx="6351105" cy="922506"/>
          </a:xfrm>
        </p:spPr>
        <p:txBody>
          <a:bodyPr>
            <a:noAutofit/>
          </a:bodyPr>
          <a:lstStyle/>
          <a:p>
            <a:r>
              <a:rPr lang="de-DE" sz="2800" dirty="0"/>
              <a:t>Stell dir vor, dein Rubbellos bietet jetzt ein neues </a:t>
            </a:r>
            <a:r>
              <a:rPr lang="de-DE" sz="2800" b="1" u="sng" dirty="0"/>
              <a:t>Lipsync-Erlebnis</a:t>
            </a:r>
            <a:r>
              <a:rPr lang="en-GB" sz="2800" noProof="0" dirty="0"/>
              <a:t>:</a:t>
            </a:r>
            <a:endParaRPr lang="cs-CZ" sz="2600" u="sng" dirty="0"/>
          </a:p>
        </p:txBody>
      </p:sp>
      <p:sp>
        <p:nvSpPr>
          <p:cNvPr id="3" name="Text Placeholder 2">
            <a:extLst>
              <a:ext uri="{FF2B5EF4-FFF2-40B4-BE49-F238E27FC236}">
                <a16:creationId xmlns:a16="http://schemas.microsoft.com/office/drawing/2014/main" id="{93E73553-AF49-C849-8FDD-ED3874C9D289}"/>
              </a:ext>
            </a:extLst>
          </p:cNvPr>
          <p:cNvSpPr>
            <a:spLocks noGrp="1"/>
          </p:cNvSpPr>
          <p:nvPr>
            <p:ph type="body" sz="quarter" idx="10"/>
          </p:nvPr>
        </p:nvSpPr>
        <p:spPr>
          <a:xfrm>
            <a:off x="188843" y="1237161"/>
            <a:ext cx="6500191" cy="6820336"/>
          </a:xfrm>
        </p:spPr>
        <p:txBody>
          <a:bodyPr>
            <a:noAutofit/>
          </a:bodyPr>
          <a:lstStyle/>
          <a:p>
            <a:pPr>
              <a:spcAft>
                <a:spcPts val="1200"/>
              </a:spcAft>
              <a:buNone/>
            </a:pPr>
            <a:r>
              <a:rPr lang="en-US" sz="2200" dirty="0"/>
              <a:t>🎁 </a:t>
            </a:r>
            <a:r>
              <a:rPr lang="de-DE" sz="2200" dirty="0"/>
              <a:t>Dieses Geschenk-Rubbellos hat einen garantierten Gewinn, kostet in der Trafik 10 € und hat ein weihnachtliches Design – perfekt zum Verschenken </a:t>
            </a:r>
            <a:br>
              <a:rPr lang="cs-CZ" sz="2200" dirty="0"/>
            </a:br>
            <a:r>
              <a:rPr lang="de-DE" sz="2200" dirty="0"/>
              <a:t>zu Weihnachten.</a:t>
            </a:r>
          </a:p>
          <a:p>
            <a:pPr>
              <a:spcAft>
                <a:spcPts val="1200"/>
              </a:spcAft>
              <a:buNone/>
            </a:pPr>
            <a:r>
              <a:rPr lang="de-DE" sz="2200" dirty="0"/>
              <a:t>Auf der Vorderseite des Rubbelloses befindet sich </a:t>
            </a:r>
            <a:br>
              <a:rPr lang="cs-CZ" sz="2200" dirty="0"/>
            </a:br>
            <a:r>
              <a:rPr lang="de-DE" sz="2200" dirty="0"/>
              <a:t>ein QR-Code, den man mit dem Handy scannen kann. </a:t>
            </a:r>
            <a:br>
              <a:rPr lang="cs-CZ" sz="2200" dirty="0"/>
            </a:br>
            <a:r>
              <a:rPr lang="de-DE" sz="2200" dirty="0"/>
              <a:t>Nach dem Scannen kann man ein kurzes Video aufnehmen, in dem man der beschenkten Person frohe Weihnachten wünscht, einen festlichen Filter auswählt und das Lieblings-Weihnachtslied zum Lipsyncen (Playback singen) aussucht.</a:t>
            </a:r>
          </a:p>
          <a:p>
            <a:pPr>
              <a:spcAft>
                <a:spcPts val="1200"/>
              </a:spcAft>
            </a:pPr>
            <a:r>
              <a:rPr lang="en-US" sz="2200" dirty="0"/>
              <a:t>🎄 </a:t>
            </a:r>
            <a:r>
              <a:rPr lang="de-DE" sz="2200" dirty="0"/>
              <a:t>Sobald das Rubbellos verschenkt wurde, kann die beschenkte Person es freirubbeln, den Gewinn entdecken und dann denselben QR-Code scannen, um die weihnachtliche Nachricht zu sehen. </a:t>
            </a:r>
            <a:br>
              <a:rPr lang="cs-CZ" sz="2200" dirty="0"/>
            </a:br>
            <a:r>
              <a:rPr lang="de-DE" sz="2200" dirty="0"/>
              <a:t>Das persönliche Weihnachtsvideo, das du aufgenommen hast, wird dann angezeigt – mit festlichem Overlay, in dem du voller Begeisterung zum Weihnachtslied lipsyncst. </a:t>
            </a:r>
            <a:br>
              <a:rPr lang="cs-CZ" sz="2200" dirty="0"/>
            </a:br>
            <a:r>
              <a:rPr lang="de-DE" sz="2200" dirty="0"/>
              <a:t>Der Liedtext läuft am unteren Bildschirmrand mit, damit der Beschenkte mitsingen kann.</a:t>
            </a:r>
          </a:p>
          <a:p>
            <a:pPr algn="just"/>
            <a:endParaRPr lang="en-GB" sz="2200" dirty="0">
              <a:ea typeface="Calibri" panose="020F0502020204030204" pitchFamily="34" charset="0"/>
              <a:cs typeface="Times New Roman" panose="02020603050405020304" pitchFamily="18" charset="0"/>
            </a:endParaRPr>
          </a:p>
          <a:p>
            <a:pPr algn="just"/>
            <a:endParaRPr lang="en-GB" sz="2200" dirty="0">
              <a:ea typeface="Calibri" panose="020F0502020204030204" pitchFamily="34" charset="0"/>
              <a:cs typeface="Times New Roman" panose="02020603050405020304" pitchFamily="18" charset="0"/>
            </a:endParaRPr>
          </a:p>
          <a:p>
            <a:pPr algn="just"/>
            <a:endParaRPr lang="en-GB" sz="2200" dirty="0">
              <a:ea typeface="Calibri" panose="020F0502020204030204" pitchFamily="34" charset="0"/>
              <a:cs typeface="Times New Roman" panose="02020603050405020304" pitchFamily="18" charset="0"/>
            </a:endParaRPr>
          </a:p>
          <a:p>
            <a:pPr algn="just"/>
            <a:endParaRPr lang="en-GB" sz="2200" dirty="0">
              <a:ea typeface="Calibri" panose="020F0502020204030204" pitchFamily="34" charset="0"/>
              <a:cs typeface="Times New Roman" panose="02020603050405020304" pitchFamily="18" charset="0"/>
            </a:endParaRPr>
          </a:p>
          <a:p>
            <a:pPr algn="just"/>
            <a:endParaRPr lang="en-GB" sz="2200" dirty="0">
              <a:ea typeface="Calibri" panose="020F0502020204030204" pitchFamily="34" charset="0"/>
              <a:cs typeface="Times New Roman" panose="02020603050405020304" pitchFamily="18" charset="0"/>
            </a:endParaRPr>
          </a:p>
          <a:p>
            <a:pPr algn="just"/>
            <a:endParaRPr lang="en-GB" sz="2200" dirty="0">
              <a:ea typeface="Calibri" panose="020F0502020204030204" pitchFamily="34" charset="0"/>
              <a:cs typeface="Times New Roman" panose="02020603050405020304" pitchFamily="18" charset="0"/>
            </a:endParaRPr>
          </a:p>
          <a:p>
            <a:pPr algn="just"/>
            <a:endParaRPr lang="en-GB" sz="2200" dirty="0">
              <a:highlight>
                <a:srgbClr val="FFFF00"/>
              </a:highlight>
              <a:cs typeface="Times New Roman" panose="02020603050405020304" pitchFamily="18" charset="0"/>
            </a:endParaRPr>
          </a:p>
          <a:p>
            <a:pPr algn="just"/>
            <a:endParaRPr lang="en-GB" sz="2200" dirty="0">
              <a:highlight>
                <a:srgbClr val="FFFF00"/>
              </a:highlight>
              <a:cs typeface="Times New Roman" panose="02020603050405020304" pitchFamily="18" charset="0"/>
            </a:endParaRPr>
          </a:p>
          <a:p>
            <a:pPr marL="0" indent="0" algn="just">
              <a:buNone/>
            </a:pPr>
            <a:endParaRPr lang="en-GB" sz="2200" dirty="0">
              <a:cs typeface="Times New Roman" panose="02020603050405020304" pitchFamily="18" charset="0"/>
            </a:endParaRPr>
          </a:p>
          <a:p>
            <a:pPr marL="0" indent="0" algn="just">
              <a:buNone/>
            </a:pPr>
            <a:endParaRPr lang="en-GB" sz="2200" dirty="0">
              <a:cs typeface="Times New Roman" panose="02020603050405020304" pitchFamily="18" charset="0"/>
            </a:endParaRPr>
          </a:p>
          <a:p>
            <a:pPr marL="0" indent="0" algn="just">
              <a:buNone/>
            </a:pPr>
            <a:endParaRPr lang="en-GB" sz="2200" dirty="0">
              <a:ea typeface="Calibri" panose="020F0502020204030204" pitchFamily="34" charset="0"/>
              <a:cs typeface="Calibri" panose="020F0502020204030204" pitchFamily="34" charset="0"/>
            </a:endParaRPr>
          </a:p>
          <a:p>
            <a:pPr marL="0" indent="0" algn="just">
              <a:buNone/>
            </a:pPr>
            <a:endParaRPr lang="en-GB" sz="2200" noProof="0" dirty="0">
              <a:ea typeface="Calibri" panose="020F0502020204030204" pitchFamily="34" charset="0"/>
              <a:cs typeface="Times New Roman" panose="02020603050405020304" pitchFamily="18" charset="0"/>
            </a:endParaRPr>
          </a:p>
          <a:p>
            <a:pPr marL="0" indent="0" algn="just">
              <a:buNone/>
            </a:pPr>
            <a:endParaRPr lang="en-GB" sz="2200" noProof="0" dirty="0">
              <a:ea typeface="Calibri" panose="020F0502020204030204" pitchFamily="34" charset="0"/>
              <a:cs typeface="Times New Roman" panose="02020603050405020304" pitchFamily="18" charset="0"/>
            </a:endParaRPr>
          </a:p>
          <a:p>
            <a:pPr algn="just"/>
            <a:endParaRPr lang="en-GB" sz="2200" noProof="0" dirty="0"/>
          </a:p>
        </p:txBody>
      </p:sp>
      <p:pic>
        <p:nvPicPr>
          <p:cNvPr id="6" name="Picture 5" descr="A christmas card on a table&#10;&#10;AI-generated content may be incorrect.">
            <a:extLst>
              <a:ext uri="{FF2B5EF4-FFF2-40B4-BE49-F238E27FC236}">
                <a16:creationId xmlns:a16="http://schemas.microsoft.com/office/drawing/2014/main" id="{0B9B1202-4C1C-CA38-4F18-CB926D057E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201875"/>
            <a:ext cx="2091069" cy="2597888"/>
          </a:xfrm>
          <a:prstGeom prst="rect">
            <a:avLst/>
          </a:prstGeom>
        </p:spPr>
      </p:pic>
      <p:pic>
        <p:nvPicPr>
          <p:cNvPr id="8" name="Picture 7" descr="A hand holding a phone with a screen showing a christmas tree&#10;&#10;AI-generated content may be incorrect.">
            <a:extLst>
              <a:ext uri="{FF2B5EF4-FFF2-40B4-BE49-F238E27FC236}">
                <a16:creationId xmlns:a16="http://schemas.microsoft.com/office/drawing/2014/main" id="{14D26E22-D39C-4FB0-2D3D-E299138245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6722" y="8201875"/>
            <a:ext cx="2324426" cy="2597888"/>
          </a:xfrm>
          <a:prstGeom prst="rect">
            <a:avLst/>
          </a:prstGeom>
        </p:spPr>
      </p:pic>
      <p:pic>
        <p:nvPicPr>
          <p:cNvPr id="9" name="Picture 8" descr="A hand holding a cell phone with a person wearing a santa hat&#10;&#10;AI-generated content may be incorrect.">
            <a:extLst>
              <a:ext uri="{FF2B5EF4-FFF2-40B4-BE49-F238E27FC236}">
                <a16:creationId xmlns:a16="http://schemas.microsoft.com/office/drawing/2014/main" id="{60027714-2DB7-0B57-8234-428DEA5AAD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6801" y="8201875"/>
            <a:ext cx="2123005" cy="2597888"/>
          </a:xfrm>
          <a:prstGeom prst="rect">
            <a:avLst/>
          </a:prstGeom>
        </p:spPr>
      </p:pic>
      <p:sp>
        <p:nvSpPr>
          <p:cNvPr id="4" name="TextBox 3">
            <a:extLst>
              <a:ext uri="{FF2B5EF4-FFF2-40B4-BE49-F238E27FC236}">
                <a16:creationId xmlns:a16="http://schemas.microsoft.com/office/drawing/2014/main" id="{2E37FDCC-F545-F00D-DEB5-4261F12DAD67}"/>
              </a:ext>
            </a:extLst>
          </p:cNvPr>
          <p:cNvSpPr txBox="1"/>
          <p:nvPr/>
        </p:nvSpPr>
        <p:spPr>
          <a:xfrm>
            <a:off x="-50354" y="0"/>
            <a:ext cx="4418756" cy="369332"/>
          </a:xfrm>
          <a:prstGeom prst="rect">
            <a:avLst/>
          </a:prstGeom>
          <a:noFill/>
        </p:spPr>
        <p:txBody>
          <a:bodyPr wrap="square">
            <a:spAutoFit/>
          </a:bodyPr>
          <a:lstStyle/>
          <a:p>
            <a:r>
              <a:rPr lang="en-GB" b="1" dirty="0"/>
              <a:t>Christmas Lip Sync</a:t>
            </a:r>
            <a:endParaRPr lang="cs-CZ" b="1" dirty="0"/>
          </a:p>
        </p:txBody>
      </p:sp>
    </p:spTree>
    <p:extLst>
      <p:ext uri="{BB962C8B-B14F-4D97-AF65-F5344CB8AC3E}">
        <p14:creationId xmlns:p14="http://schemas.microsoft.com/office/powerpoint/2010/main" val="116364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6DDCF-5044-8CEC-630A-7238E835D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83107-7CBE-E30D-8188-6AAEE76BF9A8}"/>
              </a:ext>
            </a:extLst>
          </p:cNvPr>
          <p:cNvSpPr>
            <a:spLocks noGrp="1"/>
          </p:cNvSpPr>
          <p:nvPr>
            <p:ph type="title"/>
          </p:nvPr>
        </p:nvSpPr>
        <p:spPr>
          <a:xfrm>
            <a:off x="263385" y="151991"/>
            <a:ext cx="6351105" cy="922506"/>
          </a:xfrm>
        </p:spPr>
        <p:txBody>
          <a:bodyPr>
            <a:noAutofit/>
          </a:bodyPr>
          <a:lstStyle/>
          <a:p>
            <a:r>
              <a:rPr lang="de-DE" sz="2800" dirty="0"/>
              <a:t>Stell dir vor, ein neues Rubbellos mit </a:t>
            </a:r>
            <a:r>
              <a:rPr lang="de-DE" sz="2800" b="1" u="sng" dirty="0"/>
              <a:t>Duett-Lipsync-Funktion</a:t>
            </a:r>
            <a:r>
              <a:rPr lang="de-DE" sz="2800" dirty="0"/>
              <a:t> wurde eingeführt</a:t>
            </a:r>
            <a:r>
              <a:rPr lang="cs-CZ" sz="2800" dirty="0"/>
              <a:t>:</a:t>
            </a:r>
            <a:endParaRPr lang="cs-CZ" sz="2600" dirty="0"/>
          </a:p>
        </p:txBody>
      </p:sp>
      <p:sp>
        <p:nvSpPr>
          <p:cNvPr id="3" name="Text Placeholder 2">
            <a:extLst>
              <a:ext uri="{FF2B5EF4-FFF2-40B4-BE49-F238E27FC236}">
                <a16:creationId xmlns:a16="http://schemas.microsoft.com/office/drawing/2014/main" id="{C67A2A6F-3200-5ADF-8480-0888F48E35C2}"/>
              </a:ext>
            </a:extLst>
          </p:cNvPr>
          <p:cNvSpPr>
            <a:spLocks noGrp="1"/>
          </p:cNvSpPr>
          <p:nvPr>
            <p:ph type="body" sz="quarter" idx="10"/>
          </p:nvPr>
        </p:nvSpPr>
        <p:spPr>
          <a:xfrm>
            <a:off x="188843" y="1217283"/>
            <a:ext cx="6500191" cy="6958165"/>
          </a:xfrm>
        </p:spPr>
        <p:txBody>
          <a:bodyPr>
            <a:noAutofit/>
          </a:bodyPr>
          <a:lstStyle/>
          <a:p>
            <a:pPr>
              <a:spcAft>
                <a:spcPts val="1200"/>
              </a:spcAft>
              <a:buNone/>
            </a:pPr>
            <a:r>
              <a:rPr lang="en-US" sz="2200" dirty="0"/>
              <a:t>🎁 </a:t>
            </a:r>
            <a:r>
              <a:rPr lang="de-DE" sz="2200" dirty="0"/>
              <a:t>Dieses Geschenk-Rubbellos hat einen garantierten Gewinn, kostet in der Trafik 10 € und hat ein weihnachtliches Design – perfekt zum Verschenken </a:t>
            </a:r>
            <a:br>
              <a:rPr lang="cs-CZ" sz="2200" dirty="0"/>
            </a:br>
            <a:r>
              <a:rPr lang="de-DE" sz="2200" dirty="0"/>
              <a:t>zu Weihnachten.</a:t>
            </a:r>
          </a:p>
          <a:p>
            <a:pPr>
              <a:spcAft>
                <a:spcPts val="1200"/>
              </a:spcAft>
              <a:buNone/>
            </a:pPr>
            <a:r>
              <a:rPr lang="de-DE" sz="2200" dirty="0"/>
              <a:t>Auf der Vorderseite des Rubbelloses befindet sich </a:t>
            </a:r>
            <a:br>
              <a:rPr lang="cs-CZ" sz="2200" dirty="0"/>
            </a:br>
            <a:r>
              <a:rPr lang="de-DE" sz="2200" dirty="0"/>
              <a:t>ein QR-Code, den man mit dem Handy scannen kann. Nach dem Scannen kann man ein kurzes Video aufnehmen, in dem man der beschenkten Person frohe Weihnachten wünscht, einen festlichen Filter auswählt und das Lieblings-Weihnachtslied zum Lipsyncen (Playback singen) aussucht.</a:t>
            </a:r>
          </a:p>
          <a:p>
            <a:pPr>
              <a:spcAft>
                <a:spcPts val="1200"/>
              </a:spcAft>
            </a:pPr>
            <a:r>
              <a:rPr lang="cs-CZ" sz="2200" dirty="0"/>
              <a:t>🎄 </a:t>
            </a:r>
            <a:r>
              <a:rPr lang="de-DE" sz="2200" dirty="0"/>
              <a:t>Sobald das Rubbellos verschenkt wurde, kann die beschenkte Person es freirubbeln, den Gewinn entdecken und anschließend denselben QR-Code scannen, um die festliche Nachricht zu erhalten. </a:t>
            </a:r>
            <a:br>
              <a:rPr lang="cs-CZ" sz="2200" dirty="0"/>
            </a:br>
            <a:r>
              <a:rPr lang="de-DE" sz="2200" dirty="0"/>
              <a:t>Das persönliche Weihnachtsvideo, das du aufgenommen hast, erscheint dann – und die beschenkte Person kann sich selbst beim Lipsyncen dazunehmen. </a:t>
            </a:r>
            <a:br>
              <a:rPr lang="cs-CZ" sz="2200" dirty="0"/>
            </a:br>
            <a:r>
              <a:rPr lang="de-DE" sz="2200" dirty="0"/>
              <a:t>Das finale Duett kann anschließend über Messenger-Apps oder soziale Medien geteilt werden.</a:t>
            </a:r>
          </a:p>
          <a:p>
            <a:pPr marL="0" indent="0" algn="just">
              <a:buNone/>
            </a:pPr>
            <a:endParaRPr lang="en-GB" sz="2200" dirty="0">
              <a:ea typeface="Calibri" panose="020F0502020204030204" pitchFamily="34" charset="0"/>
              <a:cs typeface="Calibri" panose="020F0502020204030204" pitchFamily="34" charset="0"/>
            </a:endParaRPr>
          </a:p>
          <a:p>
            <a:pPr marL="0" indent="0" algn="just">
              <a:buNone/>
            </a:pPr>
            <a:endParaRPr lang="en-GB" sz="2200" noProof="0" dirty="0">
              <a:ea typeface="Calibri" panose="020F0502020204030204" pitchFamily="34" charset="0"/>
              <a:cs typeface="Times New Roman" panose="02020603050405020304" pitchFamily="18" charset="0"/>
            </a:endParaRPr>
          </a:p>
          <a:p>
            <a:pPr marL="0" indent="0" algn="just">
              <a:buNone/>
            </a:pPr>
            <a:endParaRPr lang="en-GB" sz="2200" noProof="0" dirty="0">
              <a:ea typeface="Calibri" panose="020F0502020204030204" pitchFamily="34" charset="0"/>
              <a:cs typeface="Times New Roman" panose="02020603050405020304" pitchFamily="18" charset="0"/>
            </a:endParaRPr>
          </a:p>
          <a:p>
            <a:pPr algn="just"/>
            <a:endParaRPr lang="en-GB" sz="2200" noProof="0" dirty="0"/>
          </a:p>
        </p:txBody>
      </p:sp>
      <p:pic>
        <p:nvPicPr>
          <p:cNvPr id="6" name="Picture 5" descr="A christmas card on a table&#10;&#10;AI-generated content may be incorrect.">
            <a:extLst>
              <a:ext uri="{FF2B5EF4-FFF2-40B4-BE49-F238E27FC236}">
                <a16:creationId xmlns:a16="http://schemas.microsoft.com/office/drawing/2014/main" id="{B713EDBA-671D-7657-3989-6CDADF8378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175449"/>
            <a:ext cx="2110864" cy="2622481"/>
          </a:xfrm>
          <a:prstGeom prst="rect">
            <a:avLst/>
          </a:prstGeom>
        </p:spPr>
      </p:pic>
      <p:pic>
        <p:nvPicPr>
          <p:cNvPr id="8" name="Picture 7" descr="A hand holding a phone with a screen showing a christmas tree&#10;&#10;AI-generated content may be incorrect.">
            <a:extLst>
              <a:ext uri="{FF2B5EF4-FFF2-40B4-BE49-F238E27FC236}">
                <a16:creationId xmlns:a16="http://schemas.microsoft.com/office/drawing/2014/main" id="{9689619B-D98D-AA39-3A1B-929E1933E5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3875" y="8175449"/>
            <a:ext cx="2346431" cy="2622481"/>
          </a:xfrm>
          <a:prstGeom prst="rect">
            <a:avLst/>
          </a:prstGeom>
        </p:spPr>
      </p:pic>
      <p:pic>
        <p:nvPicPr>
          <p:cNvPr id="9" name="Picture 8" descr="A hand holding a cell phone with a screen showing a group of men&#10;&#10;AI-generated content may be incorrect.">
            <a:extLst>
              <a:ext uri="{FF2B5EF4-FFF2-40B4-BE49-F238E27FC236}">
                <a16:creationId xmlns:a16="http://schemas.microsoft.com/office/drawing/2014/main" id="{25EC90FF-FF4D-053D-305E-00421EE790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3316" y="8177282"/>
            <a:ext cx="1998756" cy="2622481"/>
          </a:xfrm>
          <a:prstGeom prst="rect">
            <a:avLst/>
          </a:prstGeom>
        </p:spPr>
      </p:pic>
      <p:sp>
        <p:nvSpPr>
          <p:cNvPr id="4" name="TextBox 3">
            <a:extLst>
              <a:ext uri="{FF2B5EF4-FFF2-40B4-BE49-F238E27FC236}">
                <a16:creationId xmlns:a16="http://schemas.microsoft.com/office/drawing/2014/main" id="{ACA46336-3686-E82B-478E-C2A4126E7AEF}"/>
              </a:ext>
            </a:extLst>
          </p:cNvPr>
          <p:cNvSpPr txBox="1"/>
          <p:nvPr/>
        </p:nvSpPr>
        <p:spPr>
          <a:xfrm>
            <a:off x="-50354" y="0"/>
            <a:ext cx="4418756" cy="369332"/>
          </a:xfrm>
          <a:prstGeom prst="rect">
            <a:avLst/>
          </a:prstGeom>
          <a:noFill/>
        </p:spPr>
        <p:txBody>
          <a:bodyPr wrap="square">
            <a:spAutoFit/>
          </a:bodyPr>
          <a:lstStyle/>
          <a:p>
            <a:r>
              <a:rPr lang="cs-CZ" b="1" dirty="0" err="1"/>
              <a:t>Christmas</a:t>
            </a:r>
            <a:r>
              <a:rPr lang="cs-CZ" b="1" dirty="0"/>
              <a:t> Duet</a:t>
            </a:r>
          </a:p>
        </p:txBody>
      </p:sp>
    </p:spTree>
    <p:extLst>
      <p:ext uri="{BB962C8B-B14F-4D97-AF65-F5344CB8AC3E}">
        <p14:creationId xmlns:p14="http://schemas.microsoft.com/office/powerpoint/2010/main" val="2678950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70EF2-F025-044C-2CDF-1E8E13F8A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CB002-3F5A-39B1-37DD-C3E496E0E3E9}"/>
              </a:ext>
            </a:extLst>
          </p:cNvPr>
          <p:cNvSpPr>
            <a:spLocks noGrp="1"/>
          </p:cNvSpPr>
          <p:nvPr>
            <p:ph type="title"/>
          </p:nvPr>
        </p:nvSpPr>
        <p:spPr>
          <a:xfrm>
            <a:off x="188843" y="228975"/>
            <a:ext cx="6351105" cy="922506"/>
          </a:xfrm>
        </p:spPr>
        <p:txBody>
          <a:bodyPr>
            <a:noAutofit/>
          </a:bodyPr>
          <a:lstStyle/>
          <a:p>
            <a:r>
              <a:rPr lang="de-DE" sz="2800" dirty="0"/>
              <a:t>Mach dein Weihnachts-Rubbellos </a:t>
            </a:r>
            <a:br>
              <a:rPr lang="cs-CZ" sz="2800" dirty="0"/>
            </a:br>
            <a:r>
              <a:rPr lang="de-DE" sz="2800" dirty="0"/>
              <a:t>zur </a:t>
            </a:r>
            <a:r>
              <a:rPr lang="de-DE" sz="2800" b="1" u="sng" dirty="0"/>
              <a:t>persönlichen Überraschung</a:t>
            </a:r>
            <a:r>
              <a:rPr lang="en-GB" sz="2800" dirty="0"/>
              <a:t>:</a:t>
            </a:r>
            <a:endParaRPr lang="cs-CZ" sz="2600" u="sng" dirty="0"/>
          </a:p>
        </p:txBody>
      </p:sp>
      <p:sp>
        <p:nvSpPr>
          <p:cNvPr id="3" name="Text Placeholder 2">
            <a:extLst>
              <a:ext uri="{FF2B5EF4-FFF2-40B4-BE49-F238E27FC236}">
                <a16:creationId xmlns:a16="http://schemas.microsoft.com/office/drawing/2014/main" id="{024448EB-1F88-BAF0-4022-2B1C541766C7}"/>
              </a:ext>
            </a:extLst>
          </p:cNvPr>
          <p:cNvSpPr>
            <a:spLocks noGrp="1"/>
          </p:cNvSpPr>
          <p:nvPr>
            <p:ph type="body" sz="quarter" idx="10"/>
          </p:nvPr>
        </p:nvSpPr>
        <p:spPr>
          <a:xfrm>
            <a:off x="188843" y="1351722"/>
            <a:ext cx="6500191" cy="6540994"/>
          </a:xfrm>
        </p:spPr>
        <p:txBody>
          <a:bodyPr>
            <a:noAutofit/>
          </a:bodyPr>
          <a:lstStyle/>
          <a:p>
            <a:pPr>
              <a:spcBef>
                <a:spcPts val="600"/>
              </a:spcBef>
              <a:buNone/>
            </a:pPr>
            <a:r>
              <a:rPr lang="en-US" sz="2200" dirty="0"/>
              <a:t>🎁 </a:t>
            </a:r>
            <a:r>
              <a:rPr lang="de-DE" sz="2200" dirty="0"/>
              <a:t>Dieses Geschenk-Rubbellos hat einen garantierten Gewinn, kostet in der Trafik 10 € und hat ein weihnachtliches Design – perfekt zum Verschenken </a:t>
            </a:r>
            <a:br>
              <a:rPr lang="cs-CZ" sz="2200" dirty="0"/>
            </a:br>
            <a:r>
              <a:rPr lang="de-DE" sz="2200" dirty="0"/>
              <a:t>zu Weihnachten.</a:t>
            </a:r>
          </a:p>
          <a:p>
            <a:pPr>
              <a:spcBef>
                <a:spcPts val="600"/>
              </a:spcBef>
              <a:buNone/>
            </a:pPr>
            <a:r>
              <a:rPr lang="de-DE" sz="2200" dirty="0"/>
              <a:t>Auf der Vorderseite des Rubbelloses befindet sich </a:t>
            </a:r>
            <a:br>
              <a:rPr lang="cs-CZ" sz="2200" dirty="0"/>
            </a:br>
            <a:r>
              <a:rPr lang="de-DE" sz="2200" dirty="0"/>
              <a:t>ein QR-Code, den man mit dem Handy scannen kann. Als </a:t>
            </a:r>
            <a:r>
              <a:rPr lang="de-DE" sz="2200" dirty="0" err="1"/>
              <a:t>Käufer:in</a:t>
            </a:r>
            <a:r>
              <a:rPr lang="de-DE" sz="2200" dirty="0"/>
              <a:t> des Rubbelloses kannst du nach dem Scannen ein Foto hochladen oder ein Selfie machen und eine festliche Figur auswählen – zum Beispiel den Weihnachtsmann, einen Elf oder ein Rentier.</a:t>
            </a:r>
          </a:p>
          <a:p>
            <a:pPr>
              <a:spcBef>
                <a:spcPts val="600"/>
              </a:spcBef>
            </a:pPr>
            <a:r>
              <a:rPr lang="en-US" sz="2200" dirty="0"/>
              <a:t>🎄 </a:t>
            </a:r>
            <a:r>
              <a:rPr lang="de-DE" sz="2200" dirty="0"/>
              <a:t>Sobald das Rubbellos verschenkt wurde, kann die beschenkte Person es freirubbeln, den Gewinn entdecken und dann denselben QR-Code scannen. Dabei wird sie aufgefordert, mithilfe von World Tracking einen Kuchen in ihrer Umgebung zu platzieren – und dann soll sie genauer hinsehen … denn plötzlich springt ein/e Freund:in, als weihnachtliche Figur verkleidet, aus dem Kuchen! Die Reaktion der beschenkten Person wird dabei aufgenommen und das gesamte Erlebnis wird als Video mit einer Weihnachtsbotschaft wiedergegeben – perfekt zum Teilen.</a:t>
            </a:r>
          </a:p>
          <a:p>
            <a:pPr algn="just" rtl="0">
              <a:spcBef>
                <a:spcPts val="600"/>
              </a:spcBef>
              <a:buNone/>
            </a:pPr>
            <a:endParaRPr lang="en-GB" sz="2200" dirty="0">
              <a:highlight>
                <a:srgbClr val="FFFF00"/>
              </a:highlight>
              <a:cs typeface="Times New Roman" panose="02020603050405020304" pitchFamily="18" charset="0"/>
            </a:endParaRPr>
          </a:p>
          <a:p>
            <a:pPr algn="just">
              <a:spcBef>
                <a:spcPts val="600"/>
              </a:spcBef>
            </a:pPr>
            <a:endParaRPr lang="en-GB" sz="2200" dirty="0">
              <a:highlight>
                <a:srgbClr val="FFFF00"/>
              </a:highlight>
              <a:cs typeface="Times New Roman" panose="02020603050405020304" pitchFamily="18" charset="0"/>
            </a:endParaRPr>
          </a:p>
          <a:p>
            <a:pPr marL="0" indent="0" algn="just">
              <a:spcBef>
                <a:spcPts val="600"/>
              </a:spcBef>
              <a:buNone/>
            </a:pPr>
            <a:endParaRPr lang="en-GB" sz="2200" dirty="0">
              <a:cs typeface="Times New Roman" panose="02020603050405020304" pitchFamily="18" charset="0"/>
            </a:endParaRPr>
          </a:p>
          <a:p>
            <a:pPr marL="0" indent="0" algn="just">
              <a:spcBef>
                <a:spcPts val="600"/>
              </a:spcBef>
              <a:buNone/>
            </a:pPr>
            <a:endParaRPr lang="en-GB" sz="2200" dirty="0">
              <a:cs typeface="Times New Roman" panose="02020603050405020304" pitchFamily="18" charset="0"/>
            </a:endParaRPr>
          </a:p>
          <a:p>
            <a:pPr marL="0" indent="0" algn="just">
              <a:spcBef>
                <a:spcPts val="600"/>
              </a:spcBef>
              <a:buNone/>
            </a:pPr>
            <a:endParaRPr lang="en-GB" sz="2200" dirty="0">
              <a:ea typeface="Calibri" panose="020F0502020204030204" pitchFamily="34" charset="0"/>
              <a:cs typeface="Calibri" panose="020F0502020204030204" pitchFamily="34" charset="0"/>
            </a:endParaRPr>
          </a:p>
          <a:p>
            <a:pPr marL="0" indent="0" algn="just">
              <a:spcBef>
                <a:spcPts val="600"/>
              </a:spcBef>
              <a:buNone/>
            </a:pPr>
            <a:endParaRPr lang="en-GB" sz="2200" noProof="0" dirty="0">
              <a:ea typeface="Calibri" panose="020F0502020204030204" pitchFamily="34" charset="0"/>
              <a:cs typeface="Times New Roman" panose="02020603050405020304" pitchFamily="18" charset="0"/>
            </a:endParaRPr>
          </a:p>
          <a:p>
            <a:pPr marL="0" indent="0" algn="just">
              <a:spcBef>
                <a:spcPts val="600"/>
              </a:spcBef>
              <a:buNone/>
            </a:pPr>
            <a:endParaRPr lang="en-GB" sz="2200" noProof="0" dirty="0">
              <a:ea typeface="Calibri" panose="020F0502020204030204" pitchFamily="34" charset="0"/>
              <a:cs typeface="Times New Roman" panose="02020603050405020304" pitchFamily="18" charset="0"/>
            </a:endParaRPr>
          </a:p>
          <a:p>
            <a:pPr algn="just">
              <a:spcBef>
                <a:spcPts val="600"/>
              </a:spcBef>
            </a:pPr>
            <a:endParaRPr lang="en-GB" sz="2200" noProof="0" dirty="0"/>
          </a:p>
        </p:txBody>
      </p:sp>
      <p:pic>
        <p:nvPicPr>
          <p:cNvPr id="4" name="Picture 3">
            <a:extLst>
              <a:ext uri="{FF2B5EF4-FFF2-40B4-BE49-F238E27FC236}">
                <a16:creationId xmlns:a16="http://schemas.microsoft.com/office/drawing/2014/main" id="{478378DC-D442-F060-CEF1-C7280AFADADE}"/>
              </a:ext>
            </a:extLst>
          </p:cNvPr>
          <p:cNvPicPr>
            <a:picLocks noChangeAspect="1"/>
          </p:cNvPicPr>
          <p:nvPr/>
        </p:nvPicPr>
        <p:blipFill>
          <a:blip r:embed="rId3"/>
          <a:stretch>
            <a:fillRect/>
          </a:stretch>
        </p:blipFill>
        <p:spPr>
          <a:xfrm>
            <a:off x="4761677" y="8102195"/>
            <a:ext cx="2096896" cy="2697568"/>
          </a:xfrm>
          <a:prstGeom prst="rect">
            <a:avLst/>
          </a:prstGeom>
        </p:spPr>
      </p:pic>
      <p:pic>
        <p:nvPicPr>
          <p:cNvPr id="8" name="Picture 7" descr="A christmas card on a table&#10;&#10;AI-generated content may be incorrect.">
            <a:extLst>
              <a:ext uri="{FF2B5EF4-FFF2-40B4-BE49-F238E27FC236}">
                <a16:creationId xmlns:a16="http://schemas.microsoft.com/office/drawing/2014/main" id="{1E14E5DA-0CE2-8214-359B-4525888945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94" y="8102195"/>
            <a:ext cx="2171303" cy="2697568"/>
          </a:xfrm>
          <a:prstGeom prst="rect">
            <a:avLst/>
          </a:prstGeom>
        </p:spPr>
      </p:pic>
      <p:pic>
        <p:nvPicPr>
          <p:cNvPr id="9" name="Picture 8" descr="A hand holding a phone with a screen showing a christmas tree&#10;&#10;AI-generated content may be incorrect.">
            <a:extLst>
              <a:ext uri="{FF2B5EF4-FFF2-40B4-BE49-F238E27FC236}">
                <a16:creationId xmlns:a16="http://schemas.microsoft.com/office/drawing/2014/main" id="{7B1854AC-55A8-276B-E4E0-6CE25F0CCC8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03536" y="8102194"/>
            <a:ext cx="2413614" cy="2697569"/>
          </a:xfrm>
          <a:prstGeom prst="rect">
            <a:avLst/>
          </a:prstGeom>
        </p:spPr>
      </p:pic>
      <p:sp>
        <p:nvSpPr>
          <p:cNvPr id="5" name="TextBox 4">
            <a:extLst>
              <a:ext uri="{FF2B5EF4-FFF2-40B4-BE49-F238E27FC236}">
                <a16:creationId xmlns:a16="http://schemas.microsoft.com/office/drawing/2014/main" id="{CFA9A7AF-C870-0ACF-BEA9-C7ED296ACB5F}"/>
              </a:ext>
            </a:extLst>
          </p:cNvPr>
          <p:cNvSpPr txBox="1"/>
          <p:nvPr/>
        </p:nvSpPr>
        <p:spPr>
          <a:xfrm>
            <a:off x="-50354" y="0"/>
            <a:ext cx="4418756" cy="369332"/>
          </a:xfrm>
          <a:prstGeom prst="rect">
            <a:avLst/>
          </a:prstGeom>
          <a:noFill/>
        </p:spPr>
        <p:txBody>
          <a:bodyPr wrap="square">
            <a:spAutoFit/>
          </a:bodyPr>
          <a:lstStyle/>
          <a:p>
            <a:r>
              <a:rPr lang="en-GB" b="1" dirty="0"/>
              <a:t>Christmas Cake Suprise</a:t>
            </a:r>
            <a:endParaRPr lang="cs-CZ" b="1" dirty="0"/>
          </a:p>
        </p:txBody>
      </p:sp>
    </p:spTree>
    <p:extLst>
      <p:ext uri="{BB962C8B-B14F-4D97-AF65-F5344CB8AC3E}">
        <p14:creationId xmlns:p14="http://schemas.microsoft.com/office/powerpoint/2010/main" val="790849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1FAAB-956A-78C4-202E-BCA34415C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EC3A0-2258-0403-A3BB-1AC8F74205B4}"/>
              </a:ext>
            </a:extLst>
          </p:cNvPr>
          <p:cNvSpPr>
            <a:spLocks noGrp="1"/>
          </p:cNvSpPr>
          <p:nvPr>
            <p:ph type="title"/>
          </p:nvPr>
        </p:nvSpPr>
        <p:spPr>
          <a:xfrm>
            <a:off x="94421" y="433393"/>
            <a:ext cx="6669157" cy="922506"/>
          </a:xfrm>
        </p:spPr>
        <p:txBody>
          <a:bodyPr>
            <a:noAutofit/>
          </a:bodyPr>
          <a:lstStyle/>
          <a:p>
            <a:r>
              <a:rPr lang="de-DE" sz="2800" dirty="0"/>
              <a:t>Überraschung mit </a:t>
            </a:r>
            <a:r>
              <a:rPr lang="de-DE" sz="2800" b="1" u="sng" dirty="0"/>
              <a:t>persönlicher Note</a:t>
            </a:r>
            <a:r>
              <a:rPr lang="de-DE" sz="2800" dirty="0"/>
              <a:t>: </a:t>
            </a:r>
            <a:br>
              <a:rPr lang="cs-CZ" sz="2800" dirty="0"/>
            </a:br>
            <a:r>
              <a:rPr lang="de-DE" sz="2800" dirty="0"/>
              <a:t>Das Geburtstags-Rubbellos mit </a:t>
            </a:r>
            <a:r>
              <a:rPr lang="de-DE" sz="2800" b="1" u="sng" dirty="0"/>
              <a:t>Video-Gruß</a:t>
            </a:r>
            <a:r>
              <a:rPr lang="en-GB" sz="2800" b="1" u="sng" dirty="0"/>
              <a:t>:</a:t>
            </a:r>
            <a:endParaRPr lang="en-GB" sz="2800" b="1" u="sng" dirty="0">
              <a:ea typeface="Calibri"/>
              <a:cs typeface="Calibri"/>
            </a:endParaRPr>
          </a:p>
        </p:txBody>
      </p:sp>
      <p:sp>
        <p:nvSpPr>
          <p:cNvPr id="3" name="Text Placeholder 2">
            <a:extLst>
              <a:ext uri="{FF2B5EF4-FFF2-40B4-BE49-F238E27FC236}">
                <a16:creationId xmlns:a16="http://schemas.microsoft.com/office/drawing/2014/main" id="{1C39F049-D047-43E1-FCC9-C1A49D38719D}"/>
              </a:ext>
            </a:extLst>
          </p:cNvPr>
          <p:cNvSpPr>
            <a:spLocks noGrp="1"/>
          </p:cNvSpPr>
          <p:nvPr>
            <p:ph type="body" sz="quarter" idx="10"/>
          </p:nvPr>
        </p:nvSpPr>
        <p:spPr>
          <a:xfrm>
            <a:off x="188843" y="1544226"/>
            <a:ext cx="6500191" cy="6107857"/>
          </a:xfrm>
        </p:spPr>
        <p:txBody>
          <a:bodyPr>
            <a:normAutofit/>
          </a:bodyPr>
          <a:lstStyle/>
          <a:p>
            <a:pPr>
              <a:spcBef>
                <a:spcPts val="600"/>
              </a:spcBef>
              <a:spcAft>
                <a:spcPts val="1200"/>
              </a:spcAft>
              <a:buNone/>
            </a:pPr>
            <a:r>
              <a:rPr lang="en-US" sz="2400" dirty="0"/>
              <a:t>🎁 </a:t>
            </a:r>
            <a:r>
              <a:rPr lang="de-DE" sz="2400" dirty="0"/>
              <a:t>Dieses Geschenk-Rubbellos hat einen garantierten Gewinn und kostet in der Trafik 10 €.</a:t>
            </a:r>
          </a:p>
          <a:p>
            <a:pPr>
              <a:spcBef>
                <a:spcPts val="600"/>
              </a:spcBef>
              <a:spcAft>
                <a:spcPts val="1200"/>
              </a:spcAft>
              <a:buNone/>
            </a:pPr>
            <a:r>
              <a:rPr lang="de-DE" sz="2400" dirty="0"/>
              <a:t>Auf der Vorderseite des Rubbelloses befindet sich ein QR-Code, den du mit deinem Handy scannen kannst. </a:t>
            </a:r>
            <a:br>
              <a:rPr lang="cs-CZ" sz="2400" dirty="0"/>
            </a:br>
            <a:r>
              <a:rPr lang="de-DE" sz="2400" dirty="0"/>
              <a:t>Als Käufer:in des Rubbelloses kannst du nach dem Scannen eine persönliche Geburtstagsbotschaft aufnehmen – für den Freund oder die Freundin, dem/der du das Rubbellos schenken möchtest.</a:t>
            </a:r>
          </a:p>
          <a:p>
            <a:pPr>
              <a:spcBef>
                <a:spcPts val="600"/>
              </a:spcBef>
              <a:spcAft>
                <a:spcPts val="1200"/>
              </a:spcAft>
            </a:pPr>
            <a:r>
              <a:rPr lang="en-US" sz="2400" dirty="0"/>
              <a:t>🎉 </a:t>
            </a:r>
            <a:r>
              <a:rPr lang="de-DE" sz="2400" dirty="0"/>
              <a:t>Sobald das Rubbellos verschenkt wurde, kann die beschenkte Person es freirubbeln, den Gewinn entdecken und dann denselben QR-Code scannen. Deine zuvor aufgenommene Videobotschaft erscheint dann direkt auf dem Rubbellos – </a:t>
            </a:r>
            <a:br>
              <a:rPr lang="cs-CZ" sz="2400" dirty="0"/>
            </a:br>
            <a:r>
              <a:rPr lang="de-DE" sz="2400" dirty="0"/>
              <a:t>zum Leben erweckt durch </a:t>
            </a:r>
            <a:r>
              <a:rPr lang="de-DE" sz="2400" dirty="0" err="1"/>
              <a:t>Augmented</a:t>
            </a:r>
            <a:r>
              <a:rPr lang="de-DE" sz="2400" dirty="0"/>
              <a:t> </a:t>
            </a:r>
            <a:br>
              <a:rPr lang="cs-CZ" sz="2400" dirty="0"/>
            </a:br>
            <a:r>
              <a:rPr lang="de-DE" sz="2400" dirty="0"/>
              <a:t>Video-Technologie.</a:t>
            </a:r>
          </a:p>
        </p:txBody>
      </p:sp>
      <p:pic>
        <p:nvPicPr>
          <p:cNvPr id="11" name="Picture 10" descr="A person taking a picture of a person on a cell phone&#10;&#10;AI-generated content may be incorrect.">
            <a:extLst>
              <a:ext uri="{FF2B5EF4-FFF2-40B4-BE49-F238E27FC236}">
                <a16:creationId xmlns:a16="http://schemas.microsoft.com/office/drawing/2014/main" id="{6CF406A9-C417-541D-2356-5DA76E67CA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7863" y="974280"/>
            <a:ext cx="3836949" cy="4933221"/>
          </a:xfrm>
          <a:prstGeom prst="rect">
            <a:avLst/>
          </a:prstGeom>
        </p:spPr>
      </p:pic>
      <p:pic>
        <p:nvPicPr>
          <p:cNvPr id="13" name="Picture 12" descr="A hand holding a phone with a picture of a couple in sunglasses&#10;&#10;AI-generated content may be incorrect.">
            <a:extLst>
              <a:ext uri="{FF2B5EF4-FFF2-40B4-BE49-F238E27FC236}">
                <a16:creationId xmlns:a16="http://schemas.microsoft.com/office/drawing/2014/main" id="{622AC646-A781-2279-946A-44A59F002C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4952" y="1441172"/>
            <a:ext cx="3309106" cy="4380053"/>
          </a:xfrm>
          <a:prstGeom prst="rect">
            <a:avLst/>
          </a:prstGeom>
        </p:spPr>
      </p:pic>
      <p:pic>
        <p:nvPicPr>
          <p:cNvPr id="4" name="Picture 3" descr="A birthday card on a table&#10;&#10;AI-generated content may be incorrect.">
            <a:extLst>
              <a:ext uri="{FF2B5EF4-FFF2-40B4-BE49-F238E27FC236}">
                <a16:creationId xmlns:a16="http://schemas.microsoft.com/office/drawing/2014/main" id="{49DE749C-1F5E-7A56-1D4A-B0E3BFBE54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8016806"/>
            <a:ext cx="1729543" cy="2782957"/>
          </a:xfrm>
          <a:prstGeom prst="rect">
            <a:avLst/>
          </a:prstGeom>
        </p:spPr>
      </p:pic>
      <p:pic>
        <p:nvPicPr>
          <p:cNvPr id="6" name="Picture 5" descr="A hand holding a phone&#10;&#10;AI-generated content may be incorrect.">
            <a:extLst>
              <a:ext uri="{FF2B5EF4-FFF2-40B4-BE49-F238E27FC236}">
                <a16:creationId xmlns:a16="http://schemas.microsoft.com/office/drawing/2014/main" id="{7316635B-CE95-8C0F-5861-ECC0818801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87529" y="8016807"/>
            <a:ext cx="2518991" cy="2782956"/>
          </a:xfrm>
          <a:prstGeom prst="rect">
            <a:avLst/>
          </a:prstGeom>
        </p:spPr>
      </p:pic>
      <p:pic>
        <p:nvPicPr>
          <p:cNvPr id="8" name="Picture 7" descr="A hand holding a phone with a picture of a couple in sunglasses&#10;&#10;AI-generated content may be incorrect.">
            <a:extLst>
              <a:ext uri="{FF2B5EF4-FFF2-40B4-BE49-F238E27FC236}">
                <a16:creationId xmlns:a16="http://schemas.microsoft.com/office/drawing/2014/main" id="{ACBC9635-B81F-BC2C-DC1E-9CEC7880AB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4505" y="8028738"/>
            <a:ext cx="2093495" cy="2771026"/>
          </a:xfrm>
          <a:prstGeom prst="rect">
            <a:avLst/>
          </a:prstGeom>
        </p:spPr>
      </p:pic>
      <p:sp>
        <p:nvSpPr>
          <p:cNvPr id="5" name="TextBox 4">
            <a:extLst>
              <a:ext uri="{FF2B5EF4-FFF2-40B4-BE49-F238E27FC236}">
                <a16:creationId xmlns:a16="http://schemas.microsoft.com/office/drawing/2014/main" id="{1A93814D-9B8C-C7A3-56BE-1DEEFE99D304}"/>
              </a:ext>
            </a:extLst>
          </p:cNvPr>
          <p:cNvSpPr txBox="1"/>
          <p:nvPr/>
        </p:nvSpPr>
        <p:spPr>
          <a:xfrm>
            <a:off x="-50354" y="0"/>
            <a:ext cx="4418756" cy="369332"/>
          </a:xfrm>
          <a:prstGeom prst="rect">
            <a:avLst/>
          </a:prstGeom>
          <a:noFill/>
        </p:spPr>
        <p:txBody>
          <a:bodyPr wrap="square">
            <a:spAutoFit/>
          </a:bodyPr>
          <a:lstStyle/>
          <a:p>
            <a:r>
              <a:rPr lang="en-GB" b="1" dirty="0"/>
              <a:t>Christmas Cake Suprise</a:t>
            </a:r>
            <a:endParaRPr lang="cs-CZ" b="1" dirty="0"/>
          </a:p>
        </p:txBody>
      </p:sp>
    </p:spTree>
    <p:extLst>
      <p:ext uri="{BB962C8B-B14F-4D97-AF65-F5344CB8AC3E}">
        <p14:creationId xmlns:p14="http://schemas.microsoft.com/office/powerpoint/2010/main" val="697953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E573C-FCD3-4B2A-6DA2-8762BA196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3B3F0-558C-C1CC-EB01-9F890EC1A001}"/>
              </a:ext>
            </a:extLst>
          </p:cNvPr>
          <p:cNvSpPr>
            <a:spLocks noGrp="1"/>
          </p:cNvSpPr>
          <p:nvPr>
            <p:ph type="title"/>
          </p:nvPr>
        </p:nvSpPr>
        <p:spPr>
          <a:xfrm>
            <a:off x="188843" y="276839"/>
            <a:ext cx="6351105" cy="1166951"/>
          </a:xfrm>
        </p:spPr>
        <p:txBody>
          <a:bodyPr>
            <a:noAutofit/>
          </a:bodyPr>
          <a:lstStyle/>
          <a:p>
            <a:r>
              <a:rPr lang="de-DE" sz="2800" dirty="0"/>
              <a:t>Sag es mit einem Rubbellos – </a:t>
            </a:r>
            <a:br>
              <a:rPr lang="cs-CZ" sz="2800" dirty="0"/>
            </a:br>
            <a:r>
              <a:rPr lang="de-DE" sz="2800" dirty="0"/>
              <a:t>und einer </a:t>
            </a:r>
            <a:r>
              <a:rPr lang="de-DE" sz="2800" b="1" u="sng" dirty="0"/>
              <a:t>digitalen Valentinsbotschaft</a:t>
            </a:r>
            <a:r>
              <a:rPr lang="de-DE" sz="2800" dirty="0"/>
              <a:t>, die von Herzen kommt</a:t>
            </a:r>
            <a:r>
              <a:rPr lang="en-GB" sz="2800" dirty="0"/>
              <a:t>.</a:t>
            </a:r>
            <a:endParaRPr lang="en-GB" sz="2800" dirty="0">
              <a:ea typeface="Calibri"/>
              <a:cs typeface="Calibri"/>
            </a:endParaRPr>
          </a:p>
        </p:txBody>
      </p:sp>
      <p:sp>
        <p:nvSpPr>
          <p:cNvPr id="3" name="Text Placeholder 2">
            <a:extLst>
              <a:ext uri="{FF2B5EF4-FFF2-40B4-BE49-F238E27FC236}">
                <a16:creationId xmlns:a16="http://schemas.microsoft.com/office/drawing/2014/main" id="{0234B5EC-8CE6-A834-82E8-00CB4328E165}"/>
              </a:ext>
            </a:extLst>
          </p:cNvPr>
          <p:cNvSpPr>
            <a:spLocks noGrp="1"/>
          </p:cNvSpPr>
          <p:nvPr>
            <p:ph type="body" sz="quarter" idx="10"/>
          </p:nvPr>
        </p:nvSpPr>
        <p:spPr>
          <a:xfrm>
            <a:off x="188843" y="1764632"/>
            <a:ext cx="6500191" cy="6293802"/>
          </a:xfrm>
        </p:spPr>
        <p:txBody>
          <a:bodyPr>
            <a:normAutofit/>
          </a:bodyPr>
          <a:lstStyle/>
          <a:p>
            <a:pPr>
              <a:spcAft>
                <a:spcPts val="1200"/>
              </a:spcAft>
              <a:buNone/>
            </a:pPr>
            <a:r>
              <a:rPr lang="en-US" sz="2400" dirty="0"/>
              <a:t>🎁 </a:t>
            </a:r>
            <a:r>
              <a:rPr lang="de-DE" sz="2400" dirty="0"/>
              <a:t>Dieses Geschenk-Rubbellos hat einen garantierten Gewinn und kostet in der Trafik  10 €.</a:t>
            </a:r>
          </a:p>
          <a:p>
            <a:pPr>
              <a:spcAft>
                <a:spcPts val="1200"/>
              </a:spcAft>
              <a:buNone/>
            </a:pPr>
            <a:r>
              <a:rPr lang="de-DE" sz="2400" dirty="0"/>
              <a:t>Auf der Vorderseite des Rubbelloses befindet sich ein QR-Code, den du mit deinem Handy scannen kannst. </a:t>
            </a:r>
            <a:br>
              <a:rPr lang="cs-CZ" sz="2400" dirty="0"/>
            </a:br>
            <a:r>
              <a:rPr lang="de-DE" sz="2400" dirty="0"/>
              <a:t>Als Käufer:in des Rubbelloses kannst du nach dem Scannen eine persönliche Botschaft aufnehmen – für den Freund oder die Freundin, dem/der du das Rubbellos schenken möchtest.</a:t>
            </a:r>
          </a:p>
          <a:p>
            <a:pPr>
              <a:spcAft>
                <a:spcPts val="1200"/>
              </a:spcAft>
            </a:pPr>
            <a:r>
              <a:rPr lang="en-US" sz="2400" dirty="0"/>
              <a:t>🎉 </a:t>
            </a:r>
            <a:r>
              <a:rPr lang="de-DE" sz="2400" dirty="0"/>
              <a:t>Sobald das Rubbellos verschenkt wurde, kann die beschenkte Person es freirubbeln, den Gewinn entdecken und dann denselben QR-Code scannen. Deine zuvor aufgenommene Videobotschaft erscheint dann direkt über dem Rubbellos – lebendig gemacht durch Augmented-Video-Technologie.</a:t>
            </a:r>
          </a:p>
          <a:p>
            <a:pPr algn="just"/>
            <a:endParaRPr lang="en-GB" sz="2400" dirty="0">
              <a:ea typeface="Calibri"/>
              <a:cs typeface="Calibri"/>
            </a:endParaRPr>
          </a:p>
          <a:p>
            <a:pPr algn="just"/>
            <a:endParaRPr lang="en-GB" sz="2400" dirty="0">
              <a:highlight>
                <a:srgbClr val="FFFF00"/>
              </a:highlight>
              <a:cs typeface="Times New Roman" panose="02020603050405020304" pitchFamily="18" charset="0"/>
            </a:endParaRPr>
          </a:p>
          <a:p>
            <a:pPr algn="just"/>
            <a:endParaRPr lang="en-GB" sz="2400" dirty="0">
              <a:cs typeface="Times New Roman" panose="02020603050405020304" pitchFamily="18" charset="0"/>
            </a:endParaRPr>
          </a:p>
          <a:p>
            <a:pPr algn="just"/>
            <a:endParaRPr lang="en-GB" sz="2400" dirty="0">
              <a:cs typeface="Times New Roman" panose="02020603050405020304" pitchFamily="18" charset="0"/>
            </a:endParaRPr>
          </a:p>
          <a:p>
            <a:pPr algn="just"/>
            <a:endParaRPr lang="en-GB" sz="2400" dirty="0">
              <a:ea typeface="Calibri" panose="020F0502020204030204" pitchFamily="34" charset="0"/>
              <a:cs typeface="Calibri" panose="020F0502020204030204" pitchFamily="34" charset="0"/>
            </a:endParaRPr>
          </a:p>
          <a:p>
            <a:pPr algn="just"/>
            <a:endParaRPr lang="en-GB" sz="2400" dirty="0">
              <a:ea typeface="Calibri" panose="020F0502020204030204" pitchFamily="34" charset="0"/>
              <a:cs typeface="Times New Roman" panose="02020603050405020304" pitchFamily="18" charset="0"/>
            </a:endParaRPr>
          </a:p>
          <a:p>
            <a:pPr algn="just"/>
            <a:endParaRPr lang="en-GB" sz="2400" dirty="0">
              <a:ea typeface="Calibri" panose="020F0502020204030204" pitchFamily="34" charset="0"/>
              <a:cs typeface="Times New Roman" panose="02020603050405020304" pitchFamily="18" charset="0"/>
            </a:endParaRPr>
          </a:p>
          <a:p>
            <a:pPr algn="just"/>
            <a:endParaRPr lang="en-GB" sz="2400" dirty="0"/>
          </a:p>
        </p:txBody>
      </p:sp>
      <p:pic>
        <p:nvPicPr>
          <p:cNvPr id="4" name="Picture 3" descr="A person taking a picture of a card&#10;&#10;AI-generated content may be incorrect.">
            <a:extLst>
              <a:ext uri="{FF2B5EF4-FFF2-40B4-BE49-F238E27FC236}">
                <a16:creationId xmlns:a16="http://schemas.microsoft.com/office/drawing/2014/main" id="{B4F609B5-C5DE-17CB-EC5B-F80B9FC856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0196" y="8058434"/>
            <a:ext cx="2474035" cy="2741329"/>
          </a:xfrm>
          <a:prstGeom prst="rect">
            <a:avLst/>
          </a:prstGeom>
        </p:spPr>
      </p:pic>
      <p:pic>
        <p:nvPicPr>
          <p:cNvPr id="6" name="Picture 5" descr="A person taking a picture of a person's face on a cellphone&#10;&#10;AI-generated content may be incorrect.">
            <a:extLst>
              <a:ext uri="{FF2B5EF4-FFF2-40B4-BE49-F238E27FC236}">
                <a16:creationId xmlns:a16="http://schemas.microsoft.com/office/drawing/2014/main" id="{1CC20A38-17B7-19D8-0C9F-28E79DBCFF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9333" y="8058434"/>
            <a:ext cx="2260121" cy="2741329"/>
          </a:xfrm>
          <a:prstGeom prst="rect">
            <a:avLst/>
          </a:prstGeom>
        </p:spPr>
      </p:pic>
      <p:pic>
        <p:nvPicPr>
          <p:cNvPr id="8" name="Picture 7" descr="A pink card with a pink design on it&#10;&#10;AI-generated content may be incorrect.">
            <a:extLst>
              <a:ext uri="{FF2B5EF4-FFF2-40B4-BE49-F238E27FC236}">
                <a16:creationId xmlns:a16="http://schemas.microsoft.com/office/drawing/2014/main" id="{4438C6B9-B908-7218-55AE-26A58CDFD3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9" y="8058434"/>
            <a:ext cx="1878495" cy="2741329"/>
          </a:xfrm>
          <a:prstGeom prst="rect">
            <a:avLst/>
          </a:prstGeom>
        </p:spPr>
      </p:pic>
      <p:sp>
        <p:nvSpPr>
          <p:cNvPr id="5" name="TextBox 4">
            <a:extLst>
              <a:ext uri="{FF2B5EF4-FFF2-40B4-BE49-F238E27FC236}">
                <a16:creationId xmlns:a16="http://schemas.microsoft.com/office/drawing/2014/main" id="{33BB15C8-1B09-8F6C-EEFC-C1A991CD57AC}"/>
              </a:ext>
            </a:extLst>
          </p:cNvPr>
          <p:cNvSpPr txBox="1"/>
          <p:nvPr/>
        </p:nvSpPr>
        <p:spPr>
          <a:xfrm>
            <a:off x="-50354" y="0"/>
            <a:ext cx="4418756" cy="369332"/>
          </a:xfrm>
          <a:prstGeom prst="rect">
            <a:avLst/>
          </a:prstGeom>
          <a:noFill/>
        </p:spPr>
        <p:txBody>
          <a:bodyPr wrap="square">
            <a:spAutoFit/>
          </a:bodyPr>
          <a:lstStyle/>
          <a:p>
            <a:r>
              <a:rPr lang="cs-CZ" b="1" dirty="0"/>
              <a:t>Valentine </a:t>
            </a:r>
            <a:r>
              <a:rPr lang="cs-CZ" b="1" dirty="0" err="1"/>
              <a:t>Message</a:t>
            </a:r>
            <a:endParaRPr lang="cs-CZ" b="1" dirty="0"/>
          </a:p>
        </p:txBody>
      </p:sp>
    </p:spTree>
    <p:extLst>
      <p:ext uri="{BB962C8B-B14F-4D97-AF65-F5344CB8AC3E}">
        <p14:creationId xmlns:p14="http://schemas.microsoft.com/office/powerpoint/2010/main" val="30125359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CLUDEHIDDENSLIDES" val="False"/>
  <p:tag name="NUMBEROFPAGES" val="8"/>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41da7a-79c1-417c-b408-16c0bfe99fca}" enabled="1" method="Standard" siteId="{1e355c04-e0a4-42ed-8e2d-7351591f0ef1}" contentBits="0" removed="0"/>
</clbl:labelList>
</file>

<file path=docProps/app.xml><?xml version="1.0" encoding="utf-8"?>
<Properties xmlns="http://schemas.openxmlformats.org/officeDocument/2006/extended-properties" xmlns:vt="http://schemas.openxmlformats.org/officeDocument/2006/docPropsVTypes">
  <Template>Office Theme</Template>
  <TotalTime>482</TotalTime>
  <Words>1280</Words>
  <Application>Microsoft Office PowerPoint</Application>
  <PresentationFormat>Custom</PresentationFormat>
  <Paragraphs>89</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Times New Roman</vt:lpstr>
      <vt:lpstr>Office Theme</vt:lpstr>
      <vt:lpstr>Stell dir vor, ein neues personalisiertes Video-Rubbellos ist gerade erschienen:</vt:lpstr>
      <vt:lpstr>Stell dir vor, ein neues, lustiges Rubbellos mit Augmented-Reality-Thema wurde eingeführt :</vt:lpstr>
      <vt:lpstr>Stell dir vor, ein neues AR-Minispiel kann auf deinem Rubbellos gespielt werden:</vt:lpstr>
      <vt:lpstr>Stell dir vor, dein Rubbellos bietet jetzt ein neues Lipsync-Erlebnis:</vt:lpstr>
      <vt:lpstr>Stell dir vor, ein neues Rubbellos mit Duett-Lipsync-Funktion wurde eingeführt:</vt:lpstr>
      <vt:lpstr>Mach dein Weihnachts-Rubbellos  zur persönlichen Überraschung:</vt:lpstr>
      <vt:lpstr>Überraschung mit persönlicher Note:  Das Geburtstags-Rubbellos mit Video-Gruß:</vt:lpstr>
      <vt:lpstr>Sag es mit einem Rubbellos –  und einer digitalen Valentinsbotschaft, die von Herzen kommt.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Rajsnerová, Jana (KTPRG)</dc:creator>
  <cp:lastModifiedBy>Peter Javornický</cp:lastModifiedBy>
  <cp:revision>24</cp:revision>
  <dcterms:created xsi:type="dcterms:W3CDTF">2022-11-09T07:36:23Z</dcterms:created>
  <dcterms:modified xsi:type="dcterms:W3CDTF">2025-12-16T08:44:42Z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41da7a-79c1-417c-b408-16c0bfe99fca_Enabled">
    <vt:lpwstr>true</vt:lpwstr>
  </property>
  <property fmtid="{D5CDD505-2E9C-101B-9397-08002B2CF9AE}" pid="3" name="MSIP_Label_3741da7a-79c1-417c-b408-16c0bfe99fca_SetDate">
    <vt:lpwstr>2023-03-30T08:52:17Z</vt:lpwstr>
  </property>
  <property fmtid="{D5CDD505-2E9C-101B-9397-08002B2CF9AE}" pid="4" name="MSIP_Label_3741da7a-79c1-417c-b408-16c0bfe99fca_Method">
    <vt:lpwstr>Standard</vt:lpwstr>
  </property>
  <property fmtid="{D5CDD505-2E9C-101B-9397-08002B2CF9AE}" pid="5" name="MSIP_Label_3741da7a-79c1-417c-b408-16c0bfe99fca_Name">
    <vt:lpwstr>Internal Only - Amber</vt:lpwstr>
  </property>
  <property fmtid="{D5CDD505-2E9C-101B-9397-08002B2CF9AE}" pid="6" name="MSIP_Label_3741da7a-79c1-417c-b408-16c0bfe99fca_SiteId">
    <vt:lpwstr>1e355c04-e0a4-42ed-8e2d-7351591f0ef1</vt:lpwstr>
  </property>
  <property fmtid="{D5CDD505-2E9C-101B-9397-08002B2CF9AE}" pid="7" name="MSIP_Label_3741da7a-79c1-417c-b408-16c0bfe99fca_ActionId">
    <vt:lpwstr>5b4cd54c-153d-4cdd-b8e7-de533e844d37</vt:lpwstr>
  </property>
  <property fmtid="{D5CDD505-2E9C-101B-9397-08002B2CF9AE}" pid="8" name="MSIP_Label_3741da7a-79c1-417c-b408-16c0bfe99fca_ContentBits">
    <vt:lpwstr>0</vt:lpwstr>
  </property>
</Properties>
</file>