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9" r:id="rId3"/>
    <p:sldId id="270" r:id="rId4"/>
  </p:sldIdLst>
  <p:sldSz cx="6858000" cy="10799763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1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5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D426A1-CDBA-47F6-B491-1D551433C369}" v="3" dt="2025-12-16T14:17:37.8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Střední styl 2 – zvýraznění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3348" y="72"/>
      </p:cViewPr>
      <p:guideLst>
        <p:guide orient="horz" pos="3401"/>
        <p:guide pos="2160"/>
        <p:guide orient="horz" pos="45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88A10E76-C547-4713-B92A-3B48010D5CF0}"/>
    <pc:docChg chg="modSld">
      <pc:chgData name="Peter Javornický" userId="3b98f8e0-d449-4f6e-b57d-5f9bfb7a5c2c" providerId="ADAL" clId="{88A10E76-C547-4713-B92A-3B48010D5CF0}" dt="2025-12-16T14:17:42.560" v="18" actId="404"/>
      <pc:docMkLst>
        <pc:docMk/>
      </pc:docMkLst>
      <pc:sldChg chg="modSp mod">
        <pc:chgData name="Peter Javornický" userId="3b98f8e0-d449-4f6e-b57d-5f9bfb7a5c2c" providerId="ADAL" clId="{88A10E76-C547-4713-B92A-3B48010D5CF0}" dt="2025-12-16T14:17:42.560" v="18" actId="404"/>
        <pc:sldMkLst>
          <pc:docMk/>
          <pc:sldMk cId="46857855" sldId="268"/>
        </pc:sldMkLst>
        <pc:spChg chg="mod">
          <ac:chgData name="Peter Javornický" userId="3b98f8e0-d449-4f6e-b57d-5f9bfb7a5c2c" providerId="ADAL" clId="{88A10E76-C547-4713-B92A-3B48010D5CF0}" dt="2025-12-16T14:17:42.560" v="18" actId="404"/>
          <ac:spMkLst>
            <pc:docMk/>
            <pc:sldMk cId="46857855" sldId="268"/>
            <ac:spMk id="3" creationId="{FF7F3D8E-FF11-1FC3-E262-8AB6EA3796E7}"/>
          </ac:spMkLst>
        </pc:spChg>
      </pc:sldChg>
      <pc:sldChg chg="modSp mod">
        <pc:chgData name="Peter Javornický" userId="3b98f8e0-d449-4f6e-b57d-5f9bfb7a5c2c" providerId="ADAL" clId="{88A10E76-C547-4713-B92A-3B48010D5CF0}" dt="2025-12-16T14:17:06.973" v="6" actId="403"/>
        <pc:sldMkLst>
          <pc:docMk/>
          <pc:sldMk cId="3168554335" sldId="269"/>
        </pc:sldMkLst>
        <pc:spChg chg="mod">
          <ac:chgData name="Peter Javornický" userId="3b98f8e0-d449-4f6e-b57d-5f9bfb7a5c2c" providerId="ADAL" clId="{88A10E76-C547-4713-B92A-3B48010D5CF0}" dt="2025-12-16T14:17:06.973" v="6" actId="403"/>
          <ac:spMkLst>
            <pc:docMk/>
            <pc:sldMk cId="3168554335" sldId="269"/>
            <ac:spMk id="3" creationId="{C97CA788-BEE6-AF28-CB3A-877D4596AE92}"/>
          </ac:spMkLst>
        </pc:spChg>
      </pc:sldChg>
      <pc:sldChg chg="modSp mod">
        <pc:chgData name="Peter Javornický" userId="3b98f8e0-d449-4f6e-b57d-5f9bfb7a5c2c" providerId="ADAL" clId="{88A10E76-C547-4713-B92A-3B48010D5CF0}" dt="2025-12-16T14:17:26.070" v="13" actId="403"/>
        <pc:sldMkLst>
          <pc:docMk/>
          <pc:sldMk cId="4223236571" sldId="270"/>
        </pc:sldMkLst>
        <pc:spChg chg="mod">
          <ac:chgData name="Peter Javornický" userId="3b98f8e0-d449-4f6e-b57d-5f9bfb7a5c2c" providerId="ADAL" clId="{88A10E76-C547-4713-B92A-3B48010D5CF0}" dt="2025-12-16T14:17:26.070" v="13" actId="403"/>
          <ac:spMkLst>
            <pc:docMk/>
            <pc:sldMk cId="4223236571" sldId="270"/>
            <ac:spMk id="3" creationId="{26699080-4BAE-95BD-A23C-5B5A7463717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F3D8E-FF11-1FC3-E262-8AB6EA3796E7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91437" y="0"/>
            <a:ext cx="6720843" cy="773841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/>
              <a:t>Daily Millionaire - </a:t>
            </a:r>
            <a:r>
              <a:rPr lang="el-GR" sz="2400" b="1" noProof="0" dirty="0"/>
              <a:t>Νέο παιχνίδι λοταρίας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100" dirty="0"/>
              <a:t>Πρόκειται για ένα διεθνές παιχνίδι λοταρίας, στο οποίο οι παίκτες έχουν τη δυνατότητα να κερδίσουν έως και </a:t>
            </a:r>
            <a:br>
              <a:rPr lang="cs-CZ" sz="2100" dirty="0"/>
            </a:br>
            <a:r>
              <a:rPr lang="el-GR" sz="2100" dirty="0"/>
              <a:t>1 εκατομμύριο ευρώ, εάν μαντέψουν σωστά 6 αριθμούς από το 1 έως το 52.</a:t>
            </a:r>
            <a:endParaRPr lang="cs-CZ" sz="21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100" dirty="0"/>
              <a:t>Και αυτό δεν είναι ο μόνος τρόπος για να γίνει κανείς εκατομμυριούχος.Αυτό το νέο παιχνίδι περιλαμβάνει και ένα ειδικό μπόνους κέρδους: τη λεγόμενη Καταιγίδα Εκατομμυριούχων (Millionaire Flood).</a:t>
            </a:r>
            <a:endParaRPr lang="cs-CZ" sz="21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100" dirty="0"/>
              <a:t>Ένα μέρος από το συνολικό ποσό των κερδών κάθε κλήρωσης συγκεντρώνεται σε ένα ειδικό ταμείο, το Ταμείο Εκατομμυριούχων (Millionaire’s Fund).</a:t>
            </a:r>
            <a:endParaRPr lang="cs-CZ" sz="21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100" dirty="0"/>
              <a:t>Το ποσό αυτό μοιράζεται σε τυχερούς παίκτες την ημέρα που όλοι οι αριθμοί της κλήρωσης είναι είτε ζυγοί είτε μονοί – ένα φαινόμενο που θεωρητικά συμβαίνει κάθε </a:t>
            </a:r>
            <a:br>
              <a:rPr lang="cs-CZ" sz="2100" dirty="0"/>
            </a:br>
            <a:r>
              <a:rPr lang="el-GR" sz="2100" dirty="0"/>
              <a:t>6 εβδομάδες.Για παράδειγμα, αν στο Ταμείο Εκατομμυριούχων υπάρχουν 15</a:t>
            </a:r>
            <a:r>
              <a:rPr lang="cs-CZ" sz="2100" dirty="0"/>
              <a:t>,</a:t>
            </a:r>
            <a:r>
              <a:rPr lang="el-GR" sz="2100" dirty="0"/>
              <a:t>5 εκατομμύρια ευρώ, </a:t>
            </a:r>
            <a:br>
              <a:rPr lang="cs-CZ" sz="2100" dirty="0"/>
            </a:br>
            <a:r>
              <a:rPr lang="el-GR" sz="2100" dirty="0"/>
              <a:t>θα επιλεγούν 15 παίκτες με βάση τον σειριακό αριθμό του δελτίου τους.Καθένας από αυτούς θα κερδίσει </a:t>
            </a:r>
            <a:br>
              <a:rPr lang="cs-CZ" sz="2100" dirty="0"/>
            </a:br>
            <a:r>
              <a:rPr lang="el-GR" sz="2100" dirty="0"/>
              <a:t>1 εκατομμύριο ευρώ.</a:t>
            </a:r>
            <a:endParaRPr lang="cs-CZ" sz="21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100" dirty="0"/>
              <a:t>Η τιμή ανά στήλη είναι 1</a:t>
            </a:r>
            <a:r>
              <a:rPr lang="cs-CZ" sz="2100" dirty="0"/>
              <a:t>,</a:t>
            </a:r>
            <a:r>
              <a:rPr lang="el-GR" sz="2100" dirty="0"/>
              <a:t>50 ευρώ.</a:t>
            </a:r>
            <a:endParaRPr lang="cs-CZ" sz="21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100" dirty="0"/>
              <a:t>Οι παίκτες μπορούν να εγγραφούν στο παιχνίδι για μία εβδομάδα, έναν μήνα ή μεγαλύτερο χρονικό διάστημα, ώστε να μην χάνουν ποτέ κλήρωση στην οποία μπορεί να συμβεί η Καταιγίδα Εκατομμυριούχων.Μπορούν επίσης να αγοράσουν μερίδιο από ένα προπληρωμένο δελτίο, π.χ. το ένα δέκατο ενός μηνιαίου δελτίου</a:t>
            </a:r>
            <a:r>
              <a:rPr lang="cs-CZ" sz="2100" dirty="0"/>
              <a:t> </a:t>
            </a:r>
            <a:r>
              <a:rPr lang="el-GR" sz="2100" dirty="0"/>
              <a:t>με 4</a:t>
            </a:r>
            <a:r>
              <a:rPr lang="cs-CZ" sz="2100" dirty="0"/>
              <a:t>,</a:t>
            </a:r>
            <a:r>
              <a:rPr lang="el-GR" sz="2100" dirty="0"/>
              <a:t>50 ευρώ, κ.λπ.</a:t>
            </a:r>
            <a:endParaRPr lang="cs-CZ" sz="21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100" dirty="0"/>
              <a:t>Η κλήρωση πραγματοποιείται κάθε βράδυ στην Αυστρία.</a:t>
            </a:r>
            <a:endParaRPr lang="cs-CZ" sz="21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262134-F2D2-ED00-4E39-3A200596028D}"/>
              </a:ext>
            </a:extLst>
          </p:cNvPr>
          <p:cNvSpPr/>
          <p:nvPr/>
        </p:nvSpPr>
        <p:spPr>
          <a:xfrm>
            <a:off x="0" y="0"/>
            <a:ext cx="45719" cy="107997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9188BF-728D-0C5C-E1E3-50B8629E8636}"/>
              </a:ext>
            </a:extLst>
          </p:cNvPr>
          <p:cNvSpPr txBox="1"/>
          <p:nvPr/>
        </p:nvSpPr>
        <p:spPr>
          <a:xfrm>
            <a:off x="45719" y="10204063"/>
            <a:ext cx="68122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600" i="1" noProof="0" dirty="0"/>
              <a:t>Στην Ελλάδα, τα δελτία είναι διαθέσιμα για αγορά σε όλα τα καταστήματα ΟΠΑΠ και διαδικτυακά.</a:t>
            </a:r>
            <a:endParaRPr lang="cs-CZ" sz="1600" i="1" noProof="0" dirty="0"/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14014F02-BB34-584F-A2E2-ABB21F12B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170665"/>
              </p:ext>
            </p:extLst>
          </p:nvPr>
        </p:nvGraphicFramePr>
        <p:xfrm>
          <a:off x="124725" y="7803592"/>
          <a:ext cx="6608550" cy="245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8354">
                  <a:extLst>
                    <a:ext uri="{9D8B030D-6E8A-4147-A177-3AD203B41FA5}">
                      <a16:colId xmlns:a16="http://schemas.microsoft.com/office/drawing/2014/main" val="2285407711"/>
                    </a:ext>
                  </a:extLst>
                </a:gridCol>
                <a:gridCol w="2970196">
                  <a:extLst>
                    <a:ext uri="{9D8B030D-6E8A-4147-A177-3AD203B41FA5}">
                      <a16:colId xmlns:a16="http://schemas.microsoft.com/office/drawing/2014/main" val="1271847178"/>
                    </a:ext>
                  </a:extLst>
                </a:gridCol>
              </a:tblGrid>
              <a:tr h="272159">
                <a:tc>
                  <a:txBody>
                    <a:bodyPr/>
                    <a:lstStyle/>
                    <a:p>
                      <a:r>
                        <a:rPr lang="el-GR" sz="1600" b="0" noProof="0" dirty="0"/>
                        <a:t>Τιμή ανά στήλη</a:t>
                      </a:r>
                      <a:endParaRPr lang="cs-CZ" sz="16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1</a:t>
                      </a:r>
                      <a:r>
                        <a:rPr lang="cs-CZ" sz="1600" b="0" dirty="0"/>
                        <a:t>,</a:t>
                      </a:r>
                      <a:r>
                        <a:rPr lang="en-US" sz="1600" b="0" dirty="0"/>
                        <a:t>50 </a:t>
                      </a:r>
                      <a:r>
                        <a:rPr lang="el-GR" sz="1600" b="0" dirty="0"/>
                        <a:t>ευρώ</a:t>
                      </a:r>
                      <a:endParaRPr lang="cs-CZ" sz="16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452552409"/>
                  </a:ext>
                </a:extLst>
              </a:tr>
              <a:tr h="272159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Κύριο έπαθλο – κάθε μέρα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εκατομμύριο</a:t>
                      </a:r>
                      <a:r>
                        <a:rPr lang="cs-CZ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ευρώ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729213333"/>
                  </a:ext>
                </a:extLst>
              </a:tr>
              <a:tr h="482276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Έπαθλο Καταιγίδας Εκατομμυριούχων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εκατομμύριο € για 13 νικητές</a:t>
                      </a:r>
                      <a:r>
                        <a:rPr lang="cs-CZ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(θεωρητικά) 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1234508754"/>
                  </a:ext>
                </a:extLst>
              </a:tr>
              <a:tr h="272159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Ελάχιστο κέρδος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cs-CZ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1,50 </a:t>
                      </a:r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ευρώ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752542039"/>
                  </a:ext>
                </a:extLst>
              </a:tr>
              <a:tr h="272159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Συχνότητα κύριου επάθλου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Κάθε 3 εβδομάδες (θεωρητικά)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540976133"/>
                  </a:ext>
                </a:extLst>
              </a:tr>
              <a:tr h="272159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Συχνότητα Καταιγίδας Εκατομμυριούχων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Κάθε 6 εβδομάδες (θεωρητικά)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109885055"/>
                  </a:ext>
                </a:extLst>
              </a:tr>
              <a:tr h="272159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Γενική πιθανότητα κέρδους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600" b="0" noProof="0" dirty="0">
                          <a:solidFill>
                            <a:schemeClr val="tx1"/>
                          </a:solidFill>
                        </a:rPr>
                        <a:t> 1:7</a:t>
                      </a:r>
                      <a:endParaRPr lang="cs-CZ" sz="16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861532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85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2EB7F-603F-AA1A-141F-E0A3E41C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CA788-BEE6-AF28-CB3A-877D4596AE92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91437" y="1"/>
            <a:ext cx="6720843" cy="80359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/>
              <a:t>Thunderball inspired - </a:t>
            </a:r>
            <a:r>
              <a:rPr lang="el-GR" sz="2400" b="1" noProof="0" dirty="0"/>
              <a:t>Νέο παιχνίδι λοταρίας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000" dirty="0"/>
              <a:t>Πρόκειται για ένα διεθνές παιχνίδι λοταρίας, στο οποίο οι παίκτες μπορούν να κερδίζουν 1 εκατομμύριο ευρώ κάθε μέρα, εφόσον μαντέψουν σωστά 5 αριθμούς </a:t>
            </a:r>
            <a:br>
              <a:rPr lang="cs-CZ" sz="2000" dirty="0"/>
            </a:br>
            <a:r>
              <a:rPr lang="el-GR" sz="2000" dirty="0"/>
              <a:t>από το 1 έως το 39 και έναν αριθμό από το 1 έως το 14.</a:t>
            </a:r>
            <a:endParaRPr lang="cs-CZ" sz="20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000" dirty="0"/>
              <a:t>Και αυτό δεν είναι ο μόνος τρόπος για να γίνει κανείς εκατομμυριούχος.</a:t>
            </a:r>
            <a:endParaRPr lang="cs-CZ" sz="20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000" dirty="0"/>
              <a:t>Αυτό το νέο παιχνίδι περιλαμβάνει επίσης ένα ειδικό μπόνους επάθλου: τη λεγόμενη Καταιγίδα Εκατομμυριούχων (Millionaire Flood).</a:t>
            </a:r>
            <a:r>
              <a:rPr lang="cs-CZ" sz="2000" dirty="0"/>
              <a:t> </a:t>
            </a:r>
            <a:r>
              <a:rPr lang="el-GR" sz="2000" dirty="0"/>
              <a:t>Ένα μέρος από το συνολικό ποσό κερδών κάθε κλήρωσης αποθηκεύεται σε ένα ειδικό ταμείο, το Ταμείο Εκατομμυριούχων (Millionaire’s Fund).</a:t>
            </a:r>
            <a:r>
              <a:rPr lang="cs-CZ" sz="2000" dirty="0"/>
              <a:t> </a:t>
            </a:r>
            <a:r>
              <a:rPr lang="el-GR" sz="2000" dirty="0"/>
              <a:t>Το ποσό από αυτό το ταμείο διανέμεται σε τυχερούς παίκτες όταν οι 5 αριθμοί που κληρώνονται είναι όλοι ζυγοί ή όλοι μονοί – ένα γεγονός που αναμένεται να συμβαίνει θεωρητικά κάθε 8</a:t>
            </a:r>
            <a:r>
              <a:rPr lang="cs-CZ" sz="2000" dirty="0"/>
              <a:t> </a:t>
            </a:r>
            <a:r>
              <a:rPr lang="el-GR" sz="2000" dirty="0"/>
              <a:t>εβδομάδες.</a:t>
            </a:r>
            <a:endParaRPr lang="cs-CZ" sz="20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000" dirty="0"/>
              <a:t>Για παράδειγμα, εάν το Ταμείο Εκατομμυριούχων περιλαμβάνει 10</a:t>
            </a:r>
            <a:r>
              <a:rPr lang="cs-CZ" sz="2000" dirty="0"/>
              <a:t>,</a:t>
            </a:r>
            <a:r>
              <a:rPr lang="el-GR" sz="2000" dirty="0"/>
              <a:t>5 εκατομμύρια ευρώ, τότε 10 τυχεροί παίκτες θα επιλεγούν με βάση τον σειριακό αριθμό του δελτίου τους. Ο καθένας από αυτούς θα κερδίσει </a:t>
            </a:r>
            <a:br>
              <a:rPr lang="cs-CZ" sz="2000" dirty="0"/>
            </a:br>
            <a:r>
              <a:rPr lang="el-GR" sz="2000" dirty="0"/>
              <a:t>1 εκατομμύριο ευρώ.</a:t>
            </a:r>
            <a:endParaRPr lang="cs-CZ" sz="20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000" dirty="0"/>
              <a:t>Η τιμή ανά στήλη είναι 1</a:t>
            </a:r>
            <a:r>
              <a:rPr lang="cs-CZ" sz="2000" dirty="0"/>
              <a:t>,</a:t>
            </a:r>
            <a:r>
              <a:rPr lang="el-GR" sz="2000" dirty="0"/>
              <a:t>50 ευρώ.</a:t>
            </a:r>
            <a:endParaRPr lang="cs-CZ" sz="20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000" dirty="0"/>
              <a:t>Οι παίκτες μπορούν να εγγραφούν στο παιχνίδι για μία εβδομάδα, έναν μήνα ή μεγαλύτερο χρονικό διάστημα, ώστε να είναι βέβαιοι ότι δεν θα χάσουν κάποια κλήρωση στην οποία μπορεί να ενεργοποιηθεί η Καταιγίδα Εκατομμυριούχων.</a:t>
            </a:r>
            <a:endParaRPr lang="cs-CZ" sz="20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000" dirty="0"/>
              <a:t>Υπάρχει επίσης η δυνατότητα αγοράς μεριδίου προπληρωμένου δελτίου, όπως για παράδειγμα το ένα δέκατο ενός μηνιαίου δελτίου με 4</a:t>
            </a:r>
            <a:r>
              <a:rPr lang="cs-CZ" sz="2000" dirty="0"/>
              <a:t>,</a:t>
            </a:r>
            <a:r>
              <a:rPr lang="el-GR" sz="2000" dirty="0"/>
              <a:t>50 ευρώ, κ.λπ. Η κλήρωση πραγματοποιείται κάθε βράδυ στην Αυστρία</a:t>
            </a:r>
            <a:r>
              <a:rPr lang="cs-CZ" sz="2000" dirty="0"/>
              <a:t>.</a:t>
            </a:r>
            <a:endParaRPr lang="cs-CZ" sz="20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FB7D47-2C35-85AD-D569-03507707F41C}"/>
              </a:ext>
            </a:extLst>
          </p:cNvPr>
          <p:cNvSpPr/>
          <p:nvPr/>
        </p:nvSpPr>
        <p:spPr>
          <a:xfrm>
            <a:off x="0" y="0"/>
            <a:ext cx="45719" cy="107997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4C45FFF-9E17-46C6-C750-413037AD7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2004"/>
              </p:ext>
            </p:extLst>
          </p:nvPr>
        </p:nvGraphicFramePr>
        <p:xfrm>
          <a:off x="147583" y="7906188"/>
          <a:ext cx="6608550" cy="2454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10017">
                  <a:extLst>
                    <a:ext uri="{9D8B030D-6E8A-4147-A177-3AD203B41FA5}">
                      <a16:colId xmlns:a16="http://schemas.microsoft.com/office/drawing/2014/main" val="2285407711"/>
                    </a:ext>
                  </a:extLst>
                </a:gridCol>
                <a:gridCol w="3098533">
                  <a:extLst>
                    <a:ext uri="{9D8B030D-6E8A-4147-A177-3AD203B41FA5}">
                      <a16:colId xmlns:a16="http://schemas.microsoft.com/office/drawing/2014/main" val="1271847178"/>
                    </a:ext>
                  </a:extLst>
                </a:gridCol>
              </a:tblGrid>
              <a:tr h="283762">
                <a:tc>
                  <a:txBody>
                    <a:bodyPr/>
                    <a:lstStyle/>
                    <a:p>
                      <a:r>
                        <a:rPr lang="el-GR" sz="1600" b="0" noProof="0" dirty="0"/>
                        <a:t>Τιμή ανά στήλη</a:t>
                      </a:r>
                      <a:endParaRPr lang="cs-CZ" sz="16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l-GR" sz="1600" b="0" noProof="0" dirty="0"/>
                        <a:t>1.50 ευρώ</a:t>
                      </a:r>
                      <a:endParaRPr lang="cs-CZ" sz="16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452552409"/>
                  </a:ext>
                </a:extLst>
              </a:tr>
              <a:tr h="264247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Κύριο έπαθλο – κάθε μέρα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εκατομμύριο</a:t>
                      </a:r>
                      <a:r>
                        <a:rPr lang="cs-CZ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ευρώ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729213333"/>
                  </a:ext>
                </a:extLst>
              </a:tr>
              <a:tr h="283762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Έπαθλο Καταιγίδας Εκατομμυριούχων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εκατομμύριο ευρώ για 10 νικητές (θεωρητικά)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520397785"/>
                  </a:ext>
                </a:extLst>
              </a:tr>
              <a:tr h="283762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Ελάχιστο δυνατό κέρδος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cs-CZ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 ευρώ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1234508754"/>
                  </a:ext>
                </a:extLst>
              </a:tr>
              <a:tr h="28376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Συχνότητα κύριου επάθλου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Κάθε 2 εβδομάδες (θεωρητικά)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540976133"/>
                  </a:ext>
                </a:extLst>
              </a:tr>
              <a:tr h="283762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Συχνότητα Καταιγίδας Εκατομμυριούχων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Κάθε 8 εβδομάδες (θεωρητικά)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109885055"/>
                  </a:ext>
                </a:extLst>
              </a:tr>
              <a:tr h="283762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l-GR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Συνολική πιθανότητα κέρδους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600" b="0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l-GR" sz="1600" b="0" noProof="0" dirty="0">
                          <a:solidFill>
                            <a:schemeClr val="tx1"/>
                          </a:solidFill>
                        </a:rPr>
                        <a:t>1 στις 6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86153255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7EB3688-F623-AAAE-C5F5-703DCF007439}"/>
              </a:ext>
            </a:extLst>
          </p:cNvPr>
          <p:cNvSpPr txBox="1"/>
          <p:nvPr/>
        </p:nvSpPr>
        <p:spPr>
          <a:xfrm>
            <a:off x="45719" y="10236147"/>
            <a:ext cx="68122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600" i="1" noProof="0" dirty="0"/>
              <a:t>Στην Ελλάδα, τα δελτία είναι διαθέσιμα για αγορά σε όλα τα καταστήματα ΟΠΑΠ και διαδικτυακά.</a:t>
            </a:r>
            <a:endParaRPr lang="cs-CZ" sz="1600" i="1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7A1B7-34B6-041B-87C3-E04C8B58B0AF}"/>
              </a:ext>
            </a:extLst>
          </p:cNvPr>
          <p:cNvSpPr txBox="1"/>
          <p:nvPr/>
        </p:nvSpPr>
        <p:spPr>
          <a:xfrm>
            <a:off x="7042483" y="8245642"/>
            <a:ext cx="439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Label </a:t>
            </a:r>
            <a:r>
              <a:rPr lang="cs-CZ" dirty="0" err="1"/>
              <a:t>added</a:t>
            </a:r>
            <a:r>
              <a:rPr lang="cs-CZ" dirty="0"/>
              <a:t> „</a:t>
            </a:r>
            <a:r>
              <a:rPr lang="cs-CZ" dirty="0" err="1"/>
              <a:t>Main</a:t>
            </a:r>
            <a:r>
              <a:rPr lang="cs-CZ" dirty="0"/>
              <a:t> </a:t>
            </a:r>
            <a:r>
              <a:rPr lang="cs-CZ" dirty="0" err="1"/>
              <a:t>prize</a:t>
            </a:r>
            <a:r>
              <a:rPr lang="cs-CZ" dirty="0"/>
              <a:t> – </a:t>
            </a:r>
            <a:r>
              <a:rPr lang="cs-CZ" dirty="0" err="1"/>
              <a:t>every</a:t>
            </a:r>
            <a:r>
              <a:rPr lang="cs-CZ" dirty="0"/>
              <a:t> </a:t>
            </a:r>
            <a:r>
              <a:rPr lang="cs-CZ" dirty="0" err="1"/>
              <a:t>day</a:t>
            </a:r>
            <a:r>
              <a:rPr lang="cs-CZ" dirty="0"/>
              <a:t>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554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1EDF2-6DE2-D1A4-BD25-532057215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9080-4BAE-95BD-A23C-5B5A74637175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91437" y="0"/>
            <a:ext cx="6720843" cy="76697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/>
              <a:t>Daily Millionaire Plus - </a:t>
            </a:r>
            <a:r>
              <a:rPr lang="el-GR" sz="2400" b="1" noProof="0" dirty="0"/>
              <a:t>Νέο παιχνίδι λοταρίας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000" dirty="0"/>
              <a:t>Πρόκειται για ένα διεθνές παιχνίδι λοταρίας, στο οποίο οι παίκτες έχουν τη δυνατότητα να κερδίσουν έως και 1 εκατομμύριο ευρώ, αν μαντέψουν σωστά 6 αριθμούς </a:t>
            </a:r>
            <a:br>
              <a:rPr lang="cs-CZ" sz="2000" dirty="0"/>
            </a:br>
            <a:r>
              <a:rPr lang="el-GR" sz="2000" dirty="0"/>
              <a:t>από το 1 έως το 52.</a:t>
            </a:r>
            <a:r>
              <a:rPr lang="cs-CZ" sz="2000" dirty="0"/>
              <a:t> </a:t>
            </a:r>
            <a:r>
              <a:rPr lang="el-GR" sz="2000" dirty="0"/>
              <a:t>Ακόμα και αν δεν πετύχουν και τους </a:t>
            </a:r>
            <a:br>
              <a:rPr lang="cs-CZ" sz="2000" dirty="0"/>
            </a:br>
            <a:r>
              <a:rPr lang="el-GR" sz="2000" dirty="0"/>
              <a:t>6 αριθμούς, οι παίκτες μπορούν να κερδίζουν τακτικά ελκυστικά έπαθλα των 5000 ευρώ και 100 ευρώ.</a:t>
            </a:r>
            <a:endParaRPr lang="cs-CZ" sz="20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000" dirty="0"/>
              <a:t>Και αυτό δεν είναι ο μόνος τρόπος για να γίνει κανείς εκατομμυριούχος.Αυτό το νέο παιχνίδι περιλαμβάνει επίσης ένα ειδικό μπόνους επάθλου: τη λεγόμενη Καταιγίδα Εκατομμυριούχων (Millionaire Flood).</a:t>
            </a:r>
            <a:r>
              <a:rPr lang="cs-CZ" sz="2000" dirty="0"/>
              <a:t> </a:t>
            </a:r>
            <a:r>
              <a:rPr lang="el-GR" sz="2000" dirty="0"/>
              <a:t>Ένα μέρος από το ποσό των κερδών κάθε κλήρωσης αποθηκεύεται στο Ταμείο Εκατομμυριούχων (Millionaire’s Fund).</a:t>
            </a:r>
            <a:r>
              <a:rPr lang="cs-CZ" sz="2000" dirty="0"/>
              <a:t> </a:t>
            </a:r>
            <a:r>
              <a:rPr lang="el-GR" sz="2000" dirty="0"/>
              <a:t>Το ποσό αυτό μοιράζεται στους τυχερούς παίκτες την ημέρα που όλοι οι αριθμοί της κλήρωσης είναι είτε ζυγοί είτε μονοί – κάτι που θεωρητικά συμβαίνει κάθε 6 εβδομάδες.</a:t>
            </a:r>
            <a:r>
              <a:rPr lang="cs-CZ" sz="2000" dirty="0"/>
              <a:t> </a:t>
            </a:r>
            <a:br>
              <a:rPr lang="cs-CZ" sz="2000" dirty="0"/>
            </a:br>
            <a:r>
              <a:rPr lang="el-GR" sz="2000" dirty="0"/>
              <a:t>Για παράδειγμα, αν το Ταμείο Εκατομμυριούχων διαθέτει 15</a:t>
            </a:r>
            <a:r>
              <a:rPr lang="cs-CZ" sz="2000" dirty="0"/>
              <a:t>,</a:t>
            </a:r>
            <a:r>
              <a:rPr lang="el-GR" sz="2000" dirty="0"/>
              <a:t>5 εκατομμύρια ευρώ, 15 παίκτες θα επιλεγούν βάσει του σειριακού αριθμού του δελτίου τους. Καθένας από αυτούς θα κερδίσει 1 εκατομμύριο ευρώ.</a:t>
            </a:r>
            <a:endParaRPr lang="cs-CZ" sz="20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000" dirty="0"/>
              <a:t>Η τιμή ανά στήλη είναι 1</a:t>
            </a:r>
            <a:r>
              <a:rPr lang="cs-CZ" sz="2000" dirty="0"/>
              <a:t>,</a:t>
            </a:r>
            <a:r>
              <a:rPr lang="el-GR" sz="2000" dirty="0"/>
              <a:t>50 ευρώ.</a:t>
            </a:r>
            <a:endParaRPr lang="cs-CZ" sz="20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000" dirty="0"/>
              <a:t>Οι παίκτες μπορούν να εγγραφούν στο παιχνίδι για μία εβδομάδα, έναν μήνα ή μεγαλύτερο χρονικό διάστημα, εξασφαλίζοντας ότι δεν θα χάσουν καμία κλήρωση στην οποία μπορεί να ενεργοποιηθεί η Καταιγίδα</a:t>
            </a:r>
            <a:r>
              <a:rPr lang="cs-CZ" sz="2000" dirty="0"/>
              <a:t> </a:t>
            </a:r>
            <a:r>
              <a:rPr lang="el-GR" sz="2000" dirty="0"/>
              <a:t>Εκατομμυριούχων.</a:t>
            </a:r>
            <a:r>
              <a:rPr lang="cs-CZ" sz="2000" dirty="0"/>
              <a:t> </a:t>
            </a:r>
            <a:r>
              <a:rPr lang="el-GR" sz="2000" dirty="0"/>
              <a:t>Επιπλέον, μπορούν να αγοράσουν μερίδιο από προπληρωμένο δελτίο, π.χ. το ένα δέκατο ενός μηνιαίου δελτίου με 4</a:t>
            </a:r>
            <a:r>
              <a:rPr lang="cs-CZ" sz="2000" dirty="0"/>
              <a:t>,</a:t>
            </a:r>
            <a:r>
              <a:rPr lang="el-GR" sz="2000" dirty="0"/>
              <a:t>50 ευρώ, κ.λπ.</a:t>
            </a:r>
            <a:endParaRPr lang="cs-CZ" sz="2000" dirty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l-GR" sz="2000" dirty="0">
                <a:ea typeface="+mn-lt"/>
                <a:cs typeface="+mn-lt"/>
              </a:rPr>
              <a:t>Η κλήρωση πραγματοποιείται κάθε βράδυ στην Αυστρία.</a:t>
            </a:r>
            <a:endParaRPr lang="cs-CZ" sz="2000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cs-CZ" sz="24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F7963E-57A1-B06A-8E4F-DE51AA4F3049}"/>
              </a:ext>
            </a:extLst>
          </p:cNvPr>
          <p:cNvSpPr/>
          <p:nvPr/>
        </p:nvSpPr>
        <p:spPr>
          <a:xfrm>
            <a:off x="0" y="0"/>
            <a:ext cx="45719" cy="107997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49394F51-2741-0FA9-4E0E-05A03E62986F}"/>
              </a:ext>
            </a:extLst>
          </p:cNvPr>
          <p:cNvSpPr txBox="1"/>
          <p:nvPr/>
        </p:nvSpPr>
        <p:spPr>
          <a:xfrm>
            <a:off x="45719" y="10204063"/>
            <a:ext cx="68122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600" i="1" noProof="0" dirty="0"/>
              <a:t>Στην Ελλάδα, τα δελτία είναι διαθέσιμα για αγορά σε όλα τα καταστήματα ΟΠΑΠ και διαδικτυακά.</a:t>
            </a:r>
            <a:endParaRPr lang="cs-CZ" sz="1600" i="1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2D6DC1-7E34-8469-0DF7-9A40D6BCB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842866"/>
              </p:ext>
            </p:extLst>
          </p:nvPr>
        </p:nvGraphicFramePr>
        <p:xfrm>
          <a:off x="124725" y="7669707"/>
          <a:ext cx="6608550" cy="24825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526059">
                  <a:extLst>
                    <a:ext uri="{9D8B030D-6E8A-4147-A177-3AD203B41FA5}">
                      <a16:colId xmlns:a16="http://schemas.microsoft.com/office/drawing/2014/main" val="2285407711"/>
                    </a:ext>
                  </a:extLst>
                </a:gridCol>
                <a:gridCol w="3082491">
                  <a:extLst>
                    <a:ext uri="{9D8B030D-6E8A-4147-A177-3AD203B41FA5}">
                      <a16:colId xmlns:a16="http://schemas.microsoft.com/office/drawing/2014/main" val="1271847178"/>
                    </a:ext>
                  </a:extLst>
                </a:gridCol>
              </a:tblGrid>
              <a:tr h="258418">
                <a:tc>
                  <a:txBody>
                    <a:bodyPr/>
                    <a:lstStyle/>
                    <a:p>
                      <a:r>
                        <a:rPr lang="el-GR" sz="1600" b="0" noProof="0" dirty="0">
                          <a:solidFill>
                            <a:schemeClr val="tx1"/>
                          </a:solidFill>
                        </a:rPr>
                        <a:t>Τιμή ανά στήλη</a:t>
                      </a:r>
                      <a:endParaRPr lang="cs-CZ" sz="1600" b="0" i="0" u="none" strike="noStrike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el-GR" sz="1600" b="0" noProof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cs-CZ" sz="1600" b="0" noProof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l-GR" sz="1600" b="0" noProof="0" dirty="0">
                          <a:solidFill>
                            <a:schemeClr val="tx1"/>
                          </a:solidFill>
                        </a:rPr>
                        <a:t>50 ευρώ</a:t>
                      </a:r>
                      <a:endParaRPr lang="cs-CZ" sz="1600" b="0" i="0" u="none" strike="noStrike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3452552409"/>
                  </a:ext>
                </a:extLst>
              </a:tr>
              <a:tr h="258418">
                <a:tc>
                  <a:txBody>
                    <a:bodyPr/>
                    <a:lstStyle/>
                    <a:p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Κύριο έπαθλο – κάθε μέρα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εκατομμύριο ευρώΈπαθλο 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729213333"/>
                  </a:ext>
                </a:extLst>
              </a:tr>
              <a:tr h="457927">
                <a:tc>
                  <a:txBody>
                    <a:bodyPr/>
                    <a:lstStyle/>
                    <a:p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Καταιγίδας Εκατομμυριούχων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εκατομμύριο ευρώ για 13 νικητές</a:t>
                      </a:r>
                      <a:r>
                        <a:rPr lang="cs-CZ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(θεωρητικά) </a:t>
                      </a: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234508754"/>
                  </a:ext>
                </a:extLst>
              </a:tr>
              <a:tr h="258418">
                <a:tc>
                  <a:txBody>
                    <a:bodyPr/>
                    <a:lstStyle/>
                    <a:p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Δεύτερο υψηλότερο έπαθλο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5000 ευρώ</a:t>
                      </a: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3364407140"/>
                  </a:ext>
                </a:extLst>
              </a:tr>
              <a:tr h="258418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Ελάχιστο δυνατό κέρδος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cs-CZ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 ευρώ</a:t>
                      </a: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3752542039"/>
                  </a:ext>
                </a:extLst>
              </a:tr>
              <a:tr h="25841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Συχνότητα κύριου επάθλου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Κάθε 3 εβδομάδες (θεωρητικά)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540976133"/>
                  </a:ext>
                </a:extLst>
              </a:tr>
              <a:tr h="258418">
                <a:tc>
                  <a:txBody>
                    <a:bodyPr/>
                    <a:lstStyle/>
                    <a:p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Συχνότητα Καταιγίδας Εκατομμυριούχων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el-GR" sz="16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Κάθε 6 εβδομάδες (θεωρητικά)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2109885055"/>
                  </a:ext>
                </a:extLst>
              </a:tr>
              <a:tr h="258418">
                <a:tc>
                  <a:txBody>
                    <a:bodyPr/>
                    <a:lstStyle/>
                    <a:p>
                      <a:r>
                        <a:rPr lang="el-GR" sz="1600" b="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Γενική πιθανότητα κέρδους</a:t>
                      </a:r>
                      <a:endParaRPr lang="cs-CZ" sz="16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el-GR" sz="1600" b="0" noProof="0" dirty="0">
                          <a:solidFill>
                            <a:schemeClr val="tx1"/>
                          </a:solidFill>
                        </a:rPr>
                        <a:t>1 στις 7</a:t>
                      </a:r>
                      <a:r>
                        <a:rPr lang="cs-CZ" sz="1600" b="0" noProof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l-GR" sz="1600" b="0" noProof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2861532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32365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3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804</TotalTime>
  <Words>1004</Words>
  <Application>Microsoft Office PowerPoint</Application>
  <PresentationFormat>Custom</PresentationFormat>
  <Paragraphs>70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31</cp:revision>
  <dcterms:created xsi:type="dcterms:W3CDTF">2022-11-09T07:36:23Z</dcterms:created>
  <dcterms:modified xsi:type="dcterms:W3CDTF">2025-12-16T14:17:46Z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